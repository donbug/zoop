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45e8f05ba34bb3" /><Relationship Type="http://schemas.openxmlformats.org/officeDocument/2006/relationships/extended-properties" Target="/docProps/app.xml" Id="R82b3a0339070402f" /><Relationship Type="http://schemas.openxmlformats.org/officeDocument/2006/relationships/officeDocument" Target="/ppt/presentation.xml" Id="R36288b4370d147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8b78c981874ecf"/>
  </p:sldMasterIdLst>
  <p:notesMasterIdLst>
    <p:notesMasterId xmlns:r="http://schemas.openxmlformats.org/officeDocument/2006/relationships" r:id="R24a776a62f8d42cc"/>
  </p:notesMasterIdLst>
  <p:sldIdLst>
    <p:sldId xmlns:r="http://schemas.openxmlformats.org/officeDocument/2006/relationships" id="256" r:id="R765ca6d3e16b4fd7"/>
    <p:sldId xmlns:r="http://schemas.openxmlformats.org/officeDocument/2006/relationships" id="257" r:id="Re69c07180ea94199"/>
    <p:sldId xmlns:r="http://schemas.openxmlformats.org/officeDocument/2006/relationships" id="258" r:id="R85670669e93f4708"/>
    <p:sldId xmlns:r="http://schemas.openxmlformats.org/officeDocument/2006/relationships" id="259" r:id="Rd129ad16cec64388"/>
    <p:sldId xmlns:r="http://schemas.openxmlformats.org/officeDocument/2006/relationships" id="260" r:id="Rf4c44e4bfe0c4085"/>
    <p:sldId xmlns:r="http://schemas.openxmlformats.org/officeDocument/2006/relationships" id="261" r:id="R14765ddd3ba149f2"/>
    <p:sldId xmlns:r="http://schemas.openxmlformats.org/officeDocument/2006/relationships" id="262" r:id="Rb55fa93725f045d0"/>
    <p:sldId xmlns:r="http://schemas.openxmlformats.org/officeDocument/2006/relationships" id="263" r:id="Rfad8be70f892404b"/>
    <p:sldId xmlns:r="http://schemas.openxmlformats.org/officeDocument/2006/relationships" id="264" r:id="R3df69c025809448f"/>
    <p:sldId xmlns:r="http://schemas.openxmlformats.org/officeDocument/2006/relationships" id="265" r:id="Rf267e78b89164ded"/>
    <p:sldId xmlns:r="http://schemas.openxmlformats.org/officeDocument/2006/relationships" id="266" r:id="R02dfc9c59d384b40"/>
    <p:sldId xmlns:r="http://schemas.openxmlformats.org/officeDocument/2006/relationships" id="267" r:id="Rd32df53ea79d4e4c"/>
    <p:sldId xmlns:r="http://schemas.openxmlformats.org/officeDocument/2006/relationships" id="268" r:id="R3e4413bbd7124651"/>
    <p:sldId xmlns:r="http://schemas.openxmlformats.org/officeDocument/2006/relationships" id="269" r:id="Rf674a10f3ee64f86"/>
    <p:sldId xmlns:r="http://schemas.openxmlformats.org/officeDocument/2006/relationships" id="270" r:id="Rcbb1cc46f6d547d3"/>
    <p:sldId xmlns:r="http://schemas.openxmlformats.org/officeDocument/2006/relationships" id="271" r:id="Rc66ac75d82c0458e"/>
    <p:sldId xmlns:r="http://schemas.openxmlformats.org/officeDocument/2006/relationships" id="272" r:id="R6b32357990bd4dc1"/>
    <p:sldId xmlns:r="http://schemas.openxmlformats.org/officeDocument/2006/relationships" id="273" r:id="R24758c1758b84ff2"/>
    <p:sldId xmlns:r="http://schemas.openxmlformats.org/officeDocument/2006/relationships" id="274" r:id="R716d6e4673a4479a"/>
    <p:sldId xmlns:r="http://schemas.openxmlformats.org/officeDocument/2006/relationships" id="275" r:id="Rdf40a002aa134b97"/>
    <p:sldId xmlns:r="http://schemas.openxmlformats.org/officeDocument/2006/relationships" id="276" r:id="Rb0c92b8c61c947e7"/>
    <p:sldId xmlns:r="http://schemas.openxmlformats.org/officeDocument/2006/relationships" id="277" r:id="Rbaccf69244314004"/>
    <p:sldId xmlns:r="http://schemas.openxmlformats.org/officeDocument/2006/relationships" id="278" r:id="R1c8a462e80f949b7"/>
    <p:sldId xmlns:r="http://schemas.openxmlformats.org/officeDocument/2006/relationships" id="279" r:id="R51bcdbb977924ded"/>
    <p:sldId xmlns:r="http://schemas.openxmlformats.org/officeDocument/2006/relationships" id="280" r:id="R61b2d7050f0d4b31"/>
    <p:sldId xmlns:r="http://schemas.openxmlformats.org/officeDocument/2006/relationships" id="281" r:id="R6e34efe6e7e547aa"/>
    <p:sldId xmlns:r="http://schemas.openxmlformats.org/officeDocument/2006/relationships" id="282" r:id="R4271f0e7e28944c8"/>
    <p:sldId xmlns:r="http://schemas.openxmlformats.org/officeDocument/2006/relationships" id="283" r:id="R5e29abbf6a614edf"/>
    <p:sldId xmlns:r="http://schemas.openxmlformats.org/officeDocument/2006/relationships" id="284" r:id="R311c0a2ef21f48c2"/>
    <p:sldId xmlns:r="http://schemas.openxmlformats.org/officeDocument/2006/relationships" id="285" r:id="R887c63c38b184ab0"/>
    <p:sldId xmlns:r="http://schemas.openxmlformats.org/officeDocument/2006/relationships" id="286" r:id="R8986d2dacd9e451e"/>
    <p:sldId xmlns:r="http://schemas.openxmlformats.org/officeDocument/2006/relationships" id="287" r:id="R9fce20e7ece64aa9"/>
    <p:sldId xmlns:r="http://schemas.openxmlformats.org/officeDocument/2006/relationships" id="288" r:id="Rf910da87fafe4a56"/>
    <p:sldId xmlns:r="http://schemas.openxmlformats.org/officeDocument/2006/relationships" id="289" r:id="R8baa10d83f3847a3"/>
    <p:sldId xmlns:r="http://schemas.openxmlformats.org/officeDocument/2006/relationships" id="290" r:id="Re98eb20658a24eaa"/>
    <p:sldId xmlns:r="http://schemas.openxmlformats.org/officeDocument/2006/relationships" id="291" r:id="R7be0104df82d40ef"/>
    <p:sldId xmlns:r="http://schemas.openxmlformats.org/officeDocument/2006/relationships" id="292" r:id="Rd042628735164bcf"/>
    <p:sldId xmlns:r="http://schemas.openxmlformats.org/officeDocument/2006/relationships" id="293" r:id="R34963ae980bc4b06"/>
    <p:sldId xmlns:r="http://schemas.openxmlformats.org/officeDocument/2006/relationships" id="294" r:id="R85f8889a51524058"/>
    <p:sldId xmlns:r="http://schemas.openxmlformats.org/officeDocument/2006/relationships" id="295" r:id="R48cabb16425a462c"/>
    <p:sldId xmlns:r="http://schemas.openxmlformats.org/officeDocument/2006/relationships" id="296" r:id="Rfcb52e9fbad84a15"/>
    <p:sldId xmlns:r="http://schemas.openxmlformats.org/officeDocument/2006/relationships" id="297" r:id="R62875a03e866408f"/>
    <p:sldId xmlns:r="http://schemas.openxmlformats.org/officeDocument/2006/relationships" id="298" r:id="Rff677ec4ac6548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7f5e96995f49d2" /><Relationship Type="http://schemas.openxmlformats.org/officeDocument/2006/relationships/slideMaster" Target="/ppt/slideMasters/slideMaster1.xml" Id="Re78b78c981874ecf" /><Relationship Type="http://schemas.openxmlformats.org/officeDocument/2006/relationships/notesMaster" Target="/ppt/notesMasters/notesMaster1.xml" Id="R24a776a62f8d42cc" /><Relationship Type="http://schemas.openxmlformats.org/officeDocument/2006/relationships/presProps" Target="/ppt/presProps.xml" Id="R9b56be2312cc4101" /><Relationship Type="http://schemas.openxmlformats.org/officeDocument/2006/relationships/viewProps" Target="/ppt/viewProps.xml" Id="R0a0e71fa9a764561" /><Relationship Type="http://schemas.openxmlformats.org/officeDocument/2006/relationships/tableStyles" Target="/ppt/tableStyles.xml" Id="Rc3418216e64f4358" /><Relationship Type="http://schemas.openxmlformats.org/officeDocument/2006/relationships/slide" Target="/ppt/slides/slide1.xml" Id="R765ca6d3e16b4fd7" /><Relationship Type="http://schemas.openxmlformats.org/officeDocument/2006/relationships/slide" Target="/ppt/slides/slide2.xml" Id="Re69c07180ea94199" /><Relationship Type="http://schemas.openxmlformats.org/officeDocument/2006/relationships/slide" Target="/ppt/slides/slide3.xml" Id="R85670669e93f4708" /><Relationship Type="http://schemas.openxmlformats.org/officeDocument/2006/relationships/slide" Target="/ppt/slides/slide4.xml" Id="Rd129ad16cec64388" /><Relationship Type="http://schemas.openxmlformats.org/officeDocument/2006/relationships/slide" Target="/ppt/slides/slide5.xml" Id="Rf4c44e4bfe0c4085" /><Relationship Type="http://schemas.openxmlformats.org/officeDocument/2006/relationships/slide" Target="/ppt/slides/slide6.xml" Id="R14765ddd3ba149f2" /><Relationship Type="http://schemas.openxmlformats.org/officeDocument/2006/relationships/slide" Target="/ppt/slides/slide7.xml" Id="Rb55fa93725f045d0" /><Relationship Type="http://schemas.openxmlformats.org/officeDocument/2006/relationships/slide" Target="/ppt/slides/slide8.xml" Id="Rfad8be70f892404b" /><Relationship Type="http://schemas.openxmlformats.org/officeDocument/2006/relationships/slide" Target="/ppt/slides/slide9.xml" Id="R3df69c025809448f" /><Relationship Type="http://schemas.openxmlformats.org/officeDocument/2006/relationships/slide" Target="/ppt/slides/slide10.xml" Id="Rf267e78b89164ded" /><Relationship Type="http://schemas.openxmlformats.org/officeDocument/2006/relationships/slide" Target="/ppt/slides/slide11.xml" Id="R02dfc9c59d384b40" /><Relationship Type="http://schemas.openxmlformats.org/officeDocument/2006/relationships/slide" Target="/ppt/slides/slide12.xml" Id="Rd32df53ea79d4e4c" /><Relationship Type="http://schemas.openxmlformats.org/officeDocument/2006/relationships/slide" Target="/ppt/slides/slide13.xml" Id="R3e4413bbd7124651" /><Relationship Type="http://schemas.openxmlformats.org/officeDocument/2006/relationships/slide" Target="/ppt/slides/slide14.xml" Id="Rf674a10f3ee64f86" /><Relationship Type="http://schemas.openxmlformats.org/officeDocument/2006/relationships/slide" Target="/ppt/slides/slide15.xml" Id="Rcbb1cc46f6d547d3" /><Relationship Type="http://schemas.openxmlformats.org/officeDocument/2006/relationships/slide" Target="/ppt/slides/slide16.xml" Id="Rc66ac75d82c0458e" /><Relationship Type="http://schemas.openxmlformats.org/officeDocument/2006/relationships/slide" Target="/ppt/slides/slide17.xml" Id="R6b32357990bd4dc1" /><Relationship Type="http://schemas.openxmlformats.org/officeDocument/2006/relationships/slide" Target="/ppt/slides/slide18.xml" Id="R24758c1758b84ff2" /><Relationship Type="http://schemas.openxmlformats.org/officeDocument/2006/relationships/slide" Target="/ppt/slides/slide19.xml" Id="R716d6e4673a4479a" /><Relationship Type="http://schemas.openxmlformats.org/officeDocument/2006/relationships/slide" Target="/ppt/slides/slide20.xml" Id="Rdf40a002aa134b97" /><Relationship Type="http://schemas.openxmlformats.org/officeDocument/2006/relationships/slide" Target="/ppt/slides/slide21.xml" Id="Rb0c92b8c61c947e7" /><Relationship Type="http://schemas.openxmlformats.org/officeDocument/2006/relationships/slide" Target="/ppt/slides/slide22.xml" Id="Rbaccf69244314004" /><Relationship Type="http://schemas.openxmlformats.org/officeDocument/2006/relationships/slide" Target="/ppt/slides/slide23.xml" Id="R1c8a462e80f949b7" /><Relationship Type="http://schemas.openxmlformats.org/officeDocument/2006/relationships/slide" Target="/ppt/slides/slide24.xml" Id="R51bcdbb977924ded" /><Relationship Type="http://schemas.openxmlformats.org/officeDocument/2006/relationships/slide" Target="/ppt/slides/slide25.xml" Id="R61b2d7050f0d4b31" /><Relationship Type="http://schemas.openxmlformats.org/officeDocument/2006/relationships/slide" Target="/ppt/slides/slide26.xml" Id="R6e34efe6e7e547aa" /><Relationship Type="http://schemas.openxmlformats.org/officeDocument/2006/relationships/slide" Target="/ppt/slides/slide27.xml" Id="R4271f0e7e28944c8" /><Relationship Type="http://schemas.openxmlformats.org/officeDocument/2006/relationships/slide" Target="/ppt/slides/slide28.xml" Id="R5e29abbf6a614edf" /><Relationship Type="http://schemas.openxmlformats.org/officeDocument/2006/relationships/slide" Target="/ppt/slides/slide29.xml" Id="R311c0a2ef21f48c2" /><Relationship Type="http://schemas.openxmlformats.org/officeDocument/2006/relationships/slide" Target="/ppt/slides/slide30.xml" Id="R887c63c38b184ab0" /><Relationship Type="http://schemas.openxmlformats.org/officeDocument/2006/relationships/slide" Target="/ppt/slides/slide31.xml" Id="R8986d2dacd9e451e" /><Relationship Type="http://schemas.openxmlformats.org/officeDocument/2006/relationships/slide" Target="/ppt/slides/slide32.xml" Id="R9fce20e7ece64aa9" /><Relationship Type="http://schemas.openxmlformats.org/officeDocument/2006/relationships/slide" Target="/ppt/slides/slide33.xml" Id="Rf910da87fafe4a56" /><Relationship Type="http://schemas.openxmlformats.org/officeDocument/2006/relationships/slide" Target="/ppt/slides/slide34.xml" Id="R8baa10d83f3847a3" /><Relationship Type="http://schemas.openxmlformats.org/officeDocument/2006/relationships/slide" Target="/ppt/slides/slide35.xml" Id="Re98eb20658a24eaa" /><Relationship Type="http://schemas.openxmlformats.org/officeDocument/2006/relationships/slide" Target="/ppt/slides/slide36.xml" Id="R7be0104df82d40ef" /><Relationship Type="http://schemas.openxmlformats.org/officeDocument/2006/relationships/slide" Target="/ppt/slides/slide37.xml" Id="Rd042628735164bcf" /><Relationship Type="http://schemas.openxmlformats.org/officeDocument/2006/relationships/slide" Target="/ppt/slides/slide38.xml" Id="R34963ae980bc4b06" /><Relationship Type="http://schemas.openxmlformats.org/officeDocument/2006/relationships/slide" Target="/ppt/slides/slide39.xml" Id="R85f8889a51524058" /><Relationship Type="http://schemas.openxmlformats.org/officeDocument/2006/relationships/slide" Target="/ppt/slides/slide40.xml" Id="R48cabb16425a462c" /><Relationship Type="http://schemas.openxmlformats.org/officeDocument/2006/relationships/slide" Target="/ppt/slides/slide41.xml" Id="Rfcb52e9fbad84a15" /><Relationship Type="http://schemas.openxmlformats.org/officeDocument/2006/relationships/slide" Target="/ppt/slides/slide42.xml" Id="R62875a03e866408f" /><Relationship Type="http://schemas.openxmlformats.org/officeDocument/2006/relationships/slide" Target="/ppt/slides/slide43.xml" Id="Rff677ec4ac6548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cb972b4b3148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 Thi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 Thi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0339e813e946f1" /><Relationship Type="http://schemas.openxmlformats.org/officeDocument/2006/relationships/notesMaster" Target="/ppt/notesMasters/notesMaster1.xml" Id="R13efcc97e47a4c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a536b8ea9b4dd6" /><Relationship Type="http://schemas.openxmlformats.org/officeDocument/2006/relationships/notesMaster" Target="/ppt/notesMasters/notesMaster1.xml" Id="R69797fa8a3c544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860d8248934a76" /><Relationship Type="http://schemas.openxmlformats.org/officeDocument/2006/relationships/notesMaster" Target="/ppt/notesMasters/notesMaster1.xml" Id="R2266610af3b148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3f1a521558417e" /><Relationship Type="http://schemas.openxmlformats.org/officeDocument/2006/relationships/notesMaster" Target="/ppt/notesMasters/notesMaster1.xml" Id="R347802bfd83848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7259af7a844521" /><Relationship Type="http://schemas.openxmlformats.org/officeDocument/2006/relationships/notesMaster" Target="/ppt/notesMasters/notesMaster1.xml" Id="Rf1b6aeb2d82b48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c4fad0f7f14f91" /><Relationship Type="http://schemas.openxmlformats.org/officeDocument/2006/relationships/notesMaster" Target="/ppt/notesMasters/notesMaster1.xml" Id="R85457031302342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3dc99dfd124070" /><Relationship Type="http://schemas.openxmlformats.org/officeDocument/2006/relationships/notesMaster" Target="/ppt/notesMasters/notesMaster1.xml" Id="R25c192fa622a43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ffb5d5c55549a1" /><Relationship Type="http://schemas.openxmlformats.org/officeDocument/2006/relationships/notesMaster" Target="/ppt/notesMasters/notesMaster1.xml" Id="R67edf2bf29f944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eeabab30844c6a" /><Relationship Type="http://schemas.openxmlformats.org/officeDocument/2006/relationships/notesMaster" Target="/ppt/notesMasters/notesMaster1.xml" Id="R1a0a47dab4084f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ad78e377194caf" /><Relationship Type="http://schemas.openxmlformats.org/officeDocument/2006/relationships/notesMaster" Target="/ppt/notesMasters/notesMaster1.xml" Id="R79c37546acd74b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a1d7fac8914368" /><Relationship Type="http://schemas.openxmlformats.org/officeDocument/2006/relationships/notesMaster" Target="/ppt/notesMasters/notesMaster1.xml" Id="R731564587d444c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ac7ef25ca347c0" /><Relationship Type="http://schemas.openxmlformats.org/officeDocument/2006/relationships/notesMaster" Target="/ppt/notesMasters/notesMaster1.xml" Id="Re67c3a50664a45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eb4ba6f36f4e79" /><Relationship Type="http://schemas.openxmlformats.org/officeDocument/2006/relationships/notesMaster" Target="/ppt/notesMasters/notesMaster1.xml" Id="R9750586c40ad40c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9f9b33275f4eb6" /><Relationship Type="http://schemas.openxmlformats.org/officeDocument/2006/relationships/notesMaster" Target="/ppt/notesMasters/notesMaster1.xml" Id="R3b76612804464d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479db8224a4482" /><Relationship Type="http://schemas.openxmlformats.org/officeDocument/2006/relationships/notesMaster" Target="/ppt/notesMasters/notesMaster1.xml" Id="Rc25f966cd5c743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d3023ba1ea4748" /><Relationship Type="http://schemas.openxmlformats.org/officeDocument/2006/relationships/notesMaster" Target="/ppt/notesMasters/notesMaster1.xml" Id="Rf45e86cfa2e548b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e330b059a7542c4" /><Relationship Type="http://schemas.openxmlformats.org/officeDocument/2006/relationships/notesMaster" Target="/ppt/notesMasters/notesMaster1.xml" Id="R9329b71cb3724a1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b0afa2ff774b25" /><Relationship Type="http://schemas.openxmlformats.org/officeDocument/2006/relationships/notesMaster" Target="/ppt/notesMasters/notesMaster1.xml" Id="R4870ddd41c264b2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7236f60274f4d5b" /><Relationship Type="http://schemas.openxmlformats.org/officeDocument/2006/relationships/notesMaster" Target="/ppt/notesMasters/notesMaster1.xml" Id="R05eb2f75d227498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2b4871ec6ff4e82" /><Relationship Type="http://schemas.openxmlformats.org/officeDocument/2006/relationships/notesMaster" Target="/ppt/notesMasters/notesMaster1.xml" Id="Radf05061ec9e400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92c2ca46e5643f8" /><Relationship Type="http://schemas.openxmlformats.org/officeDocument/2006/relationships/notesMaster" Target="/ppt/notesMasters/notesMaster1.xml" Id="Ra7808da484cf49d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a1303b36f674d0a" /><Relationship Type="http://schemas.openxmlformats.org/officeDocument/2006/relationships/notesMaster" Target="/ppt/notesMasters/notesMaster1.xml" Id="R444226cdba9f414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7bd710e575d4704" /><Relationship Type="http://schemas.openxmlformats.org/officeDocument/2006/relationships/notesMaster" Target="/ppt/notesMasters/notesMaster1.xml" Id="Rcc826e2c2fba476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7e47fa7853d4065" /><Relationship Type="http://schemas.openxmlformats.org/officeDocument/2006/relationships/notesMaster" Target="/ppt/notesMasters/notesMaster1.xml" Id="Ra430248052274a1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432e34fc2ac459c" /><Relationship Type="http://schemas.openxmlformats.org/officeDocument/2006/relationships/notesMaster" Target="/ppt/notesMasters/notesMaster1.xml" Id="R75686700bd2d463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ef93b03803a441b" /><Relationship Type="http://schemas.openxmlformats.org/officeDocument/2006/relationships/notesMaster" Target="/ppt/notesMasters/notesMaster1.xml" Id="Red30ba279ffd487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5b7b45987d74290" /><Relationship Type="http://schemas.openxmlformats.org/officeDocument/2006/relationships/notesMaster" Target="/ppt/notesMasters/notesMaster1.xml" Id="R20797664ebd7463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0af80d098b84df8" /><Relationship Type="http://schemas.openxmlformats.org/officeDocument/2006/relationships/notesMaster" Target="/ppt/notesMasters/notesMaster1.xml" Id="R04d6484d04bb4aa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ad492959d014795" /><Relationship Type="http://schemas.openxmlformats.org/officeDocument/2006/relationships/notesMaster" Target="/ppt/notesMasters/notesMaster1.xml" Id="R89ca0cf35f244b7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681677597464d19" /><Relationship Type="http://schemas.openxmlformats.org/officeDocument/2006/relationships/notesMaster" Target="/ppt/notesMasters/notesMaster1.xml" Id="R8ee3e2e8025f47e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9331a5a8bfb4315" /><Relationship Type="http://schemas.openxmlformats.org/officeDocument/2006/relationships/notesMaster" Target="/ppt/notesMasters/notesMaster1.xml" Id="Rb9bb3fb2f7544ca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b0e8454d0024f9c" /><Relationship Type="http://schemas.openxmlformats.org/officeDocument/2006/relationships/notesMaster" Target="/ppt/notesMasters/notesMaster1.xml" Id="R9c22ff5f3a0b4f7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007571abfaa4a05" /><Relationship Type="http://schemas.openxmlformats.org/officeDocument/2006/relationships/notesMaster" Target="/ppt/notesMasters/notesMaster1.xml" Id="Rfe55325967da4c3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038995dad9b4805" /><Relationship Type="http://schemas.openxmlformats.org/officeDocument/2006/relationships/notesMaster" Target="/ppt/notesMasters/notesMaster1.xml" Id="Re38b76d8b6dd4da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497eb97c3a14503" /><Relationship Type="http://schemas.openxmlformats.org/officeDocument/2006/relationships/notesMaster" Target="/ppt/notesMasters/notesMaster1.xml" Id="R310b00ebe59c477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97249bf5b684f5c" /><Relationship Type="http://schemas.openxmlformats.org/officeDocument/2006/relationships/notesMaster" Target="/ppt/notesMasters/notesMaster1.xml" Id="Rb1fadca7b3c04e4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053e3a6aab44707" /><Relationship Type="http://schemas.openxmlformats.org/officeDocument/2006/relationships/notesMaster" Target="/ppt/notesMasters/notesMaster1.xml" Id="R92b14bd37903457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917c64751b44516" /><Relationship Type="http://schemas.openxmlformats.org/officeDocument/2006/relationships/notesMaster" Target="/ppt/notesMasters/notesMaster1.xml" Id="Rd74aa9f471ee4b8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ab2fc845f114dfa" /><Relationship Type="http://schemas.openxmlformats.org/officeDocument/2006/relationships/notesMaster" Target="/ppt/notesMasters/notesMaster1.xml" Id="R0955db5d28d1450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732af1aafa54381" /><Relationship Type="http://schemas.openxmlformats.org/officeDocument/2006/relationships/notesMaster" Target="/ppt/notesMasters/notesMaster1.xml" Id="Rccef1084852644a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75995721bba4ae6" /><Relationship Type="http://schemas.openxmlformats.org/officeDocument/2006/relationships/notesMaster" Target="/ppt/notesMasters/notesMaster1.xml" Id="R46aa048180b44ae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538ef5d4ae84293" /><Relationship Type="http://schemas.openxmlformats.org/officeDocument/2006/relationships/notesMaster" Target="/ppt/notesMasters/notesMaster1.xml" Id="Rb07ef142df27461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31889bee0e34bd9" /><Relationship Type="http://schemas.openxmlformats.org/officeDocument/2006/relationships/notesMaster" Target="/ppt/notesMasters/notesMaster1.xml" Id="Ra58b067ca8b744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표지 이미지: 사용자 제공 3.png. 원본 비율을 유지해 전체 슬라이드에 배치.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Figma 파일 ‘돈벌레 최종 프로젝트’, node 5:2 InvestMate / Overview. 화면 ID는 원본 요구사항 기반 화면계획서와의 통합 매핑.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Figma 파일 ‘돈벌레 최종 프로젝트’, node 11:2 InvestMate / Full User Flow. 오른쪽 화면 ID는 원본 요구사항 문서의 대응 범위.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통합 근거: 원본 요구사항 기반 화면계획서 4쪽·29쪽, Figma node 5:2 및 11:2.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Figma 파일 ‘돈벌레 최종 프로젝트’, node 32:333 Issue detail drawer. 연결 화면 ID와 상태는 원본 요구사항 기반 화면계획서 11~15쪽을 기준으로 통합.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후속 반영 근거: 줍_요구사항정의서_양식적용_v1.0.xlsx, 줍_기능·비기능명세서_상세형_v1.2.xlsx. 상세 근거는 36~43쪽 발표자 노트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줍_요구사항정의서_양식적용_v1.0.xlsx의 요구사항 정의서·정책 결정 시트, 줍_기능·비기능명세서_상세형_v1.2.xlsx의 회원가입·로그인·메인 그래프·기업 상세·타임라인·AI 평가·관리자 시트.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화면계획서 33쪽 교차표. 신규 결정: Market Close Board는 기존 D-BRF-01·02 다음 번호인 D-BRF-03으로 부여. 개발 컴포넌트명은 명세 기반 설계 가정이며 팀 코드 규칙에 따라 변경 가능.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줍_요구사항정의서_양식적용_v1.0.xlsx 요구사항 정의서 5~16번, 줍_기능·비기능명세서_상세형_v1.2.xlsx 회원가입·로그인 B67:B74 및 온보딩·튜토리얼 B11:B45. 기존 검증 기준의 ‘비회원은 계좌 인증 없이 관심종목 선택’ 문구는 상세 명세와 충돌하므로 상세 명세를 우선 적용.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줍_요구사항정의서_양식적용_v1.0.xlsx 요구사항 24·43, 줍_기능·비기능명세서_상세형_v1.2.xlsx 기업 상세·타임라인 B81:B87. 닫기 버튼·ESC·뒤로 가기 규칙은 기존 화면계획서의 복귀 규칙을 구체화한 설계 결정.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줍_요구사항정의서_양식적용_v1.0.xlsx 요구사항 23~25·46·50, 줍_기능·비기능명세서_상세형_v1.2.xlsx 메인 그래프 B95:B113 및 AI 챗봇 B85:B87.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줍_요구사항정의서_양식적용_v1.0.xlsx 요구사항 28~37, 줍_기능·비기능명세서_상세형_v1.2.xlsx 출퇴근 브리핑 시트. 화면 ID D-BRF-03과 화면명은 기존 D-BRF-01·02 체계를 확장한 설계 결정.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줍_요구사항정의서_양식적용_v1.0.xlsx 요구사항 정의서 A82:H91, 줍_기능·비기능명세서_상세형_v1.2.xlsx AI 평가·관리자 A1:B229. A-ADM-01~05 묶음은 화면계획서 33·35쪽의 기존 범위를 유지한 정보 구조 설계.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줍_요구사항정의서_양식적용_v1.0.xlsx 요구사항 77~85, 줍_기능·비기능명세서_상세형_v1.2.xlsx AI 평가·관리자 시트 FS065~FS073. 권한 등급, SSO·ID/PW 지원 방식, 집계 기간과 분모·분자는 정책 결정이 남아 있어 화면에서 미결정 상태로 유지.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a7454a62f4c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8ba0425c1466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ASE"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6988E69-3272-4B12-9D97-009771AD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2972E1-7257-4637-A63F-79E3FF13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19672"/>
            <a:ext cx="3840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8A93A6"/>
                </a:solidFill>
                <a:latin typeface="Malgun Gothic"/>
                <a:ea typeface="Malgun Gothic"/>
                <a:cs typeface="Malgun Gothic"/>
              </a:rPr>
              <a:t>줍 서비스 화면계획서</a:t>
            </a:r>
            <a:endParaRPr sz="8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B857A57-3FA9-4008-8006-DA780FFFF20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4fb3e3d61f4d9b" /><Relationship Type="http://schemas.openxmlformats.org/officeDocument/2006/relationships/slideLayout" Target="/ppt/slideLayouts/slideLayout1.xml" Id="Ra69a45998b43452d" /><Relationship Type="http://schemas.openxmlformats.org/officeDocument/2006/relationships/slideLayout" Target="/ppt/slideLayouts/slideLayout2.xml" Id="R4590f36fd4684c3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10720F9-3A0B-418C-8FD7-F395704765F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9a45998b43452d"/>
    <p:sldLayoutId xmlns:r="http://schemas.openxmlformats.org/officeDocument/2006/relationships" id="2147483650" r:id="R4590f36fd4684c3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 Thi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 Thi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ec002c1e04e04" /><Relationship Type="http://schemas.openxmlformats.org/officeDocument/2006/relationships/image" Target="/ppt/media/image.png" Id="R32df5c748fcd41ce" /><Relationship Type="http://schemas.openxmlformats.org/officeDocument/2006/relationships/notesSlide" Target="/ppt/notesSlides/notesSlide1.xml" Id="R1e0f12fe12114f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88571500574a9d" /><Relationship Type="http://schemas.openxmlformats.org/officeDocument/2006/relationships/image" Target="/ppt/media/image2.png" Id="R43c5048937c945e6" /><Relationship Type="http://schemas.openxmlformats.org/officeDocument/2006/relationships/notesSlide" Target="/ppt/notesSlides/notesSlide2.xml" Id="R7cc4847d72cb43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a4f9ea12674900" /><Relationship Type="http://schemas.openxmlformats.org/officeDocument/2006/relationships/image" Target="/ppt/media/image3.png" Id="R37b48232f86f4ab0" /><Relationship Type="http://schemas.openxmlformats.org/officeDocument/2006/relationships/notesSlide" Target="/ppt/notesSlides/notesSlide3.xml" Id="R1388b69e651842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d9bc5257474d11" /><Relationship Type="http://schemas.openxmlformats.org/officeDocument/2006/relationships/image" Target="/ppt/media/image4.png" Id="R23cdad67ac4d4096" /><Relationship Type="http://schemas.openxmlformats.org/officeDocument/2006/relationships/notesSlide" Target="/ppt/notesSlides/notesSlide4.xml" Id="R9e29f56d55a34c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66f58718824e2e" /><Relationship Type="http://schemas.openxmlformats.org/officeDocument/2006/relationships/image" Target="/ppt/media/image5.png" Id="Rbef0182307d74f81" /><Relationship Type="http://schemas.openxmlformats.org/officeDocument/2006/relationships/image" Target="/ppt/media/image6.png" Id="Rdb9af8a6e7954a99" /><Relationship Type="http://schemas.openxmlformats.org/officeDocument/2006/relationships/notesSlide" Target="/ppt/notesSlides/notesSlide5.xml" Id="Rb6d2f1f2ffe94f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9c9e384b65494d" /><Relationship Type="http://schemas.openxmlformats.org/officeDocument/2006/relationships/image" Target="/ppt/media/image7.png" Id="R58c891b3d4dc442a" /><Relationship Type="http://schemas.openxmlformats.org/officeDocument/2006/relationships/image" Target="/ppt/media/image8.png" Id="R4abc8c0cda3f405f" /><Relationship Type="http://schemas.openxmlformats.org/officeDocument/2006/relationships/notesSlide" Target="/ppt/notesSlides/notesSlide6.xml" Id="R58754610809748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26f4c984844414" /><Relationship Type="http://schemas.openxmlformats.org/officeDocument/2006/relationships/image" Target="/ppt/media/image9.png" Id="Rb0f8f01ffcfa47f5" /><Relationship Type="http://schemas.openxmlformats.org/officeDocument/2006/relationships/image" Target="/ppt/media/image10.png" Id="Rbd457eba47db4d1f" /><Relationship Type="http://schemas.openxmlformats.org/officeDocument/2006/relationships/notesSlide" Target="/ppt/notesSlides/notesSlide7.xml" Id="R62fee1f80fd543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731bd20f024b48" /><Relationship Type="http://schemas.openxmlformats.org/officeDocument/2006/relationships/image" Target="/ppt/media/image11.png" Id="R244be6f0235349cd" /><Relationship Type="http://schemas.openxmlformats.org/officeDocument/2006/relationships/image" Target="/ppt/media/image12.png" Id="R9649bc879a19497d" /><Relationship Type="http://schemas.openxmlformats.org/officeDocument/2006/relationships/notesSlide" Target="/ppt/notesSlides/notesSlide8.xml" Id="R9f8f31bc2a9a45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0d641d9b8d463d" /><Relationship Type="http://schemas.openxmlformats.org/officeDocument/2006/relationships/image" Target="/ppt/media/image13.png" Id="R7d6491a6caa94f2e" /><Relationship Type="http://schemas.openxmlformats.org/officeDocument/2006/relationships/image" Target="/ppt/media/image14.png" Id="Rbb30010887354a68" /><Relationship Type="http://schemas.openxmlformats.org/officeDocument/2006/relationships/notesSlide" Target="/ppt/notesSlides/notesSlide9.xml" Id="Ra26456589dc142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bb8726c9364c8c" /><Relationship Type="http://schemas.openxmlformats.org/officeDocument/2006/relationships/image" Target="/ppt/media/image15.png" Id="R836f10b1067349d6" /><Relationship Type="http://schemas.openxmlformats.org/officeDocument/2006/relationships/image" Target="/ppt/media/image16.png" Id="R98d3c226a79e46f1" /><Relationship Type="http://schemas.openxmlformats.org/officeDocument/2006/relationships/notesSlide" Target="/ppt/notesSlides/notesSlide10.xml" Id="R2673030153464e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5800bd180f4016" /><Relationship Type="http://schemas.openxmlformats.org/officeDocument/2006/relationships/image" Target="/ppt/media/image17.png" Id="R0af928353dba40d8" /><Relationship Type="http://schemas.openxmlformats.org/officeDocument/2006/relationships/image" Target="/ppt/media/image18.png" Id="Ra0b37e8e983f4826" /><Relationship Type="http://schemas.openxmlformats.org/officeDocument/2006/relationships/notesSlide" Target="/ppt/notesSlides/notesSlide11.xml" Id="R959e7d37ff174d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4249e6665c4d75" /><Relationship Type="http://schemas.openxmlformats.org/officeDocument/2006/relationships/image" Target="/ppt/media/image19.png" Id="Re0030c3f1cce4911" /><Relationship Type="http://schemas.openxmlformats.org/officeDocument/2006/relationships/image" Target="/ppt/media/image20.png" Id="R3123ea9aab4940f0" /><Relationship Type="http://schemas.openxmlformats.org/officeDocument/2006/relationships/notesSlide" Target="/ppt/notesSlides/notesSlide12.xml" Id="Rd2b3272e87ae42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8214a078594414" /><Relationship Type="http://schemas.openxmlformats.org/officeDocument/2006/relationships/image" Target="/ppt/media/image21.png" Id="Rfdb8971114c54836" /><Relationship Type="http://schemas.openxmlformats.org/officeDocument/2006/relationships/image" Target="/ppt/media/image22.png" Id="Rdcb0fa825500430a" /><Relationship Type="http://schemas.openxmlformats.org/officeDocument/2006/relationships/notesSlide" Target="/ppt/notesSlides/notesSlide13.xml" Id="Rda49dd5401a4424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50d7c419f04f28" /><Relationship Type="http://schemas.openxmlformats.org/officeDocument/2006/relationships/image" Target="/ppt/media/image23.png" Id="Rcafc7f24bc1547f7" /><Relationship Type="http://schemas.openxmlformats.org/officeDocument/2006/relationships/image" Target="/ppt/media/image24.png" Id="Rd70754e3eead45af" /><Relationship Type="http://schemas.openxmlformats.org/officeDocument/2006/relationships/notesSlide" Target="/ppt/notesSlides/notesSlide14.xml" Id="R863036cb56804e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fcdef9d8094d67" /><Relationship Type="http://schemas.openxmlformats.org/officeDocument/2006/relationships/image" Target="/ppt/media/image25.png" Id="Rad11b1f9b0fc490d" /><Relationship Type="http://schemas.openxmlformats.org/officeDocument/2006/relationships/image" Target="/ppt/media/image26.png" Id="R5e6a81244edb4900" /><Relationship Type="http://schemas.openxmlformats.org/officeDocument/2006/relationships/notesSlide" Target="/ppt/notesSlides/notesSlide15.xml" Id="Rd6c6e81f2bab41a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3ac9bcd8c942c9" /><Relationship Type="http://schemas.openxmlformats.org/officeDocument/2006/relationships/image" Target="/ppt/media/image27.png" Id="R387d17aec177436c" /><Relationship Type="http://schemas.openxmlformats.org/officeDocument/2006/relationships/image" Target="/ppt/media/image28.png" Id="Rd9ac4d4c13ba4439" /><Relationship Type="http://schemas.openxmlformats.org/officeDocument/2006/relationships/notesSlide" Target="/ppt/notesSlides/notesSlide16.xml" Id="R76236365b5fa4c7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ef62d60a98439b" /><Relationship Type="http://schemas.openxmlformats.org/officeDocument/2006/relationships/image" Target="/ppt/media/image29.png" Id="R09504d310f264a40" /><Relationship Type="http://schemas.openxmlformats.org/officeDocument/2006/relationships/image" Target="/ppt/media/image30.png" Id="R31a9d057bb214e56" /><Relationship Type="http://schemas.openxmlformats.org/officeDocument/2006/relationships/notesSlide" Target="/ppt/notesSlides/notesSlide17.xml" Id="Rd75552fda7cd482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3f610338ab4121" /><Relationship Type="http://schemas.openxmlformats.org/officeDocument/2006/relationships/image" Target="/ppt/media/image31.png" Id="R6ddd55aa715f4e5b" /><Relationship Type="http://schemas.openxmlformats.org/officeDocument/2006/relationships/image" Target="/ppt/media/image32.png" Id="R3d8476e1a9cf42d1" /><Relationship Type="http://schemas.openxmlformats.org/officeDocument/2006/relationships/notesSlide" Target="/ppt/notesSlides/notesSlide18.xml" Id="Rb26343480c9c403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ea51384b874bc2" /><Relationship Type="http://schemas.openxmlformats.org/officeDocument/2006/relationships/image" Target="/ppt/media/image33.png" Id="R27619918f4bd4b9e" /><Relationship Type="http://schemas.openxmlformats.org/officeDocument/2006/relationships/image" Target="/ppt/media/image34.png" Id="R8834e6ab628d4b32" /><Relationship Type="http://schemas.openxmlformats.org/officeDocument/2006/relationships/notesSlide" Target="/ppt/notesSlides/notesSlide19.xml" Id="R6eaa5f76deb749b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3e21bf33aa46d9" /><Relationship Type="http://schemas.openxmlformats.org/officeDocument/2006/relationships/image" Target="/ppt/media/image35.png" Id="Rb2c9f1398b124cf6" /><Relationship Type="http://schemas.openxmlformats.org/officeDocument/2006/relationships/image" Target="/ppt/media/image36.png" Id="Rf75232a54d014302" /><Relationship Type="http://schemas.openxmlformats.org/officeDocument/2006/relationships/notesSlide" Target="/ppt/notesSlides/notesSlide20.xml" Id="R0ed0f79783c144c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cda915e2f441aa" /><Relationship Type="http://schemas.openxmlformats.org/officeDocument/2006/relationships/image" Target="/ppt/media/image37.png" Id="Rc083c0ac51ae4176" /><Relationship Type="http://schemas.openxmlformats.org/officeDocument/2006/relationships/notesSlide" Target="/ppt/notesSlides/notesSlide21.xml" Id="R4534be8b156242f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19dc02081e42dd" /><Relationship Type="http://schemas.openxmlformats.org/officeDocument/2006/relationships/image" Target="/ppt/media/image38.png" Id="R7405bf027d3340e5" /><Relationship Type="http://schemas.openxmlformats.org/officeDocument/2006/relationships/notesSlide" Target="/ppt/notesSlides/notesSlide22.xml" Id="R29d2bd8ceb304b4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e1d247c68842e0" /><Relationship Type="http://schemas.openxmlformats.org/officeDocument/2006/relationships/image" Target="/ppt/media/image39.png" Id="Red9c902853c041ad" /><Relationship Type="http://schemas.openxmlformats.org/officeDocument/2006/relationships/notesSlide" Target="/ppt/notesSlides/notesSlide23.xml" Id="Ree73a47f829c4f4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c6d247ac1e44da" /><Relationship Type="http://schemas.openxmlformats.org/officeDocument/2006/relationships/image" Target="/ppt/media/image40.png" Id="R02481e4c48234ed3" /><Relationship Type="http://schemas.openxmlformats.org/officeDocument/2006/relationships/notesSlide" Target="/ppt/notesSlides/notesSlide24.xml" Id="R10cd9493ad244d1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2b96306a724f33" /><Relationship Type="http://schemas.openxmlformats.org/officeDocument/2006/relationships/image" Target="/ppt/media/image41.png" Id="R733a3ee77cc44baa" /><Relationship Type="http://schemas.openxmlformats.org/officeDocument/2006/relationships/notesSlide" Target="/ppt/notesSlides/notesSlide25.xml" Id="R0e677acda60b44c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99361694ac42f9" /><Relationship Type="http://schemas.openxmlformats.org/officeDocument/2006/relationships/image" Target="/ppt/media/image42.png" Id="R2c3f70f3b0914257" /><Relationship Type="http://schemas.openxmlformats.org/officeDocument/2006/relationships/notesSlide" Target="/ppt/notesSlides/notesSlide26.xml" Id="Re3239aad5225448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c58243b7c245cb" /><Relationship Type="http://schemas.openxmlformats.org/officeDocument/2006/relationships/image" Target="/ppt/media/image43.png" Id="Rd0f480d48fc145af" /><Relationship Type="http://schemas.openxmlformats.org/officeDocument/2006/relationships/notesSlide" Target="/ppt/notesSlides/notesSlide27.xml" Id="Rfc39ea07261b495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86273db9144c94" /><Relationship Type="http://schemas.openxmlformats.org/officeDocument/2006/relationships/image" Target="/ppt/media/image44.png" Id="R815735e7cfd04c3a" /><Relationship Type="http://schemas.openxmlformats.org/officeDocument/2006/relationships/notesSlide" Target="/ppt/notesSlides/notesSlide28.xml" Id="R4764d3b44b8c433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2d447672da4783" /><Relationship Type="http://schemas.openxmlformats.org/officeDocument/2006/relationships/image" Target="/ppt/media/image45.png" Id="R8ac698ce00734988" /><Relationship Type="http://schemas.openxmlformats.org/officeDocument/2006/relationships/notesSlide" Target="/ppt/notesSlides/notesSlide29.xml" Id="Re11cb56070ba48d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a6b36780fe4a8a" /><Relationship Type="http://schemas.openxmlformats.org/officeDocument/2006/relationships/image" Target="/ppt/media/image46.png" Id="R81adbfbe90974eba" /><Relationship Type="http://schemas.openxmlformats.org/officeDocument/2006/relationships/notesSlide" Target="/ppt/notesSlides/notesSlide30.xml" Id="R0381e9156ab047c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04622e56e4064" /><Relationship Type="http://schemas.openxmlformats.org/officeDocument/2006/relationships/image" Target="/ppt/media/image47.png" Id="R356911e37200448e" /><Relationship Type="http://schemas.openxmlformats.org/officeDocument/2006/relationships/image" Target="/ppt/media/image48.png" Id="R7cb1b782e32f4e7c" /><Relationship Type="http://schemas.openxmlformats.org/officeDocument/2006/relationships/notesSlide" Target="/ppt/notesSlides/notesSlide31.xml" Id="Ra858039502494d0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54e3327064686" /><Relationship Type="http://schemas.openxmlformats.org/officeDocument/2006/relationships/image" Target="/ppt/media/image49.png" Id="Rcd39ed2109c84dcb" /><Relationship Type="http://schemas.openxmlformats.org/officeDocument/2006/relationships/image" Target="/ppt/media/image50.png" Id="Rb7034fb150e24284" /><Relationship Type="http://schemas.openxmlformats.org/officeDocument/2006/relationships/notesSlide" Target="/ppt/notesSlides/notesSlide32.xml" Id="R68795e49f794450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665d176554d52" /><Relationship Type="http://schemas.openxmlformats.org/officeDocument/2006/relationships/image" Target="/ppt/media/image51.png" Id="R5dba7ccdfbcb4f6c" /><Relationship Type="http://schemas.openxmlformats.org/officeDocument/2006/relationships/notesSlide" Target="/ppt/notesSlides/notesSlide33.xml" Id="Rca26ee490b854dd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70dc4b29145eb" /><Relationship Type="http://schemas.openxmlformats.org/officeDocument/2006/relationships/image" Target="/ppt/media/image52.png" Id="R258d926c42b44072" /><Relationship Type="http://schemas.openxmlformats.org/officeDocument/2006/relationships/image" Target="/ppt/media/image53.png" Id="R47306785c83d4a3b" /><Relationship Type="http://schemas.openxmlformats.org/officeDocument/2006/relationships/notesSlide" Target="/ppt/notesSlides/notesSlide34.xml" Id="R88652464e33b416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514fd1bef419b" /><Relationship Type="http://schemas.openxmlformats.org/officeDocument/2006/relationships/image" Target="/ppt/media/image54.png" Id="R0625266353f4403a" /><Relationship Type="http://schemas.openxmlformats.org/officeDocument/2006/relationships/notesSlide" Target="/ppt/notesSlides/notesSlide35.xml" Id="R4a10802177944fc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5fb5486904766" /><Relationship Type="http://schemas.openxmlformats.org/officeDocument/2006/relationships/image" Target="/ppt/media/image55.png" Id="Rb856ee67c2f44228" /><Relationship Type="http://schemas.openxmlformats.org/officeDocument/2006/relationships/notesSlide" Target="/ppt/notesSlides/notesSlide36.xml" Id="Rafacf2d683e249a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775d313304390" /><Relationship Type="http://schemas.openxmlformats.org/officeDocument/2006/relationships/image" Target="/ppt/media/image56.png" Id="R436b1541e65c4569" /><Relationship Type="http://schemas.openxmlformats.org/officeDocument/2006/relationships/notesSlide" Target="/ppt/notesSlides/notesSlide37.xml" Id="R400c265470cf485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5d55d5501454d" /><Relationship Type="http://schemas.openxmlformats.org/officeDocument/2006/relationships/image" Target="/ppt/media/image57.png" Id="Rb5bb4a99d9dc4ea1" /><Relationship Type="http://schemas.openxmlformats.org/officeDocument/2006/relationships/notesSlide" Target="/ppt/notesSlides/notesSlide38.xml" Id="R7ec1de3dda2f459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403d56864455a" /><Relationship Type="http://schemas.openxmlformats.org/officeDocument/2006/relationships/image" Target="/ppt/media/image58.png" Id="Rcb4937df52bb4bc4" /><Relationship Type="http://schemas.openxmlformats.org/officeDocument/2006/relationships/notesSlide" Target="/ppt/notesSlides/notesSlide39.xml" Id="R97a8a8d5be6a488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e45120f914514" /><Relationship Type="http://schemas.openxmlformats.org/officeDocument/2006/relationships/image" Target="/ppt/media/image59.png" Id="R228c0bf031454d0f" /><Relationship Type="http://schemas.openxmlformats.org/officeDocument/2006/relationships/notesSlide" Target="/ppt/notesSlides/notesSlide40.xml" Id="R3b7d795aa43a464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125f06eb54f39" /><Relationship Type="http://schemas.openxmlformats.org/officeDocument/2006/relationships/image" Target="/ppt/media/image60.png" Id="R4c61a91595464c3c" /><Relationship Type="http://schemas.openxmlformats.org/officeDocument/2006/relationships/notesSlide" Target="/ppt/notesSlides/notesSlide41.xml" Id="R729335946d784d9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bd839a51a4196" /><Relationship Type="http://schemas.openxmlformats.org/officeDocument/2006/relationships/image" Target="/ppt/media/image61.png" Id="Rb308495ed6e64e13" /><Relationship Type="http://schemas.openxmlformats.org/officeDocument/2006/relationships/notesSlide" Target="/ppt/notesSlides/notesSlide42.xml" Id="R1b802a13810b43d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12ea1b4f142f6" /><Relationship Type="http://schemas.openxmlformats.org/officeDocument/2006/relationships/image" Target="/ppt/media/image62.png" Id="Rf68b2ef63d1a4309" /><Relationship Type="http://schemas.openxmlformats.org/officeDocument/2006/relationships/notesSlide" Target="/ppt/notesSlides/notesSlide43.xml" Id="R07d844a75d2c4a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9B12006-0607-4C9D-B559-8581B65B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D0D70CA-54D5-46A0-A49B-F624ACBB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368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0" spc="12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SCREEN PLANNING · v1.7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6DA0302-2511-48D7-9BA7-2F20403F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0432"/>
            <a:ext cx="667512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줍 서비스</a:t>
            </a:r>
            <a:endParaRPr sz="3100"/>
          </a:p>
          <a:p xmlns:a="http://schemas.openxmlformats.org/drawingml/2006/main">
            <a:pPr marL="0" indent="0">
              <a:buNone/>
            </a:pPr>
            <a:r>
              <a:rPr sz="31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요구사항 기반 화면계획서</a:t>
            </a:r>
            <a:endParaRPr sz="3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5AD4CDF-BB7F-43F8-A011-803C16E1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61488"/>
            <a:ext cx="6766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요구사항과 화면 설계안을 화면 ID·사용자 흐름·상태·모바일 대응 기준으로 통합</a:t>
            </a:r>
            <a:endParaRPr sz="14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278D6FA-36D7-4B34-9381-CE98FB9C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30752"/>
            <a:ext cx="59893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E1E5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5DE9364-2F87-4633-AC43-D565B680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30752"/>
            <a:ext cx="82296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601D3D1-5297-4EB5-ADBD-E9A8BA7C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813048"/>
            <a:ext cx="1051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클릭 결과</a:t>
            </a:r>
            <a:endParaRPr sz="11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CED347-97AC-4EB7-9951-95885CA9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813048"/>
            <a:ext cx="43891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페이지 이동·모달·패널·상태 변경을 번호로 명시</a:t>
            </a:r>
            <a:endParaRPr sz="102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687F516-6443-4F38-A6E4-515752FE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480560"/>
            <a:ext cx="59893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E1E5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7CF403A-1452-40CA-BF94-3BF7FFB6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480560"/>
            <a:ext cx="82296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F51F464-83EB-49EC-AECB-A8D6D885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4562856"/>
            <a:ext cx="1051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기능별 색상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F0309C-A77F-41B2-B520-057CFEF4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4562856"/>
            <a:ext cx="43891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온보딩·그래프·브리핑·기업·AI·관리자 구분</a:t>
            </a:r>
            <a:endParaRPr sz="10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E3C7216-DFE1-4A34-B4B9-469F8920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230368"/>
            <a:ext cx="59893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E1E5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53A66FA-D027-47A7-9A65-C45DAA2A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230368"/>
            <a:ext cx="82296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A4C57D-4332-43AD-9326-7FEB6B07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5312664"/>
            <a:ext cx="1051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모바일 계획</a:t>
            </a:r>
            <a:endParaRPr sz="11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D72BC8A-F088-4581-B6E7-F1AD6DC4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5312664"/>
            <a:ext cx="43891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핵심 화면의 전환 방식과 반응형 규칙 포함</a:t>
            </a:r>
            <a:endParaRPr sz="102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2A2C19E-3668-41D3-BBEC-E9EBC920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731520"/>
            <a:ext cx="3794760" cy="5440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929AAF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4BF5B45-E7F4-47AB-9E23-EA7B56C6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024128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기능 모듈</a:t>
            </a:r>
            <a:endParaRPr sz="17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11F87F3-E227-4022-AC63-2EFCEC82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527048"/>
            <a:ext cx="4389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F7F43A1-6A9C-4E83-808B-7987A292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536192"/>
            <a:ext cx="3291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  <a:endParaRPr sz="8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0F8ADB4-3CF7-4B3A-AF9C-728EAAFF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1517904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회원·온보딩</a:t>
            </a:r>
            <a:endParaRPr sz="12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3D6F1C5-FEF9-4581-94CE-F577875F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55064"/>
            <a:ext cx="41148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5D263FA-4E6C-4BB2-815C-9ACA6CB3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2185416"/>
            <a:ext cx="4389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02258B6-B173-4688-A587-FC5C68D2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2194560"/>
            <a:ext cx="3291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  <a:endParaRPr sz="8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5994B53-709F-4B5A-9D0B-5F0EB222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2176272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관계 그래프</a:t>
            </a:r>
            <a:endParaRPr sz="12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965A69CC-7DAA-4E08-B8D0-1F8DB1E0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313432"/>
            <a:ext cx="41148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7B5CB19-175C-444A-805C-B7C59484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2843784"/>
            <a:ext cx="4389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1016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34727F9-5ACD-47EC-83A2-FCF2E858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2852928"/>
            <a:ext cx="3291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  <a:endParaRPr sz="8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2E13C3A-1D80-40B4-878D-034A340B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2834640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출퇴근 브리핑</a:t>
            </a:r>
            <a:endParaRPr sz="12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978266EC-D98A-4ADA-8E1E-24B414F7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71800"/>
            <a:ext cx="41148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F54A24D7-6E28-4E87-AD23-733B79EE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3502152"/>
            <a:ext cx="4389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FAFE981-6F85-4D5E-B03A-9F48253D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511296"/>
            <a:ext cx="3291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  <a:endParaRPr sz="8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D3413E9-3088-436F-9103-D98F4E59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3493008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기업 상세</a:t>
            </a:r>
            <a:endParaRPr sz="12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6AB55E36-63DC-4D03-8D60-C3762ABD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30168"/>
            <a:ext cx="41148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AA305AF-0D76-4C0D-9EA5-99CF7887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4160520"/>
            <a:ext cx="4389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C026D3"/>
          </a:solidFill>
          <a:ln xmlns:a="http://schemas.openxmlformats.org/drawingml/2006/main" w="1016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6B1F6DB8-5D7C-4912-84C9-75B9B935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4169664"/>
            <a:ext cx="3291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05</a:t>
            </a:r>
            <a:endParaRPr sz="85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76A30D09-F800-433E-A940-3AC36BF2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4151376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0">
                <a:solidFill>
                  <a:srgbClr val="C026D3"/>
                </a:solidFill>
                <a:latin typeface="Malgun Gothic"/>
                <a:ea typeface="Malgun Gothic"/>
                <a:cs typeface="Malgun Gothic"/>
              </a:rPr>
              <a:t>AI 질문</a:t>
            </a:r>
            <a:endParaRPr sz="125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A4C839C2-8074-402E-B822-F3B18CDE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288536"/>
            <a:ext cx="41148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181C31EA-29A4-441F-AA0D-13CC4560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4818888"/>
            <a:ext cx="4389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10160">
            <a:solidFill>
              <a:srgbClr val="47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08CFFA45-B2D5-4B67-8BE0-E9316E9F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4828032"/>
            <a:ext cx="3291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06</a:t>
            </a:r>
            <a:endParaRPr sz="85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CEADBCCA-BDF0-41E7-A5C7-E99771D6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4809744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관리자</a:t>
            </a:r>
            <a:endParaRPr sz="125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CABD6F44-DF96-4D91-8693-D5C268C3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946904"/>
            <a:ext cx="41148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47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59FF8280-86F0-4BE3-9B2A-FEFE2C95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373368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2026.10.01</a:t>
            </a:r>
            <a:endParaRPr sz="1000"/>
          </a:p>
        </p:txBody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f5c748fcd41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8927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91E3F3-40CA-4EEF-B3CE-76F9D696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9D2E6A9-12EE-4168-A3D5-2C6E9402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1D196E9-F292-40B7-8FBF-D176D314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문서 안내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772A6A8-7486-4C1B-8975-14A6CCAB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이 화면계획서를 읽는 방법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70D3260-39BD-42FB-AD73-A8715E74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113AD2-97CF-445F-9D67-9616E698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COMMON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5A8AD1B-315E-48C9-B747-C8C70477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7BE6B3C-0E68-426D-ACEA-AAF50458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GUIDE-01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0906FB9-5441-43F9-85D7-97416B6B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02 / 43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4CC5F3E-4803-4A66-8AE5-91A4C49A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25880"/>
            <a:ext cx="53949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758B0F6-E84F-4591-91CA-A588715E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14813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021735F-A1F4-4DAD-B194-D01C5DBE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50876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B8D067F-D562-4689-B82A-D560E9F5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72184"/>
            <a:ext cx="4663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화면 ID</a:t>
            </a:r>
            <a:endParaRPr sz="12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78D8046-E5B1-416C-8A60-DC6F863F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4792"/>
            <a:ext cx="4663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D=데스크톱, M=모바일, A=관리자. 요구사항 정의서·기능명세서·화면계획서에서 동일 ID를 사용합니다.</a:t>
            </a:r>
            <a:endParaRPr sz="96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2DBD6E4-47BD-459C-A95E-3CCE8322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325880"/>
            <a:ext cx="53949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6CB131F-0CFC-481F-819B-D7B4F8B8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4813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3F71DC0-3C8D-4D7B-85ED-38CDDDBD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50876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405317F-1A73-4CAB-88D3-CC8D20E4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1472184"/>
            <a:ext cx="4663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번호 마커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F48DF18-0F5F-49DB-8427-7692DB3C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1764792"/>
            <a:ext cx="4663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화면의 번호와 우측 클릭 결과 목록을 1:1로 연결합니다.</a:t>
            </a:r>
            <a:endParaRPr sz="96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5F8986A-EA92-4C22-965F-AD3014F5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560320"/>
            <a:ext cx="53949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CE24F52-66FC-4164-9FF6-3F226203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71576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D449006-A9DE-4367-9473-E299BEDC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74320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0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18B3884-4BDD-478B-8C88-859AA12C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06624"/>
            <a:ext cx="4663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결과 유형</a:t>
            </a:r>
            <a:endParaRPr sz="12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8F97612-F530-47D7-B426-E06FC40A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9232"/>
            <a:ext cx="4663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페이지 이동 / 모달·패널 / 현재 화면 상태 변경 / 저장·요청으로 구분합니다.</a:t>
            </a:r>
            <a:endParaRPr sz="96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87CE9DBC-3F9B-4392-AEBD-FB0D5118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2560320"/>
            <a:ext cx="53949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BBFA052-DF75-4119-B8A6-EBB45557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71576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7233DA2-CE57-41D0-80D8-D6BD9DAD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74320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  <a:endParaRPr sz="10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F418395-9166-4C9F-9F55-CB042FFB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2706624"/>
            <a:ext cx="4663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상태 정의</a:t>
            </a:r>
            <a:endParaRPr sz="12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5530BC4-81A0-40D5-BAE4-DAFC89F7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2999232"/>
            <a:ext cx="4663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기본·로딩·빈 화면·오류·권한 제한·비활성을 화면별로 확인합니다.</a:t>
            </a:r>
            <a:endParaRPr sz="96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17767E9-3820-45E4-9758-433699B7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94760"/>
            <a:ext cx="53949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F9BFE5DC-A1D1-4DBB-A030-AADA4CFE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395020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26D3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47DA94D-0F24-4807-B0C9-F7007F8E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97764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  <a:endParaRPr sz="10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19ECDC1-1909-4ABD-B7CF-63319396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1064"/>
            <a:ext cx="4663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요구사항 연결</a:t>
            </a:r>
            <a:endParaRPr sz="12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2AC5FD8-8C46-4678-8199-64E2F151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3672"/>
            <a:ext cx="4663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각 화면에 FS-FR 또는 FS-NFR ID를 붙여 누락과 범위 확대를 막습니다.</a:t>
            </a:r>
            <a:endParaRPr sz="96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004C7EF5-BFAF-4526-9F8B-0F8D37F7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794760"/>
            <a:ext cx="53949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793F9882-9DE9-478F-B131-8427D3E9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95020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A30E8558-A04B-4693-86DC-7F6AA7C1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97764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  <a:endParaRPr sz="10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D34E07E-17FC-4439-A422-0B397465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3941064"/>
            <a:ext cx="4663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정책 확인 필요</a:t>
            </a:r>
            <a:endParaRPr sz="125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AD9E7B1E-360C-43A2-AD72-CC1B4A50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4233672"/>
            <a:ext cx="4663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상충하거나 미확정된 내용은 주황색 메모로 표시하고 화면 확정 전 고정 규칙으로 적용하지 않습니다.</a:t>
            </a:r>
            <a:endParaRPr sz="96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296C8345-E0EC-45BF-A556-FD705B3F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230368"/>
            <a:ext cx="11000232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10160">
            <a:solidFill>
              <a:srgbClr val="C7D2F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FB341C5-E6D3-46C4-BC5A-D2FE9E27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541324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핵심 원칙</a:t>
            </a:r>
            <a:endParaRPr sz="12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7469F33D-3AF3-4067-ADF0-70F703BB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5376672"/>
            <a:ext cx="93268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“클릭한다”로 끝내지 않고 무엇이 열리고, 어떤 데이터가 바뀌며, 실패하면 무엇을 보여주는지까지 기록합니다.</a:t>
            </a:r>
            <a:endParaRPr sz="1250"/>
          </a:p>
        </p:txBody>
      </p:sp>
      <p:sp>
        <p:nvSpPr>
          <p:cNvPr id="4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6D1DDCC-1B1A-4247-82F1-563700DFE80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2</a:t>
            </a:fld>
            <a:endParaRPr/>
          </a:p>
        </p:txBody>
      </p:sp>
      <p:sp>
        <p:nvSpPr>
          <p:cNvPr id="45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560C32C6-51CC-4C45-823A-C84A72E7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5048937c945e6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8649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6467FD-254F-43E0-82B5-0CD68ED0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E30E643-54AA-420A-A1B4-33065C95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13A77D9-016F-4992-9D98-4DCF68C6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디자인 규칙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18E1238-8F91-41F5-96B6-20856ECD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기능 모듈별 색상 체계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990FF0F-4966-4EE6-9EC2-8D8E77A0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FE37811-D0B3-4380-B057-7AD304C1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COMMON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34F5FAD-BBAF-4454-BAEE-FB5ECB30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6FEE3E0-0964-4CD4-B01B-E2CD70A7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GUIDE-02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CE7A169-9358-401B-A6B3-58CBB694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03 / 43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E66C7E6-6D7F-4207-89A9-75C98077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25880"/>
            <a:ext cx="5230368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1E7DD47-1880-4F88-B906-694D6076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25880"/>
            <a:ext cx="11887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6F29238-46C9-47F2-9449-9193CECC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81328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회원·온보딩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1C7B073-3CA6-4102-B8BE-27B260C8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792224"/>
            <a:ext cx="4526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로그인, 시작 방식, 가상계좌, 관심종목</a:t>
            </a:r>
            <a:endParaRPr sz="102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4E10391-817F-48CF-A104-D5C4D7F7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1472184"/>
            <a:ext cx="566928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E72DA43-17A4-41AE-A76E-9D58D103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81328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4F46E5</a:t>
            </a:r>
            <a:endParaRPr sz="74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8509222-4F29-4291-93F0-FE10EE7E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25880"/>
            <a:ext cx="5230368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35475E7-4247-4538-B8EB-C56F8C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25880"/>
            <a:ext cx="11887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01F0604-C68A-4DE7-8EAA-90CFBD88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481328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관계 그래프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20E0621-E0A9-432A-9CD7-6CF5AF5D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792224"/>
            <a:ext cx="4526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노드, 간선, 영향 경로, 근거</a:t>
            </a:r>
            <a:endParaRPr sz="102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7E51B21-1DD1-419A-82E8-FAA06D4E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28" y="1472184"/>
            <a:ext cx="566928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39D2111-C3BF-4EE9-9E8F-8E872A1E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192" y="1481328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7C3AED</a:t>
            </a:r>
            <a:endParaRPr sz="74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E5887E4-7047-4725-9204-E1EA4045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51760"/>
            <a:ext cx="5230368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AB68F9E-4F04-4FC2-A046-B452EE5D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51760"/>
            <a:ext cx="11887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270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EC4F4A3-A069-4B99-914C-9AC9071F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807208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출퇴근 브리핑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B0CB5EF-C0E7-4089-BEC8-CE410226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18104"/>
            <a:ext cx="4526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아침·저녁 브리핑, 요약, 후속 사건</a:t>
            </a:r>
            <a:endParaRPr sz="102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45D33F51-0E9D-4C16-AFBE-7FF6BBC9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2798064"/>
            <a:ext cx="566928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1016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42BA65B-8CBC-4E2B-9DBE-F0333565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07208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0284C7</a:t>
            </a:r>
            <a:endParaRPr sz="74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CCE629B-D017-4486-A68E-E78C0C57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651760"/>
            <a:ext cx="5230368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9D43D99-462F-4C3A-B388-A85CB971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651760"/>
            <a:ext cx="11887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F42991F-64A4-4FE9-8BF2-4D065097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807208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기업 상세</a:t>
            </a:r>
            <a:endParaRPr sz="13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114D32B-C642-42FC-B052-B8788B72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118104"/>
            <a:ext cx="4526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차트, 타임라인, 재무, 뉴스·공시</a:t>
            </a:r>
            <a:endParaRPr sz="102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91BEC224-6CCF-49A4-B7BB-695C2D31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28" y="2798064"/>
            <a:ext cx="566928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4CBFF983-82B4-427E-B626-40384AFF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192" y="2807208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0F766E</a:t>
            </a:r>
            <a:endParaRPr sz="74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68564FCA-84BA-4E5C-B704-46D39D9C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977640"/>
            <a:ext cx="5230368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33DB2F14-E0E7-47A2-A6D9-C96694EA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977640"/>
            <a:ext cx="11887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26D3"/>
          </a:solidFill>
          <a:ln xmlns:a="http://schemas.openxmlformats.org/drawingml/2006/main" w="1270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17368A80-AD41-42DB-96F0-6AFBC6F5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133088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0">
                <a:solidFill>
                  <a:srgbClr val="C026D3"/>
                </a:solidFill>
                <a:latin typeface="Malgun Gothic"/>
                <a:ea typeface="Malgun Gothic"/>
                <a:cs typeface="Malgun Gothic"/>
              </a:rPr>
              <a:t>AI 질문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4FDC614D-E87F-4951-ACA1-8CF05764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43984"/>
            <a:ext cx="4526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질문, 답변, 근거, 재시도</a:t>
            </a:r>
            <a:endParaRPr sz="102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99957B4C-335A-4EE7-AA16-A58B7A37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4123944"/>
            <a:ext cx="566928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C026D3"/>
          </a:solidFill>
          <a:ln xmlns:a="http://schemas.openxmlformats.org/drawingml/2006/main" w="1016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B54DC38-952D-4365-BC60-7EAB6CCF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33088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C026D3</a:t>
            </a:r>
            <a:endParaRPr sz="74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DCEDA1F2-B9C1-4798-A3FF-98A5FBDE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977640"/>
            <a:ext cx="5230368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6CFC6C6D-0F8D-4AC8-949C-807222EC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977640"/>
            <a:ext cx="11887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12700">
            <a:solidFill>
              <a:srgbClr val="47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BF6F89EE-B18E-4010-9050-6BE78713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133088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관리자</a:t>
            </a:r>
            <a:endParaRPr sz="13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E5E5333B-4E5E-404F-B46B-719697E8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443984"/>
            <a:ext cx="4526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대시보드, 관제, 회원·브리핑 운영</a:t>
            </a:r>
            <a:endParaRPr sz="102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5CEB5053-36B5-46D4-8DD1-381C97E0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28" y="4123944"/>
            <a:ext cx="566928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10160">
            <a:solidFill>
              <a:srgbClr val="47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1C02094E-02AF-4254-9D94-D3E952FF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192" y="4133088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475569</a:t>
            </a:r>
            <a:endParaRPr sz="74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829771A-29A3-465D-B4E6-FE0F1E3B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2392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상태 색상은 기능 색상과 별도로 사용</a:t>
            </a:r>
            <a:endParaRPr sz="120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A41FA2F4-DF8B-440B-A0D8-71D4F2D5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5404104"/>
            <a:ext cx="132588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16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44FDB67B-4F13-456C-8466-9D33BCD4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5413248"/>
            <a:ext cx="12161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성공·저장</a:t>
            </a:r>
            <a:endParaRPr sz="85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42CEC48D-74AC-4E2B-8F2B-0C749EA7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5404104"/>
            <a:ext cx="132588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016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B3F8AAED-8B3C-4833-9A90-B11D340F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5413248"/>
            <a:ext cx="12161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주의·정책</a:t>
            </a:r>
            <a:endParaRPr sz="850"/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E33A7335-BE1D-4296-90CB-12561EC2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404104"/>
            <a:ext cx="132588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1016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7AD34A31-56B1-4EA8-9620-CB4C239C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5413248"/>
            <a:ext cx="12161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오류·삭제</a:t>
            </a:r>
            <a:endParaRPr sz="850"/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C18585C-76A9-4289-B776-CF31608E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04104"/>
            <a:ext cx="132588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94A3B8"/>
          </a:solidFill>
          <a:ln xmlns:a="http://schemas.openxmlformats.org/drawingml/2006/main" w="10160">
            <a:solidFill>
              <a:srgbClr val="94A3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23EED610-F2B7-4749-8119-44647C99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504" y="5413248"/>
            <a:ext cx="12161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비활성</a:t>
            </a:r>
            <a:endParaRPr sz="850"/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003D4A0F-8C25-45B7-8BD2-AEC3C7CB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959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색상만으로 의미를 전달하지 않고 번호·라벨·아이콘을 함께 사용합니다.</a:t>
            </a:r>
            <a:endParaRPr sz="1020"/>
          </a:p>
        </p:txBody>
      </p:sp>
      <p:sp>
        <p:nvSpPr>
          <p:cNvPr id="5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8C39D1C-E3EE-4859-B86E-BA211BF1EF0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3</a:t>
            </a:fld>
            <a:endParaRPr/>
          </a:p>
        </p:txBody>
      </p:sp>
      <p:sp>
        <p:nvSpPr>
          <p:cNvPr id="58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EB53CBFC-F822-458A-B530-C94723D1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48232f86f4ab0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  <p:sp>
        <p:nvSpPr>
          <p:cNvPr id="118" name="Rounded Rectangle 117">
            <a:extLst xmlns:a="http://schemas.openxmlformats.org/drawingml/2006/main">
              <a:ext uri="{FF2B5EF4-FFF2-40B4-BE49-F238E27FC236}">
                <a16:creationId xmlns:a16="http://schemas.microsoft.com/office/drawing/2014/main" id="{FE079BC8-614B-4945-A92D-37A45157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5833872"/>
            <a:ext cx="1078992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0160">
            <a:solidFill>
              <a:srgbClr val="FED7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외부 원인</a:t>
            </a:r>
          </a:p>
        </p:txBody>
      </p:sp>
      <p:sp>
        <p:nvSpPr>
          <p:cNvPr id="119" name="TextBox 118">
            <a:extLst xmlns:a="http://schemas.openxmlformats.org/drawingml/2006/main">
              <a:ext uri="{FF2B5EF4-FFF2-40B4-BE49-F238E27FC236}">
                <a16:creationId xmlns:a16="http://schemas.microsoft.com/office/drawing/2014/main" id="{D7A3D106-3D73-4FED-9071-F801193E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5824728"/>
            <a:ext cx="1993392" cy="161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18288" rIns="7315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19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산업·에너지·원자재·환율</a:t>
            </a:r>
          </a:p>
        </p:txBody>
      </p:sp>
    </p:spTree>
    <p:extLst>
      <p:ext uri="{BB962C8B-B14F-4D97-AF65-F5344CB8AC3E}">
        <p14:creationId xmlns:p14="http://schemas.microsoft.com/office/powerpoint/2010/main" val="13367675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B99993F-A36B-4D31-B307-EB57A691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BD662EF-EAA8-47A2-A6E4-CEB37A81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975C2FC-6593-40B4-B779-6EF975D9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구조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3B446AA-4BB0-49E7-82F2-C1DC50C1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요구사항 기반 화면 맵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0C8F4A9-17A2-467E-8FCB-92547381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2B21A4E-ED8D-4FD4-844F-643D6E65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COMMON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16631EC-C340-46A4-96A9-B9E03D06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7E8E9A-6E58-477E-AE4E-C447047F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MAP-01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009318F-7E16-4144-9DA8-3A910468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04 / 43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D530495-4756-420A-8048-EF4B26EA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448"/>
            <a:ext cx="123444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782EE2C-BAA0-4E8D-9BBE-13FE8EBE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307592"/>
            <a:ext cx="11247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회원·온보딩</a:t>
            </a:r>
            <a:endParaRPr sz="8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3FE634-1614-415D-AEBD-5228B66E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280160"/>
            <a:ext cx="1627632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5DB3EAB-C92B-403F-9F53-F54734BF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1353312"/>
            <a:ext cx="14813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D-AUT-01 시작</a:t>
            </a:r>
            <a:endParaRPr sz="87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CF4C190-8BED-4D24-9611-B8EAE822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1417320"/>
            <a:ext cx="146304" cy="16459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26B22CD-3827-4F79-8419-4EFD559A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280160"/>
            <a:ext cx="1627632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619AC48-B1D8-4317-9F51-6BAD368F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72" y="1353312"/>
            <a:ext cx="14813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D-AUT-02 로그인 선택</a:t>
            </a:r>
            <a:endParaRPr sz="87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BC658FD-2D03-4742-986B-20B80F48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1417320"/>
            <a:ext cx="146304" cy="16459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4565348-5050-440A-A13D-56B8A132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1280160"/>
            <a:ext cx="1627632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6C8B316-F522-49BD-951A-EECF98D4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353312"/>
            <a:ext cx="14813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D-ONB-01 투자 여부</a:t>
            </a:r>
            <a:endParaRPr sz="87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9B9ACF4-A5EC-4AB8-A025-EFA4DC07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1417320"/>
            <a:ext cx="146304" cy="16459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95FA3DB-1DAD-41BC-BF42-D7E8E830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280160"/>
            <a:ext cx="1627632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CE96486-D4E2-4492-9E9B-FB634693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1353312"/>
            <a:ext cx="14813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D-ONB-02 가상계좌</a:t>
            </a:r>
            <a:endParaRPr sz="87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42A93B7-421C-4F58-953A-640C908B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1417320"/>
            <a:ext cx="146304" cy="16459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35AA3B0-A4AD-4937-A69B-F030144E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280160"/>
            <a:ext cx="1627632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E9471A2-5FFD-4347-A661-1D8F3550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1353312"/>
            <a:ext cx="14813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D-WAT-01 관심종목</a:t>
            </a:r>
            <a:endParaRPr sz="87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1731A0AB-B23C-4900-8F16-9C180BAE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212848"/>
            <a:ext cx="123444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7B5356-3C85-43A6-9071-3B06F2CE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2221992"/>
            <a:ext cx="11247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탐색</a:t>
            </a:r>
            <a:endParaRPr sz="8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6555D0A-2ED0-4CF5-B4F9-01D31B3D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194560"/>
            <a:ext cx="1627632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EC25516-4FAB-4BBF-91F5-5F4092C0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267712"/>
            <a:ext cx="14813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D-GRP-01 메인 그래프</a:t>
            </a:r>
            <a:endParaRPr sz="87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D2BB595E-8A41-4AF7-A47C-65711B19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2331720"/>
            <a:ext cx="146304" cy="16459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406DD54D-A9DA-4ECD-A2C4-AD8C94A9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194560"/>
            <a:ext cx="1627632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CA9E424-0C4B-4835-8154-F9C8EC69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72" y="2267712"/>
            <a:ext cx="14813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D-GRP-02 동시 이슈</a:t>
            </a:r>
            <a:endParaRPr sz="87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D3861A2D-5417-4560-8080-076EE28A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2331720"/>
            <a:ext cx="146304" cy="16459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282BBA73-3A9D-4CA1-BC94-5BF8984F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194560"/>
            <a:ext cx="1627632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2E385F1-3FEA-475F-BED8-B847E1A6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267712"/>
            <a:ext cx="14813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D-GRP-03 영향 경로</a:t>
            </a:r>
            <a:endParaRPr sz="87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BC680A6D-39DA-475F-B334-D6A9CC1F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2331720"/>
            <a:ext cx="146304" cy="16459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2EE8D07-C0AA-4EB6-B6B7-DEE48F2C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194560"/>
            <a:ext cx="1627632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13EF22D9-A27C-4410-B160-C531FFA2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267712"/>
            <a:ext cx="14813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D-GRP-04 근거</a:t>
            </a:r>
            <a:endParaRPr sz="87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3365931F-9B3C-4B90-941C-0697C34B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2331720"/>
            <a:ext cx="146304" cy="16459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345B4678-E2F8-4DB8-91BA-7CE495D5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194560"/>
            <a:ext cx="1627632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AF744A6E-41D1-4569-B141-743F0AFC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2267712"/>
            <a:ext cx="14813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D-GRP-05 관계 설명</a:t>
            </a:r>
            <a:endParaRPr sz="87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37014BC3-CA0B-486F-8BA9-E144947D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27248"/>
            <a:ext cx="123444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1016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BFCE0B46-DE82-47F9-8C25-D79EA3D9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136392"/>
            <a:ext cx="11247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확장 기능</a:t>
            </a:r>
            <a:endParaRPr sz="85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E881D280-6423-416F-9A27-A4ED0BBA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08960"/>
            <a:ext cx="1627632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95D09977-9628-41F0-90F8-34BC0E17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3182112"/>
            <a:ext cx="14813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D-BRF-01 브리핑</a:t>
            </a:r>
            <a:endParaRPr sz="87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59E79DA-A19A-47D1-B95A-ADAD0236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3246120"/>
            <a:ext cx="146304" cy="16459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270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183B1EF2-1941-426A-B2D1-DCBEBF44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108960"/>
            <a:ext cx="1627632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487F8A9B-93F7-4A4C-A804-F22F81E7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72" y="3182112"/>
            <a:ext cx="14813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D-BRF-02 후속 사건</a:t>
            </a:r>
            <a:endParaRPr sz="87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46E129AD-526B-48F5-9408-68C4A78C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3246120"/>
            <a:ext cx="146304" cy="16459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270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2CC4F85F-65CE-4F0C-8F7F-C0AC9027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108960"/>
            <a:ext cx="1627632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F8A356BE-1A60-4E93-9118-85E4815F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182112"/>
            <a:ext cx="14813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D-COM-01 기업 상세</a:t>
            </a:r>
            <a:endParaRPr sz="87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46937283-07C8-4DCC-A054-682D139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3246120"/>
            <a:ext cx="146304" cy="16459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270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4E26174-3477-4682-A16E-72C21121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108960"/>
            <a:ext cx="1627632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EFDA88B9-E053-4F73-B8BC-CF10D4ED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182112"/>
            <a:ext cx="14813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D-AI-01 AI 질문</a:t>
            </a:r>
            <a:endParaRPr sz="870"/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8497A817-C29D-44B7-BA8B-8EF2432F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041648"/>
            <a:ext cx="123444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583A3C54-5E2C-49A8-9D8D-E68F35DF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4050792"/>
            <a:ext cx="11247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모바일</a:t>
            </a:r>
            <a:endParaRPr sz="850"/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B78873BB-9A04-467B-91F6-CD0DAF68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23360"/>
            <a:ext cx="1627632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0F187EFC-C462-467F-97EF-8552508B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4096512"/>
            <a:ext cx="14813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M-AUT-01 시작</a:t>
            </a:r>
            <a:endParaRPr sz="870"/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F0814119-ECF9-4099-B3F3-86F419C2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4160520"/>
            <a:ext cx="146304" cy="16459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17FB4397-0599-42A4-B2E5-A1EFA311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023360"/>
            <a:ext cx="1627632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8216F628-BFF6-43C1-BC82-4CFCA33E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72" y="4096512"/>
            <a:ext cx="14813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M-GRP-01 그래프</a:t>
            </a:r>
            <a:endParaRPr sz="870"/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809EC181-3E2E-459C-A1B5-F98629EF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4160520"/>
            <a:ext cx="146304" cy="16459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F404CF3F-98A8-4B1E-A2B2-5C7FD52B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4023360"/>
            <a:ext cx="1627632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4DFBD4AB-0025-42D1-AEAF-3D14D3FD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096512"/>
            <a:ext cx="14813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M-BRF-01 브리핑</a:t>
            </a:r>
            <a:endParaRPr sz="870"/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C7016762-BA32-433D-A50D-73C34851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4160520"/>
            <a:ext cx="146304" cy="16459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42695D58-E0CB-4819-BA8C-3BE9BBD3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023360"/>
            <a:ext cx="1627632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4938BE4F-B9D7-44BE-AC68-CC123F16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096512"/>
            <a:ext cx="14813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M-COM-01 기업</a:t>
            </a:r>
            <a:endParaRPr sz="870"/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A72E2935-39E3-4463-BAAF-D5996A07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4160520"/>
            <a:ext cx="146304" cy="16459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3CBC3C8C-2AE2-4B22-906C-7CD085E4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4023360"/>
            <a:ext cx="1627632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Text 69">
            <a:extLst xmlns:a="http://schemas.openxmlformats.org/drawingml/2006/main">
              <a:ext uri="{FF2B5EF4-FFF2-40B4-BE49-F238E27FC236}">
                <a16:creationId xmlns:a16="http://schemas.microsoft.com/office/drawing/2014/main" id="{99D37087-1249-499C-BE8D-AB4C889A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4096512"/>
            <a:ext cx="14813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M-AI-01 AI</a:t>
            </a:r>
            <a:endParaRPr sz="870"/>
          </a:p>
        </p:txBody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A71A6F4C-73AB-4045-B627-A807AFA6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956048"/>
            <a:ext cx="123444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10160">
            <a:solidFill>
              <a:srgbClr val="47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FFE6BB18-C15B-49ED-8D54-A9A0A473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4965192"/>
            <a:ext cx="11247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관리자</a:t>
            </a:r>
            <a:endParaRPr sz="850"/>
          </a:p>
        </p:txBody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5BB0D45D-B799-4F59-B324-08E126CF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37760"/>
            <a:ext cx="1627632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7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F2F9C3F1-D0C3-4362-AC98-603B9C6A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5010912"/>
            <a:ext cx="14813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A-ADM-01 대시보드</a:t>
            </a:r>
            <a:endParaRPr sz="870"/>
          </a:p>
        </p:txBody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7D76205E-470F-462C-B3A0-1394920B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5074920"/>
            <a:ext cx="146304" cy="16459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12700">
            <a:solidFill>
              <a:srgbClr val="47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69A18D4B-A791-4298-A599-51ED881D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937760"/>
            <a:ext cx="1627632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7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92A8FB94-1D3E-4551-ADE0-83BB6D0E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72" y="5010912"/>
            <a:ext cx="14813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A-ADM-02 이슈 관제</a:t>
            </a:r>
            <a:endParaRPr sz="870"/>
          </a:p>
        </p:txBody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0235A5DB-12AE-4FEA-9ABB-248378AB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5074920"/>
            <a:ext cx="146304" cy="16459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12700">
            <a:solidFill>
              <a:srgbClr val="47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B410B08B-D7DE-4A17-9439-642398D5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4937760"/>
            <a:ext cx="1627632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7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216D790B-5B8C-4BF5-8FE1-4028A3B7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010912"/>
            <a:ext cx="148132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A-ADM-03 운영·회원</a:t>
            </a:r>
            <a:endParaRPr sz="870"/>
          </a:p>
        </p:txBody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42B9CBB8-2626-4275-B44B-59DA7134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943600"/>
            <a:ext cx="1097280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8890">
            <a:solidFill>
              <a:srgbClr val="FDBA7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E6083A24-CADD-463F-87FE-3D0CE645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998464"/>
            <a:ext cx="1051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 b="0">
                <a:solidFill>
                  <a:srgbClr val="9A3412"/>
                </a:solidFill>
                <a:latin typeface="Malgun Gothic"/>
                <a:ea typeface="Malgun Gothic"/>
                <a:cs typeface="Malgun Gothic"/>
              </a:rPr>
              <a:t>관리자 화면은 요구사항에 있으나 기존 PPT 시안에 없어 화면 목록 수준으로 신규 반영했습니다.</a:t>
            </a:r>
            <a:endParaRPr sz="930"/>
          </a:p>
        </p:txBody>
      </p:sp>
      <p:sp>
        <p:nvSpPr>
          <p:cNvPr id="8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309169B-196B-42EC-BF40-0CCBA153476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4</a:t>
            </a:fld>
            <a:endParaRPr/>
          </a:p>
        </p:txBody>
      </p:sp>
      <p:sp>
        <p:nvSpPr>
          <p:cNvPr id="85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51A4E20A-0673-4DF0-9B77-4E443DFC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dad67ac4d4096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5957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6067500-3929-4FDA-A798-BDC469EE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8AD6ED1-1ECB-4736-AE04-CD6F0B78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E3B9A77-A397-4446-8A22-1EEE6BCD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회원·온보딩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92A96CE-C3C6-4D1D-AA0A-CAA8F6C3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처음 화면과 탐색의 시작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463D020-C35E-4474-8D87-18F3337E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F573070-B123-481C-B40B-2DB875AC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DESKTOP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6597681-8E62-4097-B1A3-51342FE7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1776E72-1C76-4B78-842E-5FE2EA11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D-AUT-01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0F8EBF0-7EB9-4374-B5E9-91EC572E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05 / 43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64F4E5F-3C18-402E-813E-732E9C1A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133856"/>
            <a:ext cx="7662672" cy="53400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9AA3B2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0182307d74f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" y="1170432"/>
            <a:ext cx="7589520" cy="5266944"/>
          </a:xfrm>
          <a:prstGeom xmlns:a="http://schemas.openxmlformats.org/drawingml/2006/main" prst="rect">
            <a:avLst/>
          </a:prstGeom>
        </p:spPr>
      </p:pic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946409B-0AF0-4E25-B00D-52DC5184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503" y="1120323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4FD9620-F02E-4E06-A0E0-91A6C571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223" y="1147755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3881D83-C062-43F9-822E-0929ADBB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" y="533387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16243E7-1FEE-46B6-808E-4CCB810E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" y="536131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19AF0F6-B15E-4040-95A0-62D335F8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170432"/>
            <a:ext cx="3429000" cy="5266944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DC8C4F2-FDBC-43CD-86DE-27B9A9B9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335024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진입 조건</a:t>
            </a:r>
            <a:endParaRPr sz="9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21E3ACA-4691-4785-BD3E-BE0EC5A6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563624"/>
            <a:ext cx="3063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서비스 첫 진입 또는 설정 미완료</a:t>
            </a:r>
            <a:endParaRPr sz="103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2332B99-8C49-40D2-B029-CDD220C1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03120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44DCAA6-C0EC-43BA-8148-4308829B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94560"/>
            <a:ext cx="13716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클릭·동작 결과</a:t>
            </a:r>
            <a:endParaRPr sz="10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C0471CC-D9E6-451B-B08E-EBD3CF7C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45973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7D204F3-20A9-422C-A74F-7E0FCC96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2487168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FF7818-F0BA-4877-8AA9-5E30F941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459736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시작 설정</a:t>
            </a:r>
            <a:endParaRPr sz="10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D00ACB6E-B7FC-4213-BB0B-640E66B0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697480"/>
            <a:ext cx="27614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D-AUT-02 시작 방식 선택 모달 표시</a:t>
            </a:r>
            <a:endParaRPr sz="96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FD0C451A-F7AE-4D26-9F2E-7966F6ED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40156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1148E0A-B9FA-480F-AD11-F21F29D3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342900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1E239CB3-E5ED-4AC1-8873-45A85569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401568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사용법</a:t>
            </a:r>
            <a:endParaRPr sz="105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0149019-E14D-4A8A-B83A-70AEE724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639312"/>
            <a:ext cx="27614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관계 그래프 튜토리얼 오버레이 표시</a:t>
            </a:r>
            <a:endParaRPr sz="96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69160EC8-F203-4241-A1CD-33FD148B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404104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3634574-FCBA-4923-BF2E-091774B4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504688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상태  기본 · 튜토리얼 열림 · 재방문</a:t>
            </a:r>
            <a:endParaRPr sz="89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9236BEB8-D207-4DBA-A494-EF3DFB45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769864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요구사항  FS-FR-001, 014~016</a:t>
            </a:r>
            <a:endParaRPr sz="89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9D4F71A1-3907-4063-A46E-01756E40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6053328"/>
            <a:ext cx="3099816" cy="3291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20F18243-9424-4024-925D-C5DDAE8D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96" y="6099048"/>
            <a:ext cx="29169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설정 전 예시 그래프는 개인 데이터가 아님을 명시</a:t>
            </a:r>
            <a:endParaRPr sz="830"/>
          </a:p>
        </p:txBody>
      </p:sp>
      <p:sp>
        <p:nvSpPr>
          <p:cNvPr id="3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F494AD8-BF12-481A-BAC1-633BEF4A7BE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5</a:t>
            </a:fld>
            <a:endParaRPr/>
          </a:p>
        </p:txBody>
      </p:sp>
      <p:sp>
        <p:nvSpPr>
          <p:cNvPr id="38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EAF907EA-7778-41C5-9809-8A598E03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af8a6e7954a99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8583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E79C95E-BEFC-4510-B5C7-F9026C5E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F1BE88E-1B29-4AE4-B5C9-D07D3157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92BCD4D-94C8-4A84-999D-D4E72B03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회원·온보딩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B63F45-A2A5-4083-AAD5-4E64703E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서비스 시작 방식 선택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13E92FF-1808-4739-8C8C-50D7B841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B7174C4-C28B-4320-984B-A4325AC1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DESKTOP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ACF8DE1-C2DC-4F1E-9B83-CD274758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7BD1F2A-23F0-4F9B-B0FA-FDCDF72D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D-AUT-02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94F5FDA-51DC-4276-BA56-6A016C23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06 / 43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3E2101E-35E2-457D-BFB3-0C5D28B7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133856"/>
            <a:ext cx="7662672" cy="53400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9AA3B2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891b3d4dc44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" y="1170432"/>
            <a:ext cx="7589520" cy="5266944"/>
          </a:xfrm>
          <a:prstGeom xmlns:a="http://schemas.openxmlformats.org/drawingml/2006/main" prst="rect">
            <a:avLst/>
          </a:prstGeom>
        </p:spPr>
      </p:pic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070CDF2-9444-432A-9E80-4441CC77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582" y="4491167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16CD0C8-EC15-48A1-9593-82F3F403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302" y="4518599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E1BF784-0829-4D2B-8299-33D91081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582" y="327977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63D5A08-08A4-4801-883E-C64F8DA4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302" y="3307202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6DE42BD-9C65-4C1C-9024-5B8BF35C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582" y="385913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6CD559D-D410-4ED7-ACE7-98B5B52A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302" y="3886566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0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54D82FA-AB84-4FEA-98D8-BC5E8743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170432"/>
            <a:ext cx="3429000" cy="5266944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4ADC3F5-BECC-43D5-86ED-389C5734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335024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진입 조건</a:t>
            </a:r>
            <a:endParaRPr sz="9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0A55B47-79E7-4E72-9E40-B16CB819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563624"/>
            <a:ext cx="3063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D-AUT-01에서 시작 설정 선택</a:t>
            </a:r>
            <a:endParaRPr sz="103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E47B43ED-A5FB-40A9-AF38-BBEC677E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03120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97FDFEE-E476-4338-B808-CF74E170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94560"/>
            <a:ext cx="13716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클릭·동작 결과</a:t>
            </a:r>
            <a:endParaRPr sz="10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CC522605-A9E8-475A-BFEA-E2266C36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45973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A469507-A8B3-45FB-9B01-FBD1C2AC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2487168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F3D190D-BEAA-4CF8-A160-C6D5CD31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459736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비회원 시작</a:t>
            </a:r>
            <a:endParaRPr sz="10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1AB2255-B323-4521-B5F7-A85F715E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697480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정책에 따라 D-WAT-01 또는 로그인 유도</a:t>
            </a:r>
            <a:endParaRPr sz="96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CAC2CACC-C2D9-4F5C-B301-3AE9B677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26440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37D579D9-A8BF-49A3-9D8C-91E801B0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329184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D5FAC66-70E9-4084-8DF2-DCDE3996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264408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이메일 시작</a:t>
            </a:r>
            <a:endParaRPr sz="10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8922BD03-CD8D-4FD9-86BE-4E2FB00E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502152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로그인/회원가입 폼 표시, 성공 시 이전 컨텍스트 복원</a:t>
            </a:r>
            <a:endParaRPr sz="96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CF9BA53F-437F-42D5-B918-76CE7588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06908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DA05592-4348-48B4-BE09-4E844EE2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4096512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0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38FF757D-8961-48B3-919D-A830928B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069080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소셜 로그인</a:t>
            </a:r>
            <a:endParaRPr sz="105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EC6A857E-7A7F-42F9-9B23-A7510854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306824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인증 화면 이동, 취소·실패 시 모달로 복귀</a:t>
            </a:r>
            <a:endParaRPr sz="96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8EDE1BFE-17E5-4A53-B95C-648D5164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404104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4416E1B3-E0A6-4617-AB40-734E8C72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504688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상태  입력 전 · 인증 중 · 실패 · 취소</a:t>
            </a:r>
            <a:endParaRPr sz="89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9B82A15F-584D-4C55-9539-FFCB50A2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769864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요구사항  FS-FR-001~007</a:t>
            </a:r>
            <a:endParaRPr sz="89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1B84D682-AACE-454A-A053-72396976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6053328"/>
            <a:ext cx="3099816" cy="3291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8890">
            <a:solidFill>
              <a:srgbClr val="FDBA7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48C35E2E-3FD5-4927-8A68-CD442F07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96" y="6099048"/>
            <a:ext cx="29169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0">
                <a:solidFill>
                  <a:srgbClr val="9A3412"/>
                </a:solidFill>
                <a:latin typeface="Malgun Gothic"/>
                <a:ea typeface="Malgun Gothic"/>
                <a:cs typeface="Malgun Gothic"/>
              </a:rPr>
              <a:t>인증 방식별 진입 화면과 실패 상태를 구분</a:t>
            </a:r>
            <a:endParaRPr sz="830"/>
          </a:p>
        </p:txBody>
      </p:sp>
      <p:sp>
        <p:nvSpPr>
          <p:cNvPr id="4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FA2745F-76C0-4398-BFA3-CC48220ECBE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6</a:t>
            </a:fld>
            <a:endParaRPr/>
          </a:p>
        </p:txBody>
      </p:sp>
      <p:sp>
        <p:nvSpPr>
          <p:cNvPr id="44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88B556D3-BFE3-45E1-9AFA-0DE3F750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c8c0cda3f405f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030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2B4331-3157-4D4C-8E84-0C59A377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EBA1A0-5003-43EF-AE3B-C02D0B59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398D929-024D-443F-A225-23C1353E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회원·온보딩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230C7A6-2297-4196-8C1E-00AEE9E4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투자 여부에 따른 온보딩 분기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B94738C-29FE-41E9-817F-339FFC82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84F5909-35D2-46C1-BEC9-22203A4A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DESKTOP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DA565D-56D4-41F7-B7C6-0385DEB3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805B60F-20B6-451F-B925-92C4F908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D-ONB-01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FB67A2D-D13F-4F8E-B203-ECD8FFCC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07 / 43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E54F6F5-699B-46F7-9A04-EF2ADE45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133856"/>
            <a:ext cx="7662672" cy="53400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9AA3B2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8f01ffcfa47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" y="1170432"/>
            <a:ext cx="7589520" cy="5266944"/>
          </a:xfrm>
          <a:prstGeom xmlns:a="http://schemas.openxmlformats.org/drawingml/2006/main" prst="rect">
            <a:avLst/>
          </a:prstGeom>
        </p:spPr>
      </p:pic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9EF50270-51CD-4073-8F74-4F807065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582" y="317443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6E7A99F7-592A-426B-9B30-45F4EE2F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302" y="3201863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F33C894-F90C-46B0-981A-D5FE85AD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582" y="375379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2CC6784-21A5-4685-B89C-A65A1710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302" y="3781227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4580748-04C0-4B42-BEB9-D0761D5B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170432"/>
            <a:ext cx="3429000" cy="5266944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FA4C5FD-DA0F-47AD-BCDC-2B54A805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335024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진입 조건</a:t>
            </a:r>
            <a:endParaRPr sz="9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ABA65AD-5A19-470E-A947-3D271F81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563624"/>
            <a:ext cx="3063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로그인/비회원 시작 완료 후 초기 설정 없음</a:t>
            </a:r>
            <a:endParaRPr sz="103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D5336C8-1B70-493A-9657-0ECB540A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03120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99F1D7E-36D0-46F4-BA16-9DC3C31B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94560"/>
            <a:ext cx="13716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클릭·동작 결과</a:t>
            </a:r>
            <a:endParaRPr sz="10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2A5D3FCC-CC25-418B-949C-C6896EDD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45973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4CFABA65-663A-43FF-BB4C-4D8597E4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2487168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70BDBD1-E4C4-421A-9FBA-4B5EF6DB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459736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보유 종목으로 보기</a:t>
            </a:r>
            <a:endParaRPr sz="10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FDE01D1-65DB-477D-A494-93285F5B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697480"/>
            <a:ext cx="27614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D-ONB-02 가상계좌 연결로 이동</a:t>
            </a:r>
            <a:endParaRPr sz="96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98F30CBB-D731-4484-B1BA-18A197FC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40156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85BE392-2C6B-4BA7-8D40-FB2F542B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342900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33FBE8F1-3020-41D8-90FA-229E9215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401568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관심 종목부터 보기</a:t>
            </a:r>
            <a:endParaRPr sz="105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380158B6-C19A-498D-9633-8955C9DE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639312"/>
            <a:ext cx="27614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D-WAT-01 관심종목 선택으로 이동</a:t>
            </a:r>
            <a:endParaRPr sz="96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BD779090-B1BB-4E56-9355-3868A75C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404104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C63B9721-EDF6-4FBF-81F4-6ECB0ED8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504688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상태  기본 · 선택 · 저장 중</a:t>
            </a:r>
            <a:endParaRPr sz="89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A8BE3056-CCC2-4C89-AD4A-D9717941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769864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요구사항  FS-FR-008</a:t>
            </a:r>
            <a:endParaRPr sz="89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C11EEEDA-DD6D-490B-B991-38460B46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6053328"/>
            <a:ext cx="3099816" cy="3291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1CFD76E6-01B7-4A66-B1AC-59278A3E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96" y="6099048"/>
            <a:ext cx="29169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분기 선택은 뒤로 가기 시 유지하고 설정에서 변경 가능</a:t>
            </a:r>
            <a:endParaRPr sz="830"/>
          </a:p>
        </p:txBody>
      </p:sp>
      <p:sp>
        <p:nvSpPr>
          <p:cNvPr id="3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24350B8-A5CD-422B-AA76-BDF1314D87D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7</a:t>
            </a:fld>
            <a:endParaRPr/>
          </a:p>
        </p:txBody>
      </p:sp>
      <p:sp>
        <p:nvSpPr>
          <p:cNvPr id="38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C1BF7A02-CDE5-4AD0-8ABA-CFCF0C7C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457eba47db4d1f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612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6274187-A052-4D83-86B6-A387198E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A452E72-85CA-4274-A887-8FA28786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C40B7D2-85F1-48EE-9A58-2F40473C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회원·온보딩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DD86A19-EFCD-464B-A917-6BD5C529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가상계좌 연결과 실패 처리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C930563-8C97-4149-B726-FA16EDD4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2D9003E-F899-43BC-91A2-5D397B97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DESKTOP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D8D6786-2DE4-4FAB-9AE8-0BDB92EA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27B933F-235C-43EC-A4C0-105BCA64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D-ONB-02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A382C20-3C66-42B9-92D0-FA08F785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08 / 43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4189E8C-94A9-47FF-A33B-65A04917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133856"/>
            <a:ext cx="7662672" cy="53400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9AA3B2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be6f0235349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" y="1170432"/>
            <a:ext cx="7589520" cy="5266944"/>
          </a:xfrm>
          <a:prstGeom xmlns:a="http://schemas.openxmlformats.org/drawingml/2006/main" prst="rect">
            <a:avLst/>
          </a:prstGeom>
        </p:spPr>
      </p:pic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3C4F32C-7803-43F4-B311-9427F8E2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582" y="412248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82571D6-F951-4D84-B435-153C4FB3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302" y="4149913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A1D1B1-E21C-49D9-8F57-36D33E11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34" y="412248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287119-EA99-4A84-AD9F-0BA8B921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454" y="4149913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2C5C849-C64F-4028-96D9-F4592324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9429" y="412248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FCB0FC7-6066-47E0-8903-791AB609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149" y="4149913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0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A1600F01-63A6-499A-AFE1-B49B2CD4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170432"/>
            <a:ext cx="3429000" cy="5266944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863CD9F-0E22-4A42-8667-01308531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335024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진입 조건</a:t>
            </a:r>
            <a:endParaRPr sz="9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514360A-DDD6-49CB-95AF-31B100F3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563624"/>
            <a:ext cx="3063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D-ONB-01에서 보유 종목 경로 선택</a:t>
            </a:r>
            <a:endParaRPr sz="103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A2EC51F-6F1A-441D-AB53-13FE718A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03120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4DAC76DA-8CFB-4BA6-B8A0-711E81DF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94560"/>
            <a:ext cx="13716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클릭·동작 결과</a:t>
            </a:r>
            <a:endParaRPr sz="10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D3DF70BB-5A87-413C-A0CE-BF7E7EB7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45973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43E1766-060E-4C07-890E-F5590518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2487168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23AB934-2C49-4F4E-81B0-8E1D251F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459736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예시 계좌 연결</a:t>
            </a:r>
            <a:endParaRPr sz="10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6B9E3F93-56AF-43C5-A496-872ABFCA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697480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로딩 후 보유자산 저장, D-GRP-01로 이동</a:t>
            </a:r>
            <a:endParaRPr sz="96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B4B9EA9-C29D-4C69-93A5-58D13530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26440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620907C6-E668-43FF-A893-B911FE30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329184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7F18E1F7-58CE-4F36-B7AF-7BCF2678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264408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재시도</a:t>
            </a:r>
            <a:endParaRPr sz="10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ABD9CE5-17BC-4D30-8F4E-F5F80BB3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502152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오류 메시지를 초기화하고 연결 요청 재실행</a:t>
            </a:r>
            <a:endParaRPr sz="96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24E26C3F-F6CA-4C48-923F-D78F7520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06908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28CEE49A-F98F-499B-B422-DFA2024C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4096512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0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463D88AB-998B-4E19-9DA8-B170A8AC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069080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건너뛰기</a:t>
            </a:r>
            <a:endParaRPr sz="105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85AB0F79-534F-4232-B8A0-C931999F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306824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D-WAT-01로 이동하며 계좌 미연결 상태 저장</a:t>
            </a:r>
            <a:endParaRPr sz="96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84851FFA-F7B0-4555-93E3-E077954D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404104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386D2CD8-EB8C-4A43-9EA1-14B98553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504688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상태  기본 · 연결 중 · 성공 · 실패</a:t>
            </a:r>
            <a:endParaRPr sz="89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439658D8-34B9-4121-A147-89087F8B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769864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요구사항  FS-FR-009·010·013</a:t>
            </a:r>
            <a:endParaRPr sz="89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C3A1DAEF-9F01-4D39-946F-CED7B11B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6053328"/>
            <a:ext cx="3099816" cy="3291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8295975-A9B6-4A00-A517-B9414EBA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96" y="6099048"/>
            <a:ext cx="29169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079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계좌 연동 범위가 모의 데이터 기준인지 모의 프로필인지 용어를 하나로 통일</a:t>
            </a:r>
            <a:endParaRPr sz="830"/>
          </a:p>
        </p:txBody>
      </p:sp>
      <p:sp>
        <p:nvSpPr>
          <p:cNvPr id="4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B563F56-72AF-419D-9A6A-1996D49B314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8</a:t>
            </a:fld>
            <a:endParaRPr/>
          </a:p>
        </p:txBody>
      </p:sp>
      <p:sp>
        <p:nvSpPr>
          <p:cNvPr id="44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A5F7160F-5186-4372-AF44-DDC890D1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9bc879a19497d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195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A18E936-6791-4E90-B1CB-9E80E1C5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614B1ED-853E-4F60-B9CB-BCA2D897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4EEB6D5-B564-41F7-8107-B01ED8AE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회원·온보딩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376A340-3491-4653-9C9E-4D4FB282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관심종목 검색·선택·완료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E134E65-6721-4A94-A898-7DCED29E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414D596-A8DB-47FF-89CC-E756DB48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DESKTOP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06AFB86-FB8D-4043-B7C1-7BB0DF66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84E82AC-744A-4901-865E-2CDB7410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D-WAT-01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F944EC6-D171-4D38-8AFF-0D2EB347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09 / 43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B25038F-4013-4B5D-900D-AD3651E2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133856"/>
            <a:ext cx="7662672" cy="53400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9AA3B2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491a6caa94f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" y="1170432"/>
            <a:ext cx="7589520" cy="5266944"/>
          </a:xfrm>
          <a:prstGeom xmlns:a="http://schemas.openxmlformats.org/drawingml/2006/main" prst="rect">
            <a:avLst/>
          </a:prstGeom>
        </p:spPr>
      </p:pic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8C38F4B0-9FC7-4761-A8C1-45B30E0D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324" y="3595787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945D0DB-F651-44CF-A119-4ECB1BD6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044" y="3623219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ABEDD407-A4FA-48EC-8C73-0458E762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582" y="322710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D3C314C-3F51-4A5C-8211-7B1514C5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302" y="3254532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7ADC776-3457-457D-AB72-907C7A66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81" y="3595787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1FD432B-12F1-42AB-A468-FCE9360B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101" y="3623219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0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0B1E4497-AB98-4088-A653-FB5AFE56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582" y="422782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183DE01-E777-4892-84C9-801D72D4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302" y="4255252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  <a:endParaRPr sz="10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C0D61B0-3053-4EEE-8D33-64EE0E4C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170432"/>
            <a:ext cx="3429000" cy="5266944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FA9C965-5583-4EB2-82CD-5796E9CE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335024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진입 조건</a:t>
            </a:r>
            <a:endParaRPr sz="9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63B4981-8F82-409C-9D52-7E42D8FA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563624"/>
            <a:ext cx="3063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비회원/관심 종목 분기 또는 설정에서 수정</a:t>
            </a:r>
            <a:endParaRPr sz="103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F7397628-BEE5-4882-A149-522C6098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03120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FFD5F36-E706-48A1-917B-18B9CE28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94560"/>
            <a:ext cx="13716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클릭·동작 결과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BD845B98-6202-45F1-908A-B01DB357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45973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B0E9C5B-0DBF-4EB3-8121-28279894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2487168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A264EB16-6761-40F5-A46B-CB9DD4AB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459736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선택 해제</a:t>
            </a:r>
            <a:endParaRPr sz="105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3E29D2D-CB9B-4773-A4D2-1ADBC17A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697480"/>
            <a:ext cx="276148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선택 카운트 감소, 완료 버튼 상태 갱신</a:t>
            </a:r>
            <a:endParaRPr sz="96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7A7D577-0E87-4A05-8DAE-F4488432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1363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657F534-1925-4742-A294-EFB64F4A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3163824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F36842E-B0B3-49FD-B80A-83DC13C3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136392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종목 검색</a:t>
            </a:r>
            <a:endParaRPr sz="10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CAF85088-33E1-4FC3-B478-09897FEE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374136"/>
            <a:ext cx="276148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검색 결과만 표시, 결과 없음 안내</a:t>
            </a:r>
            <a:endParaRPr sz="96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A7B66E5F-05EC-41FE-A42A-B069F61A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81304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01E3C5BC-C9CC-4384-B425-A047D6BC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384048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0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C0175973-0E6D-4B11-BA6A-717BCD1B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813048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종목 선택</a:t>
            </a:r>
            <a:endParaRPr sz="10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82E633B1-536C-4A65-A6AB-0C1628E5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050792"/>
            <a:ext cx="276148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선택 목록에 추가, 최대값 초과 시 안내</a:t>
            </a:r>
            <a:endParaRPr sz="96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047DB15-CD64-4A16-8E7D-FACFA7C1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48970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083466CA-CB65-4342-9B87-FEA09A4C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4517136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  <a:endParaRPr sz="100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96DCB725-3A1D-40A2-AAE6-DD6E3530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489704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선택 완료</a:t>
            </a:r>
            <a:endParaRPr sz="105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9833F198-04B0-40A1-9236-54616D30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727448"/>
            <a:ext cx="276148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저장 후 D-GRP-01 관심종목 모드로 이동</a:t>
            </a:r>
            <a:endParaRPr sz="96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7883C3AA-13D6-4606-A14B-D2B575E1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404104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2EF55115-0393-4BB9-B3AC-4E84D8B5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504688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상태  기본 · 검색 · 최대 선택 · 저장 실패</a:t>
            </a:r>
            <a:endParaRPr sz="89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56B9F321-30E1-464D-9224-241685FE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769864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요구사항  FS-FR-011~014·027</a:t>
            </a:r>
            <a:endParaRPr sz="890"/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DE813F48-153F-4DD4-BB58-71C1FFB9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6053328"/>
            <a:ext cx="3099816" cy="3291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8890">
            <a:solidFill>
              <a:srgbClr val="FDBA7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1879485C-77F8-4441-91F4-D5187ACE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96" y="6099048"/>
            <a:ext cx="29169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0">
                <a:solidFill>
                  <a:srgbClr val="9A3412"/>
                </a:solidFill>
                <a:latin typeface="Malgun Gothic"/>
                <a:ea typeface="Malgun Gothic"/>
                <a:cs typeface="Malgun Gothic"/>
              </a:rPr>
              <a:t>현재 PPT의 “최대 3개”는 요구사항 충돌 해결 후 확정</a:t>
            </a:r>
            <a:endParaRPr sz="830"/>
          </a:p>
        </p:txBody>
      </p:sp>
      <p:sp>
        <p:nvSpPr>
          <p:cNvPr id="4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CA66DBF-3535-4A1C-AC8C-DA9DC415D21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9</a:t>
            </a:fld>
            <a:endParaRPr/>
          </a:p>
        </p:txBody>
      </p:sp>
      <p:sp>
        <p:nvSpPr>
          <p:cNvPr id="50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F554E79E-9CEB-4578-A41D-8CD45A04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0010887354a68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5437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61C4410-97B2-4AF8-80E8-7888333C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3AD4874-E26E-4A5C-BF2D-30D203F5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86BC7C-1DBC-4BED-B9C0-E25041A4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관계 그래프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E4491C5-0E38-4139-B71F-7E99D72D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기업 선택과 상세 패널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3E1DABF-CBDE-49AA-BB6C-71D6745E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6279F85-F25D-4A45-B0FD-06B7B3CC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DESKTOP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08D8B02-38FE-4FEE-A207-6461DA31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E9773B1-C672-413D-BE43-41673F51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D-GRP-01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3E283AF-BF7A-4CEC-9C7D-85AAD88A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 / 43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4155F24-AAB6-4568-AEA8-5A986FF1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133856"/>
            <a:ext cx="7662672" cy="53400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9AA3B2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f10b1067349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" y="1170432"/>
            <a:ext cx="7589520" cy="5266944"/>
          </a:xfrm>
          <a:prstGeom xmlns:a="http://schemas.openxmlformats.org/drawingml/2006/main" prst="rect">
            <a:avLst/>
          </a:prstGeom>
        </p:spPr>
      </p:pic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82E9A7D-DDD3-4ED4-A38B-5246C8D9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" y="227905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5E84425-536A-41D9-ABD1-96CEF813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" y="2306483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C34FB1-BF39-4A44-B3F7-A4F2BF46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761" y="3595787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E9666B8-86B2-40F6-A5D7-C1A50BC9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1481" y="3623219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924F1D2-B57B-4F53-943C-6AC7DD97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170432"/>
            <a:ext cx="3429000" cy="5266944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8F1A2C1-048F-43DE-B87B-346302C7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335024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진입 조건</a:t>
            </a:r>
            <a:endParaRPr sz="9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53277D0-87E6-4BA6-A88B-A6FD003E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563624"/>
            <a:ext cx="3063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온보딩 완료 또는 상단 관계 그래프 메뉴</a:t>
            </a:r>
            <a:endParaRPr sz="103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1C85F681-A3F0-4EC0-8B6D-AD5B5CD9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03120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131D882E-A1A6-42E0-A38C-453D6296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94560"/>
            <a:ext cx="13716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클릭·동작 결과</a:t>
            </a:r>
            <a:endParaRPr sz="10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07FED1BA-65E6-4E7A-82CE-62620EAF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45973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A3906C4-3103-4FA0-8405-E370AC76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2487168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7869062F-9BF6-419E-A553-7238E8B0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459736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사이드바 기업</a:t>
            </a:r>
            <a:endParaRPr sz="10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6BA9E37E-124D-4B4D-B14B-0EE47E22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697480"/>
            <a:ext cx="27614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선택 기업 강조, 우측 기업 패널과 보유정보 갱신</a:t>
            </a:r>
            <a:endParaRPr sz="96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B85C396-6C33-43D8-B0A0-AD5DC920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40156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FC97806-8951-4675-8250-5F4582EE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342900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43D2C56-0F35-4AF2-84BE-F54F809B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401568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연결 이슈 카드</a:t>
            </a:r>
            <a:endParaRPr sz="105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A1C903B5-467A-40EA-90DC-02008201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639312"/>
            <a:ext cx="27614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D-GRP-03 영향 경로 상태로 전환</a:t>
            </a:r>
            <a:endParaRPr sz="96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A1342F51-8E27-4E5F-9A22-DE54A619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404104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7EE87CF8-19C1-4DEA-A6E4-7EF12EDB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504688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8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상태  전체 · 개인화 · 기업 선택 · 원인 선택 · 데이터 없음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52B51D15-2307-47C4-8E5C-710EF927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769864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요구사항  FS-FR-017~022·026</a:t>
            </a:r>
            <a:endParaRPr sz="89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E721EC88-04A0-47C3-8B91-1E5267B5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6053328"/>
            <a:ext cx="3099816" cy="3291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4EC58F3-615E-4A80-8DA1-69601496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96" y="6099048"/>
            <a:ext cx="29169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750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기본은 선택 노드 중심 1~2단계만 표시하고 전체 보기는 필터로 전환</a:t>
            </a:r>
          </a:p>
        </p:txBody>
      </p:sp>
      <p:sp>
        <p:nvSpPr>
          <p:cNvPr id="3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ABB15E8-B841-4C4E-905D-70EF0C1FB8A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10</a:t>
            </a:fld>
            <a:endParaRPr/>
          </a:p>
        </p:txBody>
      </p:sp>
      <p:sp>
        <p:nvSpPr>
          <p:cNvPr id="38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E02C7F50-CC74-4F65-AF36-F28CF08F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3c226a79e46f1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1A2F6E50-BFE7-4492-9793-1E9C1738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1353312"/>
            <a:ext cx="1847088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10160">
            <a:solidFill>
              <a:srgbClr val="C7D2F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기업 22개 · 원인 10종</a:t>
            </a:r>
          </a:p>
        </p:txBody>
      </p:sp>
      <p:sp>
        <p:nvSpPr>
          <p:cNvPr id="78" name="Rounded Rectangle 77">
            <a:extLst xmlns:a="http://schemas.openxmlformats.org/drawingml/2006/main">
              <a:ext uri="{FF2B5EF4-FFF2-40B4-BE49-F238E27FC236}">
                <a16:creationId xmlns:a16="http://schemas.microsoft.com/office/drawing/2014/main" id="{035BBDB2-A22A-410D-AF8E-E8FF8CA7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5641848"/>
            <a:ext cx="6629400" cy="5760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9" name="TextBox 78">
            <a:extLst xmlns:a="http://schemas.openxmlformats.org/drawingml/2006/main">
              <a:ext uri="{FF2B5EF4-FFF2-40B4-BE49-F238E27FC236}">
                <a16:creationId xmlns:a16="http://schemas.microsoft.com/office/drawing/2014/main" id="{BC4ACB2D-C4BC-41AA-9081-A3E8B840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5715000"/>
            <a:ext cx="768096" cy="1661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18288" rIns="7315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외부 원인</a:t>
            </a:r>
          </a:p>
        </p:txBody>
      </p:sp>
      <p:sp>
        <p:nvSpPr>
          <p:cNvPr id="80" name="Rounded Rectangle 79">
            <a:extLst xmlns:a="http://schemas.openxmlformats.org/drawingml/2006/main">
              <a:ext uri="{FF2B5EF4-FFF2-40B4-BE49-F238E27FC236}">
                <a16:creationId xmlns:a16="http://schemas.microsoft.com/office/drawing/2014/main" id="{728D9C51-C094-472D-AE0C-AE6FF449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5705856"/>
            <a:ext cx="603504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0160">
            <a:solidFill>
              <a:srgbClr val="FED7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산업</a:t>
            </a:r>
          </a:p>
        </p:txBody>
      </p:sp>
      <p:sp>
        <p:nvSpPr>
          <p:cNvPr id="81" name="Rounded Rectangle 80">
            <a:extLst xmlns:a="http://schemas.openxmlformats.org/drawingml/2006/main">
              <a:ext uri="{FF2B5EF4-FFF2-40B4-BE49-F238E27FC236}">
                <a16:creationId xmlns:a16="http://schemas.microsoft.com/office/drawing/2014/main" id="{0F60AB0E-2B86-4E2E-B4B5-7A921812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5705856"/>
            <a:ext cx="713232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0160">
            <a:solidFill>
              <a:srgbClr val="FED7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에너지</a:t>
            </a:r>
          </a:p>
        </p:txBody>
      </p:sp>
      <p:sp>
        <p:nvSpPr>
          <p:cNvPr id="82" name="Rounded Rectangle 81">
            <a:extLst xmlns:a="http://schemas.openxmlformats.org/drawingml/2006/main">
              <a:ext uri="{FF2B5EF4-FFF2-40B4-BE49-F238E27FC236}">
                <a16:creationId xmlns:a16="http://schemas.microsoft.com/office/drawing/2014/main" id="{EAB4B0F8-6D56-4D64-A7C4-6112E00D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5705856"/>
            <a:ext cx="713232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0160">
            <a:solidFill>
              <a:srgbClr val="FED7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원자재</a:t>
            </a:r>
          </a:p>
        </p:txBody>
      </p:sp>
      <p:sp>
        <p:nvSpPr>
          <p:cNvPr id="83" name="Rounded Rectangle 82">
            <a:extLst xmlns:a="http://schemas.openxmlformats.org/drawingml/2006/main">
              <a:ext uri="{FF2B5EF4-FFF2-40B4-BE49-F238E27FC236}">
                <a16:creationId xmlns:a16="http://schemas.microsoft.com/office/drawing/2014/main" id="{00936230-2A91-46D8-BC49-ABA98C30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5705856"/>
            <a:ext cx="603504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0160">
            <a:solidFill>
              <a:srgbClr val="FED7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환율</a:t>
            </a:r>
          </a:p>
        </p:txBody>
      </p:sp>
      <p:sp>
        <p:nvSpPr>
          <p:cNvPr id="84" name="Rounded Rectangle 83">
            <a:extLst xmlns:a="http://schemas.openxmlformats.org/drawingml/2006/main">
              <a:ext uri="{FF2B5EF4-FFF2-40B4-BE49-F238E27FC236}">
                <a16:creationId xmlns:a16="http://schemas.microsoft.com/office/drawing/2014/main" id="{E553AD98-FDF7-451C-BD14-F70AC933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776" y="5705856"/>
            <a:ext cx="603504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0160">
            <a:solidFill>
              <a:srgbClr val="FED7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금리</a:t>
            </a:r>
          </a:p>
        </p:txBody>
      </p:sp>
      <p:sp>
        <p:nvSpPr>
          <p:cNvPr id="85" name="Rounded Rectangle 84">
            <a:extLst xmlns:a="http://schemas.openxmlformats.org/drawingml/2006/main">
              <a:ext uri="{FF2B5EF4-FFF2-40B4-BE49-F238E27FC236}">
                <a16:creationId xmlns:a16="http://schemas.microsoft.com/office/drawing/2014/main" id="{99526F35-F90D-458B-8FDE-83E0BC76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432" y="5705856"/>
            <a:ext cx="603504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0160">
            <a:solidFill>
              <a:srgbClr val="FED7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규제</a:t>
            </a:r>
          </a:p>
        </p:txBody>
      </p:sp>
      <p:sp>
        <p:nvSpPr>
          <p:cNvPr id="86" name="Rounded Rectangle 85">
            <a:extLst xmlns:a="http://schemas.openxmlformats.org/drawingml/2006/main">
              <a:ext uri="{FF2B5EF4-FFF2-40B4-BE49-F238E27FC236}">
                <a16:creationId xmlns:a16="http://schemas.microsoft.com/office/drawing/2014/main" id="{BB480EA2-DB83-4305-BAAE-8EF3219A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5705856"/>
            <a:ext cx="603504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0160">
            <a:solidFill>
              <a:srgbClr val="FED7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수요</a:t>
            </a:r>
          </a:p>
        </p:txBody>
      </p:sp>
      <p:sp>
        <p:nvSpPr>
          <p:cNvPr id="87" name="Oval 86">
            <a:extLst xmlns:a="http://schemas.openxmlformats.org/drawingml/2006/main">
              <a:ext uri="{FF2B5EF4-FFF2-40B4-BE49-F238E27FC236}">
                <a16:creationId xmlns:a16="http://schemas.microsoft.com/office/drawing/2014/main" id="{D9A08D39-C955-4559-B5FA-F6BC2484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574243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88" name="Oval 87">
            <a:extLst xmlns:a="http://schemas.openxmlformats.org/drawingml/2006/main">
              <a:ext uri="{FF2B5EF4-FFF2-40B4-BE49-F238E27FC236}">
                <a16:creationId xmlns:a16="http://schemas.microsoft.com/office/drawing/2014/main" id="{AE32DFCF-E3A1-4D13-BB30-D5695168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37083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89" name="TextBox 88">
            <a:extLst xmlns:a="http://schemas.openxmlformats.org/drawingml/2006/main">
              <a:ext uri="{FF2B5EF4-FFF2-40B4-BE49-F238E27FC236}">
                <a16:creationId xmlns:a16="http://schemas.microsoft.com/office/drawing/2014/main" id="{209FDF24-43A5-49DE-9A63-3E0C9DFD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352544"/>
            <a:ext cx="2761488" cy="1813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18288" rIns="7315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원인·기업 범위 필터</a:t>
            </a:r>
          </a:p>
        </p:txBody>
      </p:sp>
      <p:sp>
        <p:nvSpPr>
          <p:cNvPr id="90" name="TextBox 89">
            <a:extLst xmlns:a="http://schemas.openxmlformats.org/drawingml/2006/main">
              <a:ext uri="{FF2B5EF4-FFF2-40B4-BE49-F238E27FC236}">
                <a16:creationId xmlns:a16="http://schemas.microsoft.com/office/drawing/2014/main" id="{9B6F7B71-1382-494A-BDF8-2201498F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590288"/>
            <a:ext cx="26700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18288" rIns="73152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→ 22개 기업과 산업·에너지·원자재·환율 등 원인 노드를 선택해 그래프 범위를 갱신</a:t>
            </a:r>
          </a:p>
        </p:txBody>
      </p:sp>
    </p:spTree>
    <p:extLst>
      <p:ext uri="{BB962C8B-B14F-4D97-AF65-F5344CB8AC3E}">
        <p14:creationId xmlns:p14="http://schemas.microsoft.com/office/powerpoint/2010/main" val="77962497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7251AB8-93FB-4FC9-BABE-CBBE424D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6A89C31-FB66-457B-9248-52F00865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3790C80-3D0C-4512-A28E-84175046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관계 그래프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46095AE-DD7C-48E4-AEF0-71263785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같은 시점의 여러 사건 펼치기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8E54D4D-137D-4FE9-BA90-03FE4061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616BC15-8926-4E27-9AE2-D14EA443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DESKTOP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FE19955-307D-4F60-9116-38C1DE35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16BBF18-1476-424A-91BA-D81EDFA0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D-GRP-02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01139DD-D3F9-4535-AD25-09D7659D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11 / 43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C7A0CDD-A785-4E42-859B-04ABFB4A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133856"/>
            <a:ext cx="7662672" cy="53400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9AA3B2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928353dba40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" y="1170432"/>
            <a:ext cx="7589520" cy="5266944"/>
          </a:xfrm>
          <a:prstGeom xmlns:a="http://schemas.openxmlformats.org/drawingml/2006/main" prst="rect">
            <a:avLst/>
          </a:prstGeom>
        </p:spPr>
      </p:pic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2EA0A6C-4A1A-4B73-84BB-6598497B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058" y="475451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9C76EAB-F62B-4D56-A546-21E9BC92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778" y="4781946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C9DA0BF5-B922-4C70-8506-FFF40477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049" y="5439217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8B1958B-93EA-4373-BF36-97DAC412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769" y="5466649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ABD6B88-11C8-4754-AE60-03AA921B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058" y="5439217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464370C-BFD8-407E-8502-8C704F2E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778" y="5466649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0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458B4331-5C73-4CA0-98FE-8AFE476C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170432"/>
            <a:ext cx="3429000" cy="5266944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A4789FE-36F7-4F33-8A40-B10D20AE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335024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진입 조건</a:t>
            </a:r>
            <a:endParaRPr sz="9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C3D56FB-1011-4D8B-A003-053ED954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563624"/>
            <a:ext cx="3063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기업 상세/그래프에서 동일 시각 사건 묶음 선택</a:t>
            </a:r>
            <a:endParaRPr sz="103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2ECF6BB4-A50D-42AF-B561-3D85ACD5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03120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4954D29-5D0F-49F4-A755-B81635B6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94560"/>
            <a:ext cx="13716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클릭·동작 결과</a:t>
            </a:r>
            <a:endParaRPr sz="10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4D22E0EC-C2DC-4681-829E-7A489FBB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45973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F7F4599-8472-47C1-AF0B-94B3AEEA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2487168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E7AB9DB2-7064-4936-805B-3B18D9C7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459736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동시 이슈 N건</a:t>
            </a:r>
            <a:endParaRPr sz="10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C230CD4-C282-428B-B946-B93E69DA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697480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같은 날짜·시각 사건을 개별 카드로 펼침</a:t>
            </a:r>
            <a:endParaRPr sz="96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3A425BEA-A434-4818-BE28-A65B32F3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26440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A1B87322-9D26-4CC5-BF23-6F0332FD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329184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9DC74AB-BBFF-4133-95FB-DCAD075D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264408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긍정 가능 이슈</a:t>
            </a:r>
            <a:endParaRPr sz="10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CC0D73D-DFBD-4F2C-9880-A32E0286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502152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긍정 경로와 설명으로 전환</a:t>
            </a:r>
            <a:endParaRPr sz="96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38611CA-1F05-4849-9969-FCA20C84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06908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4B22B79E-FA43-40C4-BB0D-4A5F2512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4096512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0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0739CF-FDFB-4921-BA51-005A0C55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069080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부정 가능 이슈</a:t>
            </a:r>
            <a:endParaRPr sz="105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AF06A168-FBCA-4FE9-9B3C-7C2A8A47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306824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부정 경로와 설명으로 전환</a:t>
            </a:r>
            <a:endParaRPr sz="96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9581A585-069A-4A03-A3F0-056FD4AF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404104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190710F4-5CD5-45B0-90D1-3AFBAFBD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504688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상태  묶음 · 펼침 · 사건 선택</a:t>
            </a:r>
            <a:endParaRPr sz="89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EA069F07-C80B-403E-BEC0-179DED39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769864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요구사항  FS-FR-021·022·041</a:t>
            </a:r>
            <a:endParaRPr sz="89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5C8FD141-B1E6-4787-B5C8-9BE6CF27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6053328"/>
            <a:ext cx="3099816" cy="3291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DA25CB53-17D6-4978-B513-8AF3CFD3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96" y="6099048"/>
            <a:ext cx="29169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742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자동 사건 분류 전/후를 화면 문구로 구분하지 않도록 운영 상태와 분리</a:t>
            </a:r>
            <a:endParaRPr sz="830"/>
          </a:p>
        </p:txBody>
      </p:sp>
      <p:sp>
        <p:nvSpPr>
          <p:cNvPr id="4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649A278-492C-45B9-B4FF-B2319421015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11</a:t>
            </a:fld>
            <a:endParaRPr/>
          </a:p>
        </p:txBody>
      </p:sp>
      <p:sp>
        <p:nvSpPr>
          <p:cNvPr id="44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F181B3D1-A5B4-4950-9DFF-8AC30AC5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37e8e983f4826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3808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AD3C380-49CE-460C-985F-51C0983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C2045A8-0FD7-4A18-B169-0816E7AB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35B0DF2-4EE7-4A6B-A6BD-8BEB0C1A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관계 그래프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CBB0156-34B4-4BAD-AA46-F7B28F32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사건 영향 경로와 근거 진입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AE3A8D4-D40E-4754-B777-E088B014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A35CBB0-0E0D-4BC8-8773-54BC2883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DESKTOP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A7433CF-EF9A-41F0-A2D4-670A7680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B00138-3CB4-41FF-BEDC-23C13086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D-GRP-03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26B2DB6-6D0B-40D1-AF7B-BC9F44F4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12 / 43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586CBFB-D34D-45AA-88BE-91D4A1FF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133856"/>
            <a:ext cx="7662672" cy="53400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9AA3B2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30c3f1cce49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" y="1170432"/>
            <a:ext cx="7589520" cy="5266944"/>
          </a:xfrm>
          <a:prstGeom xmlns:a="http://schemas.openxmlformats.org/drawingml/2006/main" prst="rect">
            <a:avLst/>
          </a:prstGeom>
        </p:spPr>
      </p:pic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D3030C1-B31C-421A-AD60-D5DCA4AC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477" y="3332439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41D096F-DD68-4B56-9F03-DC6ECA4C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197" y="3359871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8081184-EE88-421B-95CF-79B80898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761" y="459650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986DF54-C979-48D2-BDB8-5C931AD9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1481" y="4623938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6FADF27-511A-4054-9719-31EC30CD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170432"/>
            <a:ext cx="3429000" cy="5266944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EF3E0C1-7F6E-40CB-8A56-4F247D1A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335024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진입 조건</a:t>
            </a:r>
            <a:endParaRPr sz="9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779CD3F-3EAD-4B14-8D4D-923516F4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563624"/>
            <a:ext cx="3063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D-GRP-01·02에서 이슈 선택</a:t>
            </a:r>
            <a:endParaRPr sz="103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B538CBE-B608-4220-95F7-3267DB9A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03120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0A85F81-F5A1-4C20-9BD7-17515B88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94560"/>
            <a:ext cx="13716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클릭·동작 결과</a:t>
            </a:r>
            <a:endParaRPr sz="10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93A1AE8F-F68B-4017-AFE5-0ED1A51B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45973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EED1598-E355-4EA3-B70E-637F5DDF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2487168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B2E6E524-9EB1-47F3-A5F6-17691404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459736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강조된 연결선</a:t>
            </a:r>
            <a:endParaRPr sz="10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82B561E-4AE8-4DBB-ABCF-F594F9D6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697480"/>
            <a:ext cx="27614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선택 사건의 영향 방향·관계 유형·기업을 강조</a:t>
            </a:r>
            <a:endParaRPr sz="96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9C79BC99-5905-47FE-B7B4-9AA6FB39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40156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CDB131FF-F65A-4B2B-B600-56FD78CD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342900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2F12E75-F307-4004-A0B5-BCD42E22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401568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근거 구간</a:t>
            </a:r>
            <a:endParaRPr sz="105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A4F324C-BB03-4171-BCBE-60E3A209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639312"/>
            <a:ext cx="27614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D-GRP-04 근거 모달 표시</a:t>
            </a:r>
            <a:endParaRPr sz="96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CD43FCC-8CDF-47D1-BCE3-2BD4074C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404104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37617277-75B8-479F-8412-0E76C73D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504688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상태  경로 선택 · 부분 경로 · 근거 없음</a:t>
            </a:r>
            <a:endParaRPr sz="89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E5647C45-0CAC-432D-AA47-3BC228D9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769864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요구사항  FS-FR-022·024</a:t>
            </a:r>
            <a:endParaRPr sz="89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8ACEF394-E86A-44D7-B18C-E2A0EF98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6053328"/>
            <a:ext cx="3099816" cy="3291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D0317A70-2270-4505-A9FC-E2C633F0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96" y="6099048"/>
            <a:ext cx="29169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경로 방향은 색상뿐 아니라 화살표와 관계 라벨로 표시</a:t>
            </a:r>
            <a:endParaRPr sz="830"/>
          </a:p>
        </p:txBody>
      </p:sp>
      <p:sp>
        <p:nvSpPr>
          <p:cNvPr id="3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F39D223-4B89-402D-A348-00B1BE7113F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12</a:t>
            </a:fld>
            <a:endParaRPr/>
          </a:p>
        </p:txBody>
      </p:sp>
      <p:sp>
        <p:nvSpPr>
          <p:cNvPr id="38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5814DA88-D5EA-4CA5-8AB5-0AC00DB0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3ea9aab4940f0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35150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87A600-5E56-4B72-A72E-307795A9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18BC2AC-2C9A-48BB-A611-34F1D53D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12D5E61-3852-4732-BA29-DF398024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관계 그래프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0C7837C-3681-40EB-BAFC-9B41C368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관계 근거 문서 확인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F043D5B-CE3C-496C-B56A-D5D8B1D8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3DAED1E-2B85-4755-8466-B7647803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DESKTOP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1B73842-D135-4A9D-A315-D90B62ED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729C4EB-BA21-44F8-BAB8-315A411D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D-GRP-04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E6E1F94-54CA-4E79-8EB5-CBB4EC68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13 / 43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53A27D4-A2A2-424D-94B7-A80C7911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133856"/>
            <a:ext cx="7662672" cy="53400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9AA3B2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8971114c548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" y="1170432"/>
            <a:ext cx="7589520" cy="5266944"/>
          </a:xfrm>
          <a:prstGeom xmlns:a="http://schemas.openxmlformats.org/drawingml/2006/main" prst="rect">
            <a:avLst/>
          </a:prstGeom>
        </p:spPr>
      </p:pic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8D100D5-F987-4A3F-AECA-8CFFBDC9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228" y="3016423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AD98F60-3F8A-42B0-A846-9BB0A211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948" y="3043855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77D3FA8-AE50-4671-876A-0E760CB4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695" y="380646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4263C76-D022-44DC-B650-BE83E158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415" y="3833896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508A101-3198-4D97-ACF6-524E2442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170432"/>
            <a:ext cx="3429000" cy="5266944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10DF84E-50DF-488C-9307-3914C336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335024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진입 조건</a:t>
            </a:r>
            <a:endParaRPr sz="9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EA7F6CB-50B7-43A6-9B99-68003996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563624"/>
            <a:ext cx="3063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영향 경로 또는 간선 설명에서 근거 확인</a:t>
            </a:r>
            <a:endParaRPr sz="103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BFB55D8-A263-485C-A2A8-13F65B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03120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EFC67EC-553A-4CB5-A230-2AF6BE5A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94560"/>
            <a:ext cx="13716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클릭·동작 결과</a:t>
            </a:r>
            <a:endParaRPr sz="10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A2718C76-1F52-4E99-B7FA-F12474F6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45973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93AF6FA-2EA2-45EF-A23F-385D23FB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2487168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F261B84-937A-4EBB-864D-0EE941D2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459736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닫기</a:t>
            </a:r>
            <a:endParaRPr sz="10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8334D73-E54E-4C3F-87D3-EC1F0BB7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697480"/>
            <a:ext cx="27614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모달을 닫고 선택한 사건·경로 상태로 복귀</a:t>
            </a:r>
            <a:endParaRPr sz="96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6802704C-4ACB-4312-80EC-157EDF8D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40156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28B5B85A-9209-4C1D-BAB7-338973E8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342900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76D7496D-9948-4511-9C31-139BA7B5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401568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원문/구간</a:t>
            </a:r>
            <a:endParaRPr sz="105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34B028D-7F03-4E8E-BBE9-5D8CFEA7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639312"/>
            <a:ext cx="27614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문서 메타데이터와 인용 구간 표시, 가능 시 원문 새 창</a:t>
            </a:r>
            <a:endParaRPr sz="96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F5C55F41-D96E-4CAC-8A47-3F6F5A7E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404104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8CED56BD-D15D-4659-83BE-BFFBBDCA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504688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상태  로딩 · 표시 · 원문 없음 · 권한 제한</a:t>
            </a:r>
            <a:endParaRPr sz="89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9A2E3F24-294F-4354-9513-31BAD44E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769864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요구사항  FS-FR-024·043·050</a:t>
            </a:r>
            <a:endParaRPr sz="89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36163DF0-1847-42BC-B601-83BE5916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6053328"/>
            <a:ext cx="3099816" cy="3291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C142B808-DA90-4831-87E5-3781ECB3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96" y="6099048"/>
            <a:ext cx="29169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근거 문서와 원문 링크 링크를 명확히 분리</a:t>
            </a:r>
            <a:endParaRPr sz="830"/>
          </a:p>
        </p:txBody>
      </p:sp>
      <p:sp>
        <p:nvSpPr>
          <p:cNvPr id="3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98293E5-E8D9-4B51-B4D6-70AFCF9321B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13</a:t>
            </a:fld>
            <a:endParaRPr/>
          </a:p>
        </p:txBody>
      </p:sp>
      <p:sp>
        <p:nvSpPr>
          <p:cNvPr id="38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AAAECE8A-9F4E-49EC-8828-EA1D182A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0fa825500430a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54971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552A422-4D93-49FA-A8DB-4AE4BC9B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12875C2-5D6B-4E6E-9BA0-5EDFCCD8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50D2CFB-4934-46E1-B09C-C08375A5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관계 그래프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0D55BB1-FDD7-4918-BD52-4CA0EEE0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검색·필터와 관계선 선택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5CE6C95-1D0B-48D8-B246-EBF0F754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E6EABCE-7099-4390-89B7-4143246B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DESKTOP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9F04D1-614E-498E-BFF9-86C2F520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D3A5C05-EB9E-4DB4-B5C7-ECA10B65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D-GRP-05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531D877-4CAE-4D08-A458-E7566EF4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14 / 43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FD1F446-F926-4025-A0E4-A008EB7D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133856"/>
            <a:ext cx="7662672" cy="53400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9AA3B2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c7f24bc1547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" y="1170432"/>
            <a:ext cx="7589520" cy="5266944"/>
          </a:xfrm>
          <a:prstGeom xmlns:a="http://schemas.openxmlformats.org/drawingml/2006/main" prst="rect">
            <a:avLst/>
          </a:prstGeom>
        </p:spPr>
      </p:pic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428CF7C-C87F-428A-972F-BFCF4702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363" y="217371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957A62B-68CD-4AAD-8FA6-8043B606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083" y="2201144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6C779A6-7420-4574-AB7B-DE65ABE5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162" y="217371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9C20FEF-B8AC-4DF1-9258-E5C56743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882" y="2201144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F0F14AA-2996-442B-8AC5-AABF7FDD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686" y="285841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D5F2ACD-41B9-410D-A704-7C371856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406" y="2885846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0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CDBA0F-72AB-453B-8462-16642BFE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170432"/>
            <a:ext cx="3429000" cy="5266944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E6EFADC-6A2C-46AF-AF2C-809AFA2B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335024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진입 조건</a:t>
            </a:r>
            <a:endParaRPr sz="9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3C7E99B-70C1-4062-87C2-B28EC83D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563624"/>
            <a:ext cx="3063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D-GRP-01 기본 그래프</a:t>
            </a:r>
            <a:endParaRPr sz="103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8A22D426-737C-4716-8E72-D529EA69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03120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8FDE354-9573-4432-B7E0-8CC456A4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94560"/>
            <a:ext cx="13716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클릭·동작 결과</a:t>
            </a:r>
            <a:endParaRPr sz="10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20D04658-E9D2-4FC7-B9C5-0DEC5254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45973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92B3B40-A02D-41D0-B2EA-220D4C80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2487168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D96C16C-8750-451C-B6BA-7BAA4E64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459736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기업·제품·이슈 검색</a:t>
            </a:r>
            <a:endParaRPr sz="10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9AF91329-0D9D-4CBF-8CD6-4B7B2986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697480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일치 노드를 강조하고 나머지는 흐림</a:t>
            </a:r>
            <a:endParaRPr sz="96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B2A620A7-0E49-4AE8-8372-7DE52E42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26440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6C966418-C416-4791-9AED-964723A4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329184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0343F087-367F-4AEF-A388-482A976E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264408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관계 유형 필터</a:t>
            </a:r>
            <a:endParaRPr sz="10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4B6DC5CE-4B42-4DDD-95C4-B2405357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502152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선택 유형의 노드·간선만 우선 강조</a:t>
            </a:r>
            <a:endParaRPr sz="96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5911111-1B4F-47D3-B07E-5E3B7DD9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06908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F80DF8FF-65CA-4549-AE22-24B3D474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4096512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0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4789DA44-C508-413B-80EE-37DCBEFC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069080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기업 간 연결선</a:t>
            </a:r>
            <a:endParaRPr sz="105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78CC3141-EB80-476E-A05D-8B94A06F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306824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D-GRP-06 관계 설명 모달 표시</a:t>
            </a:r>
            <a:endParaRPr sz="96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AD08E1D3-441E-4771-8F93-F8FE5739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404104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DED1B7DE-0D3A-4BE9-B055-6BA68BC4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504688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상태  기본 · 검색 · 필터 · 결과 없음</a:t>
            </a:r>
            <a:endParaRPr sz="89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AB18BA6A-1715-4C64-8CB0-DE9FF030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769864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요구사항  FS-FR-018·019·023</a:t>
            </a:r>
            <a:endParaRPr sz="89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786B3155-4DFB-4EB6-89E2-98824DCB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6053328"/>
            <a:ext cx="3099816" cy="3291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B50B4B0F-EB33-48A9-895F-8E191AF0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96" y="6099048"/>
            <a:ext cx="29169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필터는 삭제가 아니라 가시성/강조를 변경</a:t>
            </a:r>
            <a:endParaRPr sz="830"/>
          </a:p>
        </p:txBody>
      </p:sp>
      <p:sp>
        <p:nvSpPr>
          <p:cNvPr id="4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C40BA70-D06C-45D2-98CD-BCFBF64EEA3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14</a:t>
            </a:fld>
            <a:endParaRPr/>
          </a:p>
        </p:txBody>
      </p:sp>
      <p:sp>
        <p:nvSpPr>
          <p:cNvPr id="44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AF69CE17-D3A7-4D3E-A562-64BFD6D8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754e3eead45af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5802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346E7BF-2186-4366-B8EA-6E884B9D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2B48177-66C3-4BE0-91C6-DAC8FB01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35B5BDD-45AE-4964-B9B6-CC56030A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관계 그래프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2D65A16-CFE0-499A-B259-00C83471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기업 간 관계 설명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804B9AE-90E2-49A0-B5D9-CBD39565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867A19F-ED55-4A59-B77C-D1C259A1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DESKTOP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95A5867-A7FC-458D-A8CA-F1628CC0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99CFC9-03A7-4D0B-883F-D61B42BC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D-GRP-06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3C7AE5C-81E2-4B72-B07A-31FF88BD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15 / 43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5ED00BE-03B7-45CA-891C-A636FDFB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133856"/>
            <a:ext cx="7662672" cy="53400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9AA3B2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1b1f9b0fc49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" y="1170432"/>
            <a:ext cx="7589520" cy="5266944"/>
          </a:xfrm>
          <a:prstGeom xmlns:a="http://schemas.openxmlformats.org/drawingml/2006/main" prst="rect">
            <a:avLst/>
          </a:prstGeom>
        </p:spPr>
      </p:pic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173365F-D9A0-40D9-B0C5-7DDA901F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228" y="280574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D3D884E-F7F1-4CAC-965E-E1531D41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948" y="2833177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CF3D52B-E936-4B25-9BE9-49D63A2E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590" y="3543117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CA3565D-39A0-4BCE-A65E-5E2B5E33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310" y="3570549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FF2A60-A95E-47D1-98D6-73BDC2C3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170432"/>
            <a:ext cx="3429000" cy="5266944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BDF396E-DBFA-4098-842E-C9C67EE8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335024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진입 조건</a:t>
            </a:r>
            <a:endParaRPr sz="9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5F9C569-137D-4290-BDEF-BFEB4CEF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563624"/>
            <a:ext cx="3063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D-GRP-05에서 기업 간 간선 선택</a:t>
            </a:r>
            <a:endParaRPr sz="103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BD59F6F-0182-479D-92ED-1282752E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03120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18E29422-232E-46DB-AC8C-0119164A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94560"/>
            <a:ext cx="13716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클릭·동작 결과</a:t>
            </a:r>
            <a:endParaRPr sz="10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3F18DA44-6783-4F1F-BB00-BC5C4A40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45973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A84254C-368F-4E0E-B248-D0B75B82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2487168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11D3EE3-8C29-4821-988D-75595361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459736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닫기</a:t>
            </a:r>
            <a:endParaRPr sz="10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0B0A302-1A97-4CE1-8092-9F6D4926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697480"/>
            <a:ext cx="27614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모달 닫기 후 기존 필터·선택 유지</a:t>
            </a:r>
            <a:endParaRPr sz="96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0B9236F-2D9C-4726-90DC-BE3877AB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40156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2F126F57-9F79-4EDB-89CA-34604E57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342900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01F321AF-6ABB-497F-907D-C523628C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401568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근거 확인</a:t>
            </a:r>
            <a:endParaRPr sz="105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62D4E50A-3860-40A4-B35B-7DD5222D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639312"/>
            <a:ext cx="27614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D-GRP-04 근거 모달로 전환</a:t>
            </a:r>
            <a:endParaRPr sz="96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D5C45529-F080-407E-85AF-CF2AFCAF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404104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366F023C-15ED-4078-A259-26612E44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504688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상태  설명 로딩 · 표시 · 근거 없음</a:t>
            </a:r>
            <a:endParaRPr sz="89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24FD6152-718A-4EB3-87C6-8CF842AB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769864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요구사항  FS-FR-023·024</a:t>
            </a:r>
            <a:endParaRPr sz="89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52D3D87-5777-4CE2-8F24-E4877FDE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6053328"/>
            <a:ext cx="3099816" cy="3291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F92A4A-375B-4A79-A369-2D766C83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96" y="6099048"/>
            <a:ext cx="29169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경쟁·고객사·공급 등 관계 유형을 제목과 라벨로 명시</a:t>
            </a:r>
            <a:endParaRPr sz="830"/>
          </a:p>
        </p:txBody>
      </p:sp>
      <p:sp>
        <p:nvSpPr>
          <p:cNvPr id="3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286E7A7-745E-4489-A83A-6B75E0E629D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15</a:t>
            </a:fld>
            <a:endParaRPr/>
          </a:p>
        </p:txBody>
      </p:sp>
      <p:sp>
        <p:nvSpPr>
          <p:cNvPr id="38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92D13206-4BE6-46FF-BD64-7A0B4D31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a81244edb4900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46930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F1DA67-FAA5-4359-ABF5-F4AF0294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26D3"/>
          </a:solidFill>
          <a:ln xmlns:a="http://schemas.openxmlformats.org/drawingml/2006/main" w="1270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4B1EA1A-7EFB-44F1-BBF6-1EC00FCD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C026D3"/>
          </a:solidFill>
          <a:ln xmlns:a="http://schemas.openxmlformats.org/drawingml/2006/main" w="1016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073A8EE-CC5D-4ED4-8699-8F2AC6A9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질문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FE96A9D-C673-4A1F-B0ED-714699A4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선택 맥락으로 질문하고 근거 탐색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D164147-8962-4CF8-9446-A04493D5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D004F3-4683-46B0-B646-43B9E789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C026D3"/>
                </a:solidFill>
                <a:latin typeface="Malgun Gothic"/>
                <a:ea typeface="Malgun Gothic"/>
                <a:cs typeface="Malgun Gothic"/>
              </a:rPr>
              <a:t>DESKTOP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543F3F1-671A-4C9D-992A-118278FB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C026D3"/>
          </a:solidFill>
          <a:ln xmlns:a="http://schemas.openxmlformats.org/drawingml/2006/main" w="1016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3964D32-F174-4B4C-A522-BCCA43BD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D-AI-01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DE7CF80-F948-476E-8881-D89D5F46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16 / 43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FFD464-6AF9-4D37-9BC1-2DB5A4F0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133856"/>
            <a:ext cx="7662672" cy="53400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9AA3B2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d17aec17743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" y="1170432"/>
            <a:ext cx="7589520" cy="5266944"/>
          </a:xfrm>
          <a:prstGeom xmlns:a="http://schemas.openxmlformats.org/drawingml/2006/main" prst="rect">
            <a:avLst/>
          </a:prstGeom>
        </p:spPr>
      </p:pic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CF3D047F-BA00-4920-95A1-3F0BB04A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9953" y="227905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26D3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F378124-DC17-4AF0-B7B3-2FB7DF3F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673" y="2306483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75EEA2F-B9B4-4DD9-9CD7-F90099F1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630" y="4491167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26D3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6C570AE-5C0C-42B0-91E6-8FF1B1DC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350" y="4518599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7832C2E-5F6F-431A-9BAE-92CFD2B1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8599" y="159434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26D3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2B3E1D0-7A49-4512-957F-032A33BE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4319" y="162178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0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97D428C-EB14-4D88-B4DF-C35652C0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170432"/>
            <a:ext cx="3429000" cy="5266944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A193622-406D-46F2-9C5E-A6EE99F0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335024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C026D3"/>
                </a:solidFill>
                <a:latin typeface="Malgun Gothic"/>
                <a:ea typeface="Malgun Gothic"/>
                <a:cs typeface="Malgun Gothic"/>
              </a:rPr>
              <a:t>진입 조건</a:t>
            </a:r>
            <a:endParaRPr sz="9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3E975DB-38C7-498D-8381-6897CE27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563624"/>
            <a:ext cx="3063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그래프·기업·이슈 화면에서 AI 질문 진입</a:t>
            </a:r>
            <a:endParaRPr sz="103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8F7E116C-403A-4134-AE4A-22167E1D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03120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CC237A5-7F13-4532-92C8-DD51E297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94560"/>
            <a:ext cx="13716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클릭·동작 결과</a:t>
            </a:r>
            <a:endParaRPr sz="10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CD20B232-A4D9-4074-A576-CEFBF4B6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45973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26D3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0421356E-5288-4488-B3C1-6A0B7DC7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2487168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933E59A-2397-4773-9F49-042B9CB4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459736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추천 질문</a:t>
            </a:r>
            <a:endParaRPr sz="10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2D5B94FE-A10E-4444-88A0-5DA04FE2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697480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현재 기업·이슈를 포함해 질문 전송</a:t>
            </a:r>
            <a:endParaRPr sz="96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979FAC-0409-4087-BA1A-355B2CD5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26440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26D3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3EC53C0-82F0-42AE-870D-4A80DF81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329184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E619139-20FE-41CA-AB84-1EA7F450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264408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입력/보내기</a:t>
            </a:r>
            <a:endParaRPr sz="10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B322FBE8-4F6B-4972-90A6-8A193C91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502152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전송 중 입력 잠금, 답변·근거·재시도 표시</a:t>
            </a:r>
            <a:endParaRPr sz="96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CD1D8F3E-CDAE-4690-BD75-5E43EC2C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06908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26D3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940933DD-A642-4938-AB5D-3C70D46D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4096512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0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8032D4E7-A4A0-4F72-8704-59931AD9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069080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새 대화</a:t>
            </a:r>
            <a:endParaRPr sz="105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0D327167-B578-48B7-9C3F-6C8E2630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306824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확인 후 대화 초기화, 현재 화면 맥락은 유지</a:t>
            </a:r>
            <a:endParaRPr sz="96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B17B8191-F94A-4CBE-A33E-8626F293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404104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8ACAC8A8-8485-4CBC-94EF-01AA2163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504688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상태  입력 · 전송 중 · 되묻기 · 답변 · 실패</a:t>
            </a:r>
            <a:endParaRPr sz="89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069AF432-6A50-4C99-B32D-6DE90AF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769864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C026D3"/>
                </a:solidFill>
                <a:latin typeface="Malgun Gothic"/>
                <a:ea typeface="Malgun Gothic"/>
                <a:cs typeface="Malgun Gothic"/>
              </a:rPr>
              <a:t>요구사항  FS-FR-045~053</a:t>
            </a:r>
            <a:endParaRPr sz="89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9D229107-5205-4610-A513-02D3B129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6053328"/>
            <a:ext cx="3099816" cy="3291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88016DAC-4EDA-4587-A120-18083342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96" y="6099048"/>
            <a:ext cx="29169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AI 답변 안내 문구는 삭제하고 요구사항상 AI 처리 상태를 명세</a:t>
            </a:r>
            <a:endParaRPr sz="830"/>
          </a:p>
        </p:txBody>
      </p:sp>
      <p:sp>
        <p:nvSpPr>
          <p:cNvPr id="4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D00BF07-16B6-49B3-9D1E-677E769EF78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16</a:t>
            </a:fld>
            <a:endParaRPr/>
          </a:p>
        </p:txBody>
      </p:sp>
      <p:sp>
        <p:nvSpPr>
          <p:cNvPr id="44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63904D43-98EC-4656-AE25-B49C3135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c4d4c13ba4439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799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7EA96F7-2A06-40BD-B041-40FF2581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270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803A985-870A-47B3-BCCB-B5674B67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1016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938D15B-D3BC-42C1-B525-EC094CC1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출퇴근 브리핑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3A6251B-9471-47DA-8292-1D5B28DF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출근·퇴근 회차와 요약 전환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EBD4B25-977A-4C2A-8465-965DD4C2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EACB4B0-4A4A-44A7-B3C2-FE2A19AF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DESKTOP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D88802C-7C81-4B38-AD59-F3D6EBBA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1016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7CE3E8F-70A5-4520-9CFC-EF454AF9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D-BRF-01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06E4375-2764-45E9-BD7E-DD905128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17 / 43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7A8F63-F174-4AF5-B656-D3F3D35A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133856"/>
            <a:ext cx="7662672" cy="53400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9AA3B2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04d310f264a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" y="1170432"/>
            <a:ext cx="7589520" cy="5266944"/>
          </a:xfrm>
          <a:prstGeom xmlns:a="http://schemas.openxmlformats.org/drawingml/2006/main" prst="rect">
            <a:avLst/>
          </a:prstGeom>
        </p:spPr>
      </p:pic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A1ED3A7-EC01-4C38-9E7F-8EF7C16B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970" y="1647017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6E763DF7-D3FA-424D-99AE-59BBF48D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690" y="1674449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C334361B-EDCB-41D9-A08B-5C6B30B2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132" y="1647017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7A33165-B6F5-411A-9E09-0E1797BD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852" y="1674449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9FE03E26-30D4-4FB5-A540-C3E10D5A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" y="212104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6E47134-9020-4091-A7F7-2E970514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07" y="2148474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0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94307D0F-7C45-4649-8DCC-5330893C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170432"/>
            <a:ext cx="3429000" cy="5266944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84D58929-F96D-47B5-BB76-362DD4B4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335024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진입 조건</a:t>
            </a:r>
            <a:endParaRPr sz="9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73D4838-02F3-434D-A90B-C6368482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563624"/>
            <a:ext cx="3063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상단 브리핑 메뉴 또는 알림 링크</a:t>
            </a:r>
            <a:endParaRPr sz="103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C1087E58-38D6-4C46-BC1B-B5217393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03120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311A81A-DEC1-4E7E-A15A-EC2C9286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94560"/>
            <a:ext cx="13716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클릭·동작 결과</a:t>
            </a:r>
            <a:endParaRPr sz="10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209BAD5-BE1B-4D71-AF4D-8D262305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45973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665A1272-2271-4A3F-B4E7-9FE0FE20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2487168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8AD96F19-29FB-4849-9A5C-02870DD8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459736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출근 08:00</a:t>
            </a:r>
            <a:endParaRPr sz="10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D6D7558-241D-4149-B8EC-2A8DADBF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697480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밤사이 핵심 이슈·시장 변수·관계 표시</a:t>
            </a:r>
            <a:endParaRPr sz="96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46EB66FD-6D6B-4299-833F-3FF5C14E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26440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9F44058E-915A-4876-99A2-89B0CF70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329184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26226A22-1AB8-4199-8A5C-73BB167A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264408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퇴근 18:00</a:t>
            </a:r>
            <a:endParaRPr sz="10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DFAEA02F-152E-40B3-9C87-71A32500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502152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당일 후속 사건과 변경 경로 추가</a:t>
            </a:r>
            <a:endParaRPr sz="96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14167487-A9FE-411A-B0D4-A1A989F7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06908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3CF95D60-001C-462B-8E1D-4486484C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4096512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0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E9A2D3C7-D86D-4996-8F7A-02789EC8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069080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요약으로 읽기</a:t>
            </a:r>
            <a:endParaRPr sz="105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841D573B-7FD4-4D79-BCB4-D75FAB12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306824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동일 회차 데이터를 문장형 요약으로 전환</a:t>
            </a:r>
            <a:endParaRPr sz="96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F7C6C41-8963-4CDD-A115-15829D4D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404104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564783F9-8E4B-43FB-AC50-A68B692F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504688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상태  생성 중 · 발행 · 정정 · 회차 없음</a:t>
            </a:r>
            <a:endParaRPr sz="89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7487BF45-14C6-465C-B82A-9675CBB3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769864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요구사항  FS-FR-028~036</a:t>
            </a:r>
            <a:endParaRPr sz="89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3EFFA6CF-E88E-47AF-A3F6-24637628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6053328"/>
            <a:ext cx="3099816" cy="3291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1A0C5E4A-0569-430C-9E4B-484E8AD3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96" y="6099048"/>
            <a:ext cx="29169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브리핑 데이터 안내는 문서 주석으로만 유지</a:t>
            </a:r>
            <a:endParaRPr sz="830"/>
          </a:p>
        </p:txBody>
      </p:sp>
      <p:sp>
        <p:nvSpPr>
          <p:cNvPr id="4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0A84C84-ECFB-4332-A732-CF326FB8FBC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17</a:t>
            </a:fld>
            <a:endParaRPr/>
          </a:p>
        </p:txBody>
      </p:sp>
      <p:sp>
        <p:nvSpPr>
          <p:cNvPr id="44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399715FB-8B5F-4FA7-A83D-2D708459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9d057bb214e56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82449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111D15-C21A-4AD1-A0E8-83F2459D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270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3B3929C-90BF-49EC-8880-6D611342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1016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85BA32-52DE-42CE-A853-EB647B50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출퇴근 브리핑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E5A0A51-08C7-4E24-B9C3-B8E6DE0B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후속 사건과 기존 경로 비교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37EC02B-6B64-470F-958B-632898C6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557515F-2537-4919-9956-4603B59A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DESKTOP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E1B2110-646E-49D6-B3E9-8A8EA690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1016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EA6F89A-0766-4253-8335-254A70B4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D-BRF-02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2B2DE88-609B-4C37-811E-B8C7D93B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18 / 43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6C12EA0-5C32-4BC5-AB68-6876927B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133856"/>
            <a:ext cx="7662672" cy="53400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9AA3B2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d55aa715f4e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" y="1170432"/>
            <a:ext cx="7589520" cy="5266944"/>
          </a:xfrm>
          <a:prstGeom xmlns:a="http://schemas.openxmlformats.org/drawingml/2006/main" prst="rect">
            <a:avLst/>
          </a:prstGeom>
        </p:spPr>
      </p:pic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77846CC4-E6C7-4BD4-A709-09940B54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372" y="5281209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D0295DF-B397-407F-9447-A08519D5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092" y="5308641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0D937BB-8A43-4809-869C-52391EF4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228" y="5281209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2CE0D73-5286-4E00-8833-416AD7C5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948" y="5308641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6962BF5-EE82-4798-9B04-C76B4505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075" y="3964473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18FD282-1ADA-4D12-ADBE-547F3695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795" y="3991905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0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FDCF8510-DC9B-462B-8F0C-61FE0705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170432"/>
            <a:ext cx="3429000" cy="5266944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25C8223-5A6A-4B5E-8068-B7F94BBE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335024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진입 조건</a:t>
            </a:r>
            <a:endParaRPr sz="9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F37BE3E-8EEA-4B3B-85A6-BB55C519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563624"/>
            <a:ext cx="3063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D-BRF-01에서 퇴근 회차 선택</a:t>
            </a:r>
            <a:endParaRPr sz="103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5EA919C5-4104-49F2-B150-23DE9B72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03120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AC8B5E4-024F-4968-9920-47ABB24B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94560"/>
            <a:ext cx="13716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클릭·동작 결과</a:t>
            </a:r>
            <a:endParaRPr sz="10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842602CF-0ECB-4F37-B7BC-981EA4C0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45973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3475C26-A1E3-4646-A6E8-A807D615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2487168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5CAA6D02-6E32-4E69-8391-C5A42F56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459736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규제 부담 경로</a:t>
            </a:r>
            <a:endParaRPr sz="10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5158D3-8D7B-496F-B4FF-1A8130BB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697480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부정 영향 경로와 설명으로 전환</a:t>
            </a:r>
            <a:endParaRPr sz="96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E858E3BA-9BDC-479B-B6AC-7B0D8452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26440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74EE4E8-5CAA-40EF-A53E-49FCD963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329184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79DD36E3-DA56-4214-AEAB-72CC23A9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264408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전망 보강 경로</a:t>
            </a:r>
            <a:endParaRPr sz="10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8E65760C-AD6F-4017-BFED-359D82A5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502152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후속 사건과 HBM 연결을 강조</a:t>
            </a:r>
            <a:endParaRPr sz="96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95ED359-BA9C-4E23-8719-790A716C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06908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2865D6CD-B631-483D-94B4-9EFBB4DD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4096512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0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D3BEC40E-A9E2-4F48-8D93-DF858625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069080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연결 근거</a:t>
            </a:r>
            <a:endParaRPr sz="105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86CFB5C8-67C3-4B11-953B-A9884193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306824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우측 패널에서 근거 목록을 펼침</a:t>
            </a:r>
            <a:endParaRPr sz="96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772F1F84-7F79-4F3A-A864-6E14BC11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404104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F72CA033-A061-4533-9142-2CCB1E99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504688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상태  기존 · 신규 · 정정 · 평가 완료</a:t>
            </a:r>
            <a:endParaRPr sz="89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5A1D7E9-243A-4B41-B2B8-C11DB18E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769864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요구사항  FS-FR-030~037</a:t>
            </a:r>
            <a:endParaRPr sz="89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81612540-496C-4E2E-9031-EFA1DCD7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6053328"/>
            <a:ext cx="3099816" cy="3291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D7D90D85-5325-4544-9DF2-019BD32A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96" y="6099048"/>
            <a:ext cx="29169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좋아요/싫어요 결과는 해당 회차에 연결해 저장</a:t>
            </a:r>
            <a:endParaRPr sz="830"/>
          </a:p>
        </p:txBody>
      </p:sp>
      <p:sp>
        <p:nvSpPr>
          <p:cNvPr id="4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2A7535B-4516-4F4B-BCCA-8EE3B639A3E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18</a:t>
            </a:fld>
            <a:endParaRPr/>
          </a:p>
        </p:txBody>
      </p:sp>
      <p:sp>
        <p:nvSpPr>
          <p:cNvPr id="44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894B04A7-B713-49F7-917C-8FB28406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476e1a9cf42d1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71008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C59915-07CD-4FEE-A70E-A7C0B653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1855F16-FB64-4A1A-A735-27FDB38E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1EC7B6B-B18B-4528-A4BD-FFBCC984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기업 상세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77260AD-EDD9-48A3-8A31-6640A29E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기업 정보·기간·타임라인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33ADBEF-4B64-40C7-B4BE-1E9B5FD0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6CB16B5-4FF9-416A-8879-C4395B6C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DESKTOP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F1B6374-A22F-492B-876A-E076734A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CB27817-BE5A-4873-A01B-469DBF7B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D-COM-01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9AA1D08-C167-4849-AE9B-53BC79A7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19 / 43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74B8EC2-0F4C-4304-A766-7003C0AC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133856"/>
            <a:ext cx="7662672" cy="53400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9AA3B2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19918f4bd4b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" y="1170432"/>
            <a:ext cx="7589520" cy="5266944"/>
          </a:xfrm>
          <a:prstGeom xmlns:a="http://schemas.openxmlformats.org/drawingml/2006/main" prst="rect">
            <a:avLst/>
          </a:prstGeom>
        </p:spPr>
      </p:pic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9A792A0-796C-43CE-8923-BA1FE439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695" y="2437059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18E71BF-C471-4CA5-8D10-48B6D558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415" y="2464491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A8780ED-D9ED-43A8-9F0C-1D4B4148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342" y="17523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473BE37-A0B7-4D69-959A-C2B3F99A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062" y="1779788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F6F3500-037F-4608-92C3-A7CDE4FE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372" y="480718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BA119EC-43CC-4056-8423-57D9F384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092" y="4834616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0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BA62D88A-E0E0-4751-9961-6D2D1A12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170432"/>
            <a:ext cx="3429000" cy="5266944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E4D0DE2-BB0B-4983-A24A-2AEED3D6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335024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진입 조건</a:t>
            </a:r>
            <a:endParaRPr sz="9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161AA904-12AE-4A8C-852E-2980ED02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563624"/>
            <a:ext cx="3063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그래프·검색·직접 URL에서 기업 선택</a:t>
            </a:r>
            <a:endParaRPr sz="103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BFF7556B-8556-4CCC-9FAC-76F6D079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03120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D85C166-E217-4F96-9CFE-19A2A647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94560"/>
            <a:ext cx="13716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클릭·동작 결과</a:t>
            </a:r>
            <a:endParaRPr sz="10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EFF56C0D-B31C-4FF7-B9DB-D4F57245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45973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7F3F974F-3382-4559-BDF9-8AA7B9D5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2487168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0E7F2AC-2876-4447-A3D2-530D4DEF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459736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1일/1개월/1년</a:t>
            </a:r>
            <a:endParaRPr sz="10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9A17EC9-92BC-429E-BDCA-7FCD3D6A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697480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차트와 타임라인을 같은 기간 조건으로 재조회</a:t>
            </a:r>
            <a:endParaRPr sz="96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5045A974-65CA-4284-A609-D38FEC34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26440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6C75D04-F995-4E94-8CA5-305695C9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329184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05A4EAE-A950-4FFB-86EE-A5EB25A4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264408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AI 질문</a:t>
            </a:r>
            <a:endParaRPr sz="10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739561B-ABE0-4E1B-BBE2-AAA4C058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502152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기업 컨텍스트를 유지해 D-AI-01로 이동</a:t>
            </a:r>
            <a:endParaRPr sz="96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9787F70D-5937-481E-96F3-4D9A7946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06908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4F52ADE5-338E-40A4-8ACA-203ECB93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4096512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0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0C7342B1-86F3-4728-B40F-582F929F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069080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동시 이슈 카드</a:t>
            </a:r>
            <a:endParaRPr sz="105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C526C2A2-1B14-4849-B8E1-DF4BB14E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306824"/>
            <a:ext cx="27614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같은 시점 사건을 개별 카드로 펼침</a:t>
            </a:r>
            <a:endParaRPr sz="96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BDB84F84-0F49-416F-B070-48B3AF14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404104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50DEA786-7277-4BAB-91CC-30DB424A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504688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상태  기본 · 기간 로딩 · 데이터 없음 · 부분 실패</a:t>
            </a:r>
            <a:endParaRPr sz="89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7E29F995-BF35-42CF-9FEC-780BD6FB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769864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요구사항  FS-FR-038~043</a:t>
            </a:r>
            <a:endParaRPr sz="89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9F2B012-53CB-4B84-9096-3F2DAF88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6053328"/>
            <a:ext cx="3099816" cy="3291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8890">
            <a:solidFill>
              <a:srgbClr val="FDBA7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BF05C46A-9003-4FB6-8C0D-A373E2A0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96" y="6099048"/>
            <a:ext cx="29169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0">
                <a:solidFill>
                  <a:srgbClr val="9A3412"/>
                </a:solidFill>
                <a:latin typeface="Malgun Gothic"/>
                <a:ea typeface="Malgun Gothic"/>
                <a:cs typeface="Malgun Gothic"/>
              </a:rPr>
              <a:t>주가 기간과 재무 기간은 별도 제어로 구분해야 함</a:t>
            </a:r>
            <a:endParaRPr sz="830"/>
          </a:p>
        </p:txBody>
      </p:sp>
      <p:sp>
        <p:nvSpPr>
          <p:cNvPr id="4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67E20E2-564A-4AD7-9FE6-4270BE49568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19</a:t>
            </a:fld>
            <a:endParaRPr/>
          </a:p>
        </p:txBody>
      </p:sp>
      <p:sp>
        <p:nvSpPr>
          <p:cNvPr id="44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15B44FD7-623B-49B8-9100-9BC1FC1F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4e6ab628d4b32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89611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EA47A24-71B8-406F-8D4B-FF2B43D2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002409-0DB8-469F-A216-850DE2A0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CBE3DCC-A4F5-40DB-9A59-D5248D62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기업 상세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7D73A28-75E1-42DB-931A-7B3813E5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사건 상세에서 관계 그래프로 이동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787C97F-CEBD-4083-9AF3-84C19A7D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E66A202-AE93-4DDE-8CCC-5539EBC2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DESKTOP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83C4BAD-B969-46B3-8C18-E4405195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33740F0-5E0C-4DC9-B004-12B6F4F1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D-COM-02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D9142F0-B9FE-448D-9C23-9CA6545A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 / 43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4CAAFEC-C152-4635-88A6-2F42B754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133856"/>
            <a:ext cx="7662672" cy="53400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9AA3B2">
                <a:alpha val="1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9f1398b124c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" y="1170432"/>
            <a:ext cx="7589520" cy="5266944"/>
          </a:xfrm>
          <a:prstGeom xmlns:a="http://schemas.openxmlformats.org/drawingml/2006/main" prst="rect">
            <a:avLst/>
          </a:prstGeom>
        </p:spPr>
      </p:pic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961357C-ACDF-4D34-9BE4-999ABA8B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782" y="4280489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657A6A1B-B51C-4FC8-9222-95243F1E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502" y="4307921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2AE7E60-372A-444C-8061-4CF602A6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390" y="3385109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B1450AB-7F0C-4380-B5E2-BF847DC0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6110" y="3412541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50503CF-760C-4DAC-996B-A16EDBC0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170432"/>
            <a:ext cx="3429000" cy="5266944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8FC2F78-1D09-46CC-9D37-A05D0483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335024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진입 조건</a:t>
            </a:r>
            <a:endParaRPr sz="9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F5EFB15F-869B-43C9-A92F-A79F6E2E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563624"/>
            <a:ext cx="3063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D-COM-01 타임라인에서 사건 선택</a:t>
            </a:r>
            <a:endParaRPr sz="103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90C421E-6164-4ACE-8E1D-A9B0DE3F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03120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36ACE3D-F6AC-4D78-B993-7BF8B9CF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194560"/>
            <a:ext cx="13716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클릭·동작 결과</a:t>
            </a:r>
            <a:endParaRPr sz="10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D710B17-1991-4A33-9C3F-07CE5B6D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45973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7D0EB44-46A8-445F-8AD0-B0B5BA26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2487168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440B05AE-406F-4408-B65F-AA08424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459736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그래프에서 경로 보기</a:t>
            </a:r>
            <a:endParaRPr sz="10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0F2ADBF-315E-488A-81E9-72595084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697480"/>
            <a:ext cx="27614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선택 기업·사건을 유지해 D-GRP-03로 이동</a:t>
            </a:r>
            <a:endParaRPr sz="96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E568E8FF-B64C-4D35-B098-E8858DC6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40156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3E665D3-3EDE-4AEA-99FD-8D27DC6A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342900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3F7B241D-B8AF-445E-A01D-E03E24C6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401568"/>
            <a:ext cx="2761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근거/뉴스·공시</a:t>
            </a:r>
            <a:endParaRPr sz="105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8B18CDF-9D82-467B-8716-3487E1E4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639312"/>
            <a:ext cx="27614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선택 사건의 근거 문서 목록 표시</a:t>
            </a:r>
            <a:endParaRPr sz="96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B7F7A171-492F-4EB8-884B-24C24F39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404104"/>
            <a:ext cx="306324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8477685-8F24-4E9F-AD0E-1F7DBFAC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504688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상태  사건 선택 · 근거 로딩 · 원문 없음</a:t>
            </a:r>
            <a:endParaRPr sz="89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88BB4674-3BB0-4FF5-A78E-65C191D4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5769864"/>
            <a:ext cx="30632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9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요구사항  FS-FR-041~044</a:t>
            </a:r>
            <a:endParaRPr sz="89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10A388B6-999D-4AAF-8355-FA71659D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6053328"/>
            <a:ext cx="3099816" cy="3291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8C5AB9B-2BC1-4BFA-9ADF-5AEF5D95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96" y="6099048"/>
            <a:ext cx="29169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뒤로 가기 시 기간·스크롤·선택 사건을 복원</a:t>
            </a:r>
            <a:endParaRPr sz="830"/>
          </a:p>
        </p:txBody>
      </p:sp>
      <p:sp>
        <p:nvSpPr>
          <p:cNvPr id="3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0E3EB88-1508-4C20-926C-BADC64797C8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20</a:t>
            </a:fld>
            <a:endParaRPr/>
          </a:p>
        </p:txBody>
      </p:sp>
      <p:sp>
        <p:nvSpPr>
          <p:cNvPr id="38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C101FBD5-07F4-4189-B1F6-6E40E7A5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232a54d014302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92098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48A86C-28EC-4DD3-B65C-09C0F8BD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49B6C52-5566-49B4-B63D-A8BA7CFC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8CC244B-9105-47DE-9000-CD1CA595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상태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9CE4C8-94D9-4C31-9DE8-256652CE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화면마다 반드시 포함할 상태 정의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41EDE82-BF08-4CBC-82D7-F45819EE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7065E62-623F-40DD-AE5F-D19A2EF9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COMMON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3B86C68-35CC-4E5B-86A1-4E9340DC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262CF4-9974-4802-8AC1-C3580A8C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STATE-01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7D7471C-28F3-4C56-83CD-4BA8690A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21 / 43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0291DCB-F3BA-4AB3-9923-DB53C935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3474720" cy="11247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3083813-1115-4B92-9404-ABD23E8F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64592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992FC76-EFCA-4A47-B274-F9377A84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600200"/>
            <a:ext cx="1005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기본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25CA50E-FB57-4D11-B8E5-507D0DD2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911096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정상 데이터와 기본 선택 상태</a:t>
            </a:r>
            <a:endParaRPr sz="98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CCF73C2-51E5-41A0-8484-738CE6D5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1417320"/>
            <a:ext cx="3474720" cy="11247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1734703-EFFE-4191-8606-D0C5BB05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164592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270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77E43AF-BF5D-454A-855A-8A0CE18E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600200"/>
            <a:ext cx="1005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로딩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51EA75D-5260-44F6-B0D4-1098DA28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911096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스켈레톤/진행 표시, 중복 요청 방지</a:t>
            </a:r>
            <a:endParaRPr sz="98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E033895-EA46-4DBB-B82B-071B9496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1417320"/>
            <a:ext cx="3474720" cy="11247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7CA836B-D079-4C15-8665-4FDA7DEE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504" y="164592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12700">
            <a:solidFill>
              <a:srgbClr val="94A3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8509649-8DB7-4017-BEE9-67CA63D6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1600200"/>
            <a:ext cx="1005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빈 화면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96D77B3-3DD6-49F9-BF38-5226C729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1911096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데이터 없음 이유와 다음 행동 제공</a:t>
            </a:r>
            <a:endParaRPr sz="98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F82A472-0B46-4FA8-9477-A18F9081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62072"/>
            <a:ext cx="3474720" cy="11247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FBDFF67-5AC8-4C16-816B-1D6A5C16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09067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A780303-0744-494E-AB14-A66690F5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044952"/>
            <a:ext cx="1005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0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부분 실패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50B3A93-2495-4EED-9499-BE5A6A03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355848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성공한 영역 유지, 실패 영역만 재시도</a:t>
            </a:r>
            <a:endParaRPr sz="98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F663611-50D3-4B27-8853-8F2D7673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862072"/>
            <a:ext cx="3474720" cy="11247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A36E4322-E9D8-437F-A5A8-D6BC4397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309067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A8E6F85-84DE-4110-AAC5-0A82FC08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44952"/>
            <a:ext cx="1005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0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오류</a:t>
            </a:r>
            <a:endParaRPr sz="13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C3E066A-39BB-45CB-A2E5-1C9BF5B4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55848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원인별 메시지와 재시도·돌아가기</a:t>
            </a:r>
            <a:endParaRPr sz="98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CE8CAAFC-1795-4487-80D7-F3C3C83D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862072"/>
            <a:ext cx="3474720" cy="11247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D9902F48-9F92-4358-AE00-8651F4EA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504" y="309067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12700">
            <a:solidFill>
              <a:srgbClr val="47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432B706-CEE3-40E8-92A9-8D731FE5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3044952"/>
            <a:ext cx="1005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권한 제한</a:t>
            </a:r>
            <a:endParaRPr sz="13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4C60BD1-43C2-4837-8945-C6F9D954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3355848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로그인 필요/접근 거부를 구분</a:t>
            </a:r>
            <a:endParaRPr sz="98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9635B1CE-76E4-4696-93F0-34FE5AD8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645152"/>
            <a:ext cx="10972800" cy="10424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10160">
            <a:solidFill>
              <a:srgbClr val="C7D2F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00EDEEF-BD48-4801-B6AB-7AE63FB9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4632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NFR 반영 포인트</a:t>
            </a:r>
            <a:endParaRPr sz="125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1C91B1A3-A723-4597-B77C-DA625469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4791456"/>
            <a:ext cx="8732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최신 요청만 반영 · 중복 제출 방지 · 부분 실패 격리 · 화면 전환 후 상태 복구 · 색상 외 라벨 병행 · 44×44px 이상 터치 영역</a:t>
            </a:r>
            <a:endParaRPr sz="112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DDFDBA91-C85A-43DF-90C2-89F6395F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8736"/>
            <a:ext cx="3840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관련: FS-NFR-002~004, 007~009, 011</a:t>
            </a:r>
            <a:endParaRPr sz="920"/>
          </a:p>
        </p:txBody>
      </p:sp>
      <p:sp>
        <p:nvSpPr>
          <p:cNvPr id="39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1194012-A75E-4119-A052-E97802BE6A8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21</a:t>
            </a:fld>
            <a:endParaRPr/>
          </a:p>
        </p:txBody>
      </p:sp>
      <p:sp>
        <p:nvSpPr>
          <p:cNvPr id="40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A37933E4-21AB-40DF-B35A-5017717D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3c0ac51ae4176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07618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5C8E9B6-DDEB-4532-A32A-170C6229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86A7C2A-FA52-4BEC-B4D0-A60C7432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DB4317-EFA1-422B-A3D0-0F746630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모바일 원칙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9263D21-204E-4C4D-84D2-1200E3EC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데스크톱 구성요소의 모바일 전환 규칙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33CECD5-3917-4DF1-B8FA-2F22DE1A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E915936-8422-493E-B3B0-9D83631C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MOBILE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46A784B-613C-4D37-944B-77CB276B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9F3F38B-015E-4F43-BAA7-84D4D414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M-RULE-01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996BADD-713B-4E20-AF65-B54E374B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22 / 43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C484507-93A5-4772-87E3-6925656A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98448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PC 요소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B3B8950-F596-4693-8EB2-25C73E1A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98448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모바일 전환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EB22FBA-AC3D-4F82-AD42-74231878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1298448"/>
            <a:ext cx="409651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적용 화면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018BA35-0E11-45ED-949A-5B0FA6BD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19072"/>
            <a:ext cx="10863072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15A70F5-53F1-4D98-B506-B04D33E4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810512"/>
            <a:ext cx="2788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우측 패널</a:t>
            </a:r>
            <a:endParaRPr sz="102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206D508-436F-474B-9FC9-704E7037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810512"/>
            <a:ext cx="3063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바텀시트 또는 전체 화면 상세</a:t>
            </a:r>
            <a:endParaRPr sz="10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A8E3C25-0343-4424-8A45-8BFB80F5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1810512"/>
            <a:ext cx="3703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노드·간선·근거·AI 패널</a:t>
            </a:r>
            <a:endParaRPr sz="97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6CA16C6-FD4E-4D66-A4EF-CC57655A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340864"/>
            <a:ext cx="10863072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508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A7A8A01-7F07-4FEE-9E11-83E8AB2D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432304"/>
            <a:ext cx="2788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상단 메뉴</a:t>
            </a:r>
            <a:endParaRPr sz="102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FE2B38D-DEC5-4F0E-AA8F-F2B71118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432304"/>
            <a:ext cx="3063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하단 탭 + 더보기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114FA73-F953-4EBA-B181-582C11B8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2432304"/>
            <a:ext cx="3703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그래프·브리핑·AI·MY</a:t>
            </a:r>
            <a:endParaRPr sz="97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EC1FCF6-0DA3-4D52-B297-57B28295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62656"/>
            <a:ext cx="10863072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09FB4FD-F87A-4483-B99C-DBB2F4AB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054096"/>
            <a:ext cx="2788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그래프 캔버스</a:t>
            </a:r>
            <a:endParaRPr sz="102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74090DB-5A10-40BB-8B30-91D59AE4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054096"/>
            <a:ext cx="3063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탭 중심 탐색 + 핀치 확대</a:t>
            </a:r>
            <a:endParaRPr sz="102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3526433-9DF2-453D-A5CB-7B8B3A9E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3054096"/>
            <a:ext cx="3703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기본 라벨 수 축소, 선택 경로 우선</a:t>
            </a:r>
            <a:endParaRPr sz="97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D24E069-4F46-4025-90A4-BEB120D1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84448"/>
            <a:ext cx="10863072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508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BBF71DD-29C3-40E3-A50B-D7CFF6DF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675888"/>
            <a:ext cx="2788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기간 버튼</a:t>
            </a:r>
            <a:endParaRPr sz="102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6CDF0E8-4148-44BE-AD2E-B0BA2EF5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675888"/>
            <a:ext cx="3063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가로 스크롤 칩</a:t>
            </a:r>
            <a:endParaRPr sz="102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78899A3-6DEF-4E7A-AD67-50652A67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3675888"/>
            <a:ext cx="3703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1일·1개월·1년</a:t>
            </a:r>
            <a:endParaRPr sz="97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4336ECD-FEBA-4127-AE4A-01C84AD6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06240"/>
            <a:ext cx="10863072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A3248D7-1920-476A-9FBB-5328C5CE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297680"/>
            <a:ext cx="2788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동시 이슈</a:t>
            </a:r>
            <a:endParaRPr sz="102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E46CEA2-DC2C-498C-A98D-CF6278A6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297680"/>
            <a:ext cx="3063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카드 묶음/아코디언</a:t>
            </a:r>
            <a:endParaRPr sz="102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56A1963-B1A2-4317-B609-891F0992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4297680"/>
            <a:ext cx="3703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날짜는 유지하고 사건은 개별 노출</a:t>
            </a:r>
            <a:endParaRPr sz="97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2692F00D-A738-4D8A-B209-AFB35FF3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28032"/>
            <a:ext cx="10863072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508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69061431-D4B9-4031-9612-7F587369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919472"/>
            <a:ext cx="2788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테이블</a:t>
            </a:r>
            <a:endParaRPr sz="102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5932B76-1CC9-4B9F-B577-9AAF31D1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919472"/>
            <a:ext cx="3063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카드/목록</a:t>
            </a:r>
            <a:endParaRPr sz="102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84E8170-0BF3-42D6-98C2-68620841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4919472"/>
            <a:ext cx="3703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핵심 값 우선, 상세는 펼치기</a:t>
            </a:r>
            <a:endParaRPr sz="97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F91BCB28-D05D-4A96-B0E5-C473CC06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15000"/>
            <a:ext cx="10863072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8890">
            <a:solidFill>
              <a:srgbClr val="A7F3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29D896F9-408F-4EB1-8061-77B0416A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833872"/>
            <a:ext cx="10332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4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권장 기준  390×844 기준 설계 · 최소 360px 대응 · 터치 44×44px · 본문 14px 이상 · 안전영역 반영</a:t>
            </a:r>
            <a:endParaRPr sz="1040"/>
          </a:p>
        </p:txBody>
      </p:sp>
      <p:sp>
        <p:nvSpPr>
          <p:cNvPr id="4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6CB6C13-B5D1-477D-ADD1-F6466C25B54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22</a:t>
            </a:fld>
            <a:endParaRPr/>
          </a:p>
        </p:txBody>
      </p:sp>
      <p:sp>
        <p:nvSpPr>
          <p:cNvPr id="41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10D0A1CA-D701-4474-BC55-DD51D7AA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5bf027d3340e5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73217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905EA33-7F82-40E1-89DD-0C5CA551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ADEB471-B594-4CEC-BD5C-C2BD5C8D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DE1213A-4292-484E-9992-FA5CFB5A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모바일 · 시작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4E28A81-1481-4710-9BCB-51E8EB76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시작 방식 선택과 관심종목 진입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417441C-942E-42AE-94B5-9D2E4E1D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D8D8846-42A3-492C-A67C-CAF33A48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MOBILE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4A69AA8-1866-4A9B-A2C5-101807EF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BDB527-072D-4358-836A-86CBC357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M-AUT-01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C9EED45-DB6E-4E30-83C7-BD883E75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23 / 43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5D9CC62-B736-458E-A117-FFED8513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069848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클릭 전</a:t>
            </a:r>
            <a:endParaRPr sz="9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32291E7-837D-4AA8-997C-DEB756D6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1069848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클릭 후</a:t>
            </a:r>
            <a:endParaRPr sz="9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01B7366-DFC6-4C96-B595-8CE48A1A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74720"/>
            <a:ext cx="310896" cy="402336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D26F2EC-8535-4769-84A2-FB13AFBE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53312"/>
            <a:ext cx="2240280" cy="4892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E013F9E-D330-4923-8F43-58E00511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26464"/>
            <a:ext cx="2093976" cy="474573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F8FA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4D32B63-B010-4FF6-B277-D6F43FD6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444752"/>
            <a:ext cx="64008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A2D94C9-EC41-4A25-A5C0-F501591A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472184"/>
            <a:ext cx="365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9:41</a:t>
            </a:r>
            <a:endParaRPr sz="6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A264088-8FA9-4EC3-A076-40B4DE7F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664208"/>
            <a:ext cx="2093976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41EDA29-EE9D-448F-A392-6CCEF372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7393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917F244-92B3-4035-ACAF-AE5B7721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737360"/>
            <a:ext cx="1600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줍 시작하기</a:t>
            </a:r>
            <a:endParaRPr sz="9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61C0822-DB55-490B-83DB-483FBB17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359152"/>
            <a:ext cx="1764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3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나에게 맞는 기업 이슈를</a:t>
            </a:r>
            <a:endParaRPr sz="1130"/>
          </a:p>
          <a:p xmlns:a="http://schemas.openxmlformats.org/drawingml/2006/main">
            <a:pPr marL="0" indent="0" algn="ctr">
              <a:buNone/>
            </a:pPr>
            <a:r>
              <a:rPr sz="113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빠르게 연결해 보세요</a:t>
            </a:r>
            <a:endParaRPr sz="113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63968FC-21F4-4387-8350-960F065F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163824"/>
            <a:ext cx="170992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28E4D0B-73CA-4D22-9BDE-D6644A3D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227832"/>
            <a:ext cx="1618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이메일로 시작</a:t>
            </a:r>
            <a:endParaRPr sz="83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0CCEA1C-C078-4567-BA08-1BCD2878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657600"/>
            <a:ext cx="170992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9EC8A2B-A6FD-4DD2-82AD-ED3DA0FD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721608"/>
            <a:ext cx="1618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소셜 로그인</a:t>
            </a:r>
            <a:endParaRPr sz="83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082E51B-6511-4F11-AD98-B38D05C9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151376"/>
            <a:ext cx="170992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B29601B-3669-4783-A141-7E3A1F86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215384"/>
            <a:ext cx="16184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비회원으로 둘러보기</a:t>
            </a:r>
            <a:endParaRPr sz="83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DC20D43-E9C7-4B11-BA96-78A294F3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332" y="41879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52BFB77-298D-4AE3-AB27-4BA24ACD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52" y="4215384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92B1A2C-92E4-4A6A-A04B-D21FDAE4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919472"/>
            <a:ext cx="17647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8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계속하면 이용약관에 동의합니다.</a:t>
            </a:r>
            <a:endParaRPr sz="68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017AEE16-AA57-498B-A285-B13020A5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1353312"/>
            <a:ext cx="2240280" cy="4892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FBB60900-C54E-4051-A67D-2526865B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1426464"/>
            <a:ext cx="2093976" cy="474573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F8FA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37F09CA0-B5A0-46F9-A2B4-A67623E7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1444752"/>
            <a:ext cx="64008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C131938-1435-4CAA-99D3-91F086C4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472184"/>
            <a:ext cx="365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9:41</a:t>
            </a:r>
            <a:endParaRPr sz="6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D842C85E-33A7-443E-BF87-23F665C8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1664208"/>
            <a:ext cx="2093976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6B9A381C-7A13-4766-8CA3-D6CAADD8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77393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E911071-A761-45B9-A7AF-84B3B068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1737360"/>
            <a:ext cx="1600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관심종목 선택</a:t>
            </a:r>
            <a:endParaRPr sz="92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3D1A8B3F-0E7F-4076-8BB1-FD69FDB3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2221992"/>
            <a:ext cx="17647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최대 3개를 선택하세요</a:t>
            </a:r>
            <a:endParaRPr sz="95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A8ECC53F-A50B-41A1-913C-1BC37B81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696" y="2587752"/>
            <a:ext cx="180136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08E8C204-F0BE-4129-A481-60ACECEF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2670048"/>
            <a:ext cx="1527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종목명 검색</a:t>
            </a:r>
            <a:endParaRPr sz="78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25CC2BFA-FE57-4BD6-86A8-6675B5CA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696" y="3136392"/>
            <a:ext cx="180136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889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CB850141-3FA8-4A22-9A16-DDDDF1EB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3209544"/>
            <a:ext cx="13441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삼성전자</a:t>
            </a:r>
            <a:endParaRPr sz="81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5225D565-E2E3-410E-A494-F1CAF9A4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3209544"/>
            <a:ext cx="274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선택됨</a:t>
            </a:r>
            <a:endParaRPr sz="75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5CFA9780-7825-4C32-8CC7-794C4126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696" y="3621024"/>
            <a:ext cx="180136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889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E6077D4-16D5-401A-A7BF-0BBC81B0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3694176"/>
            <a:ext cx="13441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SK하이닉스</a:t>
            </a:r>
            <a:endParaRPr sz="81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7743F1B9-2D59-46CE-BF3B-201E691D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3694176"/>
            <a:ext cx="274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선택됨</a:t>
            </a:r>
            <a:endParaRPr sz="75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0BD7FBD4-CBCE-4BAE-8B66-D90D85E7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696" y="4105656"/>
            <a:ext cx="180136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63F4B390-613B-478A-85A1-EDF058AD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4178808"/>
            <a:ext cx="13441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NVIDIA</a:t>
            </a:r>
            <a:endParaRPr sz="81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E2E6C4C2-D120-4F5A-93B0-EE3DA1A4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4178808"/>
            <a:ext cx="274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+</a:t>
            </a:r>
            <a:endParaRPr sz="75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2E015EFF-4FED-4DFC-86BE-37F6468A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696" y="4590288"/>
            <a:ext cx="180136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BD3B9122-8D30-4323-AE65-0474CA6B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4663440"/>
            <a:ext cx="13441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LG에너지솔루션</a:t>
            </a:r>
            <a:endParaRPr sz="81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42D57256-DCA4-4231-85C6-3E3A261E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4663440"/>
            <a:ext cx="274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+</a:t>
            </a:r>
            <a:endParaRPr sz="75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19FE4EAD-5E4D-4E44-A47D-20C11DAA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696" y="5239512"/>
            <a:ext cx="180136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9CF1ABE4-FB7A-4EEE-812D-D93A2972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5303520"/>
            <a:ext cx="170992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선택 완료</a:t>
            </a:r>
            <a:endParaRPr sz="830"/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F155C69B-FDA5-4C8B-9178-EA674A83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932" y="527608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DA38915-85C7-4D24-86EC-22A1DCEF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652" y="530352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17FD1466-3417-4FD6-A68B-504715E8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234440"/>
            <a:ext cx="5989320" cy="5074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5781D15E-A1A4-4275-8A55-53AD0454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453896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진입 조건</a:t>
            </a:r>
            <a:endParaRPr sz="1000"/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A9978AEB-2DEA-48F1-B19F-5EEE8137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417320"/>
            <a:ext cx="4389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첫 방문 또는 개인화 설정 미완료</a:t>
            </a:r>
            <a:endParaRPr sz="1050"/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B9714CF8-20EC-4C1A-BC85-A56EA695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947672"/>
            <a:ext cx="544068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0AE464AE-8327-4867-A2BB-648E1EFE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093976"/>
            <a:ext cx="2011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모바일 클릭·전환</a:t>
            </a:r>
            <a:endParaRPr sz="1150"/>
          </a:p>
        </p:txBody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1365325A-87E7-4F03-8B94-24839360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8" y="247802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937F45E3-4EC7-44E0-9DE1-1F1E1F10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505456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F51DE556-74A9-49E7-A556-C5868867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468880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비회원으로 둘러보기</a:t>
            </a:r>
            <a:endParaRPr sz="1070"/>
          </a:p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1DB0335C-26FB-44FF-9EEE-A5D907D7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68880"/>
            <a:ext cx="3474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정책에 따라 관심종목 선택 또는 로그인 유도 화면으로 이동</a:t>
            </a:r>
            <a:endParaRPr sz="1000"/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49BF6C18-5C73-498A-B804-5AFBE008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8" y="322783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E61CC6AC-6CA2-4E98-BF6C-500B43DC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33326E1B-66D6-4FC2-A4E6-BA26E390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218688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선택 완료</a:t>
            </a:r>
            <a:endParaRPr sz="1070"/>
          </a:p>
        </p:txBody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3C76989B-1BEB-4F4C-86F7-F9DAB888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8688"/>
            <a:ext cx="3474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선택값 저장 후 M-GRP-01로 이동. 실패 시 값 유지하고 재시도</a:t>
            </a:r>
            <a:endParaRPr sz="1000"/>
          </a:p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D31BB31D-2D43-4EF7-90FE-92B414D8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5038344"/>
            <a:ext cx="544068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Text 69">
            <a:extLst xmlns:a="http://schemas.openxmlformats.org/drawingml/2006/main">
              <a:ext uri="{FF2B5EF4-FFF2-40B4-BE49-F238E27FC236}">
                <a16:creationId xmlns:a16="http://schemas.microsoft.com/office/drawing/2014/main" id="{5C18E154-67DD-41D2-83C9-F0F851E3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5120640"/>
            <a:ext cx="5074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상태  기본 · 검색 결과 없음 · 최대 선택 · 저장 오류</a:t>
            </a:r>
            <a:endParaRPr sz="920"/>
          </a:p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596BA353-A07C-4D9F-B523-05355AE5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5330952"/>
            <a:ext cx="5074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요구사항  FS-FR-001~005, 011~014</a:t>
            </a:r>
            <a:endParaRPr sz="920"/>
          </a:p>
        </p:txBody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32063277-E3F0-4078-9EBD-41A8364B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5650992"/>
            <a:ext cx="5440680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8890">
            <a:solidFill>
              <a:srgbClr val="FDBA7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B13AEC88-B79C-479C-9FE2-19483189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5742432"/>
            <a:ext cx="51114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0">
                <a:solidFill>
                  <a:srgbClr val="9A3412"/>
                </a:solidFill>
                <a:latin typeface="Malgun Gothic"/>
                <a:ea typeface="Malgun Gothic"/>
                <a:cs typeface="Malgun Gothic"/>
              </a:rPr>
              <a:t>비회원 허용 범위와 관심종목 개수(0개/무제한 vs 1~3개)는 정책 확정 필요</a:t>
            </a:r>
            <a:endParaRPr sz="880"/>
          </a:p>
        </p:txBody>
      </p:sp>
      <p:sp>
        <p:nvSpPr>
          <p:cNvPr id="7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1FC2469-580C-44EB-91B5-6F665E469A3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23</a:t>
            </a:fld>
            <a:endParaRPr/>
          </a:p>
        </p:txBody>
      </p:sp>
      <p:sp>
        <p:nvSpPr>
          <p:cNvPr id="76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23F4F94E-39F4-4E2E-A80C-9932F3FF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c902853c041ad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89499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6E13FBD-9633-406C-B1D1-0D9C0FD6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27AD57D-448E-4D66-AD69-31AAFD3E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221F405-C542-48B1-97B6-CED076DC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모바일 · 그래프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60AFCAF-1CF8-4AB8-9D65-7320F712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그래프 탐색과 노드 상세 바텀시트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2719F94-879E-419B-BA26-78C0FF2D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F8865AA-9AB3-499A-A3AF-E83B6647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MOBILE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CA84044-4916-4E46-97C6-D2DC2467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1948814-5563-4D33-A575-7576D2F9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M-GRP-01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5C8037C-364D-448F-AC6F-85527EBA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24 / 43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DE25B6E-9E01-4CC9-A6EA-324F0034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069848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클릭 전</a:t>
            </a:r>
            <a:endParaRPr sz="9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2DCE12B-3C48-4479-8886-78C50645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1069848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클릭 후</a:t>
            </a:r>
            <a:endParaRPr sz="9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9F6437E-C973-48EE-9DF0-67C2AF14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74720"/>
            <a:ext cx="310896" cy="402336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ED8562E-2DCE-495C-9AF4-BE3EB9A6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53312"/>
            <a:ext cx="2240280" cy="4892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6C92AFA-A940-45F0-94A0-4B381096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26464"/>
            <a:ext cx="2093976" cy="474573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F8FA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53F6DCB-16C4-4684-8F30-923F6906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444752"/>
            <a:ext cx="64008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E502AA3-B98F-47A7-9220-2E6BC4C3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472184"/>
            <a:ext cx="365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9:41</a:t>
            </a:r>
            <a:endParaRPr sz="6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CD1BF29-AD6B-406C-83DC-73956605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664208"/>
            <a:ext cx="2093976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3ED3A9F-B6BB-4535-A753-70B24E11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7393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79EBA9B-3A9B-4486-B725-5964861B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737360"/>
            <a:ext cx="1600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관계 그래프</a:t>
            </a:r>
            <a:endParaRPr sz="92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011C92E-6705-4ABE-97D8-1FF228D8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231136"/>
            <a:ext cx="1801368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69B5103-DF84-44F5-AFFF-AA6D3C95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304288"/>
            <a:ext cx="15270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4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기업 · 제품 · 이슈 검색</a:t>
            </a:r>
            <a:endParaRPr sz="74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44F96DC-ADA1-4874-B626-AD4E357A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63824"/>
            <a:ext cx="50292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9C0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5926FFE-B7C8-4571-BD9B-146A79B1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035808"/>
            <a:ext cx="6400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370B73F-E9DF-4A1E-B3B8-63E39C94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090672"/>
            <a:ext cx="5303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6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삼성</a:t>
            </a:r>
            <a:endParaRPr sz="66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85F9C49B-5D54-450F-9CB2-EDCC0DBC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656" y="3685032"/>
            <a:ext cx="50292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9C0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D108F48-10CA-4A29-AEC2-38C12315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064" y="3557016"/>
            <a:ext cx="6400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CAD4815-2EF9-4177-A5DC-A29DB1D8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611880"/>
            <a:ext cx="5303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6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HBM</a:t>
            </a:r>
            <a:endParaRPr sz="66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04B259F6-8C61-49DD-A0A4-70A069DD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4389120"/>
            <a:ext cx="50292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9C0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83CB90E-DD07-4FDC-957D-83822E98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261104"/>
            <a:ext cx="6400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060B706-F354-4E3A-A064-C2D8E014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315968"/>
            <a:ext cx="5303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60" b="0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규제</a:t>
            </a:r>
            <a:endParaRPr sz="66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31F12A0B-D242-4A99-9999-C1CD572D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681728"/>
            <a:ext cx="50292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9C0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8A59CBD9-3492-447F-BF4D-9B52B0E0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4553712"/>
            <a:ext cx="6400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DA2D835D-E944-4CA5-BA9E-1C0FEC87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608576"/>
            <a:ext cx="5303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6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NVIDIA</a:t>
            </a:r>
            <a:endParaRPr sz="66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6A7AAA37-DF5F-4F98-8F82-E460A859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00837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FB6205F-AAFE-40D1-B38F-CE0E7A30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035808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646E92DB-D263-40C3-B0EF-BFCE5EE4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641848"/>
            <a:ext cx="2093976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3BCD03C1-7573-4F0E-85FF-E48E3257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그래프</a:t>
            </a:r>
            <a:endParaRPr sz="65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E1C9BC5-B361-4511-A4AF-90B224DD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18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브리핑</a:t>
            </a:r>
            <a:endParaRPr sz="65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F4EDB6E5-08CB-4B9D-8998-9F436233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AI</a:t>
            </a:r>
            <a:endParaRPr sz="65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CA9B06B6-1F09-44F9-ACF3-2FB93D04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842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MY</a:t>
            </a:r>
            <a:endParaRPr sz="65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B6CF35B7-01A7-4F09-8CA8-9CC5FD3F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1353312"/>
            <a:ext cx="2240280" cy="4892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BDB62CCC-1CF8-41BE-B9D2-0D566B71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1426464"/>
            <a:ext cx="2093976" cy="474573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F8FA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1809388-3822-42FA-8AE8-8F52E5B6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1444752"/>
            <a:ext cx="64008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9DCC160B-8409-436B-A52B-DD9DE5F2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472184"/>
            <a:ext cx="365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9:41</a:t>
            </a:r>
            <a:endParaRPr sz="65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95C3222A-1C4E-4C90-9329-77CA5802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1664208"/>
            <a:ext cx="2093976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D465975F-01D8-4415-B472-8A333678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77393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ACF1F66E-CD91-4A4D-8EE2-2DDEC9AC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1737360"/>
            <a:ext cx="1600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관계 그래프</a:t>
            </a:r>
            <a:endParaRPr sz="92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A419A766-82BB-4216-A9D0-C933ED13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2450592"/>
            <a:ext cx="1655064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8890">
            <a:solidFill>
              <a:srgbClr val="DDD6F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8F2A250A-6F23-43A0-B6F7-91BC5BB5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615184"/>
            <a:ext cx="13624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4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삼성전자</a:t>
            </a:r>
            <a:endParaRPr sz="104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81422B5D-7952-4B88-BA92-D9690E6B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889504"/>
            <a:ext cx="13624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보유 10주 · +2.4%</a:t>
            </a:r>
            <a:endParaRPr sz="8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84727EE6-D2E4-4A04-8DF1-460D815D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218688"/>
            <a:ext cx="13624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연결 이슈 3건</a:t>
            </a:r>
            <a:endParaRPr sz="85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CC1A6AA6-A379-45F7-9074-F862C422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547872"/>
            <a:ext cx="1472184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016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2E8FDE94-D09A-4258-8EDE-2E1C995A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3611880"/>
            <a:ext cx="13807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기업 상세 보기</a:t>
            </a:r>
            <a:endParaRPr sz="830"/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A68FA6B7-F96B-43B4-A163-679332AA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4416552"/>
            <a:ext cx="2093976" cy="13350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5CD7B63-DA4B-4826-85FC-07CB5FA4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562856"/>
            <a:ext cx="165506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선택한 노드</a:t>
            </a:r>
            <a:endParaRPr sz="800"/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AC2DC548-4077-4993-A397-3074DE2A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828032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AI 데이터센터 투자 확대</a:t>
            </a:r>
            <a:endParaRPr sz="920"/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0CC2904-B33C-49F9-B88D-0CB5BC1E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5120640"/>
            <a:ext cx="16550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연결 경로와 근거를 확인하세요.</a:t>
            </a:r>
            <a:endParaRPr sz="780"/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6D584243-D6F2-4B08-A674-6419FBE1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464" y="437083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025B685A-A194-4305-A48D-7EC1EE98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4398264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02C7645A-3580-4B31-96BF-946FB7FC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5641848"/>
            <a:ext cx="2093976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A368C0F2-2C4D-4B34-BEC1-2A362042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그래프</a:t>
            </a:r>
            <a:endParaRPr sz="650"/>
          </a:p>
        </p:txBody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8707B536-06FF-4DCF-A14C-21FEFD5C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318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브리핑</a:t>
            </a:r>
            <a:endParaRPr sz="650"/>
          </a:p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F9F541A6-FAFC-4F00-9383-5D04E894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380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AI</a:t>
            </a:r>
            <a:endParaRPr sz="650"/>
          </a:p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9852059C-E961-49E1-8BF6-DCEC7AB1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442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MY</a:t>
            </a:r>
            <a:endParaRPr sz="650"/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94462864-372A-4EA5-ADF3-369E3EDE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234440"/>
            <a:ext cx="5989320" cy="5074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05273509-2B9A-40D1-83A6-D25E7FE7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453896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진입 조건</a:t>
            </a:r>
            <a:endParaRPr sz="1000"/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BE054111-9026-4369-AAF5-E38B8EDA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417320"/>
            <a:ext cx="4389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로그인 또는 비회원 설정 완료 후 그래프 진입</a:t>
            </a:r>
            <a:endParaRPr sz="1050"/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FC650077-92CD-4A96-9D0C-74FBA15D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947672"/>
            <a:ext cx="544068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Text 68">
            <a:extLst xmlns:a="http://schemas.openxmlformats.org/drawingml/2006/main">
              <a:ext uri="{FF2B5EF4-FFF2-40B4-BE49-F238E27FC236}">
                <a16:creationId xmlns:a16="http://schemas.microsoft.com/office/drawing/2014/main" id="{D2F24746-2435-4A3D-AF69-E2FE4ECF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093976"/>
            <a:ext cx="2011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모바일 클릭·전환</a:t>
            </a:r>
            <a:endParaRPr sz="1150"/>
          </a:p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F0EF221E-F9BC-4498-88B6-60F72579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8" y="247802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D643E388-7C84-4397-B0CA-C39C8384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505456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3AE648DE-6C3D-47CF-955F-1422A39A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468880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기업·이슈 노드 탭</a:t>
            </a:r>
            <a:endParaRPr sz="1070"/>
          </a:p>
        </p:txBody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EE657CEE-7ED7-406C-A042-C3741F10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68880"/>
            <a:ext cx="3474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선택 노드는 고정 강조되고 하단 바텀시트가 열린다</a:t>
            </a:r>
            <a:endParaRPr sz="1000"/>
          </a:p>
        </p:txBody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9661AEFE-0496-439E-BA78-7A479A33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8" y="322783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6" name="Text 74">
            <a:extLst xmlns:a="http://schemas.openxmlformats.org/drawingml/2006/main">
              <a:ext uri="{FF2B5EF4-FFF2-40B4-BE49-F238E27FC236}">
                <a16:creationId xmlns:a16="http://schemas.microsoft.com/office/drawing/2014/main" id="{15D15DAD-4B15-4DC2-BE12-DD61E264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77" name="Text 75">
            <a:extLst xmlns:a="http://schemas.openxmlformats.org/drawingml/2006/main">
              <a:ext uri="{FF2B5EF4-FFF2-40B4-BE49-F238E27FC236}">
                <a16:creationId xmlns:a16="http://schemas.microsoft.com/office/drawing/2014/main" id="{5714B34A-5B6E-4C6E-9408-BC6AD477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218688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기업 상세 보기</a:t>
            </a:r>
            <a:endParaRPr sz="1070"/>
          </a:p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A06095EF-B228-41AD-8870-283171EB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8688"/>
            <a:ext cx="3474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선택 기업을 유지한 채 M-COM-01로 이동</a:t>
            </a:r>
            <a:endParaRPr sz="1000"/>
          </a:p>
        </p:txBody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767101AF-EE57-410C-B9C8-26C28658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5038344"/>
            <a:ext cx="544068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F56F0BA9-F1CD-4C30-8A2A-9260D1D2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5120640"/>
            <a:ext cx="5074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상태  기본 · 선택 · 필터 · 데이터 없음 · 일부 로딩 실패</a:t>
            </a:r>
            <a:endParaRPr sz="920"/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BEA4F528-A166-42EE-BF33-5738F672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5330952"/>
            <a:ext cx="5074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요구사항  FS-FR-017~027, FS-NFR-002·004</a:t>
            </a:r>
            <a:endParaRPr sz="920"/>
          </a:p>
        </p:txBody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652DE2B8-EDB1-4CB9-829D-063ACD03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5650992"/>
            <a:ext cx="5440680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8890">
            <a:solidFill>
              <a:srgbClr val="C7D2F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B354DA68-E326-45F9-8BE3-72608960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5742432"/>
            <a:ext cx="51114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데스크톱 우측 패널은 모바일에서 60~80% 높이의 바텀시트로 전환</a:t>
            </a:r>
            <a:endParaRPr sz="880"/>
          </a:p>
        </p:txBody>
      </p:sp>
      <p:sp>
        <p:nvSpPr>
          <p:cNvPr id="8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18C1404-F84F-4602-A276-E19FFF5E964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24</a:t>
            </a:fld>
            <a:endParaRPr/>
          </a:p>
        </p:txBody>
      </p:sp>
      <p:sp>
        <p:nvSpPr>
          <p:cNvPr id="85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D47CC6B5-6A2C-4098-878E-8506F983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81e4c48234ed3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67952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E30316D-0768-47E7-A3A2-94C9B2CA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270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05A85F1-F45F-4ACD-A61A-4BFA025C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1016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A4CE158-2670-4E9E-9C12-D22D10BD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모바일 · 브리핑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EA2EEDA-AD0B-4A89-9493-09DA1D12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출근·퇴근 브리핑과 후속 사건 비교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4AA0206-ACB7-4139-8418-7963B47E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ABE382F-D382-493A-9C46-6BAD2C41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MOBILE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17551D0-FD03-44A5-9A1D-A9FF6C71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1016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AF6F129-5AFB-44CB-AE39-43135054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M-BRF-01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DC45AF8-D768-4F2E-B274-4F3714B6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25 / 43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35937DD-B702-4E8F-AE87-84CBCEDC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069848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클릭 전</a:t>
            </a:r>
            <a:endParaRPr sz="9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0CC61E8-9A16-430D-A0AB-E8B2CB4C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1069848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클릭 후</a:t>
            </a:r>
            <a:endParaRPr sz="9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07DF3F-05B4-48E2-ABAC-0C5B9067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74720"/>
            <a:ext cx="310896" cy="402336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270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67259D3-61BD-4BA9-BC78-FFA40CE8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53312"/>
            <a:ext cx="2240280" cy="4892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D568B68-244E-4A8A-BA1F-0F637ACD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26464"/>
            <a:ext cx="2093976" cy="474573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F8FA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9968449-C8F2-4F78-A46A-9E44B2EA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444752"/>
            <a:ext cx="64008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621A40F-4EC0-4AB3-A937-7088111D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472184"/>
            <a:ext cx="365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9:41</a:t>
            </a:r>
            <a:endParaRPr sz="6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27FCE57-D8E2-495D-BD9F-3A228E32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664208"/>
            <a:ext cx="2093976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572450A-280B-4A77-BE02-FE78190C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7393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270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5EE8A56-900A-4C8B-A4E8-3C813BA6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737360"/>
            <a:ext cx="1600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오늘의 브리핑</a:t>
            </a:r>
            <a:endParaRPr sz="92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032C5A5-F997-4B36-95E5-BE2DEA6E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221992"/>
            <a:ext cx="786384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1016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0762383-F8D8-400F-B287-3D032E29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31136"/>
            <a:ext cx="6766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출근 08:00</a:t>
            </a:r>
            <a:endParaRPr sz="8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2A3FD9A-3CC0-4605-A281-E5A924EA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2221992"/>
            <a:ext cx="786384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94A3B8"/>
          </a:solidFill>
          <a:ln xmlns:a="http://schemas.openxmlformats.org/drawingml/2006/main" w="10160">
            <a:solidFill>
              <a:srgbClr val="94A3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26E440C-9DF3-4499-B0BF-0B972524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231136"/>
            <a:ext cx="6766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퇴근 18:00</a:t>
            </a:r>
            <a:endParaRPr sz="8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9EC86B81-482A-40A0-804E-65B4E21A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43200"/>
            <a:ext cx="1837944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80CBA0C-0D82-47E5-B823-23DCC7B0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834640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AI 투자 확대</a:t>
            </a:r>
            <a:endParaRPr sz="83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004F28D-D8F7-443F-AD92-EB919D01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035808"/>
            <a:ext cx="1508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80" b="0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긍정 가능</a:t>
            </a:r>
            <a:endParaRPr sz="68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1F84C0B-A34A-4D62-886A-A4E4D6B6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01568"/>
            <a:ext cx="1837944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FCA5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67997CC-321E-4EA4-AB99-AD908462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493008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수출 규제 강화</a:t>
            </a:r>
            <a:endParaRPr sz="83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F9E1E67-A678-40B1-8D66-B029A8B6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694176"/>
            <a:ext cx="1508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80" b="0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부정 가능</a:t>
            </a:r>
            <a:endParaRPr sz="68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5B2A5E4C-289C-4265-A783-A7220DE3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059936"/>
            <a:ext cx="1837944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B8B94CC-C341-492B-9C81-260613C2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15137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환율 변동</a:t>
            </a:r>
            <a:endParaRPr sz="83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2E86071-F773-4299-BE55-83E3C0C8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352544"/>
            <a:ext cx="1508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80" b="0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긍정 가능</a:t>
            </a:r>
            <a:endParaRPr sz="68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25EE04DF-4F21-443D-BC4C-17154F73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096" y="21945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95510EC-3B22-4865-9548-B5AAF7F6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2221992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F9B470B7-F0D3-4C94-9B8D-E9AA2A3A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641848"/>
            <a:ext cx="2093976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9DACF592-F644-4D23-8C56-DBA5224A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그래프</a:t>
            </a:r>
            <a:endParaRPr sz="65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EDE57523-1B2E-4BCC-9692-F4B964D5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18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브리핑</a:t>
            </a:r>
            <a:endParaRPr sz="65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B432E0AF-251F-49A4-A9DA-58B72C73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AI</a:t>
            </a:r>
            <a:endParaRPr sz="65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E637425-B203-4EFD-BDD8-62C614E2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842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MY</a:t>
            </a:r>
            <a:endParaRPr sz="65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DCD403C7-37DB-48C1-B2D0-E1309B4E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1353312"/>
            <a:ext cx="2240280" cy="4892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195428FD-46C1-46AA-BBE0-1AE86BC5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1426464"/>
            <a:ext cx="2093976" cy="474573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F8FA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966C1EB8-C8E3-417F-9EF3-565FE195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1444752"/>
            <a:ext cx="64008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C5686C9-A0D1-4339-B276-FAA8A3C4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472184"/>
            <a:ext cx="365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9:41</a:t>
            </a:r>
            <a:endParaRPr sz="65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18DD4C07-755D-4F19-99CC-A43D08CD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1664208"/>
            <a:ext cx="2093976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A1138986-1DD2-4FC6-8960-A2977354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77393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270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4B996045-9236-47F8-AB49-1A0FA20A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1737360"/>
            <a:ext cx="1600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퇴근 브리핑</a:t>
            </a:r>
            <a:endParaRPr sz="92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4AC799A-F867-4F26-9849-B6CA8BCD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2249424"/>
            <a:ext cx="17647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아침 이후 바뀐 내용 2건</a:t>
            </a:r>
            <a:endParaRPr sz="94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0DCFB2E7-FB91-45C1-B7B5-A59CCA59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2752344"/>
            <a:ext cx="2381" cy="21031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FAF20D32-3131-4E79-8939-BE51AD46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272491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12700">
            <a:solidFill>
              <a:srgbClr val="94A3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074D152C-E12A-4B78-8331-286E5D47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2706624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8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08:00</a:t>
            </a:r>
            <a:endParaRPr sz="68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5E819992-EA51-4334-9403-625E4198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688336"/>
            <a:ext cx="960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AI 투자 확대</a:t>
            </a:r>
            <a:endParaRPr sz="82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53E41C0-2454-48C6-A08B-87467B6A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2944368"/>
            <a:ext cx="384048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94A3B8"/>
          </a:solidFill>
          <a:ln xmlns:a="http://schemas.openxmlformats.org/drawingml/2006/main" w="10160">
            <a:solidFill>
              <a:srgbClr val="94A3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8B142C4D-8987-431D-8A43-442F6F7C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953512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2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기존</a:t>
            </a:r>
            <a:endParaRPr sz="620"/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18C26432-8932-4372-9482-20100C79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349300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270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C180D1DE-B0DE-449B-92FD-3BFB0F99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3474720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8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14:00</a:t>
            </a:r>
            <a:endParaRPr sz="680"/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10FE2136-E4EC-432D-9947-3A5CB7DD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3456432"/>
            <a:ext cx="960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수출 규제 후속</a:t>
            </a:r>
            <a:endParaRPr sz="820"/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A629A5A1-CEF0-46ED-8636-7682F17F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3712464"/>
            <a:ext cx="384048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1016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2062FDB8-2171-4491-9822-EE7C3320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721608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2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신규</a:t>
            </a:r>
            <a:endParaRPr sz="620"/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3E2EDB95-B2EE-442B-BA2D-62FA3887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42611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270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CE5F792D-0E1B-4F79-A091-DDC1805F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242816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8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18:00</a:t>
            </a:r>
            <a:endParaRPr sz="680"/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C6ED6F7F-5BDA-4791-A594-B336D98F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4224528"/>
            <a:ext cx="960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HBM 전망 보강</a:t>
            </a:r>
            <a:endParaRPr sz="820"/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7966FCA0-2299-41DB-8FED-C73DBFA9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4480560"/>
            <a:ext cx="384048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1016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C7D71322-3F6A-4D8F-B8F7-72BEA2EE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4489704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2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신규</a:t>
            </a:r>
            <a:endParaRPr sz="620"/>
          </a:p>
        </p:txBody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BE9FF9E9-9339-4BB5-942C-D65F97B1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696" y="5221224"/>
            <a:ext cx="180136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284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3234DB9A-A5FF-438C-8615-502596CB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5285232"/>
            <a:ext cx="170992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관계 그래프로 보기</a:t>
            </a:r>
            <a:endParaRPr sz="830"/>
          </a:p>
        </p:txBody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5C9A11D8-4F8C-49E3-99B4-4541D6B1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932" y="525780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CE7B9051-8771-49C5-99A1-BC20F6DB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652" y="5285232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B176DE02-0982-4DC1-AF4B-ECF51DF8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5641848"/>
            <a:ext cx="2093976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Text 68">
            <a:extLst xmlns:a="http://schemas.openxmlformats.org/drawingml/2006/main">
              <a:ext uri="{FF2B5EF4-FFF2-40B4-BE49-F238E27FC236}">
                <a16:creationId xmlns:a16="http://schemas.microsoft.com/office/drawing/2014/main" id="{44D71577-6423-4DF0-BE54-8776A90E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그래프</a:t>
            </a:r>
            <a:endParaRPr sz="650"/>
          </a:p>
        </p:txBody>
      </p:sp>
      <p:sp>
        <p:nvSpPr>
          <p:cNvPr id="71" name="Text 69">
            <a:extLst xmlns:a="http://schemas.openxmlformats.org/drawingml/2006/main">
              <a:ext uri="{FF2B5EF4-FFF2-40B4-BE49-F238E27FC236}">
                <a16:creationId xmlns:a16="http://schemas.microsoft.com/office/drawing/2014/main" id="{8A12A342-AA31-48EF-B602-E55CFBD8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318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브리핑</a:t>
            </a:r>
            <a:endParaRPr sz="650"/>
          </a:p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D07F9236-951A-4FE1-90CC-65475472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380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AI</a:t>
            </a:r>
            <a:endParaRPr sz="650"/>
          </a:p>
        </p:txBody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BCB7036A-6DC1-45C9-9981-C62A831B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442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MY</a:t>
            </a:r>
            <a:endParaRPr sz="650"/>
          </a:p>
        </p:txBody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93A93C71-0114-4052-B969-02E769C2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234440"/>
            <a:ext cx="5989320" cy="5074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647DCD78-92F1-43E1-9FB1-6EC97ACF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453896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진입 조건</a:t>
            </a:r>
            <a:endParaRPr sz="1000"/>
          </a:p>
        </p:txBody>
      </p:sp>
      <p:sp>
        <p:nvSpPr>
          <p:cNvPr id="76" name="Text 74">
            <a:extLst xmlns:a="http://schemas.openxmlformats.org/drawingml/2006/main">
              <a:ext uri="{FF2B5EF4-FFF2-40B4-BE49-F238E27FC236}">
                <a16:creationId xmlns:a16="http://schemas.microsoft.com/office/drawing/2014/main" id="{C2BA8C92-0861-4B28-8D0F-EAEE42F2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417320"/>
            <a:ext cx="4389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해당 회차 브리핑이 생성·발행된 상태</a:t>
            </a:r>
            <a:endParaRPr sz="1050"/>
          </a:p>
        </p:txBody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B7DD49E0-8966-45EC-B8F9-03C87EA9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947672"/>
            <a:ext cx="544068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A16923A2-BCAC-420D-A276-A87F168F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093976"/>
            <a:ext cx="2011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모바일 클릭·전환</a:t>
            </a:r>
            <a:endParaRPr sz="1150"/>
          </a:p>
        </p:txBody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A52F5FBA-B569-40FB-B43F-8B3B143C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8" y="247802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4A338604-EA48-41B3-9247-B770CF59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505456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14EA578A-13AD-4853-86B0-BB9641CB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468880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퇴근 18:00 탭</a:t>
            </a:r>
            <a:endParaRPr sz="1070"/>
          </a:p>
        </p:txBody>
      </p:sp>
      <p:sp>
        <p:nvSpPr>
          <p:cNvPr id="82" name="Text 80">
            <a:extLst xmlns:a="http://schemas.openxmlformats.org/drawingml/2006/main">
              <a:ext uri="{FF2B5EF4-FFF2-40B4-BE49-F238E27FC236}">
                <a16:creationId xmlns:a16="http://schemas.microsoft.com/office/drawing/2014/main" id="{3E4F1C1A-EBF4-43D3-BB43-B26E9F40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68880"/>
            <a:ext cx="3474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오후 후속 사건을 추가하고 아침 사건과 변경점을 표시</a:t>
            </a:r>
            <a:endParaRPr sz="1000"/>
          </a:p>
        </p:txBody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24EE4D5C-6D19-4C58-AD62-4567C799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8" y="322783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4" name="Text 82">
            <a:extLst xmlns:a="http://schemas.openxmlformats.org/drawingml/2006/main">
              <a:ext uri="{FF2B5EF4-FFF2-40B4-BE49-F238E27FC236}">
                <a16:creationId xmlns:a16="http://schemas.microsoft.com/office/drawing/2014/main" id="{D98CF412-DC33-454D-8B64-0BFE46C1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85" name="Text 83">
            <a:extLst xmlns:a="http://schemas.openxmlformats.org/drawingml/2006/main">
              <a:ext uri="{FF2B5EF4-FFF2-40B4-BE49-F238E27FC236}">
                <a16:creationId xmlns:a16="http://schemas.microsoft.com/office/drawing/2014/main" id="{1C8366AA-81A2-445B-A657-A6D320EF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218688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관계 그래프로 보기</a:t>
            </a:r>
            <a:endParaRPr sz="1070"/>
          </a:p>
        </p:txBody>
      </p:sp>
      <p:sp>
        <p:nvSpPr>
          <p:cNvPr id="86" name="Text 84">
            <a:extLst xmlns:a="http://schemas.openxmlformats.org/drawingml/2006/main">
              <a:ext uri="{FF2B5EF4-FFF2-40B4-BE49-F238E27FC236}">
                <a16:creationId xmlns:a16="http://schemas.microsoft.com/office/drawing/2014/main" id="{CFDF002D-C49D-4AD7-9BD1-E8F6946D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8688"/>
            <a:ext cx="3474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관련 사건을 선택한 상태로 M-GRP-01에 진입</a:t>
            </a:r>
            <a:endParaRPr sz="1000"/>
          </a:p>
        </p:txBody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E8C8D530-431E-4EBD-8D93-4EBBD6EB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5038344"/>
            <a:ext cx="544068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8" name="Text 86">
            <a:extLst xmlns:a="http://schemas.openxmlformats.org/drawingml/2006/main">
              <a:ext uri="{FF2B5EF4-FFF2-40B4-BE49-F238E27FC236}">
                <a16:creationId xmlns:a16="http://schemas.microsoft.com/office/drawing/2014/main" id="{3684EB30-2BE1-4B06-98AE-D7B35893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5120640"/>
            <a:ext cx="5074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상태  생성 중 · 발행 완료 · 브리핑 없음 · 정정됨</a:t>
            </a:r>
            <a:endParaRPr sz="920"/>
          </a:p>
        </p:txBody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1A932886-B777-4446-838F-C9CB7127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5330952"/>
            <a:ext cx="5074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요구사항  FS-FR-028~037</a:t>
            </a:r>
            <a:endParaRPr sz="920"/>
          </a:p>
        </p:txBody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1A349120-55C2-4484-B6DD-4181DCCC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5650992"/>
            <a:ext cx="5440680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8890">
            <a:solidFill>
              <a:srgbClr val="C7D2F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1" name="Text 89">
            <a:extLst xmlns:a="http://schemas.openxmlformats.org/drawingml/2006/main">
              <a:ext uri="{FF2B5EF4-FFF2-40B4-BE49-F238E27FC236}">
                <a16:creationId xmlns:a16="http://schemas.microsoft.com/office/drawing/2014/main" id="{B390A64C-7311-40C2-8D37-779B2144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5742432"/>
            <a:ext cx="51114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좋아요/싫어요는 회차 하단에 고정하고 중복 탭은 마지막 값으로 갱신</a:t>
            </a:r>
            <a:endParaRPr sz="880"/>
          </a:p>
        </p:txBody>
      </p:sp>
      <p:sp>
        <p:nvSpPr>
          <p:cNvPr id="9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0E11051-647F-4D89-8EEF-81EF22F4662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25</a:t>
            </a:fld>
            <a:endParaRPr/>
          </a:p>
        </p:txBody>
      </p:sp>
      <p:sp>
        <p:nvSpPr>
          <p:cNvPr id="93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C1B522C3-7C00-4D8C-8EA3-9FFBE318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a3ee77cc44baa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93357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91B59D8-8AAF-4972-A274-A913928E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5A0ADAF-5D56-4C7E-BCB3-03A8AB70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577A3CA-2A0A-42FC-960E-33200AC8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모바일 · 기업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858CA5D-BDD5-4B41-9C54-9CDFF42E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기업 상세와 타임라인 사건 상세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B05A5FB-0D16-4036-BDD6-AE7E2422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ABA9C1-27DD-45B9-875F-B82BF6BA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MOBILE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16B578B-122D-4E67-A1F1-9F06884C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FFA6EC4-E1BD-4CDB-855E-8D72BF8D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M-COM-01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FB8F066-265C-4485-B9E3-4B425446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26 / 43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1F6AAAC-B2B7-45FB-ACDB-5053D22B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069848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클릭 전</a:t>
            </a:r>
            <a:endParaRPr sz="9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24EFD02-86DB-4008-B06D-F1BD9D27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1069848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클릭 후</a:t>
            </a:r>
            <a:endParaRPr sz="9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A74568F-55E5-42EB-BD11-BB51DD5F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74720"/>
            <a:ext cx="310896" cy="402336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80F19AD-9B78-4486-BE9C-4269E000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53312"/>
            <a:ext cx="2240280" cy="4892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79BE11A-E876-4D0E-917E-0D9AB11E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26464"/>
            <a:ext cx="2093976" cy="474573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F8FA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0C8F0EE-9CCA-471F-BAD8-CD856E99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444752"/>
            <a:ext cx="64008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FCBE41B-F32E-4418-AB17-6855AF4E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472184"/>
            <a:ext cx="365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9:41</a:t>
            </a:r>
            <a:endParaRPr sz="6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19184D7-04FD-42F4-B43C-833999EC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664208"/>
            <a:ext cx="2093976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F2714A-2704-4507-8C4A-44F1B518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7393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C5B223D-CCC7-4921-8310-30BF4293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737360"/>
            <a:ext cx="1600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삼성전자</a:t>
            </a:r>
            <a:endParaRPr sz="9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3F11D9F-574D-49F9-98EE-2E501E0F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249424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₩82,400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2EA12AB-0EA6-4834-8350-5B761B1C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228600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30" b="0">
                <a:solidFill>
                  <a:srgbClr val="16A34A"/>
                </a:solidFill>
                <a:latin typeface="Malgun Gothic"/>
                <a:ea typeface="Malgun Gothic"/>
                <a:cs typeface="Malgun Gothic"/>
              </a:rPr>
              <a:t>+2.4%</a:t>
            </a:r>
            <a:endParaRPr sz="83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248F225-5420-407A-8EC1-54DB59AE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3472"/>
            <a:ext cx="475488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0A6B24D-15C1-4AC8-A7D6-F29CAD1F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642616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8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1일</a:t>
            </a:r>
            <a:endParaRPr sz="68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DA3F62F-826F-4938-B800-7A9C363F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633472"/>
            <a:ext cx="475488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94A3B8"/>
          </a:solidFill>
          <a:ln xmlns:a="http://schemas.openxmlformats.org/drawingml/2006/main" w="10160">
            <a:solidFill>
              <a:srgbClr val="94A3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C5C64F5-39A1-4D88-8477-B264ADE8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42616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8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1개월</a:t>
            </a:r>
            <a:endParaRPr sz="68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360F23B3-378E-4F5F-BA7E-F06591EC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633472"/>
            <a:ext cx="475488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94A3B8"/>
          </a:solidFill>
          <a:ln xmlns:a="http://schemas.openxmlformats.org/drawingml/2006/main" w="10160">
            <a:solidFill>
              <a:srgbClr val="94A3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7E613C3-29E9-48C2-A051-825E9DE2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2642616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8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1년</a:t>
            </a:r>
            <a:endParaRPr sz="68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37FF5AAE-1390-4D67-B41D-5559C099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639312"/>
            <a:ext cx="27432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469BFFC-15E4-425C-AF31-A012B084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3575304"/>
            <a:ext cx="274320" cy="128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7588AD7D-FB78-4B32-9D9C-76F5FAB6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896" y="3703320"/>
            <a:ext cx="27432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A0BDB01E-4B8E-4819-ABC6-ADB93BA6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216" y="3520440"/>
            <a:ext cx="274320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851EF59A-5639-4FF1-9CD1-8C67CBF6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536" y="3593592"/>
            <a:ext cx="27432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F6BBD0A-CFAF-4BC0-BA0A-FF6E5532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986784"/>
            <a:ext cx="1709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동시 이슈 3건</a:t>
            </a:r>
            <a:endParaRPr sz="90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9853E2A-5870-403E-B88C-9BC73057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279392"/>
            <a:ext cx="1764792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8FA702FA-28C5-4272-B94C-692AABEE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4256"/>
            <a:ext cx="150876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AI 투자 확대</a:t>
            </a:r>
            <a:endParaRPr sz="75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8AB349DE-49A8-416B-B3BD-E008EFAF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645152"/>
            <a:ext cx="1764792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9CEAA204-ED08-4A11-9D9A-1AA7B41A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0016"/>
            <a:ext cx="150876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수출 규제</a:t>
            </a:r>
            <a:endParaRPr sz="75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EDF57D31-587E-4824-AC1A-35046FBF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010912"/>
            <a:ext cx="1764792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21F52477-33C4-4245-8BB8-C59C5028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5776"/>
            <a:ext cx="150876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신제품 발표</a:t>
            </a:r>
            <a:endParaRPr sz="75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216DEDAF-15F5-4381-A489-B6EC8E9E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427024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E914E483-7DC8-4A25-B498-41D92B1B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297680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66554749-1163-4A24-86E3-7CB93E01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641848"/>
            <a:ext cx="2093976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3568028-177B-43C4-9AA9-9BE6ACCE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그래프</a:t>
            </a:r>
            <a:endParaRPr sz="65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639C44DF-B372-4E69-A3F2-1A6C5284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18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브리핑</a:t>
            </a:r>
            <a:endParaRPr sz="65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4E49F73D-B2C0-4716-BCF1-82CB0823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AI</a:t>
            </a:r>
            <a:endParaRPr sz="65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78D94D7-BA07-4A12-8C06-11DA1D84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842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MY</a:t>
            </a:r>
            <a:endParaRPr sz="65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7DE5220D-0F2E-4E1F-A47F-9B905310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1353312"/>
            <a:ext cx="2240280" cy="4892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6DF80874-A707-447D-A93D-EB1F9984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1426464"/>
            <a:ext cx="2093976" cy="474573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F8FA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7946F371-A846-46F5-9E47-40D15103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1444752"/>
            <a:ext cx="64008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5418FC87-094A-4A57-AAE6-B986A845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472184"/>
            <a:ext cx="365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9:41</a:t>
            </a:r>
            <a:endParaRPr sz="650"/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4B20BAE3-510C-45BB-9C67-E3A6586E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1664208"/>
            <a:ext cx="2093976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1EBFF670-4CB9-4BB6-99C8-87F9A51D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77393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E7F892BF-E73F-439C-9972-EC34FEA4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1737360"/>
            <a:ext cx="1600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사건 상세</a:t>
            </a:r>
            <a:endParaRPr sz="920"/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FFE3D9E6-9B8F-4837-94DE-651FC8C8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221992"/>
            <a:ext cx="658368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1016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9C29A5EB-45D8-4378-9CAB-3BF99B3C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136" y="223113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8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부정 가능</a:t>
            </a:r>
            <a:endParaRPr sz="680"/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AC6DC0F2-911A-4E55-B798-972873B9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615184"/>
            <a:ext cx="1728216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반도체 수출 규제 강화</a:t>
            </a:r>
            <a:endParaRPr sz="1100"/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4D15C185-9D90-4B15-A515-00FE3154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3108960"/>
            <a:ext cx="17282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2026.09.17 · 09:00</a:t>
            </a:r>
            <a:endParaRPr sz="700"/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63144E4E-639F-49F4-88BE-80F334B0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3438144"/>
            <a:ext cx="172821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규제 → DRAM → 삼성전자 경로로</a:t>
            </a:r>
            <a:endParaRPr sz="830"/>
          </a:p>
          <a:p xmlns:a="http://schemas.openxmlformats.org/drawingml/2006/main">
            <a:pPr marL="0" indent="0">
              <a:buNone/>
            </a:pPr>
            <a:r>
              <a:rPr sz="83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단기 부담 가능성이 표시됩니다.</a:t>
            </a:r>
            <a:endParaRPr sz="830"/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86592F38-A201-40DB-981F-D031CA4D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4169664"/>
            <a:ext cx="1764792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B600F938-14FB-4EB5-B0F9-4A6C96F0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4233672"/>
            <a:ext cx="16733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관계 그래프에서 보기</a:t>
            </a:r>
            <a:endParaRPr sz="830"/>
          </a:p>
        </p:txBody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BCB4CEB0-BC88-4DC5-B550-0F4BD2C1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4663440"/>
            <a:ext cx="1764792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FF9F505E-E15B-49F8-BE94-FB64CF7A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4727448"/>
            <a:ext cx="16733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근거 문서 보기</a:t>
            </a:r>
            <a:endParaRPr sz="830"/>
          </a:p>
        </p:txBody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55222BA9-FA2E-4676-9EF9-2F2C926F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5157216"/>
            <a:ext cx="1764792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12ADCFC6-525B-4C43-8362-122DAFE7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5221224"/>
            <a:ext cx="16733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0">
                <a:solidFill>
                  <a:srgbClr val="C026D3"/>
                </a:solidFill>
                <a:latin typeface="Malgun Gothic"/>
                <a:ea typeface="Malgun Gothic"/>
                <a:cs typeface="Malgun Gothic"/>
              </a:rPr>
              <a:t>AI에게 질문</a:t>
            </a:r>
            <a:endParaRPr sz="830"/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FB4DF25A-9595-4192-ABFF-7BECC908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932" y="420624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E836E0E0-F70D-43AE-87B9-1704428B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652" y="4233672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0EEA941F-8CDB-494E-9ACD-097C1722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5641848"/>
            <a:ext cx="2093976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D9F5D975-8416-4A08-AB9E-4FCC6029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그래프</a:t>
            </a:r>
            <a:endParaRPr sz="650"/>
          </a:p>
        </p:txBody>
      </p:sp>
      <p:sp>
        <p:nvSpPr>
          <p:cNvPr id="70" name="Text 68">
            <a:extLst xmlns:a="http://schemas.openxmlformats.org/drawingml/2006/main">
              <a:ext uri="{FF2B5EF4-FFF2-40B4-BE49-F238E27FC236}">
                <a16:creationId xmlns:a16="http://schemas.microsoft.com/office/drawing/2014/main" id="{EC12A21F-FA35-4227-9523-C935031F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318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브리핑</a:t>
            </a:r>
            <a:endParaRPr sz="650"/>
          </a:p>
        </p:txBody>
      </p:sp>
      <p:sp>
        <p:nvSpPr>
          <p:cNvPr id="71" name="Text 69">
            <a:extLst xmlns:a="http://schemas.openxmlformats.org/drawingml/2006/main">
              <a:ext uri="{FF2B5EF4-FFF2-40B4-BE49-F238E27FC236}">
                <a16:creationId xmlns:a16="http://schemas.microsoft.com/office/drawing/2014/main" id="{DB83768E-697F-4901-AB62-AC29021A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380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AI</a:t>
            </a:r>
            <a:endParaRPr sz="650"/>
          </a:p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D1BA3F23-A530-41CD-864E-0339E57D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442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MY</a:t>
            </a:r>
            <a:endParaRPr sz="650"/>
          </a:p>
        </p:txBody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35667C4A-1ACC-42B8-AC88-59CDDE51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234440"/>
            <a:ext cx="5989320" cy="5074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C87FB4A6-413B-4973-B74C-D2CCDE62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453896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진입 조건</a:t>
            </a:r>
            <a:endParaRPr sz="1000"/>
          </a:p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4C01E488-736C-41A3-9B96-69CE40DF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417320"/>
            <a:ext cx="4389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그래프·검색·직접 URL에서 기업을 선택</a:t>
            </a:r>
            <a:endParaRPr sz="1050"/>
          </a:p>
        </p:txBody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28438C22-AEBB-4AC4-B48E-92E9EF62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947672"/>
            <a:ext cx="544068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Text 75">
            <a:extLst xmlns:a="http://schemas.openxmlformats.org/drawingml/2006/main">
              <a:ext uri="{FF2B5EF4-FFF2-40B4-BE49-F238E27FC236}">
                <a16:creationId xmlns:a16="http://schemas.microsoft.com/office/drawing/2014/main" id="{44547D1E-A72C-4ACF-A300-0DB2416A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093976"/>
            <a:ext cx="2011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모바일 클릭·전환</a:t>
            </a:r>
            <a:endParaRPr sz="1150"/>
          </a:p>
        </p:txBody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0224F7E3-1B48-4350-B32D-FCC95AF3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8" y="247802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9" name="Text 77">
            <a:extLst xmlns:a="http://schemas.openxmlformats.org/drawingml/2006/main">
              <a:ext uri="{FF2B5EF4-FFF2-40B4-BE49-F238E27FC236}">
                <a16:creationId xmlns:a16="http://schemas.microsoft.com/office/drawing/2014/main" id="{33A23FEC-D9FC-4A92-9F5C-056FB01F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505456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46F6DFEF-3A1F-4F1C-948C-5F499061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468880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동시 이슈 카드</a:t>
            </a:r>
            <a:endParaRPr sz="1070"/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1FD4AE02-53A9-4DB8-8D15-7F78A777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68880"/>
            <a:ext cx="3474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선택 사건 상세로 전환하고 다른 사건은 같은 날짜 묶음으로 유지</a:t>
            </a:r>
            <a:endParaRPr sz="1000"/>
          </a:p>
        </p:txBody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CD2F5A40-1268-4714-8334-ABF35D8A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8" y="322783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47E0D394-C65D-4E8E-9726-A0927F4A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84" name="Text 82">
            <a:extLst xmlns:a="http://schemas.openxmlformats.org/drawingml/2006/main">
              <a:ext uri="{FF2B5EF4-FFF2-40B4-BE49-F238E27FC236}">
                <a16:creationId xmlns:a16="http://schemas.microsoft.com/office/drawing/2014/main" id="{B39E7833-CBEA-494A-AF2C-44A63521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218688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관계 그래프에서 보기</a:t>
            </a:r>
            <a:endParaRPr sz="1070"/>
          </a:p>
        </p:txBody>
      </p:sp>
      <p:sp>
        <p:nvSpPr>
          <p:cNvPr id="85" name="Text 83">
            <a:extLst xmlns:a="http://schemas.openxmlformats.org/drawingml/2006/main">
              <a:ext uri="{FF2B5EF4-FFF2-40B4-BE49-F238E27FC236}">
                <a16:creationId xmlns:a16="http://schemas.microsoft.com/office/drawing/2014/main" id="{57216E29-FAF0-4539-8D12-34488F0C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8688"/>
            <a:ext cx="3474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기업·사건 컨텍스트를 유지해 M-GRP-01로 이동</a:t>
            </a:r>
            <a:endParaRPr sz="1000"/>
          </a:p>
        </p:txBody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7EB71326-7DDA-4849-9DCD-DB17E9A4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5038344"/>
            <a:ext cx="544068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7" name="Text 85">
            <a:extLst xmlns:a="http://schemas.openxmlformats.org/drawingml/2006/main">
              <a:ext uri="{FF2B5EF4-FFF2-40B4-BE49-F238E27FC236}">
                <a16:creationId xmlns:a16="http://schemas.microsoft.com/office/drawing/2014/main" id="{F161C251-BE9B-43CD-A508-2D26730D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5120640"/>
            <a:ext cx="5074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상태  기본 · 기간 변경 · 차트 로딩 · 사건 없음 · 근거 없음</a:t>
            </a:r>
            <a:endParaRPr sz="920"/>
          </a:p>
        </p:txBody>
      </p:sp>
      <p:sp>
        <p:nvSpPr>
          <p:cNvPr id="88" name="Text 86">
            <a:extLst xmlns:a="http://schemas.openxmlformats.org/drawingml/2006/main">
              <a:ext uri="{FF2B5EF4-FFF2-40B4-BE49-F238E27FC236}">
                <a16:creationId xmlns:a16="http://schemas.microsoft.com/office/drawing/2014/main" id="{E968538D-4525-4520-8356-614F0BA7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5330952"/>
            <a:ext cx="5074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요구사항  FS-FR-038~044, FS-NFR-002·007</a:t>
            </a:r>
            <a:endParaRPr sz="920"/>
          </a:p>
        </p:txBody>
      </p:sp>
      <p:sp>
        <p:nvSpPr>
          <p:cNvPr id="89" name="Shape 87">
            <a:extLst xmlns:a="http://schemas.openxmlformats.org/drawingml/2006/main">
              <a:ext uri="{FF2B5EF4-FFF2-40B4-BE49-F238E27FC236}">
                <a16:creationId xmlns:a16="http://schemas.microsoft.com/office/drawing/2014/main" id="{92721F8E-A28B-44CC-9145-85D63F69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5650992"/>
            <a:ext cx="5440680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8890">
            <a:solidFill>
              <a:srgbClr val="C7D2F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0" name="Text 88">
            <a:extLst xmlns:a="http://schemas.openxmlformats.org/drawingml/2006/main">
              <a:ext uri="{FF2B5EF4-FFF2-40B4-BE49-F238E27FC236}">
                <a16:creationId xmlns:a16="http://schemas.microsoft.com/office/drawing/2014/main" id="{6183A1DE-57AA-4F5E-B679-017CB68A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5742432"/>
            <a:ext cx="51114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모바일은 차트→타임라인→재무→뉴스 순의 세로 스크롤 구조</a:t>
            </a:r>
            <a:endParaRPr sz="880"/>
          </a:p>
        </p:txBody>
      </p:sp>
      <p:sp>
        <p:nvSpPr>
          <p:cNvPr id="9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FBA9586-726D-4EC9-9C05-CF0C63F0E46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26</a:t>
            </a:fld>
            <a:endParaRPr/>
          </a:p>
        </p:txBody>
      </p:sp>
      <p:sp>
        <p:nvSpPr>
          <p:cNvPr id="92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64ED4BDE-DC09-493B-8266-D3AE8082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f70f3b0914257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65311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169935F-5418-406A-BD6B-E1A7C0F9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26D3"/>
          </a:solidFill>
          <a:ln xmlns:a="http://schemas.openxmlformats.org/drawingml/2006/main" w="1270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2DFBF44-5E3E-4A0A-94B7-43B896D8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C026D3"/>
          </a:solidFill>
          <a:ln xmlns:a="http://schemas.openxmlformats.org/drawingml/2006/main" w="1016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C0D7A0F-EDFC-41F1-AD20-22212D5E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모바일 · AI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56D0F90-1DDB-40D7-B7D9-9C73176F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맥락을 유지하는 AI 질문과 근거 보기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0F43461-F6C9-4BF8-AF3B-D1148337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7F48338-A61A-4C55-BE85-7A9D8178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C026D3"/>
                </a:solidFill>
                <a:latin typeface="Malgun Gothic"/>
                <a:ea typeface="Malgun Gothic"/>
                <a:cs typeface="Malgun Gothic"/>
              </a:rPr>
              <a:t>MOBILE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0A149C6-3A1C-407D-80A3-5FAF9BE6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C026D3"/>
          </a:solidFill>
          <a:ln xmlns:a="http://schemas.openxmlformats.org/drawingml/2006/main" w="1016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7080FD0-650E-40FB-AE19-67B77ACB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M-AI-01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2562B32-83FA-425B-85A4-D40EB4FF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27 / 43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1A9A07E-3183-4DEF-9D46-76A0D8B2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069848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0">
                <a:solidFill>
                  <a:srgbClr val="C026D3"/>
                </a:solidFill>
                <a:latin typeface="Malgun Gothic"/>
                <a:ea typeface="Malgun Gothic"/>
                <a:cs typeface="Malgun Gothic"/>
              </a:rPr>
              <a:t>클릭 전</a:t>
            </a:r>
            <a:endParaRPr sz="9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E382E57-6A7D-40EC-9958-9D583FAB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1069848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0">
                <a:solidFill>
                  <a:srgbClr val="C026D3"/>
                </a:solidFill>
                <a:latin typeface="Malgun Gothic"/>
                <a:ea typeface="Malgun Gothic"/>
                <a:cs typeface="Malgun Gothic"/>
              </a:rPr>
              <a:t>클릭 후</a:t>
            </a:r>
            <a:endParaRPr sz="9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4806E78-F96D-457E-B1DA-052178F5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74720"/>
            <a:ext cx="310896" cy="402336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026D3"/>
          </a:solidFill>
          <a:ln xmlns:a="http://schemas.openxmlformats.org/drawingml/2006/main" w="1270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FEF20F7-B64D-418E-BE50-824B1F3F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53312"/>
            <a:ext cx="2240280" cy="4892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2C02581-0DC0-4AAC-B60D-9EF893DE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26464"/>
            <a:ext cx="2093976" cy="474573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F8FA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EA6C0E4-2FD5-4C99-8CEA-8F1D41E6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444752"/>
            <a:ext cx="64008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9F68C8C-E736-4A71-B1F6-D00E1430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472184"/>
            <a:ext cx="365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9:41</a:t>
            </a:r>
            <a:endParaRPr sz="6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8D41CA4-1E84-4310-A98F-2ECCE443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664208"/>
            <a:ext cx="2093976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857DD04-6D0B-42D0-8E6E-233A6BF6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7393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26D3"/>
          </a:solidFill>
          <a:ln xmlns:a="http://schemas.openxmlformats.org/drawingml/2006/main" w="1270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A70D41A-ED3F-4747-9F1D-A8C04EB5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737360"/>
            <a:ext cx="1600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AI 질문</a:t>
            </a:r>
            <a:endParaRPr sz="92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9A82573-0251-4B17-8749-7234C8E1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203704"/>
            <a:ext cx="176479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C026D3"/>
          </a:solidFill>
          <a:ln xmlns:a="http://schemas.openxmlformats.org/drawingml/2006/main" w="1016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5A6654E-D6B2-42FB-8CDB-7A56514F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12848"/>
            <a:ext cx="16550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8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삼성전자 · 수출 규제</a:t>
            </a:r>
            <a:endParaRPr sz="68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DCDE6B7-BBA7-4692-BDA4-E5E60D27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679192"/>
            <a:ext cx="1600200" cy="6949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F1F5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3F76084-8A52-4A59-8A2F-08E06831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2807208"/>
            <a:ext cx="13624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같은 시점의 긍정·부정 이슈가</a:t>
            </a:r>
            <a:endParaRPr sz="780"/>
          </a:p>
          <a:p xmlns:a="http://schemas.openxmlformats.org/drawingml/2006/main">
            <a:pPr marL="0" indent="0">
              <a:buNone/>
            </a:pPr>
            <a:r>
              <a:rPr sz="78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겹치면 어떻게 봐야 하나요?</a:t>
            </a:r>
            <a:endParaRPr sz="78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FF6FD0F-F431-4E6C-A7B4-FA6A0302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3602736"/>
            <a:ext cx="1453896" cy="9875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F4FF"/>
          </a:solidFill>
          <a:ln xmlns:a="http://schemas.openxmlformats.org/drawingml/2006/main" w="12700">
            <a:solidFill>
              <a:srgbClr val="F5D0F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6095A58-182F-4268-9410-1F08D2C3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49040"/>
            <a:ext cx="119786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두 이슈의 영향 경로와 기간을</a:t>
            </a:r>
            <a:endParaRPr sz="810"/>
          </a:p>
          <a:p xmlns:a="http://schemas.openxmlformats.org/drawingml/2006/main">
            <a:pPr marL="0" indent="0">
              <a:buNone/>
            </a:pPr>
            <a:r>
              <a:rPr sz="81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분리해서 보세요. 근거 3건이 있습니다.</a:t>
            </a:r>
            <a:endParaRPr sz="81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94CA49F-4454-4ED3-8B39-084BD455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4288536"/>
            <a:ext cx="59436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C026D3"/>
          </a:solidFill>
          <a:ln xmlns:a="http://schemas.openxmlformats.org/drawingml/2006/main" w="1016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B6415BC-C466-478B-90D7-FA09D040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297680"/>
            <a:ext cx="48463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4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근거 3건</a:t>
            </a:r>
            <a:endParaRPr sz="64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81613BA-4836-4714-818F-4AD6C788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239512"/>
            <a:ext cx="1801368" cy="411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C16B940-9A3F-4025-8994-8320ADF2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340096"/>
            <a:ext cx="12710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질문을 입력하세요</a:t>
            </a:r>
            <a:endParaRPr sz="7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71A3B1D-88AB-46D5-A74C-73A36960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531266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26D3"/>
          </a:solidFill>
          <a:ln xmlns:a="http://schemas.openxmlformats.org/drawingml/2006/main" w="1270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C4A6103-01AC-4B7B-8ADF-B16698D6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5321808"/>
            <a:ext cx="12801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›</a:t>
            </a:r>
            <a:endParaRPr sz="12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A0796FFA-3740-491C-AD84-01CA0D8F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426110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26D3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3BC1C3B-4503-476E-B209-3C402F77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248" y="4288536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8E8DED-6FBE-415B-AA2E-FB65E70D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641848"/>
            <a:ext cx="2093976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CEF6E2B5-4FF2-451E-A674-4D93E027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그래프</a:t>
            </a:r>
            <a:endParaRPr sz="65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F9BE262-92C8-4B40-95F8-EF57E2AB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18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브리핑</a:t>
            </a:r>
            <a:endParaRPr sz="65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9B1BD60B-E7F9-43C9-9B61-35A9E94D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C026D3"/>
                </a:solidFill>
                <a:latin typeface="Malgun Gothic"/>
                <a:ea typeface="Malgun Gothic"/>
                <a:cs typeface="Malgun Gothic"/>
              </a:rPr>
              <a:t>AI</a:t>
            </a:r>
            <a:endParaRPr sz="65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66355377-FE24-418D-AF4E-9BBF139D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842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MY</a:t>
            </a:r>
            <a:endParaRPr sz="6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9870EC32-F7E1-4E47-BFBA-BAB58F1A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1353312"/>
            <a:ext cx="2240280" cy="4892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63B27F3F-2E41-48E9-847D-D2979E12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1426464"/>
            <a:ext cx="2093976" cy="474573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F8FA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14109E26-C5FA-4EF0-899B-7B7278C3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1444752"/>
            <a:ext cx="64008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809FF79-08E4-4828-BACD-1EFB4B41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472184"/>
            <a:ext cx="365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9:41</a:t>
            </a:r>
            <a:endParaRPr sz="65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0488230F-53CF-4F3F-A656-507EFF25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1664208"/>
            <a:ext cx="2093976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6E5813D7-64D6-44C2-B94E-537D916B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77393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26D3"/>
          </a:solidFill>
          <a:ln xmlns:a="http://schemas.openxmlformats.org/drawingml/2006/main" w="1270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63C66DDC-C933-4BE7-AD67-02BB9C33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1737360"/>
            <a:ext cx="1600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답변 근거</a:t>
            </a:r>
            <a:endParaRPr sz="92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20929816-A0B2-4790-8040-87649806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221992"/>
            <a:ext cx="17282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답변에 사용된 자료</a:t>
            </a:r>
            <a:endParaRPr sz="98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DB52144B-96AF-413A-9224-8D9C8510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2679192"/>
            <a:ext cx="1764792" cy="60350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D561355A-0CB8-4F98-A7EA-0C3222EE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788920"/>
            <a:ext cx="4389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C026D3"/>
          </a:solidFill>
          <a:ln xmlns:a="http://schemas.openxmlformats.org/drawingml/2006/main" w="1016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1204C6D4-D53D-405D-A63B-11E0E2AA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2798064"/>
            <a:ext cx="3291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뉴스</a:t>
            </a:r>
            <a:endParaRPr sz="63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C2CF6C03-AB6E-4DAE-AD53-C96353E4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064" y="2788920"/>
            <a:ext cx="9966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반도체 수출 규제 강화</a:t>
            </a:r>
            <a:endParaRPr sz="750"/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5FB20C49-CF22-4C04-B42E-12EFB454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3429000"/>
            <a:ext cx="1764792" cy="60350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2B943B42-2FF4-4696-B298-E41C4433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3538728"/>
            <a:ext cx="4389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C026D3"/>
          </a:solidFill>
          <a:ln xmlns:a="http://schemas.openxmlformats.org/drawingml/2006/main" w="1016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736EB847-CE5A-468F-9834-60EB93C4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3547872"/>
            <a:ext cx="3291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공시</a:t>
            </a:r>
            <a:endParaRPr sz="630"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8BFF1A2F-4B41-4477-8408-209944B9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064" y="3538728"/>
            <a:ext cx="9966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삼성전자 사업보고서</a:t>
            </a:r>
            <a:endParaRPr sz="750"/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9A341314-BF7B-461E-9B3E-8CADA6E8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4178808"/>
            <a:ext cx="1764792" cy="60350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C5397E78-EAAE-4C23-A2BF-6BB51D34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4288536"/>
            <a:ext cx="4389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C026D3"/>
          </a:solidFill>
          <a:ln xmlns:a="http://schemas.openxmlformats.org/drawingml/2006/main" w="1016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DE2A20F9-1CF7-41EB-9DA3-8C520746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4297680"/>
            <a:ext cx="3291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관계</a:t>
            </a:r>
            <a:endParaRPr sz="630"/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547DAF02-AD9E-4C89-A91B-702C6D02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064" y="4288536"/>
            <a:ext cx="9966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규제 → DRAM → 삼성전자</a:t>
            </a:r>
            <a:endParaRPr sz="750"/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4B5F2119-58BB-4413-8EFA-B72D5449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5084064"/>
            <a:ext cx="1764792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026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E2976871-DF9A-456C-B8A9-38D52FA9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5148072"/>
            <a:ext cx="16733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0">
                <a:solidFill>
                  <a:srgbClr val="C026D3"/>
                </a:solidFill>
                <a:latin typeface="Malgun Gothic"/>
                <a:ea typeface="Malgun Gothic"/>
                <a:cs typeface="Malgun Gothic"/>
              </a:rPr>
              <a:t>그래프에서 경로 확인</a:t>
            </a:r>
            <a:endParaRPr sz="830"/>
          </a:p>
        </p:txBody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53794476-E521-4D5D-9A3C-78E1413E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932" y="512064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26D3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91BF4A99-4949-4E4B-8A84-5F1C1A7F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652" y="5148072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6C48E2D0-3C6C-4641-AE17-B9271922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5641848"/>
            <a:ext cx="2093976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038A8D0D-8025-45A5-9D6D-11F6DF98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그래프</a:t>
            </a:r>
            <a:endParaRPr sz="650"/>
          </a:p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EE63C22B-359D-454A-B8DC-D6D3C08E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318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브리핑</a:t>
            </a:r>
            <a:endParaRPr sz="650"/>
          </a:p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9D98C614-61C1-4D99-B3A7-E70BB053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380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C026D3"/>
                </a:solidFill>
                <a:latin typeface="Malgun Gothic"/>
                <a:ea typeface="Malgun Gothic"/>
                <a:cs typeface="Malgun Gothic"/>
              </a:rPr>
              <a:t>AI</a:t>
            </a:r>
            <a:endParaRPr sz="650"/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2B1C9D3C-E76B-4E67-967F-5F14E847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442" y="5715000"/>
            <a:ext cx="49606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MY</a:t>
            </a:r>
            <a:endParaRPr sz="650"/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F6950A1C-DF4E-425D-B92C-D2475DC4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234440"/>
            <a:ext cx="5989320" cy="5074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Text 68">
            <a:extLst xmlns:a="http://schemas.openxmlformats.org/drawingml/2006/main">
              <a:ext uri="{FF2B5EF4-FFF2-40B4-BE49-F238E27FC236}">
                <a16:creationId xmlns:a16="http://schemas.microsoft.com/office/drawing/2014/main" id="{D0EDF41F-BA1B-42BF-BB0A-04451B00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453896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C026D3"/>
                </a:solidFill>
                <a:latin typeface="Malgun Gothic"/>
                <a:ea typeface="Malgun Gothic"/>
                <a:cs typeface="Malgun Gothic"/>
              </a:rPr>
              <a:t>진입 조건</a:t>
            </a:r>
            <a:endParaRPr sz="1000"/>
          </a:p>
        </p:txBody>
      </p:sp>
      <p:sp>
        <p:nvSpPr>
          <p:cNvPr id="71" name="Text 69">
            <a:extLst xmlns:a="http://schemas.openxmlformats.org/drawingml/2006/main">
              <a:ext uri="{FF2B5EF4-FFF2-40B4-BE49-F238E27FC236}">
                <a16:creationId xmlns:a16="http://schemas.microsoft.com/office/drawing/2014/main" id="{D30ED328-5154-4AC8-A9E9-6140E1D1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417320"/>
            <a:ext cx="4389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기업·이슈·근거 화면에서 AI 질문으로 진입</a:t>
            </a:r>
            <a:endParaRPr sz="1050"/>
          </a:p>
        </p:txBody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EC4452E5-8789-4A9F-9802-AE67B144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947672"/>
            <a:ext cx="5440680" cy="2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ACE45397-6350-4E7E-AFD3-ACE769BD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093976"/>
            <a:ext cx="2011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모바일 클릭·전환</a:t>
            </a:r>
            <a:endParaRPr sz="1150"/>
          </a:p>
        </p:txBody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15C2A38C-2FC0-4737-BD5F-4A61B16E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8" y="247802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26D3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9E81F77E-5203-4F1F-AACE-6EADDB66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505456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000"/>
          </a:p>
        </p:txBody>
      </p:sp>
      <p:sp>
        <p:nvSpPr>
          <p:cNvPr id="76" name="Text 74">
            <a:extLst xmlns:a="http://schemas.openxmlformats.org/drawingml/2006/main">
              <a:ext uri="{FF2B5EF4-FFF2-40B4-BE49-F238E27FC236}">
                <a16:creationId xmlns:a16="http://schemas.microsoft.com/office/drawing/2014/main" id="{BA387084-C773-4440-87F9-351FBC20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468880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근거 3건</a:t>
            </a:r>
            <a:endParaRPr sz="1070"/>
          </a:p>
        </p:txBody>
      </p:sp>
      <p:sp>
        <p:nvSpPr>
          <p:cNvPr id="77" name="Text 75">
            <a:extLst xmlns:a="http://schemas.openxmlformats.org/drawingml/2006/main">
              <a:ext uri="{FF2B5EF4-FFF2-40B4-BE49-F238E27FC236}">
                <a16:creationId xmlns:a16="http://schemas.microsoft.com/office/drawing/2014/main" id="{0A3B176C-1FD4-479A-91E5-1F560BF0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68880"/>
            <a:ext cx="3474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답변 근거 목록을 전체 화면 또는 바텀시트로 표시</a:t>
            </a:r>
            <a:endParaRPr sz="1000"/>
          </a:p>
        </p:txBody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D9CC2189-57A4-43BF-895E-65849856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8" y="322783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26D3"/>
          </a:solidFill>
          <a:ln xmlns:a="http://schemas.openxmlformats.org/drawingml/2006/main" w="17780">
            <a:solidFill>
              <a:srgbClr val="FFFF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26324A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9" name="Text 77">
            <a:extLst xmlns:a="http://schemas.openxmlformats.org/drawingml/2006/main">
              <a:ext uri="{FF2B5EF4-FFF2-40B4-BE49-F238E27FC236}">
                <a16:creationId xmlns:a16="http://schemas.microsoft.com/office/drawing/2014/main" id="{3A722EC7-5BB0-4260-B3A6-C6299218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219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000"/>
          </a:p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074CEFD9-361F-4A91-96A0-08B58EA8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218688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그래프에서 경로 확인</a:t>
            </a:r>
            <a:endParaRPr sz="1070"/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0630DB19-3A66-4751-B007-EAFBD4B2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8688"/>
            <a:ext cx="3474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 해당 관계를 선택한 상태로 M-GRP-01로 이동</a:t>
            </a:r>
            <a:endParaRPr sz="1000"/>
          </a:p>
        </p:txBody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D9D30B1D-0CD0-4031-B461-5DD868A6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5038344"/>
            <a:ext cx="544068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889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D86C71C0-BC4D-49DF-B59A-ADCE31EF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5120640"/>
            <a:ext cx="5074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상태  입력 전 · 전송 중 · 응답 · 되묻기 · 실패/재시도</a:t>
            </a:r>
            <a:endParaRPr sz="920"/>
          </a:p>
        </p:txBody>
      </p:sp>
      <p:sp>
        <p:nvSpPr>
          <p:cNvPr id="84" name="Text 82">
            <a:extLst xmlns:a="http://schemas.openxmlformats.org/drawingml/2006/main">
              <a:ext uri="{FF2B5EF4-FFF2-40B4-BE49-F238E27FC236}">
                <a16:creationId xmlns:a16="http://schemas.microsoft.com/office/drawing/2014/main" id="{E62572A3-72CA-48EE-B9F9-418D27BE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5330952"/>
            <a:ext cx="5074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0">
                <a:solidFill>
                  <a:srgbClr val="C026D3"/>
                </a:solidFill>
                <a:latin typeface="Malgun Gothic"/>
                <a:ea typeface="Malgun Gothic"/>
                <a:cs typeface="Malgun Gothic"/>
              </a:rPr>
              <a:t>요구사항  FS-FR-045~053, FS-NFR-003·005</a:t>
            </a:r>
            <a:endParaRPr sz="920"/>
          </a:p>
        </p:txBody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E41A4B59-C929-49F7-8C1B-ABDE04EF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5650992"/>
            <a:ext cx="5440680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8890">
            <a:solidFill>
              <a:srgbClr val="C7D2F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" name="Text 84">
            <a:extLst xmlns:a="http://schemas.openxmlformats.org/drawingml/2006/main">
              <a:ext uri="{FF2B5EF4-FFF2-40B4-BE49-F238E27FC236}">
                <a16:creationId xmlns:a16="http://schemas.microsoft.com/office/drawing/2014/main" id="{C7FE9D12-607A-41B8-99BD-CCF80201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5742432"/>
            <a:ext cx="51114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전송 중 중복 요청 차단, 화면 이동 후에도 대화·선택 맥락 유지</a:t>
            </a:r>
            <a:endParaRPr sz="880"/>
          </a:p>
        </p:txBody>
      </p:sp>
      <p:sp>
        <p:nvSpPr>
          <p:cNvPr id="8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713E715-1E52-4817-8E34-32F2D42EAB8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27</a:t>
            </a:fld>
            <a:endParaRPr/>
          </a:p>
        </p:txBody>
      </p:sp>
      <p:sp>
        <p:nvSpPr>
          <p:cNvPr id="88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F788774B-4808-4F31-A43C-C54D11DA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480d48fc145af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3999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4E2F4BF-59C0-4C03-904C-CB3B9A08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12700">
            <a:solidFill>
              <a:srgbClr val="47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2A1890C-61FD-436A-B168-2973014C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10160">
            <a:solidFill>
              <a:srgbClr val="47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0C34390-87DC-4D4E-991D-CFAF0843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관리자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A4A039-8BF2-42AE-965D-2E03EB5F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기존 시안에 추가해야 할 관리자 화면 목록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27E940C-ED77-4CC3-B923-24A548C5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7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35A9375-7805-4D44-BAB2-35396D40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DESKTOP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83DA4BC-5B2B-4A8A-A2E8-189DFA05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10160">
            <a:solidFill>
              <a:srgbClr val="47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92CF03E-EAF8-42AC-8AA7-4F20245C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A-ADM-MAP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7DA1248-66B0-4900-AAD4-EFAD420D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28 / 43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9041F58-4E6C-45D4-AE02-66332958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98448"/>
            <a:ext cx="1097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화면 ID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2524106-D7D5-4987-A2C7-40C965AF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298448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화면명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DE2C14-58A6-4F66-BF6F-EE5F5F61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298448"/>
            <a:ext cx="5303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핵심 기능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4AC0671-7BD3-4999-84D0-4DCF3AD5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298448"/>
            <a:ext cx="2057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연결 요구사항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2B8F996-10A3-439F-BBDC-C8231CF7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37360"/>
            <a:ext cx="10899648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5911D32-8734-42A4-9A19-A76EC988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10160">
            <a:solidFill>
              <a:srgbClr val="47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B3E4E50-3708-40EC-B94E-1DD92583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911096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A-ADM-01</a:t>
            </a:r>
            <a:endParaRPr sz="74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934C5F-864E-4F90-8663-F18C3FAB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1874520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통합 대시보드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F12539A-DE18-4021-A36D-3EF874AD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1847088"/>
            <a:ext cx="5303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사용자·기업·AI·브리핑 KPI, 오류/보류 알림</a:t>
            </a:r>
            <a:endParaRPr sz="98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41256B4-773A-44FC-93BA-A202B352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1874520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FS-FR-054·055·057·061</a:t>
            </a:r>
            <a:endParaRPr sz="88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20A358A-FDE0-4611-B84C-A63B1A96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505456"/>
            <a:ext cx="10899648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288561A-FF3D-4959-B508-035A433C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70048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10160">
            <a:solidFill>
              <a:srgbClr val="47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9E485E2-5BA8-4159-9133-D79DECFD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679192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A-ADM-02</a:t>
            </a:r>
            <a:endParaRPr sz="74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069E3AB-D53A-4673-8207-B84EBC3A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2642616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이슈 관제</a:t>
            </a:r>
            <a:endParaRPr sz="10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488C8FE-B012-4957-8889-2B99E2F3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2615184"/>
            <a:ext cx="5303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판단 진행 상태, 통과/보류/폐기, 검수 후 허용/거부</a:t>
            </a:r>
            <a:endParaRPr sz="98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18DBC57-0DCB-43D6-836D-C6784EC4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642616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FS-FR-056</a:t>
            </a:r>
            <a:endParaRPr sz="88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E4F2C4B-A62E-489A-88BF-7643B522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73552"/>
            <a:ext cx="10899648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9848542F-389B-4EBD-ABFE-26880183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38144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10160">
            <a:solidFill>
              <a:srgbClr val="47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21551A2-98D0-421F-A551-9EAB5AA2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447288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A-ADM-03</a:t>
            </a:r>
            <a:endParaRPr sz="74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C7CEABA-34BA-4850-9A28-A9DEAC4E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3410712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회원 관리</a:t>
            </a:r>
            <a:endParaRPr sz="10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7BDA4CA-DBC6-4095-A3A7-AECE1A3B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3383280"/>
            <a:ext cx="5303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검색, 상태 확인, 권한/이용 이력, 개인정보 접근 통제</a:t>
            </a:r>
            <a:endParaRPr sz="98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0DDE5DB2-3E8C-485A-A733-5F649C52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3410712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FS-FR-058</a:t>
            </a:r>
            <a:endParaRPr sz="88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08CBC869-A2F7-44F0-8C12-561A9A4E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41648"/>
            <a:ext cx="10899648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921FAFDD-2486-4B07-97F1-BD48D1B5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0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10160">
            <a:solidFill>
              <a:srgbClr val="47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031F9496-4D56-4C67-A8FE-F4E66383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215384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A-ADM-04</a:t>
            </a:r>
            <a:endParaRPr sz="74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0DC1CA12-C13D-4CCB-B4A0-125E264A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4178808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브리핑 운영</a:t>
            </a:r>
            <a:endParaRPr sz="105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B936B7D-874F-43DD-BD82-D3C607AF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4151376"/>
            <a:ext cx="5303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회차별 생성·검증·발행 상태, 정정 이력</a:t>
            </a:r>
            <a:endParaRPr sz="98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5D4AB306-D7B2-4500-95E2-6F7F0AE8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4178808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FS-FR-059·060</a:t>
            </a:r>
            <a:endParaRPr sz="88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6865CA27-789B-454C-8AFD-F090943B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09744"/>
            <a:ext cx="10899648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12747934-0479-4AD8-9F2C-1CD1F707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7433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10160">
            <a:solidFill>
              <a:srgbClr val="47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9412BC2C-FBDA-4DF5-ACD0-BBC397BC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98348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A-ADM-05</a:t>
            </a:r>
            <a:endParaRPr sz="74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6844022-96DC-448D-98A6-41F108F1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4946904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관리자 로그인</a:t>
            </a:r>
            <a:endParaRPr sz="105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266EC0F2-2DCC-4825-9068-11CB1CB3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4919472"/>
            <a:ext cx="5303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SSO 또는 ID/PW, 실패·권한 부족 구분</a:t>
            </a:r>
            <a:endParaRPr sz="98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ED82331F-84AE-4CBD-9E73-A5BD727F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4946904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FS-FR-062</a:t>
            </a:r>
            <a:endParaRPr sz="88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BBC275A6-F8A2-412D-AFF4-D72518FE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15000"/>
            <a:ext cx="1089964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8890">
            <a:solidFill>
              <a:srgbClr val="FDBA7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CDB53EA0-0A64-48A0-A449-C38274BB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843016"/>
            <a:ext cx="10378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9A3412"/>
                </a:solidFill>
                <a:latin typeface="Malgun Gothic"/>
                <a:ea typeface="Malgun Gothic"/>
                <a:cs typeface="Malgun Gothic"/>
              </a:rPr>
              <a:t>관리자 화면은 모바일 범위에서 제외하고, 최소 1280px 데스크톱 운영 도구로 계획하는 안을 권장합니다.</a:t>
            </a:r>
            <a:endParaRPr sz="1020"/>
          </a:p>
        </p:txBody>
      </p:sp>
      <p:sp>
        <p:nvSpPr>
          <p:cNvPr id="4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78B1404-4677-47DB-88FD-B9CC9D28636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28</a:t>
            </a:fld>
            <a:endParaRPr/>
          </a:p>
        </p:txBody>
      </p:sp>
      <p:sp>
        <p:nvSpPr>
          <p:cNvPr id="48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AA08D924-BBEE-4A87-BC1B-A4D517DD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735e7cfd04c3a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120885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F511F8-FB06-4FA1-87CA-C67DDA51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1270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B716835-77AE-46DF-BD7C-1516F72B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F78116C-0BAE-420B-830C-AC2F4AE5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요구사항 추적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BF4D138-DCB3-4C4F-9474-528D3E2E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화면과 요구사항 연결 요약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271F117-AA4C-4E1E-8DC6-8D2B4A0B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9916D1-70DC-4DE7-98B4-F7A8D1F9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COMMON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76B2B46-1B0D-4E31-AE2A-9EDFD788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46E5"/>
          </a:solidFill>
          <a:ln xmlns:a="http://schemas.openxmlformats.org/drawingml/2006/main" w="10160">
            <a:solidFill>
              <a:srgbClr val="4F46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3FA0251-2958-439F-8114-74D31A24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TRACE-01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A34F8A9-E2CB-4ED8-9913-FFDA3C6F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29 / 43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D0EE626-7930-40A4-83AE-63B6DCA5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298448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기능 영역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EBBB17F-A8DF-43A5-B3F5-1F51B2B3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298448"/>
            <a:ext cx="4754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화면 범위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854335A-64BC-494B-A0D0-D4BA92E9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298448"/>
            <a:ext cx="2834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요구사항 범위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D75A7F4-69A4-4D83-82D4-28FD39BE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19072"/>
            <a:ext cx="1089964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F38054D-E54C-459A-957D-AD10EE58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801368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회원·온보딩</a:t>
            </a:r>
            <a:endParaRPr sz="102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CC24DFB-A246-4CBC-B417-FBF9856E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801368"/>
            <a:ext cx="4709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D-AUT-01~D-WAT-01 / M-AUT-01</a:t>
            </a:r>
            <a:endParaRPr sz="96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5C8E7CD-F837-4967-95B8-9FC43EBD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801368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FS-FR-001~016</a:t>
            </a:r>
            <a:endParaRPr sz="96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4497C7-40A9-4C79-B34B-739BB763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95144"/>
            <a:ext cx="1089964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508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8581176-8D79-434F-815F-E5DD7F05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3774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관계 그래프</a:t>
            </a:r>
            <a:endParaRPr sz="102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D4C0E3F-A0F4-4C37-955B-3BCE4FD0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377440"/>
            <a:ext cx="4709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D-GRP-01~06 / M-GRP-01</a:t>
            </a:r>
            <a:endParaRPr sz="96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149412F-91A9-46E5-A857-76841779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377440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FS-FR-017~027</a:t>
            </a:r>
            <a:endParaRPr sz="96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D965BC6-0F6B-47F7-876A-5DF88060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71216"/>
            <a:ext cx="1089964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6A75565-2352-47C7-9418-118BE67B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953512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출퇴근 브리핑</a:t>
            </a:r>
            <a:endParaRPr sz="102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AAE29D6-C1FF-4F20-BE62-F265BAF8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953512"/>
            <a:ext cx="4709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D-BRF-01~02 / M-BRF-01</a:t>
            </a:r>
            <a:endParaRPr sz="96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D43BC27-3A5B-495F-BDF5-471BFAA3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953512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FS-FR-028~037</a:t>
            </a:r>
            <a:endParaRPr sz="96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414237B-7681-46F0-A085-F3E25098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47288"/>
            <a:ext cx="1089964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508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6195C9A-17DF-441B-9379-6F86EC90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529584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기업 상세</a:t>
            </a:r>
            <a:endParaRPr sz="102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7A4F1D7-0127-4A3F-980A-32E8E03F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529584"/>
            <a:ext cx="4709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D-COM-01~02 / M-COM-01</a:t>
            </a:r>
            <a:endParaRPr sz="96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E5E711A-2B97-4DA1-9F5E-628FE668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529584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FS-FR-038~044</a:t>
            </a:r>
            <a:endParaRPr sz="96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8E08033-2FE2-474D-B7A4-AAF998B9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23360"/>
            <a:ext cx="1089964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24CCE4-C4FF-494F-A6C0-72BD3249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105656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AI 질문</a:t>
            </a:r>
            <a:endParaRPr sz="102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99019BBC-BA95-4C7C-BA67-7A926188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105656"/>
            <a:ext cx="4709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D-AI-01 / M-AI-01</a:t>
            </a:r>
            <a:endParaRPr sz="96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B7CE96B-D8F8-44D5-8D83-87C6D8B1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105656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FS-FR-045~053</a:t>
            </a:r>
            <a:endParaRPr sz="96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468C3600-C66C-4ECE-AF53-83C789C9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99432"/>
            <a:ext cx="1089964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508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2113677-DE60-4715-B004-FC43C63B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681728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관리자</a:t>
            </a:r>
            <a:endParaRPr sz="102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12A2E2A-72B5-483E-A586-6B17AEEB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681728"/>
            <a:ext cx="4709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A-ADM-01~05</a:t>
            </a:r>
            <a:endParaRPr sz="96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0151DDC3-95CB-4BD4-83EB-D1A7D33D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681728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FS-FR-054~062</a:t>
            </a:r>
            <a:endParaRPr sz="96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FD20E958-E649-4C54-87E3-8AB3F9E6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75504"/>
            <a:ext cx="1089964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305FEB42-924C-4A20-91EC-908A7CC8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25780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공통 품질</a:t>
            </a:r>
            <a:endParaRPr sz="102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98D197F-437B-42E2-9644-59DD8408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5257800"/>
            <a:ext cx="4709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STATE-01 / M-RULE-01</a:t>
            </a:r>
            <a:endParaRPr sz="96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AD9FB09F-630A-40C6-B6DF-49060212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257800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FS-NFR-001~012</a:t>
            </a:r>
            <a:endParaRPr sz="96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04C36D4-0A30-4553-9F5D-EDAFA3BB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97880"/>
            <a:ext cx="10899648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8890">
            <a:solidFill>
              <a:srgbClr val="C7D2F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BAE3F0D1-5609-4ACA-B8F0-877D67F3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952744"/>
            <a:ext cx="103784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각 상세 화면의 “요구사항” 필드는 요구사항 정의서와 기능명세서의 추적 키로 사용합니다.</a:t>
            </a:r>
            <a:endParaRPr sz="950"/>
          </a:p>
        </p:txBody>
      </p:sp>
      <p:sp>
        <p:nvSpPr>
          <p:cNvPr id="4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7E962F6-9900-4C6F-8B9B-AE9CC0179CC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29</a:t>
            </a:fld>
            <a:endParaRPr/>
          </a:p>
        </p:txBody>
      </p:sp>
      <p:sp>
        <p:nvSpPr>
          <p:cNvPr id="45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B28521F8-202F-4BCA-AABA-5F5A41A5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698ce00734988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4036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4C7D170-C823-4310-9CDD-4DE66D16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C29FD57-4F99-4494-8CC5-ACD34C55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144475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016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C1C09AD-B1A2-4643-8F05-74D5FEA6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0040"/>
            <a:ext cx="13350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정책 결정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9CFF114-0029-4CA7-945D-2BB985A2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58368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화면 확정 전에 해결할 충돌 4건</a:t>
            </a:r>
            <a:endParaRPr sz="2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667C4C7-3EB7-4F92-A38B-DA605A38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56616"/>
            <a:ext cx="960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D03352E-7AAA-4787-BCF8-7C4EF195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65760"/>
            <a:ext cx="850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COMMON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D994F63-03B4-4DBC-9A65-1C1E9EB4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356616"/>
            <a:ext cx="13533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016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DC0FC0D-8688-4300-A513-52B2F3A0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365760"/>
            <a:ext cx="1243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DECISION-01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E09F9D4-D6B3-4EE4-A2FB-FE625400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76809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30 / 43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DADB597-E727-425E-89C5-083AE25C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07592"/>
            <a:ext cx="10899648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ED7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9D78068-02C5-4C59-B971-62B5D52C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490472"/>
            <a:ext cx="4389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016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4A88617-F05B-481C-98FF-15036486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499616"/>
            <a:ext cx="3291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  <a:endParaRPr sz="8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21817CF-C94A-48F9-8DD0-AA6E170B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435608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0">
                <a:solidFill>
                  <a:srgbClr val="9A3412"/>
                </a:solidFill>
                <a:latin typeface="Malgun Gothic"/>
                <a:ea typeface="Malgun Gothic"/>
                <a:cs typeface="Malgun Gothic"/>
              </a:rPr>
              <a:t>비회원 범위</a:t>
            </a:r>
            <a:endParaRPr sz="12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F2EAF54-04BE-43AE-8D32-B7763212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417320"/>
            <a:ext cx="39776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비회원 시작 허용 vs 관심종목은 로그인 후만 허용</a:t>
            </a:r>
            <a:endParaRPr sz="98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0D46E1D-2D8E-427C-A9B4-A09F51CA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1417320"/>
            <a:ext cx="60350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 b="0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권장안</a:t>
            </a:r>
            <a:endParaRPr sz="86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74C8814-7488-42E2-8A81-81EF48E1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1399032"/>
            <a:ext cx="34290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비회원은 예시 데이터만 탐색, 저장·개인화는 로그인 후</a:t>
            </a:r>
            <a:endParaRPr sz="97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1092F58-0C10-4F7D-B424-A5D1E46A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0899648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ED7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FCCBE42-73B7-4C3A-AD9E-AF27837A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633472"/>
            <a:ext cx="4389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016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FDE6806-BF82-4FDB-8777-98A9715E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642616"/>
            <a:ext cx="3291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  <a:endParaRPr sz="8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AC380E5-7E6A-4CB5-8339-DE4BD7EB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578608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0">
                <a:solidFill>
                  <a:srgbClr val="9A3412"/>
                </a:solidFill>
                <a:latin typeface="Malgun Gothic"/>
                <a:ea typeface="Malgun Gothic"/>
                <a:cs typeface="Malgun Gothic"/>
              </a:rPr>
              <a:t>관심종목 개수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5AEB7B6-0513-4C50-A836-C2DFA189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560320"/>
            <a:ext cx="39776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0개·무제한 허용 vs 1~3개 제한</a:t>
            </a:r>
            <a:endParaRPr sz="98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DE13B3-093F-4657-8601-4871FF03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560320"/>
            <a:ext cx="60350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 b="0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권장안</a:t>
            </a:r>
            <a:endParaRPr sz="86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067CE91-AD04-4957-BF52-544C301A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542032"/>
            <a:ext cx="34290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초기 1~3개, 이후 설정에서 확대 여부 별도 결정</a:t>
            </a:r>
            <a:endParaRPr sz="97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17123AB8-8370-476F-BF3D-548DBA04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93592"/>
            <a:ext cx="10899648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ED7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9848FE7-BFD7-4857-B133-42008BE0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776472"/>
            <a:ext cx="4389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016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7D02B87-71CB-434A-A710-14FC629D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85616"/>
            <a:ext cx="3291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  <a:endParaRPr sz="8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947EAB9-1034-4702-AB78-A598A84D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721608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0">
                <a:solidFill>
                  <a:srgbClr val="9A3412"/>
                </a:solidFill>
                <a:latin typeface="Malgun Gothic"/>
                <a:ea typeface="Malgun Gothic"/>
                <a:cs typeface="Malgun Gothic"/>
              </a:rPr>
              <a:t>기업 재무 기간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01094C9-551C-4B23-A776-E7CBBCC8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703320"/>
            <a:ext cx="39776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최신 지표만 제공 vs 기간 변경 기능</a:t>
            </a:r>
            <a:endParaRPr sz="98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62CE2F2-D16C-4CD5-AEFE-5863459F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703320"/>
            <a:ext cx="60350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 b="0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권장안</a:t>
            </a:r>
            <a:endParaRPr sz="86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B88ADCB-CAC2-4ADE-BE7D-66641CE4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3685032"/>
            <a:ext cx="34290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주가 기간과 재무 기간을 UI에서 분리</a:t>
            </a:r>
            <a:endParaRPr sz="97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676FB43-2762-40DF-B07C-DC3CCD25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36592"/>
            <a:ext cx="10899648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ED7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4A9C5394-9CAA-414B-9E70-E4837967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919472"/>
            <a:ext cx="438912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016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4A95211-A2EB-4F07-8D3F-47D8356C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928616"/>
            <a:ext cx="3291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  <a:endParaRPr sz="8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7B45A75-1F84-4673-89F3-3AC66F4B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864608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0">
                <a:solidFill>
                  <a:srgbClr val="9A3412"/>
                </a:solidFill>
                <a:latin typeface="Malgun Gothic"/>
                <a:ea typeface="Malgun Gothic"/>
                <a:cs typeface="Malgun Gothic"/>
              </a:rPr>
              <a:t>브리핑 평가</a:t>
            </a:r>
            <a:endParaRPr sz="125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7F9546EE-D8A9-4091-BF2A-AE2252EC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846320"/>
            <a:ext cx="39776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현재 회차 좋아요/싫어요 vs 이전 회차 평가</a:t>
            </a:r>
            <a:endParaRPr sz="98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59312A3-DBAC-40D5-A289-78DA56B8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846320"/>
            <a:ext cx="60350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 b="0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권장안</a:t>
            </a:r>
            <a:endParaRPr sz="86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4077290-8E49-45EA-BB9E-9F07DFEB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4828032"/>
            <a:ext cx="34290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각 회차 카드 하단에서 해당 회차 평가</a:t>
            </a:r>
            <a:endParaRPr sz="97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4CB20E99-D636-450F-ABD8-AA9C83EE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989320"/>
            <a:ext cx="10899648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8890">
            <a:solidFill>
              <a:srgbClr val="FDBA7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164E69D2-7B2A-497F-9A8E-698B7845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6035040"/>
            <a:ext cx="10241280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 b="0">
                <a:solidFill>
                  <a:srgbClr val="9A3412"/>
                </a:solidFill>
                <a:latin typeface="Malgun Gothic"/>
                <a:ea typeface="Malgun Gothic"/>
                <a:cs typeface="Malgun Gothic"/>
              </a:rPr>
              <a:t>결정 후: 요구사항 정의서 → 기능명세서 → 화면계획서의 세 문서를 같은 값으로 갱신</a:t>
            </a:r>
            <a:endParaRPr sz="940"/>
          </a:p>
        </p:txBody>
      </p:sp>
      <p:sp>
        <p:nvSpPr>
          <p:cNvPr id="4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2A70711-75F6-47B7-A382-4C09E912CBA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00">
                <a:solidFill>
                  <a:srgbClr val="8A93A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>
                <a:latin typeface="Malgun Gothic"/>
                <a:ea typeface="Malgun Gothic"/>
                <a:cs typeface="Malgun Gothic"/>
              </a:rPr>
              <a:t>30</a:t>
            </a:fld>
            <a:endParaRPr/>
          </a:p>
        </p:txBody>
      </p:sp>
      <p:sp>
        <p:nvSpPr>
          <p:cNvPr id="42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FB550D59-152F-4C55-8B69-2807A375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dbfbe90974eba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0373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0852A7-E825-43A9-8338-5CAC713C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3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A0BF7-C44F-4A9F-A730-B0E00C15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44780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5B43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E918C-E052-4378-9D1B-34665BCB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1950"/>
            <a:ext cx="1238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061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FIGMA 통합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85631-F88B-49AD-9A49-359D0B37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9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Figma 핵심 화면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7382E-CF68-4B75-B476-1F5E35D9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7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요구사항 화면 ID와 Figma의 6개 탐색 단위를 하나의 구조로 정렬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4030C-44C8-41F5-8C0F-AD3D453D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"/>
            <a:ext cx="962025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B43F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EE45E-227C-42E9-89AA-8E789313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B43F4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5B43F4"/>
                </a:solidFill>
                <a:latin typeface="Malgun Gothic"/>
                <a:ea typeface="Malgun Gothic"/>
                <a:cs typeface="Malgun Gothic"/>
              </a:rPr>
              <a:t>FIGMA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0E8CC-F3C9-4559-9B0A-A7648557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52425"/>
            <a:ext cx="135255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5B43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54D7B-D93E-4557-86E4-A9CDB9E4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09575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INTEGRATION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B106D-5E3A-4ED7-98C7-D6AA8630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819150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A2AAB8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A2AAB8"/>
                </a:solidFill>
                <a:latin typeface="Malgun Gothic"/>
                <a:ea typeface="Malgun Gothic"/>
                <a:cs typeface="Malgun Gothic"/>
              </a:rPr>
              <a:t>31 / 43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A0B03-09FF-45E1-AAA2-6FD6EE0E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5341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AA3B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9AA3B1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911e37200448e"/>
          <a:stretch xmlns:a="http://schemas.openxmlformats.org/drawingml/2006/main"/>
        </p:blipFill>
        <p:spPr>
          <a:xfrm xmlns:a="http://schemas.openxmlformats.org/drawingml/2006/main">
            <a:off x="561975" y="1362075"/>
            <a:ext cx="8305800" cy="51911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6CAF5-C89C-4B57-BEF6-983FB98C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362075"/>
            <a:ext cx="2438400" cy="4867275"/>
          </a:xfrm>
          <a:prstGeom xmlns:a="http://schemas.openxmlformats.org/drawingml/2006/main" prst="roundRect">
            <a:avLst>
              <a:gd name="adj" fmla="val 5469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EE3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67B24-8171-4F63-B870-D6806115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90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20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화면 ID 연결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91641-8825-41BD-9B72-E81D6EB6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9775"/>
            <a:ext cx="2000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278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B43F4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0">
                <a:solidFill>
                  <a:srgbClr val="5B43F4"/>
                </a:solidFill>
                <a:latin typeface="Malgun Gothic"/>
                <a:ea typeface="Malgun Gothic"/>
                <a:cs typeface="Malgun Gothic"/>
              </a:rPr>
              <a:t>01 Portfolio 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8A22F-C6E2-48A9-A693-6F9341A2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288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D-GRP-01 메인 그래프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9457D-560B-431D-BDD7-49AA0F9A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28900"/>
            <a:ext cx="2000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278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B43F4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0">
                <a:solidFill>
                  <a:srgbClr val="5B43F4"/>
                </a:solidFill>
                <a:latin typeface="Malgun Gothic"/>
                <a:ea typeface="Malgun Gothic"/>
                <a:cs typeface="Malgun Gothic"/>
              </a:rPr>
              <a:t>02 Stock Focus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1F9B6-406C-4514-A0F9-14B41507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479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D-COM-01 기업 상세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FA1C0-3BFD-4C13-9A52-0F06B7B8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48025"/>
            <a:ext cx="2000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278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B43F4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0">
                <a:solidFill>
                  <a:srgbClr val="5B43F4"/>
                </a:solidFill>
                <a:latin typeface="Malgun Gothic"/>
                <a:ea typeface="Malgun Gothic"/>
                <a:cs typeface="Malgun Gothic"/>
              </a:rPr>
              <a:t>03 Issue Focus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81163A-A682-44ED-BAE0-133EDE54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67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D-GRP-02·03 이슈 경로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ABFFA4-7292-453B-B64A-1D6602BE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67150"/>
            <a:ext cx="2000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278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B43F4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0">
                <a:solidFill>
                  <a:srgbClr val="5B43F4"/>
                </a:solidFill>
                <a:latin typeface="Malgun Gothic"/>
                <a:ea typeface="Malgun Gothic"/>
                <a:cs typeface="Malgun Gothic"/>
              </a:rPr>
              <a:t>04 Relationship Detail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5A8E55-A5F9-4DC4-BC54-E10C321B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862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D-GRP-04·06 관계 근거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CE6416-85AB-480F-BE12-3E2A5E6D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86275"/>
            <a:ext cx="2000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278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B43F4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0">
                <a:solidFill>
                  <a:srgbClr val="5B43F4"/>
                </a:solidFill>
                <a:latin typeface="Malgun Gothic"/>
                <a:ea typeface="Malgun Gothic"/>
                <a:cs typeface="Malgun Gothic"/>
              </a:rPr>
              <a:t>05 Portfolio Timeline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1CBEF6-A972-4C52-A430-CB830CCA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053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D-BRF-01·02 시간 변화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114854-281B-4680-A14E-7A9AFC09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000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278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B43F4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0">
                <a:solidFill>
                  <a:srgbClr val="5B43F4"/>
                </a:solidFill>
                <a:latin typeface="Malgun Gothic"/>
                <a:ea typeface="Malgun Gothic"/>
                <a:cs typeface="Malgun Gothic"/>
              </a:rPr>
              <a:t>06 AI Copilot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574329-45FF-42D1-ABDC-CA210D24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3244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D-AI-01 맥락 질문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4C56CA-AA17-4E32-AC3C-37672867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7816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관리자 화면은 요구사항 문서 기준을 유지하고 관리자 화면 설계 범위를 별도 화면으로 정리</a:t>
            </a:r>
          </a:p>
        </p:txBody>
      </p:sp>
      <p:sp>
        <p:nvSpPr>
          <p:cNvPr id="30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B116B485-1811-4156-B5B6-2A596AC6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1b782e32f4e7c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93112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FDD2AA-6F63-4198-9BAD-52ECB531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3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ECFAD-35B6-402A-9495-9DD685E9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44780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5B43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8468B-7F69-4198-A8D2-E029A7EE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1950"/>
            <a:ext cx="1238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061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FIGMA 통합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EC29D-C935-4734-9554-FF8DA588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9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통합 사용자 흐름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87F7C-41C0-472A-B685-70DE3955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7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최초 진입, 개인화, 그래프 탐색, 반복 사용을 요구사항 화면과 연결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EEC5C-28B1-4CA5-BD76-0C8C7A7F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"/>
            <a:ext cx="962025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B43F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E7801-7DDA-4540-854D-D9C9BF97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B43F4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5B43F4"/>
                </a:solidFill>
                <a:latin typeface="Malgun Gothic"/>
                <a:ea typeface="Malgun Gothic"/>
                <a:cs typeface="Malgun Gothic"/>
              </a:rPr>
              <a:t>FIGMA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FAF96-A26A-4D06-B7DC-607A0C7F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52425"/>
            <a:ext cx="135255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5B43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A9ABB-59A9-4CF8-AAF0-44026F3E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09575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INTEGRATION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ADA9C-68AB-4841-9A25-F34FD529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819150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A2AAB8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A2AAB8"/>
                </a:solidFill>
                <a:latin typeface="Malgun Gothic"/>
                <a:ea typeface="Malgun Gothic"/>
                <a:cs typeface="Malgun Gothic"/>
              </a:rPr>
              <a:t>32 / 43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36E6F-D0BD-4DED-87D3-89EA65E5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5341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AA3B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9AA3B1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9ed2109c84dcb"/>
          <a:stretch xmlns:a="http://schemas.openxmlformats.org/drawingml/2006/main"/>
        </p:blipFill>
        <p:spPr>
          <a:xfrm xmlns:a="http://schemas.openxmlformats.org/drawingml/2006/main">
            <a:off x="333375" y="1404309"/>
            <a:ext cx="9239250" cy="50495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DF544B-A162-41E6-AB0B-219D2FEA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381125"/>
            <a:ext cx="1933575" cy="509587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05C84-FD01-4483-94A0-FFA9F43B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619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B43F4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5B43F4"/>
                </a:solidFill>
                <a:latin typeface="Malgun Gothic"/>
                <a:ea typeface="Malgun Gothic"/>
                <a:cs typeface="Malgun Gothic"/>
              </a:rPr>
              <a:t>문서 연결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D4206-7B0D-41E0-A3B3-2B6747D9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8764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3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9E951-BFFB-4D2D-81B3-5D5D465C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0955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B43F4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5B43F4"/>
                </a:solidFill>
                <a:latin typeface="Malgun Gothic"/>
                <a:ea typeface="Malgun Gothic"/>
                <a:cs typeface="Malgun Gothic"/>
              </a:rPr>
              <a:t>ENTRY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8001A-F261-47E7-8EC1-98DF7FE1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336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75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D-AUT-01·02</a:t>
            </a:r>
          </a:p>
          <a:p xmlns:a="http://schemas.openxmlformats.org/drawingml/2006/main">
            <a:pPr>
              <a:buNone/>
              <a:defRPr sz="975" b="0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75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D-ONB-01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BD874B-3152-4EA0-8722-3DA9851F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971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B43F4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5B43F4"/>
                </a:solidFill>
                <a:latin typeface="Malgun Gothic"/>
                <a:ea typeface="Malgun Gothic"/>
                <a:cs typeface="Malgun Gothic"/>
              </a:rPr>
              <a:t>PERSONALIZE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03DBD0-A29A-4169-BFC7-2B1ADD4A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2099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75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D-ONB-02</a:t>
            </a:r>
          </a:p>
          <a:p xmlns:a="http://schemas.openxmlformats.org/drawingml/2006/main">
            <a:pPr>
              <a:buNone/>
              <a:defRPr sz="975" b="0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75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D-WAT-01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33B50-189B-4C8C-8B0D-3FE31392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848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B43F4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5B43F4"/>
                </a:solidFill>
                <a:latin typeface="Malgun Gothic"/>
                <a:ea typeface="Malgun Gothic"/>
                <a:cs typeface="Malgun Gothic"/>
              </a:rPr>
              <a:t>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898E7-08DA-4BCF-93D6-EE8DBBB5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862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75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D-GRP-01~06</a:t>
            </a:r>
          </a:p>
          <a:p xmlns:a="http://schemas.openxmlformats.org/drawingml/2006/main">
            <a:pPr>
              <a:buNone/>
              <a:defRPr sz="975" b="0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75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D-COM-01·02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2F8DA1-21ED-4668-88B5-F472F02F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7244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B43F4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5B43F4"/>
                </a:solidFill>
                <a:latin typeface="Malgun Gothic"/>
                <a:ea typeface="Malgun Gothic"/>
                <a:cs typeface="Malgun Gothic"/>
              </a:rPr>
              <a:t>REPEAT 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DFED81-5257-425A-99A6-734E14FC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9625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75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D-AI-01</a:t>
            </a:r>
          </a:p>
          <a:p xmlns:a="http://schemas.openxmlformats.org/drawingml/2006/main">
            <a:pPr>
              <a:buNone/>
              <a:defRPr sz="975" b="0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75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D-BRF-01·02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86FFB8-0C62-4146-9203-B46A186A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676900"/>
            <a:ext cx="152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3C5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F8657B-B414-40AE-96FF-D15FE992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78167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A65B00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A65B00"/>
                </a:solidFill>
                <a:latin typeface="Malgun Gothic"/>
                <a:ea typeface="Malgun Gothic"/>
                <a:cs typeface="Malgun Gothic"/>
              </a:rPr>
              <a:t>Market Close Board는 신규 화면 ID 부여 필요</a:t>
            </a:r>
          </a:p>
        </p:txBody>
      </p:sp>
      <p:sp>
        <p:nvSpPr>
          <p:cNvPr id="28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F9892D31-42E0-4FDC-B823-FA29B94D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34fb150e24284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38206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BDC68-82E5-41C2-ACD6-76634C8E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3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34371-CCB6-4B26-ADD8-3A93B565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44780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5B43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1B355-1E9F-45DF-AA43-0156D957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1950"/>
            <a:ext cx="1238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061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통합 매핑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68915-7E92-4C02-9646-C189F146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9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요구사항 화면과 Figma 화면의 교차표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54E40-AF13-4654-997C-AB020EA7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7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요구사항 정의서와 기능명세서는 기존 화면 ID를 기준으로 연결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EA1FE-9F7D-42FD-AD0C-F614D7AB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"/>
            <a:ext cx="962025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B43F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BCD43-3138-485C-A19D-5096C5BC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B43F4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5B43F4"/>
                </a:solidFill>
                <a:latin typeface="Malgun Gothic"/>
                <a:ea typeface="Malgun Gothic"/>
                <a:cs typeface="Malgun Gothic"/>
              </a:rPr>
              <a:t>FIGMA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44994-BC0B-413E-87E4-EFFC3561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52425"/>
            <a:ext cx="135255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5B43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78892-EC76-4E84-95AC-7EDC5774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09575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INTEGRATION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3D0FA-B956-4BC6-BBC6-37DCC496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819150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A2AAB8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A2AAB8"/>
                </a:solidFill>
                <a:latin typeface="Malgun Gothic"/>
                <a:ea typeface="Malgun Gothic"/>
                <a:cs typeface="Malgun Gothic"/>
              </a:rPr>
              <a:t>33 / 43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80F68-547D-4611-8BB4-F720A3CC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5341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AA3B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9AA3B1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552450" y="1504950"/>
          <a:ext xmlns:a="http://schemas.openxmlformats.org/drawingml/2006/main" cx="110871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619375"/>
                <a:gridCol w="3524250"/>
                <a:gridCol w="3514725"/>
              </a:tblGrid>
              <a:tr h="36195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기능 영역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요구사항 화면 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Figma 화면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통합 기준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회원·온보딩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5B43F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D-AUT-01·02 / D-ONB-01·02 / D-WAT-01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Tutorial·Login·Investor Branch</a:t>
                      </a:r>
                    </a:p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Broker Connect·Interest Onboarding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진입 분기·개인화 저장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관계 그래프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5B43F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D-GRP-01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Portfolio Map / Main Graph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그래프를 메인 화면으로 사용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기업 상세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5B43F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D-COM-01·02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Stock Focus / Company / Issue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기업 선택 맥락과 기간 조건 유지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시장 이슈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5B43F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D-GRP-02·03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Issue Focus / Issue detail drawer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이슈 판단과 영향 경로 연결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관계 근거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5B43F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D-GRP-04·06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Relationship Detail / Relationship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근거 패널 또는 모달 표시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시간 변화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5B43F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D-BRF-01·02 / D-COM-01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Portfolio Timeline / Commute Briefing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브리핑·기업 타임라인 역할 분리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AI 질문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5B43F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D-AI-01 / M-AI-01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AI Copilot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선택한 기업·이슈·관계 맥락을 질문에 유지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관리자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5B43F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A-ADM-01~05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Figma 상세 없음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요구사항 유지, 설계 추가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5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C27B029D-6077-493A-9262-17B5A3D5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a7ccdfbcb4f6c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8419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066DD7-E69F-4E85-BB85-8A6EEEE7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E2734-B5DB-4557-BA65-E0C51707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44780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7B61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8955B-4422-4C59-AE43-B50B9B10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1950"/>
            <a:ext cx="1238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061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이슈 상세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4CE57-C0F6-4853-A7F4-394B46A0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9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Issue detail drawer 통합 명세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A8C7F-AE9E-4C87-8340-5BF50A6C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7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Figma 선택 화면을 요구사항의 이슈·영향 경로·근거 흐름에 연결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F464D-4730-4E3B-BE45-15E3AF5C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"/>
            <a:ext cx="962025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B61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59B89-AF1D-467B-A7AA-DE1CB4D7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B61DE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7B61DE"/>
                </a:solidFill>
                <a:latin typeface="Malgun Gothic"/>
                <a:ea typeface="Malgun Gothic"/>
                <a:cs typeface="Malgun Gothic"/>
              </a:rPr>
              <a:t>FIGMA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09652-84E3-48D0-823B-3736C58B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52425"/>
            <a:ext cx="135255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7B61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88370-42BD-4728-8E44-584FD15C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09575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INTEGRATION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D06D0-2BA5-4C53-93BC-74E9A9FE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819150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A2AAB8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A2AAB8"/>
                </a:solidFill>
                <a:latin typeface="Malgun Gothic"/>
                <a:ea typeface="Malgun Gothic"/>
                <a:cs typeface="Malgun Gothic"/>
              </a:rPr>
              <a:t>34 / 43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CB51AA-A746-4ED1-9FBD-9401F9A3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5341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AA3B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9AA3B1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d926c42b44072"/>
          <a:stretch xmlns:a="http://schemas.openxmlformats.org/drawingml/2006/main"/>
        </p:blipFill>
        <p:spPr>
          <a:xfrm xmlns:a="http://schemas.openxmlformats.org/drawingml/2006/main">
            <a:off x="854156" y="1304925"/>
            <a:ext cx="2901787" cy="523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814DE-D069-40AC-A5BA-97B42324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04925"/>
            <a:ext cx="7448550" cy="5238750"/>
          </a:xfrm>
          <a:prstGeom xmlns:a="http://schemas.openxmlformats.org/drawingml/2006/main" prst="roundRect">
            <a:avLst>
              <a:gd name="adj" fmla="val 2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2D307-7509-4E85-9416-8739C3BB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43050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B61DE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7B61DE"/>
                </a:solidFill>
                <a:latin typeface="Malgun Gothic"/>
                <a:ea typeface="Malgun Gothic"/>
                <a:cs typeface="Malgun Gothic"/>
              </a:rPr>
              <a:t>화면 역할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A4929-D077-4628-B622-C46B8BE3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00225"/>
            <a:ext cx="676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9BA39-6CE9-48AC-A2A2-2E88D1DF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240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125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이슈 노드나 동시 이슈 카드를 선택하면 우측 드로어가 열리고, 기사 묶음의 요약과 판단 근거를 한 화면에서 확인한다.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9DEE33-CBBF-4546-8F36-F1D67385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B61DE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7B61DE"/>
                </a:solidFill>
                <a:latin typeface="Malgun Gothic"/>
                <a:ea typeface="Malgun Gothic"/>
                <a:cs typeface="Malgun Gothic"/>
              </a:rPr>
              <a:t>표시 정보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861C57-CEEE-4875-A49A-47A25955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28925"/>
            <a:ext cx="676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4688B2-6CBF-4305-AF8B-0193D670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2952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이슈명과 문서 건수</a:t>
            </a:r>
          </a:p>
          <a:p xmlns:a="http://schemas.openxmlformats.org/drawingml/2006/main">
            <a:pPr>
              <a:buNone/>
              <a:defRPr sz="1050" b="0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뉴스 묶음 요약</a:t>
            </a:r>
          </a:p>
          <a:p xmlns:a="http://schemas.openxmlformats.org/drawingml/2006/main">
            <a:pPr>
              <a:buNone/>
              <a:defRPr sz="1050" b="0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긍정·부정 가능성과 반대 근거</a:t>
            </a:r>
          </a:p>
          <a:p xmlns:a="http://schemas.openxmlformats.org/drawingml/2006/main">
            <a:pPr>
              <a:buNone/>
              <a:defRPr sz="1050" b="0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관련성 높은 순 뉴스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06E9E9-0341-41B8-A038-CAAF1251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44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B61DE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7B61DE"/>
                </a:solidFill>
                <a:latin typeface="Malgun Gothic"/>
                <a:ea typeface="Malgun Gothic"/>
                <a:cs typeface="Malgun Gothic"/>
              </a:rPr>
              <a:t>행동과 결과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5BCB71-9D5A-4C47-A3CC-6448C30D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344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BF262E-F230-46C3-9BE0-58C3DDD5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34480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영향 기업으로 확대</a:t>
            </a:r>
          </a:p>
          <a:p xmlns:a="http://schemas.openxmlformats.org/drawingml/2006/main">
            <a:pPr>
              <a:buNone/>
              <a:defRPr sz="1050" b="0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D-GRP-03 경로 강조 상태로 전환</a:t>
            </a:r>
          </a:p>
          <a:p xmlns:a="http://schemas.openxmlformats.org/drawingml/2006/main">
            <a:r>
              <a:rPr b="0"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>
              <a:buNone/>
              <a:defRPr sz="1050" b="0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뉴스 항목 선택</a:t>
            </a:r>
          </a:p>
          <a:p xmlns:a="http://schemas.openxmlformats.org/drawingml/2006/main">
            <a:pPr>
              <a:buNone/>
              <a:defRPr sz="1050" b="0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원문 새 창 또는 D-GRP-04 근거 모달</a:t>
            </a:r>
          </a:p>
          <a:p xmlns:a="http://schemas.openxmlformats.org/drawingml/2006/main">
            <a:pPr>
              <a:buNone/>
              <a:defRPr sz="1050" b="0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정책 확정 필요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5BE752-4F6B-431B-A024-C240F5E9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57700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B61DE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7B61DE"/>
                </a:solidFill>
                <a:latin typeface="Malgun Gothic"/>
                <a:ea typeface="Malgun Gothic"/>
                <a:cs typeface="Malgun Gothic"/>
              </a:rPr>
              <a:t>화면 ID와 상태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B30616-3B6B-4E11-8E85-0E5B885D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14875"/>
            <a:ext cx="676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98C2F6-9C51-401E-8DE8-7C05F6DD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19650"/>
            <a:ext cx="676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연결 ID  D-GRP-02·03·04 / M-GRP-01</a:t>
            </a:r>
          </a:p>
          <a:p xmlns:a="http://schemas.openxmlformats.org/drawingml/2006/main">
            <a:pPr>
              <a:buNone/>
              <a:defRPr sz="1050" b="0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권장 상태  로딩 · 판단 없음 · 뉴스 없음 · 원문 없음 · 권한 제한</a:t>
            </a:r>
          </a:p>
          <a:p xmlns:a="http://schemas.openxmlformats.org/drawingml/2006/main">
            <a:pPr>
              <a:buNone/>
              <a:defRPr sz="1050" b="0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복귀 규칙  닫기나 뒤로 가기 시 선택 이슈와 그래프 필터를 유지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451D2B-FC24-40F3-A7B8-264893EF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810250"/>
            <a:ext cx="6762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3C5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89C5F6-72D4-454D-8D67-DE2205FD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924550"/>
            <a:ext cx="640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A65B00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0">
                <a:solidFill>
                  <a:srgbClr val="A65B00"/>
                </a:solidFill>
                <a:latin typeface="Malgun Gothic"/>
                <a:ea typeface="Malgun Gothic"/>
                <a:cs typeface="Malgun Gothic"/>
              </a:rPr>
              <a:t>현재 Figma에는 닫기 동작과 뉴스 원문 열기 규칙이 명시되지 않아 화면 확정 전에 동작 정책을 결정해야 함</a:t>
            </a:r>
          </a:p>
        </p:txBody>
      </p:sp>
      <p:sp>
        <p:nvSpPr>
          <p:cNvPr id="30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FCED6EC1-6097-4023-9DB6-B7025119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06785c83d4a3b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46465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2FBF3-E8E2-47D5-BEE1-D5FD5E18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CE4F6-BD09-4A6F-B080-F2DFEDBF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44780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0014D-2468-4B1A-975E-E5FD9D14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1950"/>
            <a:ext cx="1238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061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정합성 정리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2EFC1-5D5E-42F5-9F14-9433E75F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9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통합 적용 기준과 설계 보완 기준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D5AE3-ACE5-418A-803D-87E72457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7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두 자료의 역할을 분리해 화면명, 상태, 이동 규칙을 하나의 기준으로 운영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3D168-1781-4600-A710-2484A87D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"/>
            <a:ext cx="962025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6EC4F-550A-4C47-9E57-41EB0585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59E0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FIGMA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5C23E-3238-457D-BF28-C50268AC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52425"/>
            <a:ext cx="135255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76D56-EF99-4718-AD48-BB752584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09575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INTEGRATION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CCCE3-D17C-4CF0-BA10-F3BA880A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819150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A2AAB8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A2AAB8"/>
                </a:solidFill>
                <a:latin typeface="Malgun Gothic"/>
                <a:ea typeface="Malgun Gothic"/>
                <a:cs typeface="Malgun Gothic"/>
              </a:rPr>
              <a:t>35 / 43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36BF1-81D4-40B4-BD8E-D281B6C6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5341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AA3B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9AA3B1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628650" y="1504950"/>
          <a:ext xmlns:a="http://schemas.openxmlformats.org/drawingml/2006/main" cx="109347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5572125"/>
                <a:gridCol w="3886200"/>
              </a:tblGrid>
              <a:tr h="41910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통합 적용 기준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설계 보완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화면명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사용자 화면은 한국어, Figma 영문명은 협업용 별칭으로 병기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설계 반영안 · 37쪽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진입 흐름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Tutorial → Login → Investor Branch 이후 계좌 연결 또는 관심종목 선택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정책 확정 · 38쪽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이슈 상세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데스크톱 412px 우측 드로어, 모바일은 전체 화면 또는 높은 바텀시트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상태 정의 · 39쪽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관계 근거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간선 선택 후 공통 Relationship Detail을 열고 근거 모달로 연결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유형·권한 정의 · 40쪽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시간 기능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Portfolio Timeline은 기업 타임라인과 브리핑의 시간 비교 역할로 분리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D-BRF-03 부여 · 41쪽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관리자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A-ADM-01~05 요구사항을 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A-ADM-01~05 설계 · 42~43쪽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6B42F-2179-4B06-9AA7-44A02DF1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95925"/>
            <a:ext cx="109347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3C5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4898E-EE2F-4605-96AE-D4FC0ABB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1051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A65B00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A65B00"/>
                </a:solidFill>
                <a:latin typeface="Malgun Gothic"/>
                <a:ea typeface="Malgun Gothic"/>
                <a:cs typeface="Malgun Gothic"/>
              </a:rPr>
              <a:t>요구사항 정의서와 기능명세서를 기준으로 6개 설계 보완 항목을 반영했다. 미결정 정책은 확정값으로 바꾸지 않고 설계 가정으로 구분한다.</a:t>
            </a:r>
          </a:p>
        </p:txBody>
      </p:sp>
      <p:sp>
        <p:nvSpPr>
          <p:cNvPr id="17" name="ZOOP brand accent">
            <a:extLst xmlns:a="http://schemas.openxmlformats.org/drawingml/2006/main">
              <a:ext uri="{FF2B5EF4-FFF2-40B4-BE49-F238E27FC236}">
                <a16:creationId xmlns:a16="http://schemas.microsoft.com/office/drawing/2014/main" id="{D246886F-E88D-4621-944E-133CC810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5266353f4403a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7112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40F68-A0F6-44AA-A2E9-0F5DFE11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6ee67c2f44228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FD271-58BD-4490-8151-D4E1DBA7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44780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7B61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7B98E-ABFA-4AFA-A962-89CFFEE8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1950"/>
            <a:ext cx="1238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5694"/>
          </a:bodyPr>
          <a:lstStyle xmlns:a="http://schemas.openxmlformats.org/drawingml/2006/main"/>
          <a:p xmlns:a="http://schemas.openxmlformats.org/drawingml/2006/main">
            <a:r>
              <a:rPr b="0">
                <a:latin typeface="Malgun Gothic"/>
                <a:ea typeface="Malgun Gothic"/>
                <a:cs typeface="Malgun Gothic"/>
              </a:rPr>
              <a:t>관계 그래프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C6B13-7F0B-4C99-BF4B-7F63417F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0">
                <a:latin typeface="Malgun Gothic"/>
                <a:ea typeface="Malgun Gothic"/>
                <a:cs typeface="Malgun Gothic"/>
              </a:rPr>
              <a:t>메인 관계 그래프 노드 구성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33516-38D2-4EA0-87BD-501A71D2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r>
              <a:rPr b="0">
                <a:latin typeface="Malgun Gothic"/>
                <a:ea typeface="Malgun Gothic"/>
                <a:cs typeface="Malgun Gothic"/>
              </a:rPr>
              <a:t>22개 기업과 외부 원인을 산업 생태계와 시장 변수 기준으로 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B0C25-168D-4A6E-9383-29A7194D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"/>
            <a:ext cx="962025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B61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75C0C-C9DB-4EA9-B4A8-B5C557AD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9575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8750"/>
          </a:bodyPr>
          <a:lstStyle xmlns:a="http://schemas.openxmlformats.org/drawingml/2006/main"/>
          <a:p xmlns:a="http://schemas.openxmlformats.org/drawingml/2006/main">
            <a:r>
              <a:rPr b="0">
                <a:latin typeface="Malgun Gothic"/>
                <a:ea typeface="Malgun Gothic"/>
                <a:cs typeface="Malgun Gothic"/>
              </a:rPr>
              <a:t>DESKTOP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6D0C1-939E-4E27-9372-8DB27F6D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52425"/>
            <a:ext cx="135255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7B61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9C366-8A18-4765-A775-88AEE846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09575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8750"/>
          </a:bodyPr>
          <a:lstStyle xmlns:a="http://schemas.openxmlformats.org/drawingml/2006/main"/>
          <a:p xmlns:a="http://schemas.openxmlformats.org/drawingml/2006/main">
            <a:r>
              <a:rPr b="0">
                <a:latin typeface="Malgun Gothic"/>
                <a:ea typeface="Malgun Gothic"/>
                <a:cs typeface="Malgun Gothic"/>
              </a:rPr>
              <a:t>GRAPH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F3C04-91CC-49BB-9CCA-8B7D18DB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819150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A2AAB8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A2AAB8"/>
                </a:solidFill>
                <a:latin typeface="Malgun Gothic"/>
                <a:ea typeface="Malgun Gothic"/>
                <a:cs typeface="Malgun Gothic"/>
              </a:rPr>
              <a:t>36 / 43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338B8-597A-49A1-8FEE-01E33198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341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AA3B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9AA3B1"/>
                </a:solidFill>
                <a:latin typeface="Malgun Gothic"/>
                <a:ea typeface="Malgun Gothic"/>
                <a:cs typeface="Malgun Gothic"/>
              </a:rPr>
              <a:t>줍 서비스 화면계획서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35875-BC95-4F01-AA2E-B712E5DE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5341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AA3B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9AA3B1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6F404E8-2B93-43E3-A3C9-7E26B079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5449824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74E5689-46D0-4983-B5E4-C33D4F9E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64008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6B67D33-169C-4E8D-A171-380CF7FA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27631"/>
            <a:ext cx="5102352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18288" rIns="7315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반도체 설계·IP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4D5AC6F-7A7E-4D5A-9319-688501BA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56231"/>
            <a:ext cx="5102352" cy="161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18288" rIns="7315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19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연산 칩과 아키텍처 중심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F9DC774C-26F6-40D4-B600-A19AA423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39696"/>
            <a:ext cx="923544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NVIDIA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800C52A-FBBA-4212-BBE2-7AE3C6EB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04" y="2139696"/>
            <a:ext cx="635508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AMD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A48190EA-E74D-4B8E-8ABD-1EE692CD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452" y="2139696"/>
            <a:ext cx="827532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Intel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1F59402D-5898-41E0-9171-B366CD5C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139696"/>
            <a:ext cx="1115568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Broadcom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73109D51-57FF-4704-B25C-4F7743D8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79"/>
            <a:ext cx="123444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Arm Holdings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9942D6F2-05AB-4AEC-8A75-29435ECC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468879"/>
            <a:ext cx="827532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4F46E5"/>
                </a:solidFill>
                <a:latin typeface="Malgun Gothic"/>
                <a:ea typeface="Malgun Gothic"/>
                <a:cs typeface="Malgun Gothic"/>
              </a:rPr>
              <a:t>Apple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469491C9-0F03-480D-9886-9446F74B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99616"/>
            <a:ext cx="5449824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94558848-721B-45B2-AE5B-F2951A10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99616"/>
            <a:ext cx="64008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3467A415-09C8-4FA2-B02D-360BB998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1627631"/>
            <a:ext cx="5102352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18288" rIns="7315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제조·메모리·장비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8BA18306-F624-48F7-B296-7B695A7B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1856231"/>
            <a:ext cx="5102352" cy="161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18288" rIns="7315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19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파운드리·메모리·공정 장비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D42611FF-0054-4136-98E6-8A410BCD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139696"/>
            <a:ext cx="73152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ASML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E359429C-BE42-4015-91F0-5ADBC750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2139696"/>
            <a:ext cx="73152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TSMC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B7562AB9-35F1-4933-B919-7D59E6CC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2139696"/>
            <a:ext cx="73152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삼성전자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B0D03141-E9B3-432E-86BE-1B6C631A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2139696"/>
            <a:ext cx="923544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SK하이닉스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28AF660D-A58A-4DA3-8947-D5EE8EEB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2139696"/>
            <a:ext cx="923544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Micron</a:t>
            </a: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99015A83-266E-438A-8885-F351276B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468879"/>
            <a:ext cx="827532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한미반도체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529224E9-295A-4F1A-80A0-55B5969F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196" y="2468879"/>
            <a:ext cx="827532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DB하이텍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8FDCB13B-1748-4BB9-8363-683E5052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71800"/>
            <a:ext cx="5449824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A6039637-0008-4ED3-8E13-B2750235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71800"/>
            <a:ext cx="64008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54184E4-596D-4529-857A-9C583EF5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99816"/>
            <a:ext cx="5102352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18288" rIns="7315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AI·클라우드 플랫폼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D927079C-6651-45F9-A407-B9AFA79B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28416"/>
            <a:ext cx="5102352" cy="161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18288" rIns="7315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19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AI 서비스와 데이터센터 수요</a:t>
            </a:r>
          </a:p>
        </p:txBody>
      </p:sp>
      <p:sp>
        <p:nvSpPr>
          <p:cNvPr id="44" name="Rounded Rectangle 43">
            <a:extLst xmlns:a="http://schemas.openxmlformats.org/drawingml/2006/main">
              <a:ext uri="{FF2B5EF4-FFF2-40B4-BE49-F238E27FC236}">
                <a16:creationId xmlns:a16="http://schemas.microsoft.com/office/drawing/2014/main" id="{142AE985-FBD3-412D-9CA4-28F41B45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11880"/>
            <a:ext cx="121158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Microsoft</a:t>
            </a: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A04579DD-4C64-40A8-ACBE-E99F6CEE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540" y="3611880"/>
            <a:ext cx="1115568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Alphabet</a:t>
            </a:r>
          </a:p>
        </p:txBody>
      </p:sp>
      <p:sp>
        <p:nvSpPr>
          <p:cNvPr id="46" name="Rounded Rectangle 45">
            <a:extLst xmlns:a="http://schemas.openxmlformats.org/drawingml/2006/main">
              <a:ext uri="{FF2B5EF4-FFF2-40B4-BE49-F238E27FC236}">
                <a16:creationId xmlns:a16="http://schemas.microsoft.com/office/drawing/2014/main" id="{A25B92DF-F5F4-40C6-87CE-55289815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548" y="3611880"/>
            <a:ext cx="923544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Amazon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07C7D10F-E1CD-46C5-A4D1-99A90F50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6532" y="3611880"/>
            <a:ext cx="73152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6EADFBCA-766B-47DD-BEA8-B661BA43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492" y="3611880"/>
            <a:ext cx="635508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네이버</a:t>
            </a:r>
          </a:p>
        </p:txBody>
      </p:sp>
      <p:sp>
        <p:nvSpPr>
          <p:cNvPr id="49" name="Rounded Rectangle 48">
            <a:extLst xmlns:a="http://schemas.openxmlformats.org/drawingml/2006/main">
              <a:ext uri="{FF2B5EF4-FFF2-40B4-BE49-F238E27FC236}">
                <a16:creationId xmlns:a16="http://schemas.microsoft.com/office/drawing/2014/main" id="{03810ACE-71FA-4537-AA4C-00F55DCF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41064"/>
            <a:ext cx="635508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284C7"/>
                </a:solidFill>
                <a:latin typeface="Malgun Gothic"/>
                <a:ea typeface="Malgun Gothic"/>
                <a:cs typeface="Malgun Gothic"/>
              </a:rPr>
              <a:t>카카오</a:t>
            </a:r>
          </a:p>
        </p:txBody>
      </p:sp>
      <p:sp>
        <p:nvSpPr>
          <p:cNvPr id="50" name="Rounded Rectangle 49">
            <a:extLst xmlns:a="http://schemas.openxmlformats.org/drawingml/2006/main">
              <a:ext uri="{FF2B5EF4-FFF2-40B4-BE49-F238E27FC236}">
                <a16:creationId xmlns:a16="http://schemas.microsoft.com/office/drawing/2014/main" id="{1E9A445C-77DF-4A13-9210-D10F664F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971800"/>
            <a:ext cx="5449824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5E7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5BACF6B0-C218-4FBA-857D-888130EC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971800"/>
            <a:ext cx="64008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1B0EF350-7FFF-4013-B0AA-B4DE34ED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099816"/>
            <a:ext cx="5102352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18288" rIns="7315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기업 IT·통신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CC753EB2-0BAD-4B87-BA68-A4B4B14C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328416"/>
            <a:ext cx="5102352" cy="161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18288" rIns="7315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19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기업 전환과 네트워크 인프라</a:t>
            </a:r>
          </a:p>
        </p:txBody>
      </p:sp>
      <p:sp>
        <p:nvSpPr>
          <p:cNvPr id="54" name="Rounded Rectangle 53">
            <a:extLst xmlns:a="http://schemas.openxmlformats.org/drawingml/2006/main">
              <a:ext uri="{FF2B5EF4-FFF2-40B4-BE49-F238E27FC236}">
                <a16:creationId xmlns:a16="http://schemas.microsoft.com/office/drawing/2014/main" id="{5E1515BE-46BB-4D5A-A118-68CD7594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611880"/>
            <a:ext cx="923544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LG CNS</a:t>
            </a:r>
          </a:p>
        </p:txBody>
      </p:sp>
      <p:sp>
        <p:nvSpPr>
          <p:cNvPr id="55" name="Rounded Rectangle 54">
            <a:extLst xmlns:a="http://schemas.openxmlformats.org/drawingml/2006/main">
              <a:ext uri="{FF2B5EF4-FFF2-40B4-BE49-F238E27FC236}">
                <a16:creationId xmlns:a16="http://schemas.microsoft.com/office/drawing/2014/main" id="{875CAC1E-BCF2-4F1F-B9FA-740D85EF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611880"/>
            <a:ext cx="827532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삼성SDS</a:t>
            </a:r>
          </a:p>
        </p:txBody>
      </p:sp>
      <p:sp>
        <p:nvSpPr>
          <p:cNvPr id="56" name="Rounded Rectangle 55">
            <a:extLst xmlns:a="http://schemas.openxmlformats.org/drawingml/2006/main">
              <a:ext uri="{FF2B5EF4-FFF2-40B4-BE49-F238E27FC236}">
                <a16:creationId xmlns:a16="http://schemas.microsoft.com/office/drawing/2014/main" id="{45CBE851-451F-45AB-B925-13DF4F19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180" y="3611880"/>
            <a:ext cx="827532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SK텔레콤</a:t>
            </a:r>
          </a:p>
        </p:txBody>
      </p:sp>
      <p:sp>
        <p:nvSpPr>
          <p:cNvPr id="57" name="Rounded Rectangle 56">
            <a:extLst xmlns:a="http://schemas.openxmlformats.org/drawingml/2006/main">
              <a:ext uri="{FF2B5EF4-FFF2-40B4-BE49-F238E27FC236}">
                <a16:creationId xmlns:a16="http://schemas.microsoft.com/office/drawing/2014/main" id="{70EFA877-F3D9-413F-8CD6-3D484FA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71416"/>
            <a:ext cx="11082528" cy="104241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10160">
            <a:solidFill>
              <a:srgbClr val="FDE68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15D4A01E-6FA3-42A7-BBF1-1066B4E8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599432"/>
            <a:ext cx="1051560" cy="1965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18288" rIns="7315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외부 원인 노드</a:t>
            </a:r>
          </a:p>
        </p:txBody>
      </p:sp>
      <p:sp>
        <p:nvSpPr>
          <p:cNvPr id="59" name="Rounded Rectangle 58">
            <a:extLst xmlns:a="http://schemas.openxmlformats.org/drawingml/2006/main">
              <a:ext uri="{FF2B5EF4-FFF2-40B4-BE49-F238E27FC236}">
                <a16:creationId xmlns:a16="http://schemas.microsoft.com/office/drawing/2014/main" id="{1714A8A5-3D56-49A0-9266-AFEF5C81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231" y="4572000"/>
            <a:ext cx="1321307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DE68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60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AI 데이터센터 수요</a:t>
            </a:r>
          </a:p>
        </p:txBody>
      </p:sp>
      <p:sp>
        <p:nvSpPr>
          <p:cNvPr id="60" name="Rounded Rectangle 59">
            <a:extLst xmlns:a="http://schemas.openxmlformats.org/drawingml/2006/main">
              <a:ext uri="{FF2B5EF4-FFF2-40B4-BE49-F238E27FC236}">
                <a16:creationId xmlns:a16="http://schemas.microsoft.com/office/drawing/2014/main" id="{50AAB0EF-612B-4C2D-9940-86AB179A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979" y="4572000"/>
            <a:ext cx="1147572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DE68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60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반도체 업황·재고</a:t>
            </a:r>
          </a:p>
        </p:txBody>
      </p:sp>
      <p:sp>
        <p:nvSpPr>
          <p:cNvPr id="61" name="Rounded Rectangle 60">
            <a:extLst xmlns:a="http://schemas.openxmlformats.org/drawingml/2006/main">
              <a:ext uri="{FF2B5EF4-FFF2-40B4-BE49-F238E27FC236}">
                <a16:creationId xmlns:a16="http://schemas.microsoft.com/office/drawing/2014/main" id="{87CF8ECB-1EEC-4534-90D3-04650B9C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572000"/>
            <a:ext cx="123444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DE68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60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스마트폰·PC 수요</a:t>
            </a:r>
          </a:p>
        </p:txBody>
      </p:sp>
      <p:sp>
        <p:nvSpPr>
          <p:cNvPr id="62" name="Rounded Rectangle 61">
            <a:extLst xmlns:a="http://schemas.openxmlformats.org/drawingml/2006/main">
              <a:ext uri="{FF2B5EF4-FFF2-40B4-BE49-F238E27FC236}">
                <a16:creationId xmlns:a16="http://schemas.microsoft.com/office/drawing/2014/main" id="{312A2B09-1B92-4091-AB9C-87DC5F08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4572000"/>
            <a:ext cx="80010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DE68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60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전력 가격</a:t>
            </a:r>
          </a:p>
        </p:txBody>
      </p:sp>
      <p:sp>
        <p:nvSpPr>
          <p:cNvPr id="63" name="Rounded Rectangle 62">
            <a:extLst xmlns:a="http://schemas.openxmlformats.org/drawingml/2006/main">
              <a:ext uri="{FF2B5EF4-FFF2-40B4-BE49-F238E27FC236}">
                <a16:creationId xmlns:a16="http://schemas.microsoft.com/office/drawing/2014/main" id="{4DD0639B-3060-4C9B-BF14-400FF679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5412" y="4572000"/>
            <a:ext cx="1060704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DE68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60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데이터센터 전력</a:t>
            </a:r>
          </a:p>
        </p:txBody>
      </p:sp>
      <p:sp>
        <p:nvSpPr>
          <p:cNvPr id="64" name="Rounded Rectangle 63">
            <a:extLst xmlns:a="http://schemas.openxmlformats.org/drawingml/2006/main">
              <a:ext uri="{FF2B5EF4-FFF2-40B4-BE49-F238E27FC236}">
                <a16:creationId xmlns:a16="http://schemas.microsoft.com/office/drawing/2014/main" id="{69AB93F3-4BEB-4437-B6FF-F7EA4C24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556" y="4572000"/>
            <a:ext cx="973836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DE68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60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실리콘 웨이퍼</a:t>
            </a:r>
          </a:p>
        </p:txBody>
      </p:sp>
      <p:sp>
        <p:nvSpPr>
          <p:cNvPr id="65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2BD53E70-6346-4977-8D83-4DD2D9F6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4572000"/>
            <a:ext cx="886968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DE68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60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희토류·구리</a:t>
            </a:r>
          </a:p>
        </p:txBody>
      </p:sp>
      <p:sp>
        <p:nvSpPr>
          <p:cNvPr id="66" name="Rounded Rectangle 65">
            <a:extLst xmlns:a="http://schemas.openxmlformats.org/drawingml/2006/main">
              <a:ext uri="{FF2B5EF4-FFF2-40B4-BE49-F238E27FC236}">
                <a16:creationId xmlns:a16="http://schemas.microsoft.com/office/drawing/2014/main" id="{CC84B0BD-E9C5-480A-89DB-8CB5E89C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4572000"/>
            <a:ext cx="973836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DE68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60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원/달러 환율</a:t>
            </a:r>
          </a:p>
        </p:txBody>
      </p:sp>
      <p:sp>
        <p:nvSpPr>
          <p:cNvPr id="67" name="Rounded Rectangle 66">
            <a:extLst xmlns:a="http://schemas.openxmlformats.org/drawingml/2006/main">
              <a:ext uri="{FF2B5EF4-FFF2-40B4-BE49-F238E27FC236}">
                <a16:creationId xmlns:a16="http://schemas.microsoft.com/office/drawing/2014/main" id="{3CA670B6-4A01-4B83-A0AD-24A7DCFE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231" y="4919472"/>
            <a:ext cx="80010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DE68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60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수출 규제</a:t>
            </a:r>
          </a:p>
        </p:txBody>
      </p:sp>
      <p:sp>
        <p:nvSpPr>
          <p:cNvPr id="68" name="Rounded Rectangle 67">
            <a:extLst xmlns:a="http://schemas.openxmlformats.org/drawingml/2006/main">
              <a:ext uri="{FF2B5EF4-FFF2-40B4-BE49-F238E27FC236}">
                <a16:creationId xmlns:a16="http://schemas.microsoft.com/office/drawing/2014/main" id="{91738C08-DB16-4034-B183-EF3C17A3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772" y="4919472"/>
            <a:ext cx="658368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DE68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4864" tIns="0" rIns="54864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60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금리</a:t>
            </a:r>
          </a:p>
        </p:txBody>
      </p:sp>
      <p:sp>
        <p:nvSpPr>
          <p:cNvPr id="69" name="Rounded Rectangle 68">
            <a:extLst xmlns:a="http://schemas.openxmlformats.org/drawingml/2006/main">
              <a:ext uri="{FF2B5EF4-FFF2-40B4-BE49-F238E27FC236}">
                <a16:creationId xmlns:a16="http://schemas.microsoft.com/office/drawing/2014/main" id="{6E16E357-BCBA-4F1C-BEB6-42F0B996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0"/>
            <a:ext cx="110825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016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C535C49B-DF8C-4C4F-ABE4-02B33B14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769864"/>
            <a:ext cx="10680192" cy="170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18288" rIns="7315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표시 규칙  기본 화면은 선택 노드 중심 1~2단계만 노출 · 검색/필터로 기업군과 원인군 전환 · 모바일은 목록형 관계 요약을 우선</a:t>
            </a:r>
          </a:p>
        </p:txBody>
      </p:sp>
    </p:spTree>
    <p:extLst>
      <p:ext uri="{BB962C8B-B14F-4D97-AF65-F5344CB8AC3E}">
        <p14:creationId xmlns:p14="http://schemas.microsoft.com/office/powerpoint/2010/main" val="98315824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1B099-0BFC-4CBB-89BD-A645695A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b1541e65c4569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EC21F-FBF1-40CC-A967-E38D98E0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44780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5B43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38CA9-A13B-488A-9195-941E052C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1950"/>
            <a:ext cx="1238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061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명칭 정렬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7137E-CEAC-4D87-993C-8D260230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9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화면·컴포넌트 명칭 매핑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A8864-0FD2-4308-97E6-E3D9095F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7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화면 ID는 요구사항 추적 기준으로 유지하고 영문명은 Figma 협업 별칭으로 사용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90330-63E0-4B4A-A23A-02AB75B1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"/>
            <a:ext cx="962025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B43F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8AD27-10CD-4053-A777-4D877391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9575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B43F4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5B43F4"/>
                </a:solidFill>
                <a:latin typeface="Malgun Gothic"/>
                <a:ea typeface="Malgun Gothic"/>
                <a:cs typeface="Malgun Gothic"/>
              </a:rPr>
              <a:t>SPEC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C8E8D-A009-4B3B-8179-0ACBDEE3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52425"/>
            <a:ext cx="135255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5B43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BEACB-C4DD-409B-958C-B466A4A2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09575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FOLLOW-UP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F0FD57-9C9A-467F-AB03-747D55BA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819150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A2AAB8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A2AAB8"/>
                </a:solidFill>
                <a:latin typeface="Malgun Gothic"/>
                <a:ea typeface="Malgun Gothic"/>
                <a:cs typeface="Malgun Gothic"/>
              </a:rPr>
              <a:t>37 / 43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A1100-B414-477E-918C-2E69703F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341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AA3B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9AA3B1"/>
                </a:solidFill>
                <a:latin typeface="Malgun Gothic"/>
                <a:ea typeface="Malgun Gothic"/>
                <a:cs typeface="Malgun Gothic"/>
              </a:rPr>
              <a:t>줍 서비스 화면계획서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D6C5E-DDD2-4F5E-A2B9-A6142CDB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5341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AA3B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9AA3B1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87100" cy="480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428875"/>
                <a:gridCol w="2905125"/>
                <a:gridCol w="3943350"/>
              </a:tblGrid>
              <a:tr h="34290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화면 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사용자 화면명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Figma 별칭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화면 구성 단위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5B43F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D-AUT-01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서비스 시작 방식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Tutorial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StartMethodPage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5B43F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D-AUT-02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로그인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Login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LoginPage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5B43F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D-ONB-01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투자 여부 선택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Investor Branch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InvestorBranchPage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5B43F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D-ONB-02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가상계좌 연결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Broker Connect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MockAccountConnectPage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5B43F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D-WAT-01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관심종목 선택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Interest Onboarding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WatchlistOnboardingPage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5B43F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D-GRP-01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관계 그래프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Portfolio Map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PortfolioMapPage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5B43F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D-COM-01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기업 상세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Stock Focus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CompanyDetailPage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5B43F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D-GRP-02·03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이슈 상세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Issue Focus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IssueDetailDrawer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5B43F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D-GRP-04·06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관계 상세·근거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Relationship Detail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RelationshipDetailPanel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5B43F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D-BRF-01·02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출퇴근 브리핑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Commute Briefing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CommuteBriefingPage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5B43F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D-BRF-03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장 마감 보드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Market Close 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MarketCloseBoardPage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5B43F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D-AI-01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AI 질문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AI Copilot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AiCopilotPanel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62048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0AA438-0FFC-4876-B6E1-455A03D6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b4a99d9dc4ea1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C04B4-0179-4399-AF82-09BEEC97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44780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9EA77-B9D3-497A-BC2A-748907C8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1950"/>
            <a:ext cx="1238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061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진입 정책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2E576-296E-4B29-9D4D-8FA6227A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9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비회원과 초기 진입 정책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4B21C-3A13-408B-A5AB-0668786A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7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로그인 여부와 초기 설정 완료 상태를 분리해 화면 이동과 기능 권한을 결정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FD101-A8CD-487E-932F-B6D14FBC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"/>
            <a:ext cx="962025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6EF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541C1-499F-4AC8-8397-ED2DB7B2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9575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276EF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276EF1"/>
                </a:solidFill>
                <a:latin typeface="Malgun Gothic"/>
                <a:ea typeface="Malgun Gothic"/>
                <a:cs typeface="Malgun Gothic"/>
              </a:rPr>
              <a:t>SPEC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EF732-76E3-4697-B30D-49E1B458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52425"/>
            <a:ext cx="135255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C7CC6-9594-4680-A144-0EDD91DC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09575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FOLLOW-UP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EC2AC-4EEA-4482-929C-7DE16E31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819150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A2AAB8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A2AAB8"/>
                </a:solidFill>
                <a:latin typeface="Malgun Gothic"/>
                <a:ea typeface="Malgun Gothic"/>
                <a:cs typeface="Malgun Gothic"/>
              </a:rPr>
              <a:t>38 / 43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617A5-3705-4811-98C6-6B885BF2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341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AA3B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9AA3B1"/>
                </a:solidFill>
                <a:latin typeface="Malgun Gothic"/>
                <a:ea typeface="Malgun Gothic"/>
                <a:cs typeface="Malgun Gothic"/>
              </a:rPr>
              <a:t>줍 서비스 화면계획서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41085-FB5B-4460-87E5-BCF35387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5341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AA3B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9AA3B1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17B86-D7BD-4CBC-A25D-1946C849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95425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E65DC2-FB27-4E17-ACA0-9F9ACA94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12740-7C08-4AB1-A54E-8F452D13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CFC75-C6C0-4550-8DF9-2C87DE56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383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시작 방식 선택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9AD0B4-58E3-48E7-AA7E-49308AA4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이메일 로그인, 회원가입, 소셜 로그인, 비회원 시작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1D4EC-530F-4711-A599-E4E26FA4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495425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98948-D6FD-4F6A-AE87-1373D534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6287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103AC7-3FE9-4C77-B0E3-59A60448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6764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B9EFDE-14FC-4FEB-891E-2A3F6CDB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6383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인증 분기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447C25-F8A1-4FB0-BB92-51122F29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98120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회원은 초기 설정 여부 확인. 비회원은 개인 설정 없이 진행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36F67E-8E5E-408B-8A79-083D0D7C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95425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CE85EE-F19D-41B0-9AFA-4E95FC4B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287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2B522B-EA27-4AF3-B8BD-BF0021CF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764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A23E59-52D9-4F0F-A98E-B67422EF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383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투자 여부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FFF7B6-1EE2-4A8D-92BC-63F42257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8120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처음 이용하는 회원만 투자자 또는 비투자자 선택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2EC8E5-3A62-4F8B-92BE-FBBBBBD8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495425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DE590F-7501-4E4C-B850-862F5643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287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785F4C-766F-450A-82A4-FF1F5A9C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764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B85F81-AB0E-4629-979B-74B88FD2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6383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개인 설정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FF2B21-13E7-4620-B3EF-B2B158D4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98120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투자자는 가상계좌, 비투자자는 관심종목 선택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1C47C2-4358-4614-A4B6-DB1D40B4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495425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9379B6-0C44-4B50-8B62-25445759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6287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B4CF20-D1B3-4DCD-A940-F83051E8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6764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16123B-0271-4239-AD59-472ACE03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383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메인 그래프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A0BFD6-1160-40EB-9257-9651E0EB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8120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관계 그래프 진입 후 회원·비회원 모두 튜토리얼 제공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9D0B59-716D-4C6B-9A77-29ABC79E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705100"/>
            <a:ext cx="886777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FD2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B4116A-61DF-433B-9220-7C4ED964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819400"/>
            <a:ext cx="8448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76EF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0">
                <a:solidFill>
                  <a:srgbClr val="276EF1"/>
                </a:solidFill>
                <a:latin typeface="Malgun Gothic"/>
                <a:ea typeface="Malgun Gothic"/>
                <a:cs typeface="Malgun Gothic"/>
              </a:rPr>
              <a:t>비회원 경로: 2단계에서 개인 설정을 건너뛰고 5단계로 이동. 튜토리얼 진행·완료·건너뛰기 상태는 저장하지 않음.</a:t>
            </a:r>
          </a:p>
        </p:txBody>
      </p:sp>
      <p:graphicFrame>
        <p:nvGraphicFramePr>
          <p:cNvPr id="85" name=""/>
          <p:cNvGraphicFramePr/>
          <p:nvPr/>
        </p:nvGraphicFramePr>
        <p:xfrm>
          <a:off xmlns:a="http://schemas.openxmlformats.org/drawingml/2006/main" x="552450" y="3390900"/>
          <a:ext xmlns:a="http://schemas.openxmlformats.org/drawingml/2006/main" cx="11087100" cy="2600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238375"/>
                <a:gridCol w="2619375"/>
                <a:gridCol w="4038600"/>
              </a:tblGrid>
              <a:tr h="390525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비회원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회원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상태·오류 규칙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메인 관계 그래프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허용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허용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조회 실패 시 현재 화면에서 안내하고 재시도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그래프 튜토리얼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허용, 상태 미저장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허용, COMPLETED·SKIPPED 저장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로딩 실패가 메인 그래프 이용을 막지 않음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가상계좌·관심종목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차단, 로그인 안내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초기 설정에서 허용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연결 실패 시 재시도 또는 관심종목 선택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AI 질문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차단, 로그인 안내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조회 권한 범위에서 허용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보호 기능은 화면과 서버 모두 권한 검사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8667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BDA025-46E2-4FA8-A795-A32C19E4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937df52bb4bc4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18ECE-06C2-46AA-BCAE-6677D46E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44780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7B61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748F0-6A71-4072-BA31-89A2062B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1950"/>
            <a:ext cx="1238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061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이슈 상세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93A5B-C792-4BF8-92A0-D0CF7F0D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9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이슈 상세 드로어 상태 정의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8AA26-842F-4A47-B639-ED1DA1E7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7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D-GRP-02·03에서 닫기와 원문 열기, 빈 상태, 실패 상태를 같은 규칙으로 처리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79642-8065-445F-BA6E-A64686EC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"/>
            <a:ext cx="962025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B61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FBA2E-0439-4723-8E77-F98629A5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9575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7B61DE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7B61DE"/>
                </a:solidFill>
                <a:latin typeface="Malgun Gothic"/>
                <a:ea typeface="Malgun Gothic"/>
                <a:cs typeface="Malgun Gothic"/>
              </a:rPr>
              <a:t>SPEC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35847-22FD-442B-8682-2B73AB0A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52425"/>
            <a:ext cx="135255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7B61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9D7BF-8D69-47BB-ADDC-B212DD5B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09575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FOLLOW-UP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A9D49-1B54-432E-A270-90630012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819150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A2AAB8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A2AAB8"/>
                </a:solidFill>
                <a:latin typeface="Malgun Gothic"/>
                <a:ea typeface="Malgun Gothic"/>
                <a:cs typeface="Malgun Gothic"/>
              </a:rPr>
              <a:t>39 / 43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B6532-106F-45CB-95E0-70D38354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341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AA3B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9AA3B1"/>
                </a:solidFill>
                <a:latin typeface="Malgun Gothic"/>
                <a:ea typeface="Malgun Gothic"/>
                <a:cs typeface="Malgun Gothic"/>
              </a:rPr>
              <a:t>줍 서비스 화면계획서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BF98F-1460-498A-B0CD-47180EF7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5341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AA3B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9AA3B1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8C5BD-B8C8-45ED-943B-362D72EE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3718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7A218-4587-4FAA-A015-4EA3B513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61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CD6A6-0044-400F-BA20-65814B77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4C8E4-B2D9-41C8-A91E-3E2BE357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4782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데스크톱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FC671-902A-49F2-8494-3D1654CE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907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412px 우측 드로어. 배경 그래프와 선택 이슈를 유지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C697A1-26E3-45CE-8B53-38548CAF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504950"/>
            <a:ext cx="33718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175953-F0F0-4F20-A384-6E5351EA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38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61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53F9D-28A9-4AB2-AF7E-E73D5A63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85925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7E353-C9D3-4C51-9EDA-A3AF563F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4782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모바일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427B1A-222F-4AD5-9D90-6C1EDE05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9907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전체 화면 또는 높은 바텀시트. 스크롤과 닫기 동작 제공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2970B4-E7D4-4824-B6C0-63E3FF3B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04950"/>
            <a:ext cx="33718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A74EE8-BA20-41F0-8B8A-8A4A0660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38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61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42BC99-4A5E-43A9-93E3-7CA5B6A1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85925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61A59C-1C53-446E-9D52-FC54BED5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4782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닫기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2FAA08-9872-4DF7-A805-B1401C88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907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닫기 버튼, ESC, 뒤로 가기에서 이전 그래프 맥락으로 복귀</a:t>
            </a:r>
          </a:p>
        </p:txBody>
      </p:sp>
      <p:graphicFrame>
        <p:nvGraphicFramePr>
          <p:cNvPr id="61" name=""/>
          <p:cNvGraphicFramePr/>
          <p:nvPr/>
        </p:nvGraphicFramePr>
        <p:xfrm>
          <a:off xmlns:a="http://schemas.openxmlformats.org/drawingml/2006/main" x="552450" y="2876550"/>
          <a:ext xmlns:a="http://schemas.openxmlformats.org/drawingml/2006/main" cx="110871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3857625"/>
                <a:gridCol w="5276850"/>
              </a:tblGrid>
              <a:tr h="40005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화면 표시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동작 규칙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원문 링크 있음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제목·출처·발행 시각·관련 설명과 원문 열기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새 창에서 열고 현재 드로어 상태 유지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원문 링크 없음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원문을 제공하지 않는 자료입니다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비활성 링크 대신 확보된 설명과 출처 유지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원문 접근 실패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접근 실패 안내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확보된 제목·출처·인용을 유지하고 원문 열기만 재시도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연결 자료 0건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연결된 자료 없음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빈 목록을 오류처럼 표시하지 않음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근거 조회 실패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근거 영역 오류와 다시 시도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이슈 요약은 유지하고 이전 이슈의 지연 응답은 폐기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866373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2B29F4-16F1-4143-A15D-DA99646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c0bf031454d0f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565EB-3599-49C9-A816-9184052B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44780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F9F9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5FE55-3174-4C35-9314-FDC23169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1950"/>
            <a:ext cx="1238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061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관계 근거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845FE-9546-48DF-B361-9DDBD58B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9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관계 상세와 원문 권한 상태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A0160-C5BA-41F0-A1DE-6B502448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7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간선의 관계 정보와 문서 접근 상태를 분리해 근거 부족과 권한 제한을 혼동하지 않음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C2A1E-59AB-4AE2-A710-0C8FDC52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"/>
            <a:ext cx="962025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9F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FE2D3-7A8F-4D9A-BC11-5245DC78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9575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F9F9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0F9F95"/>
                </a:solidFill>
                <a:latin typeface="Malgun Gothic"/>
                <a:ea typeface="Malgun Gothic"/>
                <a:cs typeface="Malgun Gothic"/>
              </a:rPr>
              <a:t>SPEC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4D779-97B6-46B7-9102-B40C8DBE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52425"/>
            <a:ext cx="135255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F9F9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B96CF-5797-422E-8BA5-BE04167C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09575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FOLLOW-UP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660A6-E9E0-445F-84F8-042B2D87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819150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A2AAB8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A2AAB8"/>
                </a:solidFill>
                <a:latin typeface="Malgun Gothic"/>
                <a:ea typeface="Malgun Gothic"/>
                <a:cs typeface="Malgun Gothic"/>
              </a:rPr>
              <a:t>40 / 43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585A2-8B8B-4248-AF83-A3F4DBB7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341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AA3B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9AA3B1"/>
                </a:solidFill>
                <a:latin typeface="Malgun Gothic"/>
                <a:ea typeface="Malgun Gothic"/>
                <a:cs typeface="Malgun Gothic"/>
              </a:rPr>
              <a:t>줍 서비스 화면계획서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665BD-A151-4FB2-B023-3F481AE7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5341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AA3B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9AA3B1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62BCC-796E-4179-B75A-4CAB752F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3718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A40AE-D4A8-4AA4-BDF6-CC209CF9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F9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480E8-62CC-46E9-A253-15053057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0701D-7A9A-414B-8B1D-70E0D1E4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4782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간선 선택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840BFD-DF38-452C-A7F3-9EB85760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907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두 기업과 선택 관계 식별자를 고정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DAA292-8F4B-4FA6-BDE8-33754C02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504950"/>
            <a:ext cx="33718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0C084-B35B-444F-9A34-A9611CB5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38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F9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3835B1-D560-4BBF-9915-6640E315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85925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0B1D43-E415-44A2-82C6-A3CECBA0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4782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관계 상세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DC42B1-B0B2-4325-8C97-A764AF24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9907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유형, 방향, 사업·제품 범위, 현재 상태, 확인 시점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3055E0-4B15-4B7D-8B4E-2B44C33F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04950"/>
            <a:ext cx="33718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00AE35-707C-4923-B878-B09CAC7B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38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F9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1AABE3-40BC-48C2-8AFD-7C535E23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85925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450EC4-63C6-40E7-BF4E-59E5B941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4782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근거 모달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552FB7-7EF2-4CBB-A217-6A0982E9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907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문서 제목, 출처, 발행 시각, 확보 인용, 원문 상태</a:t>
            </a:r>
          </a:p>
        </p:txBody>
      </p:sp>
      <p:graphicFrame>
        <p:nvGraphicFramePr>
          <p:cNvPr id="61" name=""/>
          <p:cNvGraphicFramePr/>
          <p:nvPr/>
        </p:nvGraphicFramePr>
        <p:xfrm>
          <a:off xmlns:a="http://schemas.openxmlformats.org/drawingml/2006/main" x="552450" y="2876550"/>
          <a:ext xmlns:a="http://schemas.openxmlformats.org/drawingml/2006/main" cx="110871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000500"/>
                <a:gridCol w="5086350"/>
              </a:tblGrid>
              <a:tr h="390525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표시 항목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상태 규칙</a:t>
                      </a:r>
                    </a:p>
                  </a:txBody>
                  <a:tcPr marL="91440" marR="91440" marT="45720" marB="45720"/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관계 유형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공급, 고객, 경쟁, 투자 등 확인된 유형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미확정 유형은 임의 분류하지 않고 판단 보류</a:t>
                      </a:r>
                    </a:p>
                  </a:txBody>
                  <a:tcPr marL="91440" marR="91440" marT="45720" marB="45720"/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방향·범위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출발·도착 기업, 관련 사업·제품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방향 없는 관계와 양방향 관계를 구분</a:t>
                      </a:r>
                    </a:p>
                  </a:txBody>
                  <a:tcPr marL="91440" marR="91440" marT="45720" marB="45720"/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상태·시점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현재 상태, 관계 확인 시점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문서 발행 시각과 관계 확인 시점을 따로 표시</a:t>
                      </a:r>
                    </a:p>
                  </a:txBody>
                  <a:tcPr marL="91440" marR="91440" marT="45720" marB="45720"/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원문 이용 가능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원문 링크와 확보된 인용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현재 조회 권한을 확인한 뒤 외부 원문 열기</a:t>
                      </a:r>
                    </a:p>
                  </a:txBody>
                  <a:tcPr marL="91440" marR="91440" marT="45720" marB="45720"/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링크 없음·접근 실패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미제공 또는 접근 실패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확보 근거 유지. 최신 자료로 몰래 교체하지 않음</a:t>
                      </a:r>
                    </a:p>
                  </a:txBody>
                  <a:tcPr marL="91440" marR="91440" marT="45720" marB="45720"/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삭제·비공개·권한 없음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제공 불가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보호 내용을 반환하지 않고 권한 상태를 안내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4308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41408A-4959-41B6-BB6A-A2F14E65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1a91595464c3c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42268-8E51-4221-9D1B-1F92C4B9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44780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FE118-3020-41F8-9851-8650CD61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1950"/>
            <a:ext cx="1238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061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시간 기능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A44C7-1CA9-4393-B470-64DD896F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9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D-BRF-03 장 마감 보드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E0986-7022-496E-BEFC-ECC65B83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7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퇴근 브리핑의 회차 정보를 한눈에 비교하는 화면. Figma 별칭은 Market Close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30ACE-416C-4F65-883A-19092E3F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"/>
            <a:ext cx="962025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1EFD9-C4E2-4AFE-BD32-E91E8BEB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9575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59E0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SPEC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C8F3D-DB25-4D93-84EB-4BC1D4BB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52425"/>
            <a:ext cx="135255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E736D-2A24-41AE-97F9-336DE222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09575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FOLLOW-UP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EBAC7-BDB1-402B-A73E-83858F29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819150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A2AAB8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A2AAB8"/>
                </a:solidFill>
                <a:latin typeface="Malgun Gothic"/>
                <a:ea typeface="Malgun Gothic"/>
                <a:cs typeface="Malgun Gothic"/>
              </a:rPr>
              <a:t>41 / 43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525E6-CDF2-44A3-B9AB-0E27D292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341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AA3B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9AA3B1"/>
                </a:solidFill>
                <a:latin typeface="Malgun Gothic"/>
                <a:ea typeface="Malgun Gothic"/>
                <a:cs typeface="Malgun Gothic"/>
              </a:rPr>
              <a:t>줍 서비스 화면계획서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EC9AB-BA42-417A-9738-2AAB73EB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5341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AA3B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9AA3B1"/>
                </a:solidFill>
                <a:latin typeface="Malgun Gothic"/>
                <a:ea typeface="Malgun Gothic"/>
                <a:cs typeface="Malgun Gothic"/>
              </a:rPr>
              <a:t>41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3FD73-50EA-410C-A106-28B7E35C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2362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3C5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776D5-A3D1-49C9-BF4F-F7939983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A65B00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0">
                <a:solidFill>
                  <a:srgbClr val="A65B00"/>
                </a:solidFill>
                <a:latin typeface="Malgun Gothic"/>
                <a:ea typeface="Malgun Gothic"/>
                <a:cs typeface="Malgun Gothic"/>
              </a:rPr>
              <a:t>화면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992BF3-57AF-462B-BB76-C1ABF512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9E0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875" b="0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D-BRF-03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4EF11-5049-4442-BE44-1E301A1A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MarketCloseBoardPage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0A3CE-A9E9-48DD-8C1F-8CED8E93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495425"/>
            <a:ext cx="2000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725FDD-8295-410A-92C7-1748EB70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287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B29E8-DBBE-457C-9A26-AED7CD3B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764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8578C2-832B-49B1-821B-B1E6B741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383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회차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717092-B1FA-4FB3-BE22-3274E4CC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발행일과 퇴근 구분, 데이터 기준 시점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FFA1AA-B096-4F87-A776-47682521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495425"/>
            <a:ext cx="2000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E64F42-B20E-48C9-A24D-D0654B89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287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964EA4-C1C6-4A26-AAFA-F7410CCF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764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4A6F0C-CE92-4B33-B272-C48F6592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6383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시장 요약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79B175-2BEB-46A7-847F-86D86DA6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8120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국내 증시 동향과 주요 변화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135B66-2699-46AE-98B0-8063AAA0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95425"/>
            <a:ext cx="2000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FBD0A7-6443-4560-9ED8-F40662E0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287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E16233-45FE-4511-8F23-D86FA490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764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585896-347D-42B8-8FE1-C95AAD52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383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핵심 이슈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0E3318-6E93-4821-8F6F-BA029599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8120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선정 기준을 충족한 이슈 최대 3개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B6BA9D-5B30-44CB-A630-7BE661F4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495425"/>
            <a:ext cx="2000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D6BBA2-80B4-4340-9BE5-BF6B17D3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6287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C45FED-3EE6-49CA-B4B9-07326FD2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6764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C90B10-CA09-4CCD-A817-8BEB2DBF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6383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변수·근거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54A63C-3F48-4931-9447-0F8E68DE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8120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관련 기업, 시장 변수, 관계 경로와 문서</a:t>
            </a:r>
          </a:p>
        </p:txBody>
      </p:sp>
      <p:graphicFrame>
        <p:nvGraphicFramePr>
          <p:cNvPr id="79" name=""/>
          <p:cNvGraphicFramePr/>
          <p:nvPr/>
        </p:nvGraphicFramePr>
        <p:xfrm>
          <a:off xmlns:a="http://schemas.openxmlformats.org/drawingml/2006/main" x="552450" y="2886075"/>
          <a:ext xmlns:a="http://schemas.openxmlformats.org/drawingml/2006/main" cx="110871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4857750"/>
                <a:gridCol w="4276725"/>
              </a:tblGrid>
              <a:tr h="390525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영역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표시 기준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상태·이동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회차 헤더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발행일, 퇴근 구분, 데이터 기준 시점, 생성 시각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미생성·생성 중·실패·발행·제공 중단을 구분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시장 요약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해당 회차에 고정된 국내 시장 요약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이후 수집 데이터로 과거 내용을 자동 변경하지 않음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핵심 이슈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제목, 요약, 선정 이유, 관련 기업. 최대 3개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기준 충족 이슈가 부족하면 개수를 억지로 채우지 않음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시장 변수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변수 변화와 영향 해석을 분리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자료 없음과 지연을 구분하고 예측값처럼 표시하지 않음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관계·근거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이슈와 기업의 경로, 뉴스·공시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D-GRP-03·04로 이동하며 회차 기준 시점을 유지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302348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3553B1-8439-4B53-880F-45296C02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8495ed6e64e13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64EE2-A900-462C-94BC-D6CA577E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44780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F9F9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38701-BD64-474D-BE94-81BD6B67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1950"/>
            <a:ext cx="1238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061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관리자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6C26F-9B51-4B7C-84D8-7918BD64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9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A-ADM-01~05 관리자 화면 구조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B1761-0185-4FCB-A4D6-F956B771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7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기능명세서 16개 관리자 기능을 5개 화면으로 묶어 Figma 설계 단위를 정의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225FE-77D0-4ED7-933F-7B08548B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"/>
            <a:ext cx="962025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9F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0547E-8DDD-4473-8B41-A97AD7C6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9575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F9F9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0F9F95"/>
                </a:solidFill>
                <a:latin typeface="Malgun Gothic"/>
                <a:ea typeface="Malgun Gothic"/>
                <a:cs typeface="Malgun Gothic"/>
              </a:rPr>
              <a:t>SPEC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C9683-3A76-41D3-AE5A-5DE742EF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52425"/>
            <a:ext cx="135255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F9F9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FE81D-FFC8-4BE1-8AC5-FAC6158F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09575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FOLLOW-UP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2E86D-6DD1-4E50-B575-4C92EC50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819150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A2AAB8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A2AAB8"/>
                </a:solidFill>
                <a:latin typeface="Malgun Gothic"/>
                <a:ea typeface="Malgun Gothic"/>
                <a:cs typeface="Malgun Gothic"/>
              </a:rPr>
              <a:t>42 / 43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419E2-A164-41C9-9E42-63B21ECA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341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AA3B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9AA3B1"/>
                </a:solidFill>
                <a:latin typeface="Malgun Gothic"/>
                <a:ea typeface="Malgun Gothic"/>
                <a:cs typeface="Malgun Gothic"/>
              </a:rPr>
              <a:t>줍 서비스 화면계획서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CDAE7-CB87-44DC-B678-C80C79F1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5341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AA3B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9AA3B1"/>
                </a:solidFill>
                <a:latin typeface="Malgun Gothic"/>
                <a:ea typeface="Malgun Gothic"/>
                <a:cs typeface="Malgun Gothic"/>
              </a:rPr>
              <a:t>42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552450" y="1495425"/>
          <a:ext xmlns:a="http://schemas.openxmlformats.org/drawingml/2006/main" cx="110871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1952625"/>
                <a:gridCol w="3429000"/>
                <a:gridCol w="4229100"/>
              </a:tblGrid>
              <a:tr h="40005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화면 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화면명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연결 요구사항·기능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핵심 영역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A-ADM-01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운영 대시보드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요구사항 84 · FS072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시스템 요약, 갱신 시각, 상세 관리 화면 진입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A-ADM-02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통계·AI 품질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요구사항 77~78 · FS065 · FS066-01~03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관심·보유·이용 통계, 선호도, 마스킹 대화록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A-ADM-03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그래프 관제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요구사항 79 · FS067-01~03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분석 상태, 보류 검수, GraphDB 반영, 실패 재시도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A-ADM-04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AI·브리핑 운영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요구사항 80·82·83 · FS068 · FS070 · FS071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사용량·비용·오류, 회차 상태, 재처리, 정정·중단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A-ADM-05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회원·접근 관리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요구사항 81·85 · FS069 · FS073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Malgun Gothic"/>
                          <a:ea typeface="Malgun Gothic"/>
                          <a:cs typeface="Malgun Gothic"/>
                        </a:rPr>
                        <a:t>회원 활동, 차단·해제, 관리자 인증과 권한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EDDE21-6E76-41DB-9501-D5DA2BCF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E3D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C18316-E396-4240-9DDE-BBA58609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F9F9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0F9F95"/>
                </a:solidFill>
                <a:latin typeface="Malgun Gothic"/>
                <a:ea typeface="Malgun Gothic"/>
                <a:cs typeface="Malgun Gothic"/>
              </a:rPr>
              <a:t>공통 내비게이션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96ECD0-5C00-4924-9C3C-38E17823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334000"/>
            <a:ext cx="885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대시보드   통계·AI 품질   그래프 관제   AI·브리핑 운영   회원·접근 관리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DD02D6-0A4F-49A0-9CD9-D5311C0C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각 화면은 목록과 상세 드로어를 기본 구조로 사용하고, 상태 변경 작업은 현재 상태 확인과 권한 검사를 선행한다.</a:t>
            </a:r>
          </a:p>
        </p:txBody>
      </p:sp>
    </p:spTree>
    <p:extLst>
      <p:ext uri="{BB962C8B-B14F-4D97-AF65-F5344CB8AC3E}">
        <p14:creationId xmlns:p14="http://schemas.microsoft.com/office/powerpoint/2010/main" val="151711178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5A74DB-F08F-415C-BE02-080E0AC2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9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b2ef63d1a4309"/>
          <a:srcRect xmlns:a="http://schemas.openxmlformats.org/drawingml/2006/main" l="0" t="33838" r="0" b="33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04775"/>
            <a:ext cx="1047750" cy="190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C83C8-A023-4603-ADC5-18BFB6B5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44780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F9F9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EB7A0-AAD1-4604-A1A9-79E50B43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1950"/>
            <a:ext cx="1238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061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관리자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87672-D387-479D-972A-9E372976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950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관리자 공통 상태와 권한 규칙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AF8E4-5BAA-443B-BE45-4727044A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7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Figma 화면 설계에서 모든 관리자 화면이 공유해야 할 접근·오류·감사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02FAE-D396-4500-927A-85EAD853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"/>
            <a:ext cx="962025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9F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F1A11-1C8E-4FB1-A5F0-B0065485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9575"/>
            <a:ext cx="685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F9F9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0F9F95"/>
                </a:solidFill>
                <a:latin typeface="Malgun Gothic"/>
                <a:ea typeface="Malgun Gothic"/>
                <a:cs typeface="Malgun Gothic"/>
              </a:rPr>
              <a:t>SPEC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49155-92A4-4097-9BFA-300625CD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52425"/>
            <a:ext cx="1352550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F9F9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46C3D-18EB-4666-9E67-ECE52606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09575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FFFFF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FOLLOW-UP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A0D4C-21B9-4E1E-AA84-D79F1016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819150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A2AAB8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A2AAB8"/>
                </a:solidFill>
                <a:latin typeface="Malgun Gothic"/>
                <a:ea typeface="Malgun Gothic"/>
                <a:cs typeface="Malgun Gothic"/>
              </a:rPr>
              <a:t>43 / 43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143F3-A05D-4A29-B722-83EB95D6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341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AA3B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9AA3B1"/>
                </a:solidFill>
                <a:latin typeface="Malgun Gothic"/>
                <a:ea typeface="Malgun Gothic"/>
                <a:cs typeface="Malgun Gothic"/>
              </a:rPr>
              <a:t>줍 서비스 화면계획서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81C87-23DA-4B5E-AD04-8BCB9117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5341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AA3B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750" b="0">
                <a:solidFill>
                  <a:srgbClr val="9AA3B1"/>
                </a:solidFill>
                <a:latin typeface="Malgun Gothic"/>
                <a:ea typeface="Malgun Gothic"/>
                <a:cs typeface="Malgun Gothic"/>
              </a:rPr>
              <a:t>43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552450" y="1495425"/>
          <a:ext xmlns:a="http://schemas.openxmlformats.org/drawingml/2006/main" cx="110871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4572000"/>
                <a:gridCol w="4657725"/>
              </a:tblGrid>
              <a:tr h="400050">
                <a:tc>
                  <a:txBody>
                    <a:bodyPr/>
                    <a:lstStyle/>
                    <a:p>
                      <a:r>
                        <a:rPr sz="1350" b="0"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0">
                          <a:latin typeface="Malgun Gothic"/>
                          <a:ea typeface="Malgun Gothic"/>
                          <a:cs typeface="Malgun Gothic"/>
                        </a:rPr>
                        <a:t>기본 규칙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0">
                          <a:latin typeface="Malgun Gothic"/>
                          <a:ea typeface="Malgun Gothic"/>
                          <a:cs typeface="Malgun Gothic"/>
                        </a:rPr>
                        <a:t>화면 상태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200" b="0">
                          <a:latin typeface="Malgun Gothic"/>
                          <a:ea typeface="Malgun Gothic"/>
                          <a:cs typeface="Malgun Gothic"/>
                        </a:rPr>
                        <a:t>접근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algun Gothic"/>
                          <a:ea typeface="Malgun Gothic"/>
                          <a:cs typeface="Malgun Gothic"/>
                        </a:rPr>
                        <a:t>승인된 관리자만 허용. 일반 회원 권한과 분리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algun Gothic"/>
                          <a:ea typeface="Malgun Gothic"/>
                          <a:cs typeface="Malgun Gothic"/>
                        </a:rPr>
                        <a:t>미로그인·만료 시 재로그인, 권한 없음은 접근 차단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200" b="0">
                          <a:latin typeface="Malgun Gothic"/>
                          <a:ea typeface="Malgun Gothic"/>
                          <a:cs typeface="Malgun Gothic"/>
                        </a:rPr>
                        <a:t>민감 정보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algun Gothic"/>
                          <a:ea typeface="Malgun Gothic"/>
                          <a:cs typeface="Malgun Gothic"/>
                        </a:rPr>
                        <a:t>통계에 실명 등 식별 정보 제외. 대화록은 별도 권한과 마스킹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algun Gothic"/>
                          <a:ea typeface="Malgun Gothic"/>
                          <a:cs typeface="Malgun Gothic"/>
                        </a:rPr>
                        <a:t>마스킹 또는 열람 기록 저장 실패 시 원문을 제공하지 않음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200" b="0">
                          <a:latin typeface="Malgun Gothic"/>
                          <a:ea typeface="Malgun Gothic"/>
                          <a:cs typeface="Malgun Gothic"/>
                        </a:rPr>
                        <a:t>0건·집계 불가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algun Gothic"/>
                          <a:ea typeface="Malgun Gothic"/>
                          <a:cs typeface="Malgun Gothic"/>
                        </a:rPr>
                        <a:t>정상 0건, 분모 없음, 집계 실패를 구분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algun Gothic"/>
                          <a:ea typeface="Malgun Gothic"/>
                          <a:cs typeface="Malgun Gothic"/>
                        </a:rPr>
                        <a:t>0, 평가 없음, 집계 불가를 서로 다른 상태로 표시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200" b="0">
                          <a:latin typeface="Malgun Gothic"/>
                          <a:ea typeface="Malgun Gothic"/>
                          <a:cs typeface="Malgun Gothic"/>
                        </a:rPr>
                        <a:t>상태 변경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algun Gothic"/>
                          <a:ea typeface="Malgun Gothic"/>
                          <a:cs typeface="Malgun Gothic"/>
                        </a:rPr>
                        <a:t>대상·현재 상태·사유·처리 권한을 확인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algun Gothic"/>
                          <a:ea typeface="Malgun Gothic"/>
                          <a:cs typeface="Malgun Gothic"/>
                        </a:rPr>
                        <a:t>처리 중 버튼 비활성화, 실패 시 상태 재조회 후 허용된 재시도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200" b="0">
                          <a:latin typeface="Malgun Gothic"/>
                          <a:ea typeface="Malgun Gothic"/>
                          <a:cs typeface="Malgun Gothic"/>
                        </a:rPr>
                        <a:t>이력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algun Gothic"/>
                          <a:ea typeface="Malgun Gothic"/>
                          <a:cs typeface="Malgun Gothic"/>
                        </a:rPr>
                        <a:t>처리자·대상·시각·사유·이전 상태·결과 보존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algun Gothic"/>
                          <a:ea typeface="Malgun Gothic"/>
                          <a:cs typeface="Malgun Gothic"/>
                        </a:rPr>
                        <a:t>정정·중단·허용·거부·차단을 조용한 덮어쓰기로 처리하지 않음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200" b="0">
                          <a:latin typeface="Malgun Gothic"/>
                          <a:ea typeface="Malgun Gothic"/>
                          <a:cs typeface="Malgun Gothic"/>
                        </a:rPr>
                        <a:t>갱신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algun Gothic"/>
                          <a:ea typeface="Malgun Gothic"/>
                          <a:cs typeface="Malgun Gothic"/>
                        </a:rPr>
                        <a:t>위젯별 갱신 시각과 부분 실패를 표시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algun Gothic"/>
                          <a:ea typeface="Malgun Gothic"/>
                          <a:cs typeface="Malgun Gothic"/>
                        </a:rPr>
                        <a:t>이전 값 사용 시 이전 값임을 명시하고 실패를 0으로 대체하지 않음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B00DD-8694-41CC-A81C-C95EAD27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1087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FD2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69E99-1E06-47F7-AE4B-FAF82C41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276EF1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75" b="0">
                <a:solidFill>
                  <a:srgbClr val="276EF1"/>
                </a:solidFill>
                <a:latin typeface="Malgun Gothic"/>
                <a:ea typeface="Malgun Gothic"/>
                <a:cs typeface="Malgun Gothic"/>
              </a:rPr>
              <a:t>Figma 기본 프레임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653E47-7EB3-4C3D-86DD-0F4BD394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572125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2033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75" b="0">
                <a:solidFill>
                  <a:srgbClr val="182033"/>
                </a:solidFill>
                <a:latin typeface="Malgun Gothic"/>
                <a:ea typeface="Malgun Gothic"/>
                <a:cs typeface="Malgun Gothic"/>
              </a:rPr>
              <a:t>좌측 내비게이션 / 상단 권한·갱신 상태 / 필터 바 / 목록 또는 통계 / 우측 상세 드로어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8D4AED-60AF-4045-9BCE-B44288EB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876925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F7D92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0">
                <a:solidFill>
                  <a:srgbClr val="6F7D92"/>
                </a:solidFill>
                <a:latin typeface="Malgun Gothic"/>
                <a:ea typeface="Malgun Gothic"/>
                <a:cs typeface="Malgun Gothic"/>
              </a:rPr>
              <a:t>확인·재시도가 필요한 조작은 상세 드로어 또는 확인 모달에서 수행</a:t>
            </a:r>
          </a:p>
        </p:txBody>
      </p:sp>
    </p:spTree>
    <p:extLst>
      <p:ext uri="{BB962C8B-B14F-4D97-AF65-F5344CB8AC3E}">
        <p14:creationId xmlns:p14="http://schemas.microsoft.com/office/powerpoint/2010/main" val="1385036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 Thi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 Thi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2026-10-02T05:00:21.1640000Z</dcterms:created>
  <dcterms:modified xsi:type="dcterms:W3CDTF">2026-10-02T05:00:21.1640000Z</dcterms:modified>
</coreProperties>
</file>