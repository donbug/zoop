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Default Extension="txt" ContentType="text/plain"/>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4630400" cy="8229600" type="screen4x3"/>
  <p:notesSz cx="6858000" cy="9144000"/>
  <p:embeddedFontLst>
    <p:embeddedFont>
      <p:font typeface="SUIT" pitchFamily="34" charset="1"/>
      <p:regular r:id="rIdSuit1"/>
      <p:bold r:id="rIdSuit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Suit1" Type="http://schemas.openxmlformats.org/officeDocument/2006/relationships/font" Target="fonts/suit1.fntdata"/><Relationship Id="rIdSuit2" Type="http://schemas.openxmlformats.org/officeDocument/2006/relationships/font" Target="fonts/suit2.fntdata"/></Relationships>
</file>

<file path=ppt/fonts/LICENSE.txt>Copyright (c) 2022, SUNN (http://sun.fo/suit),
with Reserved Font Name SUIT.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D-AUT-01.png</a:t>
            </a:r>
          </a:p>
          <a:p>
            <a:r>
              <a:t>좌표·클릭 후 실제 화면: D-AUT-01.json</a:t>
            </a:r>
          </a:p>
          <a:p>
            <a:r>
              <a:t>본문으로 건너뛰기</a:t>
            </a:r>
          </a:p>
          <a:p>
            <a:r>
              <a:t>줍</a:t>
            </a:r>
          </a:p>
          <a:p>
            <a:r>
              <a:t>Zoop</a:t>
            </a:r>
          </a:p>
          <a:p>
            <a:r>
              <a:t>줍</a:t>
            </a:r>
          </a:p>
          <a:p/>
          <a:p>
            <a:r>
              <a:t>내 종목 주변의 사건과 근거를 탐색해요</a:t>
            </a:r>
          </a:p>
          <a:p/>
          <a:p>
            <a:r>
              <a:t>이메일로 로그인</a:t>
            </a:r>
          </a:p>
          <a:p>
            <a:r>
              <a:t>이메일</a:t>
            </a:r>
          </a:p>
          <a:p>
            <a:r>
              <a:t>비밀번호</a:t>
            </a:r>
          </a:p>
          <a:p/>
          <a:p>
            <a:r>
              <a:t>데모 계정이 입력되어 있어요</a:t>
            </a:r>
          </a:p>
          <a:p/>
          <a:p>
            <a:r>
              <a:t>로그인</a:t>
            </a:r>
          </a:p>
          <a:p/>
          <a:p>
            <a:r>
              <a:t>처음이거나 다른 방법으로 시작하기</a:t>
            </a:r>
          </a:p>
          <a:p/>
          <a:p>
            <a:r>
              <a:t>이메일로 회원가입</a:t>
            </a:r>
          </a:p>
          <a:p>
            <a:r>
              <a:t>개발용 모의 로그인으로 계속</a:t>
            </a:r>
          </a:p>
          <a:p/>
          <a:p>
            <a:r>
              <a:t>개발용 모의 제공자예요. 실제 소셜 계정과 연결되지 않아요.</a:t>
            </a:r>
          </a:p>
          <a:p/>
          <a:p>
            <a:r>
              <a:t>로그인 없이 둘러보기</a:t>
            </a:r>
          </a:p>
          <a:p/>
          <a:p>
            <a:r>
              <a:t>본 서비스는 투자 권유를 제공하지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D-AUT-02.png</a:t>
            </a:r>
          </a:p>
          <a:p>
            <a:r>
              <a:t>좌표·클릭 후 실제 화면: D-AUT-02.json</a:t>
            </a:r>
          </a:p>
          <a:p>
            <a:r>
              <a:t>본문으로 건너뛰기</a:t>
            </a:r>
          </a:p>
          <a:p>
            <a:r>
              <a:t>줍</a:t>
            </a:r>
          </a:p>
          <a:p>
            <a:r>
              <a:t>Zoop</a:t>
            </a:r>
          </a:p>
          <a:p>
            <a:r>
              <a:t>시작 화면으로</a:t>
            </a:r>
          </a:p>
          <a:p>
            <a:r>
              <a:t>이메일로 가입하기</a:t>
            </a:r>
          </a:p>
          <a:p>
            <a:r>
              <a:t>이메일</a:t>
            </a:r>
          </a:p>
          <a:p>
            <a:r>
              <a:t>비밀번호</a:t>
            </a:r>
          </a:p>
          <a:p/>
          <a:p>
            <a:r>
              <a:t>영문과 숫자를 섞어 8자 이상</a:t>
            </a:r>
          </a:p>
          <a:p/>
          <a:p>
            <a:r>
              <a:t>표시 이름</a:t>
            </a:r>
          </a:p>
          <a:p/>
          <a:p>
            <a:r>
              <a:t>화면에 보이는 이름이에요. 20자까지</a:t>
            </a:r>
          </a:p>
          <a:p/>
          <a:p>
            <a:r>
              <a:t>약관 동의</a:t>
            </a:r>
          </a:p>
          <a:p>
            <a:r>
              <a:t>모두 동의</a:t>
            </a:r>
          </a:p>
          <a:p>
            <a:r>
              <a:t>서비스 이용약관 (필수)</a:t>
            </a:r>
          </a:p>
          <a:p>
            <a:r>
              <a:t>본문 보기</a:t>
            </a:r>
          </a:p>
          <a:p/>
          <a:p>
            <a:r>
              <a:t>약관 본문 준비 중</a:t>
            </a:r>
          </a:p>
          <a:p/>
          <a:p>
            <a:r>
              <a:t>개인정보 수집·이용 동의 (필수)</a:t>
            </a:r>
          </a:p>
          <a:p>
            <a:r>
              <a:t>본문 보기</a:t>
            </a:r>
          </a:p>
          <a:p>
            <a:r>
              <a:t>가입하고 시작하기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D-AUT-03.png</a:t>
            </a:r>
          </a:p>
          <a:p>
            <a:r>
              <a:t>좌표·클릭 후 실제 화면: D-AUT-03.json</a:t>
            </a:r>
          </a:p>
          <a:p>
            <a:r>
              <a:t>개발용 모의 로그인</a:t>
            </a:r>
          </a:p>
          <a:p/>
          <a:p>
            <a:r>
              <a:t>모의 소셜 계정으로 로그인</a:t>
            </a:r>
          </a:p>
          <a:p/>
          <a:p>
            <a:r>
              <a:t>실제 소셜 서비스가 아니에요. 입력한 이메일이 모의 계정이 되고, 줍에 이메일과 이름을 전달해요.</a:t>
            </a:r>
          </a:p>
          <a:p/>
          <a:p>
            <a:r>
              <a:t>모의 계정 이메일</a:t>
            </a:r>
          </a:p>
          <a:p>
            <a:r>
              <a:t>이름</a:t>
            </a:r>
          </a:p>
          <a:p/>
          <a:p>
            <a:r>
              <a:t>비워 두면 이메일 앞부분을 써요</a:t>
            </a:r>
          </a:p>
          <a:p/>
          <a:p>
            <a:r>
              <a:t>동의하고 계속</a:t>
            </a:r>
          </a:p>
          <a:p>
            <a:r>
              <a:t>취소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D-ONB-01.png</a:t>
            </a:r>
          </a:p>
          <a:p>
            <a:r>
              <a:t>좌표·클릭 후 실제 화면: D-ONB-01.json</a:t>
            </a:r>
          </a:p>
          <a:p>
            <a:r>
              <a:t>본문으로 건너뛰기</a:t>
            </a:r>
          </a:p>
          <a:p>
            <a:r>
              <a:t>줍</a:t>
            </a:r>
          </a:p>
          <a:p>
            <a:r>
              <a:t>Zoop</a:t>
            </a:r>
          </a:p>
          <a:p>
            <a:r>
              <a:t>화면계획 시연님</a:t>
            </a:r>
          </a:p>
          <a:p>
            <a:r>
              <a:t>지금 주식에 투자하고 계신가요?</a:t>
            </a:r>
          </a:p>
          <a:p>
            <a:r>
              <a:t>지금 주식에 투자하고 있어요</a:t>
            </a:r>
          </a:p>
          <a:p>
            <a:r>
              <a:t>가상 계좌를 연결해 보유 종목 주변을 봐요</a:t>
            </a:r>
          </a:p>
          <a:p>
            <a:r>
              <a:t>아직 투자하지 않아요</a:t>
            </a:r>
          </a:p>
          <a:p>
            <a:r>
              <a:t>관심 있는 종목을 골라 시작해요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D-ONB-02.png</a:t>
            </a:r>
          </a:p>
          <a:p>
            <a:r>
              <a:t>좌표·클릭 후 실제 화면: D-ONB-02.json</a:t>
            </a:r>
          </a:p>
          <a:p>
            <a:r>
              <a:t>본문으로 건너뛰기</a:t>
            </a:r>
          </a:p>
          <a:p>
            <a:r>
              <a:t>줍</a:t>
            </a:r>
          </a:p>
          <a:p>
            <a:r>
              <a:t>Zoop</a:t>
            </a:r>
          </a:p>
          <a:p>
            <a:r>
              <a:t>화면계획 시연님</a:t>
            </a:r>
          </a:p>
          <a:p>
            <a:r>
              <a:t>이전 단계</a:t>
            </a:r>
          </a:p>
          <a:p>
            <a:r>
              <a:t>가상 계좌를 연결해요</a:t>
            </a:r>
          </a:p>
          <a:p/>
          <a:p>
            <a:r>
              <a:t>실제 증권 계좌가 아니에요. 준비된 모의 데이터로 만든 가상 계좌예요.</a:t>
            </a:r>
          </a:p>
          <a:p/>
          <a:p>
            <a:r>
              <a:t>연결할 가상 계좌</a:t>
            </a:r>
          </a:p>
          <a:p>
            <a:r>
              <a:t>가상 계좌 예시</a:t>
            </a:r>
          </a:p>
          <a:p>
            <a:r>
              <a:t>보유 종목 3개</a:t>
            </a:r>
          </a:p>
          <a:p>
            <a:r>
              <a:t>선택한 가상 계좌 연결하기</a:t>
            </a:r>
          </a:p>
          <a:p>
            <a:r>
              <a:t>건너뛰고 관심 종목 고르기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D-WAT-01.png</a:t>
            </a:r>
          </a:p>
          <a:p>
            <a:r>
              <a:t>좌표·클릭 후 실제 화면: D-WAT-01.json</a:t>
            </a:r>
          </a:p>
          <a:p>
            <a:r>
              <a:t>본문으로 건너뛰기</a:t>
            </a:r>
          </a:p>
          <a:p>
            <a:r>
              <a:t>줍</a:t>
            </a:r>
          </a:p>
          <a:p>
            <a:r>
              <a:t>Zoop</a:t>
            </a:r>
          </a:p>
          <a:p>
            <a:r>
              <a:t>화면계획 시연님</a:t>
            </a:r>
          </a:p>
          <a:p>
            <a:r>
              <a:t>이전 단계</a:t>
            </a:r>
          </a:p>
          <a:p>
            <a:r>
              <a:t>관심 있는 종목을 골라 주세요</a:t>
            </a:r>
          </a:p>
          <a:p>
            <a:r>
              <a:t>고른 종목</a:t>
            </a:r>
          </a:p>
          <a:p>
            <a:r>
              <a:t>0개</a:t>
            </a:r>
          </a:p>
          <a:p/>
          <a:p>
            <a:r>
              <a:t>고르지 않아도 보유 종목 기준 내 종목 지도로 시작할 수 있어요.</a:t>
            </a:r>
          </a:p>
          <a:p/>
          <a:p>
            <a:r>
              <a:t>승인된 사건이 많은 기업</a:t>
            </a:r>
          </a:p>
          <a:p>
            <a:r>
              <a:t>NVIDIA</a:t>
            </a:r>
          </a:p>
          <a:p>
            <a:r>
              <a:t>NVDA · 승인된 사건 46건</a:t>
            </a:r>
          </a:p>
          <a:p>
            <a:r>
              <a:t>추가</a:t>
            </a:r>
          </a:p>
          <a:p>
            <a:r>
              <a:t>삼성전자</a:t>
            </a:r>
          </a:p>
          <a:p>
            <a:r>
              <a:t>005930 · 승인된 사건 27건</a:t>
            </a:r>
          </a:p>
          <a:p>
            <a:r>
              <a:t>추가</a:t>
            </a:r>
          </a:p>
          <a:p>
            <a:r>
              <a:t>S</a:t>
            </a:r>
          </a:p>
          <a:p>
            <a:r>
              <a:t>SK텔레콤</a:t>
            </a:r>
          </a:p>
          <a:p>
            <a:r>
              <a:t>017670 · 승인된 사건 6건</a:t>
            </a:r>
          </a:p>
          <a:p>
            <a:r>
              <a:t>추가</a:t>
            </a:r>
          </a:p>
          <a:p>
            <a:r>
              <a:t>S</a:t>
            </a:r>
          </a:p>
          <a:p>
            <a:r>
              <a:t>Salesforce</a:t>
            </a:r>
          </a:p>
          <a:p>
            <a:r>
              <a:t>CRM · 승인된 사건 6건</a:t>
            </a:r>
          </a:p>
          <a:p>
            <a:r>
              <a:t>추가</a:t>
            </a:r>
          </a:p>
          <a:p>
            <a:r>
              <a:t>삼</a:t>
            </a:r>
          </a:p>
          <a:p>
            <a:r>
              <a:t>삼성SDI</a:t>
            </a:r>
          </a:p>
          <a:p>
            <a:r>
              <a:t>006400 · 승인된 사건 6건</a:t>
            </a:r>
          </a:p>
          <a:p>
            <a:r>
              <a:t>추가</a:t>
            </a:r>
          </a:p>
          <a:p>
            <a:r>
              <a:t>Google</a:t>
            </a:r>
          </a:p>
          <a:p>
            <a:r>
              <a:t>GOOGL · 승인된 사건 5건</a:t>
            </a:r>
          </a:p>
          <a:p>
            <a:r>
              <a:t>추가</a:t>
            </a:r>
          </a:p>
          <a:p>
            <a:r>
              <a:t>C</a:t>
            </a:r>
          </a:p>
          <a:p>
            <a:r>
              <a:t>CoreWeave</a:t>
            </a:r>
          </a:p>
          <a:p>
            <a:r>
              <a:t>CRWV · 승인된 사건 3건</a:t>
            </a:r>
          </a:p>
          <a:p>
            <a:r>
              <a:t>추가</a:t>
            </a:r>
          </a:p>
          <a:p>
            <a:r>
              <a:t>K</a:t>
            </a:r>
          </a:p>
          <a:p>
            <a:r>
              <a:t>KT</a:t>
            </a:r>
          </a:p>
          <a:p>
            <a:r>
              <a:t>030200 · 승인된 사건 3건</a:t>
            </a:r>
          </a:p>
          <a:p>
            <a:r>
              <a:t>추가</a:t>
            </a:r>
          </a:p>
          <a:p>
            <a:r>
              <a:t>종목 검색</a:t>
            </a:r>
          </a:p>
          <a:p>
            <a:r>
              <a:t>검색</a:t>
            </a:r>
          </a:p>
          <a:p>
            <a:r>
              <a:t>고르지 않고 지도 보기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D-WAT-01b.png</a:t>
            </a:r>
          </a:p>
          <a:p>
            <a:r>
              <a:t>좌표·클릭 후 실제 화면: D-WAT-01b.json</a:t>
            </a:r>
          </a:p>
          <a:p>
            <a:r>
              <a:t>본문으로 건너뛰기</a:t>
            </a:r>
          </a:p>
          <a:p>
            <a:r>
              <a:t>줍</a:t>
            </a:r>
          </a:p>
          <a:p>
            <a:r>
              <a:t>Zoop</a:t>
            </a:r>
          </a:p>
          <a:p>
            <a:r>
              <a:t>화면계획 시연님</a:t>
            </a:r>
          </a:p>
          <a:p>
            <a:r>
              <a:t>이전 단계</a:t>
            </a:r>
          </a:p>
          <a:p>
            <a:r>
              <a:t>관심 있는 종목을 골라 주세요</a:t>
            </a:r>
          </a:p>
          <a:p>
            <a:r>
              <a:t>고른 종목</a:t>
            </a:r>
          </a:p>
          <a:p>
            <a:r>
              <a:t>4개</a:t>
            </a:r>
          </a:p>
          <a:p>
            <a:r>
              <a:t>NVIDIA</a:t>
            </a:r>
          </a:p>
          <a:p>
            <a:r>
              <a:t>삼성전자</a:t>
            </a:r>
          </a:p>
          <a:p>
            <a:r>
              <a:t>S</a:t>
            </a:r>
          </a:p>
          <a:p>
            <a:r>
              <a:t>SK텔레콤</a:t>
            </a:r>
          </a:p>
          <a:p>
            <a:r>
              <a:t>S</a:t>
            </a:r>
          </a:p>
          <a:p>
            <a:r>
              <a:t>Salesforce</a:t>
            </a:r>
          </a:p>
          <a:p>
            <a:r>
              <a:t>승인된 사건이 많은 기업</a:t>
            </a:r>
          </a:p>
          <a:p>
            <a:r>
              <a:t>NVIDIA</a:t>
            </a:r>
          </a:p>
          <a:p>
            <a:r>
              <a:t>NVDA · 승인된 사건 46건</a:t>
            </a:r>
          </a:p>
          <a:p>
            <a:r>
              <a:t>선택됨</a:t>
            </a:r>
          </a:p>
          <a:p>
            <a:r>
              <a:t>삼성전자</a:t>
            </a:r>
          </a:p>
          <a:p>
            <a:r>
              <a:t>005930 · 승인된 사건 27건</a:t>
            </a:r>
          </a:p>
          <a:p>
            <a:r>
              <a:t>선택됨</a:t>
            </a:r>
          </a:p>
          <a:p>
            <a:r>
              <a:t>S</a:t>
            </a:r>
          </a:p>
          <a:p>
            <a:r>
              <a:t>SK텔레콤</a:t>
            </a:r>
          </a:p>
          <a:p>
            <a:r>
              <a:t>017670 · 승인된 사건 6건</a:t>
            </a:r>
          </a:p>
          <a:p>
            <a:r>
              <a:t>선택됨</a:t>
            </a:r>
          </a:p>
          <a:p>
            <a:r>
              <a:t>S</a:t>
            </a:r>
          </a:p>
          <a:p>
            <a:r>
              <a:t>Salesforce</a:t>
            </a:r>
          </a:p>
          <a:p>
            <a:r>
              <a:t>CRM · 승인된 사건 6건</a:t>
            </a:r>
          </a:p>
          <a:p>
            <a:r>
              <a:t>선택됨</a:t>
            </a:r>
          </a:p>
          <a:p>
            <a:r>
              <a:t>삼</a:t>
            </a:r>
          </a:p>
          <a:p>
            <a:r>
              <a:t>삼성SDI</a:t>
            </a:r>
          </a:p>
          <a:p>
            <a:r>
              <a:t>006400 · 승인된 사건 6건</a:t>
            </a:r>
          </a:p>
          <a:p>
            <a:r>
              <a:t>추가</a:t>
            </a:r>
          </a:p>
          <a:p>
            <a:r>
              <a:t>Google</a:t>
            </a:r>
          </a:p>
          <a:p>
            <a:r>
              <a:t>GOOGL · 승인된 사건 5건</a:t>
            </a:r>
          </a:p>
          <a:p>
            <a:r>
              <a:t>추가</a:t>
            </a:r>
          </a:p>
          <a:p>
            <a:r>
              <a:t>C</a:t>
            </a:r>
          </a:p>
          <a:p>
            <a:r>
              <a:t>CoreWeave</a:t>
            </a:r>
          </a:p>
          <a:p>
            <a:r>
              <a:t>CRWV · 승인된 사건 3건</a:t>
            </a:r>
          </a:p>
          <a:p>
            <a:r>
              <a:t>추가</a:t>
            </a:r>
          </a:p>
          <a:p>
            <a:r>
              <a:t>K</a:t>
            </a:r>
          </a:p>
          <a:p>
            <a:r>
              <a:t>KT</a:t>
            </a:r>
          </a:p>
          <a:p>
            <a:r>
              <a:t>030200 · 승인된 사건 3건</a:t>
            </a:r>
          </a:p>
          <a:p>
            <a:r>
              <a:t>추가</a:t>
            </a:r>
          </a:p>
          <a:p>
            <a:r>
              <a:t>종목 검색</a:t>
            </a:r>
          </a:p>
          <a:p>
            <a:r>
              <a:t>검색</a:t>
            </a:r>
          </a:p>
          <a:p>
            <a:r>
              <a:t>4개 종목으로 시작하기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D-GRP-01.png</a:t>
            </a:r>
          </a:p>
          <a:p>
            <a:r>
              <a:t>좌표·클릭 후 실제 화면: D-GRP-01.json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D-GRP-01b.png</a:t>
            </a:r>
          </a:p>
          <a:p>
            <a:r>
              <a:t>좌표·클릭 후 실제 화면: D-GRP-01b.json</a:t>
            </a:r>
          </a:p>
          <a:p>
            <a:r>
              <a:t>본문으로 건너뛰기</a:t>
            </a:r>
          </a:p>
          <a:p>
            <a:r>
              <a:t>줍</a:t>
            </a:r>
          </a:p>
          <a:p>
            <a:r>
              <a:t>Zoop</a:t>
            </a:r>
          </a:p>
          <a:p>
            <a:r>
              <a:t>지도</a:t>
            </a:r>
          </a:p>
          <a:p>
            <a:r>
              <a:t>종목</a:t>
            </a:r>
          </a:p>
          <a:p>
            <a:r>
              <a:t>브리핑</a:t>
            </a:r>
          </a:p>
          <a:p>
            <a:r>
              <a:t>내 종목</a:t>
            </a:r>
          </a:p>
          <a:p>
            <a:r>
              <a:t>데모 사용자님</a:t>
            </a:r>
          </a:p>
          <a:p>
            <a:r>
              <a:t>내 종목 지도</a:t>
            </a:r>
          </a:p>
          <a:p>
            <a:r>
              <a:t>내 종목</a:t>
            </a:r>
          </a:p>
          <a:p>
            <a:r>
              <a:t>시장 전체</a:t>
            </a:r>
          </a:p>
          <a:p>
            <a:r>
              <a:t>내 종목</a:t>
            </a:r>
          </a:p>
          <a:p>
            <a:r>
              <a:t>전체</a:t>
            </a:r>
          </a:p>
          <a:p>
            <a:r>
              <a:t>보유</a:t>
            </a:r>
          </a:p>
          <a:p>
            <a:r>
              <a:t>3</a:t>
            </a:r>
          </a:p>
          <a:p>
            <a:r>
              <a:t>관심</a:t>
            </a:r>
          </a:p>
          <a:p>
            <a:r>
              <a:t>1</a:t>
            </a:r>
          </a:p>
          <a:p>
            <a:r>
              <a:t>기업</a:t>
            </a:r>
          </a:p>
          <a:p>
            <a:r>
              <a:t>23</a:t>
            </a:r>
          </a:p>
          <a:p>
            <a:r>
              <a:t>사건</a:t>
            </a:r>
          </a:p>
          <a:p>
            <a:r>
              <a:t>89</a:t>
            </a:r>
          </a:p>
          <a:p>
            <a:r>
              <a:t>직접 관련</a:t>
            </a:r>
          </a:p>
          <a:p>
            <a:r>
              <a:t>122</a:t>
            </a:r>
          </a:p>
          <a:p>
            <a:r>
              <a:t>후속 사건</a:t>
            </a:r>
          </a:p>
          <a:p>
            <a:r>
              <a:t>1</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D-GRP-T.png</a:t>
            </a:r>
          </a:p>
          <a:p>
            <a:r>
              <a:t>좌표·클릭 후 실제 화면: D-GRP-T.json</a:t>
            </a:r>
          </a:p>
          <a:p>
            <a:r>
              <a:t>본문으로 건너뛰기</a:t>
            </a:r>
          </a:p>
          <a:p>
            <a:r>
              <a:t>줍</a:t>
            </a:r>
          </a:p>
          <a:p>
            <a:r>
              <a:t>Zoop</a:t>
            </a:r>
          </a:p>
          <a:p>
            <a:r>
              <a:t>지도</a:t>
            </a:r>
          </a:p>
          <a:p>
            <a:r>
              <a:t>종목</a:t>
            </a:r>
          </a:p>
          <a:p>
            <a:r>
              <a:t>브리핑</a:t>
            </a:r>
          </a:p>
          <a:p>
            <a:r>
              <a:t>내 종목</a:t>
            </a:r>
          </a:p>
          <a:p>
            <a:r>
              <a:t>화면계획 시연님</a:t>
            </a:r>
          </a:p>
          <a:p>
            <a:r>
              <a:t>시장 전체 지도</a:t>
            </a:r>
          </a:p>
          <a:p>
            <a:r>
              <a:t>튜토리얼 1/5</a:t>
            </a:r>
          </a:p>
          <a:p>
            <a:r>
              <a:t>지도 움직이기</a:t>
            </a:r>
          </a:p>
          <a:p/>
          <a:p>
            <a:r>
              <a:t>빈 곳을 끌어 지도를 옮기고, 휠이나 두 손가락으로 확대해 보세요. 점선으로 표시한 [화면에 맞추기]를 누르면 전체가 다시 보여요.</a:t>
            </a:r>
          </a:p>
          <a:p/>
          <a:p>
            <a:r>
              <a:t>키보드로는 [확대]·[축소]·[화면에 맞추기] 버튼을 쓸 수 있어요.</a:t>
            </a:r>
          </a:p>
          <a:p/>
          <a:p>
            <a:r>
              <a:t>1단계 지도 움직이기, 지금 단계</a:t>
            </a:r>
          </a:p>
          <a:p>
            <a:r>
              <a:t>2단계 기업이나 사건 고르기</a:t>
            </a:r>
          </a:p>
          <a:p>
            <a:r>
              <a:t>3단계 영향 경로 보기</a:t>
            </a:r>
          </a:p>
          <a:p>
            <a:r>
              <a:t>4단계 상세와 근거 확인하기</a:t>
            </a:r>
          </a:p>
          <a:p>
            <a:r>
              <a:t>5단계 AI에게 묻기</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D-GRP-T2.png</a:t>
            </a:r>
          </a:p>
          <a:p>
            <a:r>
              <a:t>좌표·클릭 후 실제 화면: D-GRP-T2.json</a:t>
            </a:r>
          </a:p>
          <a:p>
            <a:r>
              <a:t>본문으로 건너뛰기</a:t>
            </a:r>
          </a:p>
          <a:p>
            <a:r>
              <a:t>줍</a:t>
            </a:r>
          </a:p>
          <a:p>
            <a:r>
              <a:t>Zoop</a:t>
            </a:r>
          </a:p>
          <a:p>
            <a:r>
              <a:t>지도</a:t>
            </a:r>
          </a:p>
          <a:p>
            <a:r>
              <a:t>종목</a:t>
            </a:r>
          </a:p>
          <a:p>
            <a:r>
              <a:t>브리핑</a:t>
            </a:r>
          </a:p>
          <a:p>
            <a:r>
              <a:t>내 종목</a:t>
            </a:r>
          </a:p>
          <a:p>
            <a:r>
              <a:t>화면계획 시연님</a:t>
            </a:r>
          </a:p>
          <a:p>
            <a:r>
              <a:t>시장 전체 지도</a:t>
            </a:r>
          </a:p>
          <a:p>
            <a:r>
              <a:t>튜토리얼 2/5</a:t>
            </a:r>
          </a:p>
          <a:p>
            <a:r>
              <a:t>기업이나 사건 고르기</a:t>
            </a:r>
          </a:p>
          <a:p/>
          <a:p>
            <a:r>
              <a:t>기업(동그라미)이나 사건 노드를 눌러 보세요. 무엇과 연결됐는지 상세가 열려요.</a:t>
            </a:r>
          </a:p>
          <a:p/>
          <a:p>
            <a:r>
              <a:t>키보드로는 [조작 도움말]을 열고 기업·사건 버튼을 Tab으로 골라 Enter를 누르세요.</a:t>
            </a:r>
          </a:p>
          <a:p/>
          <a:p>
            <a:r>
              <a:t>1단계 지도 움직이기</a:t>
            </a:r>
          </a:p>
          <a:p>
            <a:r>
              <a:t>2단계 기업이나 사건 고르기, 지금 단계</a:t>
            </a:r>
          </a:p>
          <a:p>
            <a:r>
              <a:t>3단계 영향 경로 보기</a:t>
            </a:r>
          </a:p>
          <a:p>
            <a:r>
              <a:t>4단계 상세와 근거 확인하기</a:t>
            </a:r>
          </a:p>
          <a:p>
            <a:r>
              <a:t>5단계 AI에게 묻기</a:t>
            </a:r>
          </a:p>
          <a:p>
            <a:r>
              <a:t>이전</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D-GRP-T3.png</a:t>
            </a:r>
          </a:p>
          <a:p>
            <a:r>
              <a:t>좌표·클릭 후 실제 화면: D-GRP-T3.json</a:t>
            </a:r>
          </a:p>
          <a:p>
            <a:r>
              <a:t>본문으로 건너뛰기</a:t>
            </a:r>
          </a:p>
          <a:p>
            <a:r>
              <a:t>줍</a:t>
            </a:r>
          </a:p>
          <a:p>
            <a:r>
              <a:t>Zoop</a:t>
            </a:r>
          </a:p>
          <a:p>
            <a:r>
              <a:t>지도</a:t>
            </a:r>
          </a:p>
          <a:p>
            <a:r>
              <a:t>종목</a:t>
            </a:r>
          </a:p>
          <a:p>
            <a:r>
              <a:t>브리핑</a:t>
            </a:r>
          </a:p>
          <a:p>
            <a:r>
              <a:t>내 종목</a:t>
            </a:r>
          </a:p>
          <a:p>
            <a:r>
              <a:t>화면계획 시연님</a:t>
            </a:r>
          </a:p>
          <a:p>
            <a:r>
              <a:t>시장 전체 지도</a:t>
            </a:r>
          </a:p>
          <a:p>
            <a:r>
              <a:t>튜토리얼 3/5</a:t>
            </a:r>
          </a:p>
          <a:p>
            <a:r>
              <a:t>영향 경로 보기</a:t>
            </a:r>
          </a:p>
          <a:p/>
          <a:p>
            <a:r>
              <a:t>기업을 고른 뒤 상세의 [직접 이슈]에서 사건을 눌러 보세요. 기업과 그 사건이 어떻게 이어졌는지 단계별 근거와 함께 보여요. 기업 사이 점선(사건 공유)을 눌러도 두 기업의 관계가 열려요.</a:t>
            </a:r>
          </a:p>
          <a:p/>
          <a:p>
            <a:r>
              <a:t>키보드로는 [조작 도움말]에서 기업을 고른 뒤 상세의 [직접 이슈] 사건 제목으로 Tab해 Enter를 누르세요.</a:t>
            </a:r>
          </a:p>
          <a:p/>
          <a:p>
            <a:r>
              <a:t>1단계 지도 움직이기</a:t>
            </a:r>
          </a:p>
          <a:p>
            <a:r>
              <a:t>2단계 기업이나 사건 고르기</a:t>
            </a:r>
          </a:p>
          <a:p>
            <a:r>
              <a:t>3단계 영향 경로 보기, 지금 단계</a:t>
            </a:r>
          </a:p>
          <a:p>
            <a:r>
              <a:t>4단계 상세와 근거 확인하기</a:t>
            </a:r>
          </a:p>
          <a:p>
            <a:r>
              <a:t>5단계 AI에게 묻기</a:t>
            </a:r>
          </a:p>
          <a:p>
            <a:r>
              <a:t>이전</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D-GRP-T4.png</a:t>
            </a:r>
          </a:p>
          <a:p>
            <a:r>
              <a:t>좌표·클릭 후 실제 화면: D-GRP-T4.json</a:t>
            </a:r>
          </a:p>
          <a:p>
            <a:r>
              <a:t>본문으로 건너뛰기</a:t>
            </a:r>
          </a:p>
          <a:p>
            <a:r>
              <a:t>줍</a:t>
            </a:r>
          </a:p>
          <a:p>
            <a:r>
              <a:t>Zoop</a:t>
            </a:r>
          </a:p>
          <a:p>
            <a:r>
              <a:t>지도</a:t>
            </a:r>
          </a:p>
          <a:p>
            <a:r>
              <a:t>종목</a:t>
            </a:r>
          </a:p>
          <a:p>
            <a:r>
              <a:t>브리핑</a:t>
            </a:r>
          </a:p>
          <a:p>
            <a:r>
              <a:t>내 종목</a:t>
            </a:r>
          </a:p>
          <a:p>
            <a:r>
              <a:t>화면계획 시연님</a:t>
            </a:r>
          </a:p>
          <a:p>
            <a:r>
              <a:t>시장 전체 지도</a:t>
            </a:r>
          </a:p>
          <a:p>
            <a:r>
              <a:t>튜토리얼 4/5</a:t>
            </a:r>
          </a:p>
          <a:p>
            <a:r>
              <a:t>상세와 근거 확인하기</a:t>
            </a:r>
          </a:p>
          <a:p/>
          <a:p>
            <a:r>
              <a:t>상세에서 [근거 N건 보기]를 눌러 기사 원문과 인용을 확인해 보세요.</a:t>
            </a:r>
          </a:p>
          <a:p/>
          <a:p>
            <a:r>
              <a:t>상세 패널의 [근거 N건 보기] 버튼으로 Tab해 Enter를 누르세요.</a:t>
            </a:r>
          </a:p>
          <a:p/>
          <a:p>
            <a:r>
              <a:t>1단계 지도 움직이기</a:t>
            </a:r>
          </a:p>
          <a:p>
            <a:r>
              <a:t>2단계 기업이나 사건 고르기</a:t>
            </a:r>
          </a:p>
          <a:p>
            <a:r>
              <a:t>3단계 영향 경로 보기</a:t>
            </a:r>
          </a:p>
          <a:p>
            <a:r>
              <a:t>4단계 상세와 근거 확인하기, 지금 단계</a:t>
            </a:r>
          </a:p>
          <a:p>
            <a:r>
              <a:t>5단계 AI에게 묻기</a:t>
            </a:r>
          </a:p>
          <a:p>
            <a:r>
              <a:t>이전</a:t>
            </a:r>
          </a:p>
          <a:p>
            <a:r>
              <a:t>다음</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D-GRP-T5.png</a:t>
            </a:r>
          </a:p>
          <a:p>
            <a:r>
              <a:t>좌표·클릭 후 실제 화면: D-GRP-T5.json</a:t>
            </a:r>
          </a:p>
          <a:p>
            <a:r>
              <a:t>본문으로 건너뛰기</a:t>
            </a:r>
          </a:p>
          <a:p>
            <a:r>
              <a:t>줍</a:t>
            </a:r>
          </a:p>
          <a:p>
            <a:r>
              <a:t>Zoop</a:t>
            </a:r>
          </a:p>
          <a:p>
            <a:r>
              <a:t>지도</a:t>
            </a:r>
          </a:p>
          <a:p>
            <a:r>
              <a:t>종목</a:t>
            </a:r>
          </a:p>
          <a:p>
            <a:r>
              <a:t>브리핑</a:t>
            </a:r>
          </a:p>
          <a:p>
            <a:r>
              <a:t>내 종목</a:t>
            </a:r>
          </a:p>
          <a:p>
            <a:r>
              <a:t>화면계획 시연님</a:t>
            </a:r>
          </a:p>
          <a:p>
            <a:r>
              <a:t>시장 전체 지도</a:t>
            </a:r>
          </a:p>
          <a:p>
            <a:r>
              <a:t>튜토리얼 5/5</a:t>
            </a:r>
          </a:p>
          <a:p>
            <a:r>
              <a:t>AI에게 묻기</a:t>
            </a:r>
          </a:p>
          <a:p/>
          <a:p>
            <a:r>
              <a:t>상세에서 [AI에게 묻기]를 누르면 고른 대상과 근거를 바탕으로 질문할 수 있어요. 근거가 부족하면 답을 보류해요.</a:t>
            </a:r>
          </a:p>
          <a:p/>
          <a:p>
            <a:r>
              <a:t>상세 패널의 [AI에게 묻기] 버튼으로 Tab해 Enter를 누르세요.</a:t>
            </a:r>
          </a:p>
          <a:p/>
          <a:p>
            <a:r>
              <a:t>1단계 지도 움직이기</a:t>
            </a:r>
          </a:p>
          <a:p>
            <a:r>
              <a:t>2단계 기업이나 사건 고르기</a:t>
            </a:r>
          </a:p>
          <a:p>
            <a:r>
              <a:t>3단계 영향 경로 보기</a:t>
            </a:r>
          </a:p>
          <a:p>
            <a:r>
              <a:t>4단계 상세와 근거 확인하기</a:t>
            </a:r>
          </a:p>
          <a:p>
            <a:r>
              <a:t>5단계 AI에게 묻기, 지금 단계</a:t>
            </a:r>
          </a:p>
          <a:p>
            <a:r>
              <a:t>이전</a:t>
            </a:r>
          </a:p>
          <a:p>
            <a:r>
              <a:t>마치기</a:t>
            </a:r>
          </a:p>
          <a:p>
            <a:r>
              <a:t>튜토리얼 건너뛰기</a:t>
            </a:r>
          </a:p>
          <a:p>
            <a:r>
              <a:t>시장 전체</a:t>
            </a:r>
          </a:p>
          <a:p>
            <a:r>
              <a:t>내 종목</a:t>
            </a:r>
          </a:p>
          <a:p>
            <a:r>
              <a:t>기업</a:t>
            </a:r>
          </a:p>
          <a:p>
            <a:r>
              <a:t>26</a:t>
            </a:r>
          </a:p>
          <a:p>
            <a:r>
              <a:t>사건</a:t>
            </a:r>
          </a:p>
          <a:p>
            <a:r>
              <a:t>138</a:t>
            </a:r>
          </a:p>
          <a:p>
            <a:r>
              <a:t>보유</a:t>
            </a:r>
          </a:p>
          <a:p>
            <a:r>
              <a:t>3</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D-GRP-02.png</a:t>
            </a:r>
          </a:p>
          <a:p>
            <a:r>
              <a:t>좌표·클릭 후 실제 화면: D-GRP-02.json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Jensen Huang appears at Salesforce Dreamforce 선택됨</a:t>
            </a:r>
          </a:p>
          <a:p/>
          <a:p>
            <a:r>
              <a:t>흐름 순으로 정렬</a:t>
            </a:r>
          </a:p>
          <a:p>
            <a:r>
              <a:t>Jensen Huang appears at Salesforce Dreamforce</a:t>
            </a:r>
          </a:p>
          <a:p/>
          <a:p>
            <a:r>
              <a:t>발생 시각 미상</a:t>
            </a:r>
          </a:p>
          <a:p/>
          <a:p>
            <a:r>
              <a:t>근거 2건 보기</a:t>
            </a:r>
          </a:p>
          <a:p>
            <a:r>
              <a:t>이 노드 중심으로 보기</a:t>
            </a:r>
          </a:p>
          <a:p>
            <a:r>
              <a:t>AI에게 묻기</a:t>
            </a:r>
          </a:p>
          <a:p>
            <a:r>
              <a:t>직접 관련 기업 1곳</a:t>
            </a:r>
          </a:p>
          <a:p>
            <a:r>
              <a:t>S</a:t>
            </a:r>
          </a:p>
          <a:p>
            <a:r>
              <a:t>Salesforce</a:t>
            </a:r>
          </a:p>
          <a:p>
            <a:r>
              <a:t>주최자</a:t>
            </a:r>
          </a:p>
          <a:p>
            <a:r>
              <a:t>보도 기사 1건</a:t>
            </a:r>
          </a:p>
          <a:p>
            <a:r>
              <a:t>‘Now We Can Know Everything and Do Anything,’ Jensen Huang Says at Dreamforce</a:t>
            </a:r>
          </a:p>
          <a:p>
            <a:r>
              <a:t>NVIDIA official blog (blogs.nvidia.com) · 2026-09-16 07:24 KST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D-GRP-03.png</a:t>
            </a:r>
          </a:p>
          <a:p>
            <a:r>
              <a:t>좌표·클릭 후 실제 화면: D-GRP-03.json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a:t>
            </a:r>
          </a:p>
          <a:p/>
          <a:p>
            <a:r>
              <a:t>005930</a:t>
            </a:r>
          </a:p>
          <a:p/>
          <a:p>
            <a:r>
              <a:t>보유 종목</a:t>
            </a:r>
          </a:p>
          <a:p/>
          <a:p>
            <a:r>
              <a:t>기업명 더 보기</a:t>
            </a:r>
          </a:p>
          <a:p>
            <a:r>
              <a:t>시세</a:t>
            </a:r>
          </a:p>
          <a:p/>
          <a:p>
            <a:r>
              <a:t>271,500원</a:t>
            </a:r>
          </a:p>
          <a:p/>
          <a:p>
            <a:r>
              <a:t>전일 대비</a:t>
            </a:r>
          </a:p>
          <a:p>
            <a:r>
              <a:t>▼ -4,500원 (-1.63%)</a:t>
            </a:r>
          </a:p>
          <a:p>
            <a:r>
              <a:t>하락</a:t>
            </a:r>
          </a:p>
          <a:p/>
          <a:p>
            <a:r>
              <a:t>전일 대비 · 기준 2026-10-06 12:19 KST · Yahoo Finance · 지연 가능</a:t>
            </a:r>
          </a:p>
          <a:p>
            <a:r>
              <a:t>거래량</a:t>
            </a:r>
          </a:p>
          <a:p>
            <a:r>
              <a:t>654.3만주</a:t>
            </a:r>
          </a:p>
          <a:p>
            <a:r>
              <a:t>당일 저가 ~ 고가</a:t>
            </a:r>
          </a:p>
          <a:p>
            <a:r>
              <a:t>271,000원 ~ 279,000원</a:t>
            </a:r>
          </a:p>
          <a:p>
            <a:r>
              <a:t>52주 저가 ~ 고가</a:t>
            </a:r>
          </a:p>
          <a:p>
            <a:r>
              <a:t>89,750원 ~ 374,500원</a:t>
            </a:r>
          </a:p>
          <a:p>
            <a:r>
              <a:t>최근 1개월 시세 추이</a:t>
            </a:r>
          </a:p>
          <a:p/>
          <a:p>
            <a:r>
              <a:t>2026-09-07 09:00 KST</a:t>
            </a:r>
          </a:p>
          <a:p>
            <a:r>
              <a:t>2026-10-06 09:00 KST</a:t>
            </a:r>
          </a:p>
          <a:p/>
          <a:p>
            <a:r>
              <a:t>Yahoo Finance · 마지막 거래 2026-10-06 09:00 KST</a:t>
            </a:r>
          </a:p>
          <a:p/>
          <a:p>
            <a:r>
              <a:t>주요 지표</a:t>
            </a:r>
          </a:p>
          <a:p>
            <a:r>
              <a:t>가상 계좌 보유</a:t>
            </a:r>
          </a:p>
          <a:p>
            <a:r>
              <a:t>보유 수량</a:t>
            </a:r>
          </a:p>
          <a:p>
            <a:r>
              <a:t>20주</a:t>
            </a:r>
          </a:p>
          <a:p>
            <a:r>
              <a:t>평균 매입가</a:t>
            </a:r>
          </a:p>
          <a:p>
            <a:r>
              <a:t>60,000원</a:t>
            </a:r>
          </a:p>
          <a:p>
            <a:r>
              <a:t>평가 금액</a:t>
            </a:r>
          </a:p>
          <a:p>
            <a:r>
              <a:t>5,430,000원</a:t>
            </a:r>
          </a:p>
          <a:p>
            <a:r>
              <a:t>자산 비중</a:t>
            </a:r>
          </a:p>
          <a:p>
            <a:r>
              <a:t>계산 불가</a:t>
            </a:r>
          </a:p>
          <a:p>
            <a:r>
              <a:t>평가 손익</a:t>
            </a:r>
          </a:p>
          <a:p>
            <a:r>
              <a:t>▲ +4,230,000원 (+352.50%)</a:t>
            </a:r>
          </a:p>
          <a:p>
            <a:r>
              <a:t>상승</a:t>
            </a:r>
          </a:p>
          <a:p/>
          <a:p>
            <a:r>
              <a:t>모의 정보 기준 2026-10-01 20:33 KST · 평가 계산 2026-10-06 12:39 KST</a:t>
            </a:r>
          </a:p>
          <a:p/>
          <a:p>
            <a:r>
              <a:t>자산 비중: 보유 종목의 시세 통화가 서로 달라요. 환율로 바꾸지 않아 합계와 비중을 계산하지 않았어요.</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직접 이슈 24건 더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뉴스·공시</a:t>
            </a:r>
          </a:p>
          <a:p/>
          <a:p>
            <a:r>
              <a:t>Samsung Electronics Newsroom (news.samsung.com)</a:t>
            </a:r>
          </a:p>
          <a:p>
            <a:r>
              <a:t>·</a:t>
            </a:r>
          </a:p>
          <a:p>
            <a:r>
              <a:t>발행 2026-09-29 17:00 KST</a:t>
            </a:r>
          </a:p>
          <a:p/>
          <a:p>
            <a:r>
              <a:t>삼성 6개사, 美 AI 인프라 기업 ‘헬릭스’에 10억 달러 투자</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원문 기사 보기</a:t>
            </a:r>
          </a:p>
          <a:p>
            <a:r>
              <a:t>(새 창에서 열림)</a:t>
            </a:r>
          </a:p>
          <a:p/>
          <a:p>
            <a:r>
              <a:t>전체 10건은 기업 상세의 문서에서 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D-GRP-04.png</a:t>
            </a:r>
          </a:p>
          <a:p>
            <a:r>
              <a:t>좌표·클릭 후 실제 화면: D-GRP-04.json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같은 사건 2건 연결선 선택됨</a:t>
            </a:r>
          </a:p>
          <a:p/>
          <a:p>
            <a:r>
              <a:t>흐름 순으로 정렬</a:t>
            </a:r>
          </a:p>
          <a:p>
            <a:r>
              <a:t>삼성전자 – 삼성에스디에스</a:t>
            </a:r>
          </a:p>
          <a:p/>
          <a:p>
            <a:r>
              <a:t>같은 사건 2건</a:t>
            </a:r>
          </a:p>
          <a:p>
            <a:r>
              <a:t>사건 공유</a:t>
            </a:r>
          </a:p>
          <a:p/>
          <a:p>
            <a:r>
              <a:t>두 기업이 같은 사건에 함께 등장했다는 뜻이에요. 직접 거래나 영향 관계는 아니에요.</a:t>
            </a:r>
          </a:p>
          <a:p/>
          <a:p>
            <a:r>
              <a:t>방향</a:t>
            </a:r>
          </a:p>
          <a:p>
            <a:r>
              <a:t>방향 없음</a:t>
            </a:r>
          </a:p>
          <a:p>
            <a:r>
              <a:t>공유 사건</a:t>
            </a:r>
          </a:p>
          <a:p>
            <a:r>
              <a:t>2건 · 2026-09-29</a:t>
            </a:r>
          </a:p>
          <a:p>
            <a:r>
              <a:t>확인 시점</a:t>
            </a:r>
          </a:p>
          <a:p>
            <a:r>
              <a:t>2026-10-01 20:21 KST</a:t>
            </a:r>
          </a:p>
          <a:p>
            <a:r>
              <a:t>근거 4건 보기</a:t>
            </a:r>
          </a:p>
          <a:p>
            <a:r>
              <a:t>AI에게 묻기</a:t>
            </a:r>
          </a:p>
          <a:p>
            <a:r>
              <a:t>연결된 두 대상</a:t>
            </a:r>
          </a:p>
          <a:p>
            <a:r>
              <a:t>기업:</a:t>
            </a:r>
          </a:p>
          <a:p>
            <a:r>
              <a:t>삼성전자</a:t>
            </a:r>
          </a:p>
          <a:p>
            <a:r>
              <a:t>삼</a:t>
            </a:r>
          </a:p>
          <a:p>
            <a:r>
              <a:t>기업:</a:t>
            </a:r>
          </a:p>
          <a:p>
            <a:r>
              <a:t>삼성에스디에스</a:t>
            </a:r>
          </a:p>
          <a:p>
            <a:r>
              <a:t>함께 언급된 사건 2건</a:t>
            </a:r>
          </a:p>
          <a:p>
            <a:r>
              <a:t>발생 시각 미상</a:t>
            </a:r>
          </a:p>
          <a:p>
            <a:r>
              <a:t>삼성전자·삼성SDS, 구미에 휴머노이드 양산·AI 데이터센터 투자 계획</a:t>
            </a:r>
          </a:p>
          <a:p>
            <a:r>
              <a:t>근거 2건 보기</a:t>
            </a:r>
          </a:p>
          <a:p>
            <a:r>
              <a:t>2026-09-29</a:t>
            </a:r>
          </a:p>
          <a:p>
            <a:r>
              <a:t>삼성 6개사, 美 AI 인프라 기업 ‘헬릭스’에 10억 달러 투자</a:t>
            </a:r>
          </a:p>
          <a:p>
            <a:r>
              <a:t>근거 2건 보기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D-GRP-05.png</a:t>
            </a:r>
          </a:p>
          <a:p>
            <a:r>
              <a:t>좌표·클릭 후 실제 화면: D-GRP-05.json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 · 영향 경로</a:t>
            </a:r>
          </a:p>
          <a:p/>
          <a:p>
            <a:r>
              <a:t>직접 연결 · 지도 기준 2026-10-01 20:21 KST</a:t>
            </a:r>
          </a:p>
          <a:p/>
          <a:p>
            <a:r>
              <a:t>사건 상세 보기</a:t>
            </a:r>
          </a:p>
          <a:p>
            <a:r>
              <a:t>AI에게 묻기</a:t>
            </a:r>
          </a:p>
          <a:p>
            <a:r>
              <a:t>확인된 연결</a:t>
            </a:r>
          </a:p>
          <a:p>
            <a:r>
              <a:t>기업:</a:t>
            </a:r>
          </a:p>
          <a:p>
            <a:r>
              <a:t>삼성전자</a:t>
            </a:r>
          </a:p>
          <a:p>
            <a:r>
              <a:t>직접 관련</a:t>
            </a:r>
          </a:p>
          <a:p>
            <a:r>
              <a:t>High NA EUV 도…</a:t>
            </a:r>
          </a:p>
          <a:p>
            <a:r>
              <a:t>· 계획</a:t>
            </a:r>
          </a:p>
          <a:p>
            <a:r>
              <a:t>근거 2건</a:t>
            </a:r>
          </a:p>
          <a:p>
            <a:r>
              <a:t>2028년</a:t>
            </a:r>
          </a:p>
          <a:p>
            <a:r>
              <a:t>삼성전자, ASML과 차세대 반도체 제조 협력 확대</a:t>
            </a:r>
          </a:p>
          <a:p>
            <a:r>
              <a:t>근거 2건 보기</a:t>
            </a:r>
          </a:p>
          <a:p>
            <a:r>
              <a:t>함께 연결된 기업 1곳</a:t>
            </a:r>
          </a:p>
          <a:p>
            <a:r>
              <a:t>A</a:t>
            </a:r>
          </a:p>
          <a:p>
            <a:r>
              <a:t>ASML</a:t>
            </a:r>
          </a:p>
          <a:p>
            <a:r>
              <a:t>직접 관련 · 협력 파트너(노광 설비…</a:t>
            </a:r>
          </a:p>
          <a:p>
            <a:r>
              <a:t>근거 2건</a:t>
            </a:r>
          </a:p>
          <a:p>
            <a:r>
              <a:t>해석 한계</a:t>
            </a:r>
          </a:p>
          <a:p>
            <a:r>
              <a:t>위 연결은 기사에 적힌 사실과 등록된 사업 관계예요. 이 사건이 주가나 실적에 주는 영향은 판단하지 않아요.</a:t>
            </a:r>
          </a:p>
          <a:p>
            <a:r>
              <a:t>보도 표현이 발생이 아닌 연결(계획·전망 등)은 아직 일어난 일로 확인되지 않았어요.</a:t>
            </a:r>
          </a:p>
          <a:p>
            <a:r>
              <a:t>근거 문서</a:t>
            </a:r>
          </a:p>
          <a:p/>
          <a:p>
            <a:r>
              <a:t>삼성전자, ASML과 차세대 반도체 제조 협력 확대</a:t>
            </a:r>
          </a:p>
          <a:p/>
          <a:p>
            <a:r>
              <a:t>관계 확인 시점</a:t>
            </a:r>
          </a:p>
          <a:p>
            <a:r>
              <a:t>2026-10-01 20:21 KST</a:t>
            </a:r>
          </a:p>
          <a:p/>
          <a:p>
            <a:r>
              <a:t>Samsung Electronics Newsroom (news.samsung.com)</a:t>
            </a:r>
          </a:p>
          <a:p>
            <a:r>
              <a:t>·</a:t>
            </a:r>
          </a:p>
          <a:p>
            <a:r>
              <a:t>발행 2026-09-09 00:03 KST</a:t>
            </a:r>
          </a:p>
          <a:p/>
          <a:p>
            <a:r>
              <a:t>삼성전자, ASML과 차세대 반도체 제조 협력 확대</a:t>
            </a:r>
          </a:p>
          <a:p/>
          <a:p>
            <a:r>
              <a:t>“한편, 삼성전자는 ASML과 2028년까지 첨단 D램 제조에 차세대 노광 설비 High NA EUV 도입을 위한 협력도 강화할 계획이다.”</a:t>
            </a:r>
          </a:p>
          <a:p>
            <a:r>
              <a:t>원문 기사 보기</a:t>
            </a:r>
          </a:p>
          <a:p>
            <a:r>
              <a:t>(새 창에서 열림)</a:t>
            </a:r>
          </a:p>
          <a:p>
            <a:r>
              <a:t>지도에서 보기</a:t>
            </a:r>
          </a:p>
          <a:p/>
          <a:p>
            <a:r>
              <a:t>Samsung Electronics Newsroom (news.samsung.com)</a:t>
            </a:r>
          </a:p>
          <a:p>
            <a:r>
              <a:t>·</a:t>
            </a:r>
          </a:p>
          <a:p>
            <a:r>
              <a:t>발행 2026-09-09 00:03 KST</a:t>
            </a:r>
          </a:p>
          <a:p/>
          <a:p>
            <a:r>
              <a:t>삼성전자, ASML과 차세대 반도체 제조 협력 확대</a:t>
            </a:r>
          </a:p>
          <a:p/>
          <a:p>
            <a:r>
              <a:t>“2028년 업계 최초로 메모리 제조에 High NA EUV 도입 추진”</a:t>
            </a:r>
          </a:p>
          <a:p>
            <a:r>
              <a:t>원문 기사 보기</a:t>
            </a:r>
          </a:p>
          <a:p>
            <a:r>
              <a:t>(새 창에서 열림)</a:t>
            </a:r>
          </a:p>
          <a:p>
            <a:r>
              <a:t>지도에서 보기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D-GRP-06.png</a:t>
            </a:r>
          </a:p>
          <a:p>
            <a:r>
              <a:t>좌표·클릭 후 실제 화면: D-GRP-06.json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 · 영향 경로</a:t>
            </a:r>
          </a:p>
          <a:p/>
          <a:p>
            <a:r>
              <a:t>직접 연결 · 지도 기준 2026-10-01 20:21 KST</a:t>
            </a:r>
          </a:p>
          <a:p/>
          <a:p>
            <a:r>
              <a:t>사건 상세 보기</a:t>
            </a:r>
          </a:p>
          <a:p>
            <a:r>
              <a:t>AI에게 묻기</a:t>
            </a:r>
          </a:p>
          <a:p>
            <a:r>
              <a:t>확인된 연결</a:t>
            </a:r>
          </a:p>
          <a:p>
            <a:r>
              <a:t>기업:</a:t>
            </a:r>
          </a:p>
          <a:p>
            <a:r>
              <a:t>삼성전자</a:t>
            </a:r>
          </a:p>
          <a:p>
            <a:r>
              <a:t>직접 관련</a:t>
            </a:r>
          </a:p>
          <a:p>
            <a:r>
              <a:t>High NA EUV 도…</a:t>
            </a:r>
          </a:p>
          <a:p>
            <a:r>
              <a:t>· 계획</a:t>
            </a:r>
          </a:p>
          <a:p>
            <a:r>
              <a:t>근거 2건</a:t>
            </a:r>
          </a:p>
          <a:p>
            <a:r>
              <a:t>2028년</a:t>
            </a:r>
          </a:p>
          <a:p>
            <a:r>
              <a:t>삼성전자, ASML과 차세대 반도체 제조 협력 확대</a:t>
            </a:r>
          </a:p>
          <a:p>
            <a:r>
              <a:t>근거 2건 보기</a:t>
            </a:r>
          </a:p>
          <a:p>
            <a:r>
              <a:t>함께 연결된 기업 1곳</a:t>
            </a:r>
          </a:p>
          <a:p>
            <a:r>
              <a:t>A</a:t>
            </a:r>
          </a:p>
          <a:p>
            <a:r>
              <a:t>ASML</a:t>
            </a:r>
          </a:p>
          <a:p>
            <a:r>
              <a:t>직접 관련 · 협력 파트너(노광 설비…</a:t>
            </a:r>
          </a:p>
          <a:p>
            <a:r>
              <a:t>근거 2건</a:t>
            </a:r>
          </a:p>
          <a:p>
            <a:r>
              <a:t>해석 한계</a:t>
            </a:r>
          </a:p>
          <a:p>
            <a:r>
              <a:t>위 연결은 기사에 적힌 사실과 등록된 사업 관계예요. 이 사건이 주가나 실적에 주는 영향은 판단하지 않아요.</a:t>
            </a:r>
          </a:p>
          <a:p>
            <a:r>
              <a:t>보도 표현이 발생이 아닌 연결(계획·전망 등)은 아직 일어난 일로 확인되지 않았어요.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D-GRP-07.png</a:t>
            </a:r>
          </a:p>
          <a:p>
            <a:r>
              <a:t>좌표·클릭 후 실제 화면: D-GRP-07.json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흐름 순으로 정렬</a:t>
            </a:r>
          </a:p>
          <a:p/>
          <a:p>
            <a:r>
              <a:t>삼성전자에서 NVIDIA까지 경로,</a:t>
            </a:r>
          </a:p>
          <a:p>
            <a:r>
              <a:t>삼성전자</a:t>
            </a:r>
          </a:p>
          <a:p>
            <a:r>
              <a:t>NVIDIA</a:t>
            </a:r>
          </a:p>
          <a:p>
            <a:r>
              <a:t>· 2단계</a:t>
            </a:r>
          </a:p>
          <a:p/>
          <a:p>
            <a:r>
              <a:t>전체 보기</a:t>
            </a:r>
          </a:p>
          <a:p>
            <a:r>
              <a:t>삼성전자 ↔ NVIDIA</a:t>
            </a:r>
          </a:p>
          <a:p>
            <a:r>
              <a:t>다른 기업 고르기</a:t>
            </a:r>
          </a:p>
          <a:p>
            <a:r>
              <a:t>2단계</a:t>
            </a:r>
          </a:p>
          <a:p>
            <a:r>
              <a:t>기업:</a:t>
            </a:r>
          </a:p>
          <a:p>
            <a:r>
              <a:t>삼성전자</a:t>
            </a:r>
          </a:p>
          <a:p>
            <a:r>
              <a:t>직접 관련:</a:t>
            </a:r>
          </a:p>
          <a:p>
            <a:r>
              <a:t>투자사</a:t>
            </a:r>
          </a:p>
          <a:p>
            <a:r>
              <a:t>2026-09-29</a:t>
            </a:r>
          </a:p>
          <a:p>
            <a:r>
              <a:t>삼성 6개사, 美 AI 인프라 기업 ‘헬릭스’에 10억 달러 투자</a:t>
            </a:r>
          </a:p>
          <a:p>
            <a:r>
              <a:t>근거 2건 보기</a:t>
            </a:r>
          </a:p>
          <a:p>
            <a:r>
              <a:t>직접 관련:</a:t>
            </a:r>
          </a:p>
          <a:p>
            <a:r>
              <a:t>공동 설립 투자사</a:t>
            </a:r>
          </a:p>
          <a:p>
            <a:r>
              <a:t>기업:</a:t>
            </a:r>
          </a:p>
          <a:p>
            <a:r>
              <a:t>NVIDIA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D-GRP-07b.png</a:t>
            </a:r>
          </a:p>
          <a:p>
            <a:r>
              <a:t>좌표·클릭 후 실제 화면: D-GRP-07b.json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p>
            <a:r>
              <a:t>삼성전자 중심</a:t>
            </a:r>
          </a:p>
          <a:p/>
          <a:p>
            <a:r>
              <a:t>1단계</a:t>
            </a:r>
          </a:p>
          <a:p>
            <a:r>
              <a:t>2단계</a:t>
            </a:r>
          </a:p>
          <a:p>
            <a:r>
              <a:t>전체 보기</a:t>
            </a:r>
          </a:p>
          <a:p>
            <a:r>
              <a:t>삼성전자</a:t>
            </a:r>
          </a:p>
          <a:p/>
          <a:p>
            <a:r>
              <a:t>005930</a:t>
            </a:r>
          </a:p>
          <a:p/>
          <a:p>
            <a:r>
              <a:t>보유 종목</a:t>
            </a:r>
          </a:p>
          <a:p/>
          <a:p>
            <a:r>
              <a:t>기업명 더 보기</a:t>
            </a:r>
          </a:p>
          <a:p>
            <a:r>
              <a:t>시세</a:t>
            </a:r>
          </a:p>
          <a:p/>
          <a:p>
            <a:r>
              <a:t>271,250원</a:t>
            </a:r>
          </a:p>
          <a:p/>
          <a:p>
            <a:r>
              <a:t>전일 대비</a:t>
            </a:r>
          </a:p>
          <a:p>
            <a:r>
              <a:t>▼ -4,750원 (-1.72%)</a:t>
            </a:r>
          </a:p>
          <a:p>
            <a:r>
              <a:t>하락</a:t>
            </a:r>
          </a:p>
          <a:p/>
          <a:p>
            <a:r>
              <a:t>전일 대비 · 기준 2026-10-06 12:20 KST · Yahoo Finance · 지연 가능</a:t>
            </a:r>
          </a:p>
          <a:p>
            <a:r>
              <a:t>거래량</a:t>
            </a:r>
          </a:p>
          <a:p>
            <a:r>
              <a:t>657.2만주</a:t>
            </a:r>
          </a:p>
          <a:p>
            <a:r>
              <a:t>당일 저가 ~ 고가</a:t>
            </a:r>
          </a:p>
          <a:p>
            <a:r>
              <a:t>271,000원 ~ 279,000원</a:t>
            </a:r>
          </a:p>
          <a:p>
            <a:r>
              <a:t>52주 저가 ~ 고가</a:t>
            </a:r>
          </a:p>
          <a:p>
            <a:r>
              <a:t>89,750원 ~ 374,500원</a:t>
            </a:r>
          </a:p>
          <a:p>
            <a:r>
              <a:t>최근 1개월 시세 추이</a:t>
            </a:r>
          </a:p>
          <a:p/>
          <a:p>
            <a:r>
              <a:t>2026-09-07 09:00 KST</a:t>
            </a:r>
          </a:p>
          <a:p>
            <a:r>
              <a:t>2026-10-06 09:00 KST</a:t>
            </a:r>
          </a:p>
          <a:p/>
          <a:p>
            <a:r>
              <a:t>Yahoo Finance · 마지막 거래 2026-10-06 09:00 KST</a:t>
            </a:r>
          </a:p>
          <a:p/>
          <a:p>
            <a:r>
              <a:t>주요 지표</a:t>
            </a:r>
          </a:p>
          <a:p>
            <a:r>
              <a:t>가상 계좌 보유</a:t>
            </a:r>
          </a:p>
          <a:p>
            <a:r>
              <a:t>보유 수량</a:t>
            </a:r>
          </a:p>
          <a:p>
            <a:r>
              <a:t>20주</a:t>
            </a:r>
          </a:p>
          <a:p>
            <a:r>
              <a:t>평균 매입가</a:t>
            </a:r>
          </a:p>
          <a:p>
            <a:r>
              <a:t>60,000원</a:t>
            </a:r>
          </a:p>
          <a:p>
            <a:r>
              <a:t>평가 금액</a:t>
            </a:r>
          </a:p>
          <a:p>
            <a:r>
              <a:t>5,425,000원</a:t>
            </a:r>
          </a:p>
          <a:p>
            <a:r>
              <a:t>자산 비중</a:t>
            </a:r>
          </a:p>
          <a:p>
            <a:r>
              <a:t>계산 불가</a:t>
            </a:r>
          </a:p>
          <a:p>
            <a:r>
              <a:t>평가 손익</a:t>
            </a:r>
          </a:p>
          <a:p>
            <a:r>
              <a:t>▲ +4,225,000원 (+352.08%)</a:t>
            </a:r>
          </a:p>
          <a:p>
            <a:r>
              <a:t>상승</a:t>
            </a:r>
          </a:p>
          <a:p/>
          <a:p>
            <a:r>
              <a:t>모의 정보 기준 2026-10-01 20:33 KST · 평가 계산 2026-10-06 12:40 KST</a:t>
            </a:r>
          </a:p>
          <a:p/>
          <a:p>
            <a:r>
              <a:t>자산 비중: 보유 종목의 시세 통화가 서로 달라요. 환율로 바꾸지 않아 합계와 비중을 계산하지 않았어요.</a:t>
            </a:r>
          </a:p>
          <a:p/>
          <a:p>
            <a:r>
              <a:t>기업 상세</a:t>
            </a:r>
          </a:p>
          <a:p>
            <a:r>
              <a:t>관심 종목에 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직접 이슈 24건 더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뉴스·공시</a:t>
            </a:r>
          </a:p>
          <a:p/>
          <a:p>
            <a:r>
              <a:t>Samsung Electronics Newsroom (news.samsung.com)</a:t>
            </a:r>
          </a:p>
          <a:p>
            <a:r>
              <a:t>·</a:t>
            </a:r>
          </a:p>
          <a:p>
            <a:r>
              <a:t>발행 2026-09-29 17:00 KST</a:t>
            </a:r>
          </a:p>
          <a:p/>
          <a:p>
            <a:r>
              <a:t>삼성 6개사, 美 AI 인프라 기업 ‘헬릭스’에 10억 달러 투자</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원문 기사 보기</a:t>
            </a:r>
          </a:p>
          <a:p>
            <a:r>
              <a:t>(새 창에서 열림)</a:t>
            </a:r>
          </a:p>
          <a:p/>
          <a:p>
            <a:r>
              <a:t>전체 10건은 기업 상세의 문서에서 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D-STK-01.png</a:t>
            </a:r>
          </a:p>
          <a:p>
            <a:r>
              <a:t>좌표·클릭 후 실제 화면: D-STK-01.json</a:t>
            </a:r>
          </a:p>
          <a:p>
            <a:r>
              <a:t>본문으로 건너뛰기</a:t>
            </a:r>
          </a:p>
          <a:p>
            <a:r>
              <a:t>줍</a:t>
            </a:r>
          </a:p>
          <a:p>
            <a:r>
              <a:t>Zoop</a:t>
            </a:r>
          </a:p>
          <a:p>
            <a:r>
              <a:t>지도</a:t>
            </a:r>
          </a:p>
          <a:p>
            <a:r>
              <a:t>종목</a:t>
            </a:r>
          </a:p>
          <a:p>
            <a:r>
              <a:t>브리핑</a:t>
            </a:r>
          </a:p>
          <a:p>
            <a:r>
              <a:t>내 종목</a:t>
            </a:r>
          </a:p>
          <a:p>
            <a:r>
              <a:t>데모 사용자님</a:t>
            </a:r>
          </a:p>
          <a:p>
            <a:r>
              <a:t>종목</a:t>
            </a:r>
          </a:p>
          <a:p>
            <a:r>
              <a:t>기업명·영문명·티커 검색</a:t>
            </a:r>
          </a:p>
          <a:p>
            <a:r>
              <a:t>검색</a:t>
            </a:r>
          </a:p>
          <a:p>
            <a:r>
              <a:t>시장 전체</a:t>
            </a:r>
          </a:p>
          <a:p>
            <a:r>
              <a:t>내 종목</a:t>
            </a:r>
          </a:p>
          <a:p/>
          <a:p>
            <a:r>
              <a:t>5개 종목</a:t>
            </a:r>
          </a:p>
          <a:p/>
          <a:p>
            <a:r>
              <a:t>삼</a:t>
            </a:r>
          </a:p>
          <a:p>
            <a:r>
              <a:t>삼성SDI</a:t>
            </a:r>
          </a:p>
          <a:p>
            <a:r>
              <a:t>006400 · 승인 사건 6건</a:t>
            </a:r>
          </a:p>
          <a:p>
            <a:r>
              <a:t>보유</a:t>
            </a:r>
          </a:p>
          <a:p>
            <a:r>
              <a:t>567,000원</a:t>
            </a:r>
          </a:p>
          <a:p>
            <a:r>
              <a:t>▲ +7.18%</a:t>
            </a:r>
          </a:p>
          <a:p>
            <a:r>
              <a:t>상승</a:t>
            </a:r>
          </a:p>
          <a:p>
            <a:r>
              <a:t>삼</a:t>
            </a:r>
          </a:p>
          <a:p>
            <a:r>
              <a:t>삼성물산</a:t>
            </a:r>
          </a:p>
          <a:p>
            <a:r>
              <a:t>028260 · 승인 사건 2건</a:t>
            </a:r>
          </a:p>
          <a:p>
            <a:r>
              <a:t>341,500원</a:t>
            </a:r>
          </a:p>
          <a:p>
            <a:r>
              <a:t>▼ -1.30%</a:t>
            </a:r>
          </a:p>
          <a:p>
            <a:r>
              <a:t>하락</a:t>
            </a:r>
          </a:p>
          <a:p>
            <a:r>
              <a:t>삼</a:t>
            </a:r>
          </a:p>
          <a:p>
            <a:r>
              <a:t>삼성에스디에스</a:t>
            </a:r>
          </a:p>
          <a:p>
            <a:r>
              <a:t>018260 · 승인 사건 2건</a:t>
            </a:r>
          </a:p>
          <a:p>
            <a:r>
              <a:t>219,000원</a:t>
            </a:r>
          </a:p>
          <a:p>
            <a:r>
              <a:t>▼ -0.23%</a:t>
            </a:r>
          </a:p>
          <a:p>
            <a:r>
              <a:t>하락</a:t>
            </a:r>
          </a:p>
          <a:p>
            <a:r>
              <a:t>삼</a:t>
            </a:r>
          </a:p>
          <a:p>
            <a:r>
              <a:t>삼성전기</a:t>
            </a:r>
          </a:p>
          <a:p>
            <a:r>
              <a:t>009150 · 승인 사건 1건</a:t>
            </a:r>
          </a:p>
          <a:p>
            <a:r>
              <a:t>1,664,000원</a:t>
            </a:r>
          </a:p>
          <a:p>
            <a:r>
              <a:t>▲ +5.25%</a:t>
            </a:r>
          </a:p>
          <a:p>
            <a:r>
              <a:t>상승</a:t>
            </a:r>
          </a:p>
          <a:p>
            <a:r>
              <a:t>삼성전자</a:t>
            </a:r>
          </a:p>
          <a:p>
            <a:r>
              <a:t>005930 · 승인 사건 27건</a:t>
            </a:r>
          </a:p>
          <a:p>
            <a:r>
              <a:t>보유</a:t>
            </a:r>
          </a:p>
          <a:p>
            <a:r>
              <a:t>271,500원</a:t>
            </a:r>
          </a:p>
          <a:p>
            <a:r>
              <a:t>▼ -1.63%</a:t>
            </a:r>
          </a:p>
          <a:p>
            <a:r>
              <a:t>하락</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D-COM-01.png</a:t>
            </a:r>
          </a:p>
          <a:p>
            <a:r>
              <a:t>좌표·클릭 후 실제 화면: D-COM-01.json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271,500원</a:t>
            </a:r>
          </a:p>
          <a:p>
            <a:r>
              <a:t>▼ -1.63%</a:t>
            </a:r>
          </a:p>
          <a:p>
            <a:r>
              <a:t>하락</a:t>
            </a:r>
          </a:p>
          <a:p>
            <a:r>
              <a:t>삼</a:t>
            </a:r>
          </a:p>
          <a:p>
            <a:r>
              <a:t>삼성SDI</a:t>
            </a:r>
          </a:p>
          <a:p>
            <a:r>
              <a:t>567,000원</a:t>
            </a:r>
          </a:p>
          <a:p>
            <a:r>
              <a:t>▲ +7.18%</a:t>
            </a:r>
          </a:p>
          <a:p>
            <a:r>
              <a:t>상승</a:t>
            </a:r>
          </a:p>
          <a:p>
            <a:r>
              <a:t>관심 기업</a:t>
            </a:r>
          </a:p>
          <a:p>
            <a:r>
              <a:t>NVIDIA</a:t>
            </a:r>
          </a:p>
          <a:p>
            <a:r>
              <a:t>$238.90</a:t>
            </a:r>
          </a:p>
          <a:p>
            <a:r>
              <a:t>▲ +2.12%</a:t>
            </a:r>
          </a:p>
          <a:p>
            <a:r>
              <a:t>상승</a:t>
            </a:r>
          </a:p>
          <a:p>
            <a:r>
              <a:t>최근 본 기업</a:t>
            </a:r>
          </a:p>
          <a:p>
            <a:r>
              <a:t>삼성전자</a:t>
            </a:r>
          </a:p>
          <a:p>
            <a:r>
              <a:t>271,500원</a:t>
            </a:r>
          </a:p>
          <a:p>
            <a:r>
              <a:t>▼ -1.63%</a:t>
            </a:r>
          </a:p>
          <a:p>
            <a:r>
              <a:t>하락</a:t>
            </a:r>
          </a:p>
          <a:p>
            <a:r>
              <a:t>연결된 기업</a:t>
            </a:r>
          </a:p>
          <a:p>
            <a:r>
              <a:t>A</a:t>
            </a:r>
          </a:p>
          <a:p>
            <a:r>
              <a:t>ASML</a:t>
            </a:r>
          </a:p>
          <a:p>
            <a:r>
              <a:t>$1,859.86</a:t>
            </a:r>
          </a:p>
          <a:p>
            <a:r>
              <a:t>▼ -0.40%</a:t>
            </a:r>
          </a:p>
          <a:p>
            <a:r>
              <a:t>하락</a:t>
            </a:r>
          </a:p>
          <a:p>
            <a:r>
              <a:t>삼</a:t>
            </a:r>
          </a:p>
          <a:p>
            <a:r>
              <a:t>삼성물산</a:t>
            </a:r>
          </a:p>
          <a:p>
            <a:r>
              <a:t>341,500원</a:t>
            </a:r>
          </a:p>
          <a:p>
            <a:r>
              <a:t>▼ -1.30%</a:t>
            </a:r>
          </a:p>
          <a:p>
            <a:r>
              <a:t>하락</a:t>
            </a:r>
          </a:p>
          <a:p>
            <a:r>
              <a:t>삼</a:t>
            </a:r>
          </a:p>
          <a:p>
            <a:r>
              <a:t>삼성에스디에스</a:t>
            </a:r>
          </a:p>
          <a:p>
            <a:r>
              <a:t>219,000원</a:t>
            </a:r>
          </a:p>
          <a:p>
            <a:r>
              <a:t>▼ -0.23%</a:t>
            </a:r>
          </a:p>
          <a:p>
            <a:r>
              <a:t>하락</a:t>
            </a:r>
          </a:p>
          <a:p>
            <a:r>
              <a:t>삼</a:t>
            </a:r>
          </a:p>
          <a:p>
            <a:r>
              <a:t>삼성SDI</a:t>
            </a:r>
          </a:p>
          <a:p>
            <a:r>
              <a:t>567,000원</a:t>
            </a:r>
          </a:p>
          <a:p>
            <a:r>
              <a:t>▲ +7.18%</a:t>
            </a:r>
          </a:p>
          <a:p>
            <a:r>
              <a:t>상승</a:t>
            </a:r>
          </a:p>
          <a:p>
            <a:r>
              <a:t>NVIDIA</a:t>
            </a:r>
          </a:p>
          <a:p>
            <a:r>
              <a:t>$238.90</a:t>
            </a:r>
          </a:p>
          <a:p>
            <a:r>
              <a:t>▲ +2.12%</a:t>
            </a:r>
          </a:p>
          <a:p>
            <a:r>
              <a:t>상승</a:t>
            </a:r>
          </a:p>
          <a:p>
            <a:r>
              <a:t>현대자동차</a:t>
            </a:r>
          </a:p>
          <a:p>
            <a:r>
              <a:t>348,750원</a:t>
            </a:r>
          </a:p>
          <a:p>
            <a:r>
              <a:t>▲ +0.65%</a:t>
            </a:r>
          </a:p>
          <a:p>
            <a:r>
              <a:t>상승</a:t>
            </a:r>
          </a:p>
          <a:p>
            <a:r>
              <a:t>NAVER</a:t>
            </a:r>
          </a:p>
          <a:p>
            <a:r>
              <a:t>192,300원</a:t>
            </a:r>
          </a:p>
          <a:p>
            <a:r>
              <a:t>▲ +0.05%</a:t>
            </a:r>
          </a:p>
          <a:p>
            <a:r>
              <a:t>상승</a:t>
            </a:r>
          </a:p>
          <a:p>
            <a:r>
              <a:t>S</a:t>
            </a:r>
          </a:p>
          <a:p>
            <a:r>
              <a:t>SK텔레콤</a:t>
            </a:r>
          </a:p>
          <a:p>
            <a:r>
              <a:t>87,900원</a:t>
            </a:r>
          </a:p>
          <a:p>
            <a:r>
              <a:t>▼ -0.57%</a:t>
            </a:r>
          </a:p>
          <a:p>
            <a:r>
              <a:t>하락</a:t>
            </a:r>
          </a:p>
          <a:p>
            <a:r>
              <a:t>K</a:t>
            </a:r>
          </a:p>
          <a:p>
            <a:r>
              <a:t>KT</a:t>
            </a:r>
          </a:p>
          <a:p>
            <a:r>
              <a:t>51,500원</a:t>
            </a:r>
          </a:p>
          <a:p>
            <a:r>
              <a:t>▼ -0.77%</a:t>
            </a:r>
          </a:p>
          <a:p>
            <a:r>
              <a:t>하락</a:t>
            </a:r>
          </a:p>
          <a:p>
            <a:r>
              <a:t>관계 그래프 보기</a:t>
            </a:r>
          </a:p>
          <a:p>
            <a:r>
              <a:t>삼성전자</a:t>
            </a:r>
          </a:p>
          <a:p>
            <a:r>
              <a:t>005930</a:t>
            </a:r>
          </a:p>
          <a:p>
            <a:r>
              <a:t>보유</a:t>
            </a:r>
          </a:p>
          <a:p>
            <a:r>
              <a:t>시세</a:t>
            </a:r>
          </a:p>
          <a:p/>
          <a:p>
            <a:r>
              <a:t>271,500원</a:t>
            </a:r>
          </a:p>
          <a:p/>
          <a:p>
            <a:r>
              <a:t>전일 대비</a:t>
            </a:r>
          </a:p>
          <a:p>
            <a:r>
              <a:t>▼ -4,500원 (-1.63%)</a:t>
            </a:r>
          </a:p>
          <a:p>
            <a:r>
              <a:t>하락</a:t>
            </a:r>
          </a:p>
          <a:p/>
          <a:p>
            <a:r>
              <a:t>전일 대비 · 기준 2026-10-06 12:21 KST · Yahoo Finance · 지연 가능</a:t>
            </a:r>
          </a:p>
          <a:p>
            <a:r>
              <a:t>거래량</a:t>
            </a:r>
          </a:p>
          <a:p>
            <a:r>
              <a:t>658.8만주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5,430,000원</a:t>
            </a:r>
          </a:p>
          <a:p>
            <a:r>
              <a:t>자산 비중</a:t>
            </a:r>
          </a:p>
          <a:p>
            <a:r>
              <a:t>계산 불가</a:t>
            </a:r>
          </a:p>
          <a:p>
            <a:r>
              <a:t>평가 손익</a:t>
            </a:r>
          </a:p>
          <a:p>
            <a:r>
              <a:t>▲ +4,230,000원 (+352.50%)</a:t>
            </a:r>
          </a:p>
          <a:p>
            <a:r>
              <a:t>상승</a:t>
            </a:r>
          </a:p>
          <a:p/>
          <a:p>
            <a:r>
              <a:t>모의 정보 기준 2026-10-01 20:33 KST · 평가 계산 2026-10-06 12:41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2026-10-06 12:41 KST · 일 버킷</a:t>
            </a:r>
          </a:p>
          <a:p/>
          <a:p>
            <a:r>
              <a:t>1개월 주가. 처음 9월 7일 270,000원, 마지막 10월 6일 271,500원. 최고 285,500원(9월 23일), 최저 248,500원(9월 15일). 사건이 있었던 날 4곳을 표시했어요.</a:t>
            </a:r>
          </a:p>
          <a:p/>
          <a:p>
            <a:r>
              <a:t>1개월 · 처음 시세 대비</a:t>
            </a:r>
          </a:p>
          <a:p>
            <a:r>
              <a:t>▲ +1,500원 (+0.56%)</a:t>
            </a:r>
          </a:p>
          <a:p>
            <a:r>
              <a:t>상승</a:t>
            </a:r>
          </a:p>
          <a:p>
            <a:r>
              <a:t>285,500원</a:t>
            </a:r>
          </a:p>
          <a:p>
            <a:r>
              <a:t>248,500원</a:t>
            </a:r>
          </a:p>
          <a:p>
            <a:r>
              <a:t>9월 7일</a:t>
            </a:r>
          </a:p>
          <a:p>
            <a:r>
              <a:t>10월 6일</a:t>
            </a:r>
          </a:p>
          <a:p>
            <a:r>
              <a:t>Yahoo Finance · 일별 종가</a:t>
            </a:r>
          </a:p>
          <a:p>
            <a:r>
              <a:t>마지막 시세 2026-10-06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2026-10-06 12:41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D-COM-01b.png</a:t>
            </a:r>
          </a:p>
          <a:p>
            <a:r>
              <a:t>좌표·클릭 후 실제 화면: D-COM-01b.json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271,500원</a:t>
            </a:r>
          </a:p>
          <a:p>
            <a:r>
              <a:t>▼ -1.63%</a:t>
            </a:r>
          </a:p>
          <a:p>
            <a:r>
              <a:t>하락</a:t>
            </a:r>
          </a:p>
          <a:p>
            <a:r>
              <a:t>삼</a:t>
            </a:r>
          </a:p>
          <a:p>
            <a:r>
              <a:t>삼성SDI</a:t>
            </a:r>
          </a:p>
          <a:p>
            <a:r>
              <a:t>567,000원</a:t>
            </a:r>
          </a:p>
          <a:p>
            <a:r>
              <a:t>▲ +7.18%</a:t>
            </a:r>
          </a:p>
          <a:p>
            <a:r>
              <a:t>상승</a:t>
            </a:r>
          </a:p>
          <a:p>
            <a:r>
              <a:t>관심 기업</a:t>
            </a:r>
          </a:p>
          <a:p>
            <a:r>
              <a:t>NVIDIA</a:t>
            </a:r>
          </a:p>
          <a:p>
            <a:r>
              <a:t>$238.90</a:t>
            </a:r>
          </a:p>
          <a:p>
            <a:r>
              <a:t>▲ +2.12%</a:t>
            </a:r>
          </a:p>
          <a:p>
            <a:r>
              <a:t>상승</a:t>
            </a:r>
          </a:p>
          <a:p>
            <a:r>
              <a:t>최근 본 기업</a:t>
            </a:r>
          </a:p>
          <a:p>
            <a:r>
              <a:t>삼성전자</a:t>
            </a:r>
          </a:p>
          <a:p>
            <a:r>
              <a:t>271,500원</a:t>
            </a:r>
          </a:p>
          <a:p>
            <a:r>
              <a:t>▼ -1.63%</a:t>
            </a:r>
          </a:p>
          <a:p>
            <a:r>
              <a:t>하락</a:t>
            </a:r>
          </a:p>
          <a:p>
            <a:r>
              <a:t>연결된 기업</a:t>
            </a:r>
          </a:p>
          <a:p>
            <a:r>
              <a:t>A</a:t>
            </a:r>
          </a:p>
          <a:p>
            <a:r>
              <a:t>ASML</a:t>
            </a:r>
          </a:p>
          <a:p>
            <a:r>
              <a:t>$1,859.86</a:t>
            </a:r>
          </a:p>
          <a:p>
            <a:r>
              <a:t>▼ -0.40%</a:t>
            </a:r>
          </a:p>
          <a:p>
            <a:r>
              <a:t>하락</a:t>
            </a:r>
          </a:p>
          <a:p>
            <a:r>
              <a:t>삼</a:t>
            </a:r>
          </a:p>
          <a:p>
            <a:r>
              <a:t>삼성물산</a:t>
            </a:r>
          </a:p>
          <a:p>
            <a:r>
              <a:t>341,500원</a:t>
            </a:r>
          </a:p>
          <a:p>
            <a:r>
              <a:t>▼ -1.30%</a:t>
            </a:r>
          </a:p>
          <a:p>
            <a:r>
              <a:t>하락</a:t>
            </a:r>
          </a:p>
          <a:p>
            <a:r>
              <a:t>삼</a:t>
            </a:r>
          </a:p>
          <a:p>
            <a:r>
              <a:t>삼성에스디에스</a:t>
            </a:r>
          </a:p>
          <a:p>
            <a:r>
              <a:t>219,000원</a:t>
            </a:r>
          </a:p>
          <a:p>
            <a:r>
              <a:t>▼ -0.23%</a:t>
            </a:r>
          </a:p>
          <a:p>
            <a:r>
              <a:t>하락</a:t>
            </a:r>
          </a:p>
          <a:p>
            <a:r>
              <a:t>삼</a:t>
            </a:r>
          </a:p>
          <a:p>
            <a:r>
              <a:t>삼성SDI</a:t>
            </a:r>
          </a:p>
          <a:p>
            <a:r>
              <a:t>567,000원</a:t>
            </a:r>
          </a:p>
          <a:p>
            <a:r>
              <a:t>▲ +7.18%</a:t>
            </a:r>
          </a:p>
          <a:p>
            <a:r>
              <a:t>상승</a:t>
            </a:r>
          </a:p>
          <a:p>
            <a:r>
              <a:t>NVIDIA</a:t>
            </a:r>
          </a:p>
          <a:p>
            <a:r>
              <a:t>$238.90</a:t>
            </a:r>
          </a:p>
          <a:p>
            <a:r>
              <a:t>▲ +2.12%</a:t>
            </a:r>
          </a:p>
          <a:p>
            <a:r>
              <a:t>상승</a:t>
            </a:r>
          </a:p>
          <a:p>
            <a:r>
              <a:t>현대자동차</a:t>
            </a:r>
          </a:p>
          <a:p>
            <a:r>
              <a:t>348,750원</a:t>
            </a:r>
          </a:p>
          <a:p>
            <a:r>
              <a:t>▲ +0.65%</a:t>
            </a:r>
          </a:p>
          <a:p>
            <a:r>
              <a:t>상승</a:t>
            </a:r>
          </a:p>
          <a:p>
            <a:r>
              <a:t>NAVER</a:t>
            </a:r>
          </a:p>
          <a:p>
            <a:r>
              <a:t>192,300원</a:t>
            </a:r>
          </a:p>
          <a:p>
            <a:r>
              <a:t>▲ +0.05%</a:t>
            </a:r>
          </a:p>
          <a:p>
            <a:r>
              <a:t>상승</a:t>
            </a:r>
          </a:p>
          <a:p>
            <a:r>
              <a:t>S</a:t>
            </a:r>
          </a:p>
          <a:p>
            <a:r>
              <a:t>SK텔레콤</a:t>
            </a:r>
          </a:p>
          <a:p>
            <a:r>
              <a:t>87,900원</a:t>
            </a:r>
          </a:p>
          <a:p>
            <a:r>
              <a:t>▼ -0.57%</a:t>
            </a:r>
          </a:p>
          <a:p>
            <a:r>
              <a:t>하락</a:t>
            </a:r>
          </a:p>
          <a:p>
            <a:r>
              <a:t>K</a:t>
            </a:r>
          </a:p>
          <a:p>
            <a:r>
              <a:t>KT</a:t>
            </a:r>
          </a:p>
          <a:p>
            <a:r>
              <a:t>51,500원</a:t>
            </a:r>
          </a:p>
          <a:p>
            <a:r>
              <a:t>▼ -0.77%</a:t>
            </a:r>
          </a:p>
          <a:p>
            <a:r>
              <a:t>하락</a:t>
            </a:r>
          </a:p>
          <a:p>
            <a:r>
              <a:t>관계 그래프 보기</a:t>
            </a:r>
          </a:p>
          <a:p>
            <a:r>
              <a:t>삼성전자</a:t>
            </a:r>
          </a:p>
          <a:p>
            <a:r>
              <a:t>005930</a:t>
            </a:r>
          </a:p>
          <a:p>
            <a:r>
              <a:t>보유</a:t>
            </a:r>
          </a:p>
          <a:p>
            <a:r>
              <a:t>시세</a:t>
            </a:r>
          </a:p>
          <a:p/>
          <a:p>
            <a:r>
              <a:t>271,500원</a:t>
            </a:r>
          </a:p>
          <a:p/>
          <a:p>
            <a:r>
              <a:t>전일 대비</a:t>
            </a:r>
          </a:p>
          <a:p>
            <a:r>
              <a:t>▼ -4,500원 (-1.63%)</a:t>
            </a:r>
          </a:p>
          <a:p>
            <a:r>
              <a:t>하락</a:t>
            </a:r>
          </a:p>
          <a:p/>
          <a:p>
            <a:r>
              <a:t>전일 대비 · 기준 2026-10-06 12:21 KST · Yahoo Finance · 지연 가능</a:t>
            </a:r>
          </a:p>
          <a:p>
            <a:r>
              <a:t>거래량</a:t>
            </a:r>
          </a:p>
          <a:p>
            <a:r>
              <a:t>658.8만주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5,430,000원</a:t>
            </a:r>
          </a:p>
          <a:p>
            <a:r>
              <a:t>자산 비중</a:t>
            </a:r>
          </a:p>
          <a:p>
            <a:r>
              <a:t>계산 불가</a:t>
            </a:r>
          </a:p>
          <a:p>
            <a:r>
              <a:t>평가 손익</a:t>
            </a:r>
          </a:p>
          <a:p>
            <a:r>
              <a:t>▲ +4,230,000원 (+352.50%)</a:t>
            </a:r>
          </a:p>
          <a:p>
            <a:r>
              <a:t>상승</a:t>
            </a:r>
          </a:p>
          <a:p/>
          <a:p>
            <a:r>
              <a:t>모의 정보 기준 2026-10-01 20:33 KST · 평가 계산 2026-10-06 12:41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2026-10-06 12:41 KST · 일 버킷</a:t>
            </a:r>
          </a:p>
          <a:p/>
          <a:p>
            <a:r>
              <a:t>1개월 주가. 처음 9월 7일 270,000원, 마지막 10월 6일 271,500원. 최고 285,500원(9월 23일), 최저 248,500원(9월 15일). 사건이 있었던 날 4곳을 표시했어요.</a:t>
            </a:r>
          </a:p>
          <a:p/>
          <a:p>
            <a:r>
              <a:t>1개월 · 처음 시세 대비</a:t>
            </a:r>
          </a:p>
          <a:p>
            <a:r>
              <a:t>▲ +1,500원 (+0.56%)</a:t>
            </a:r>
          </a:p>
          <a:p>
            <a:r>
              <a:t>상승</a:t>
            </a:r>
          </a:p>
          <a:p>
            <a:r>
              <a:t>285,500원</a:t>
            </a:r>
          </a:p>
          <a:p>
            <a:r>
              <a:t>248,500원</a:t>
            </a:r>
          </a:p>
          <a:p>
            <a:r>
              <a:t>9월 7일</a:t>
            </a:r>
          </a:p>
          <a:p>
            <a:r>
              <a:t>10월 6일</a:t>
            </a:r>
          </a:p>
          <a:p>
            <a:r>
              <a:t>Yahoo Finance · 일별 종가</a:t>
            </a:r>
          </a:p>
          <a:p>
            <a:r>
              <a:t>마지막 시세 2026-10-06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2026-10-06 12:41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D-COM-02.png</a:t>
            </a:r>
          </a:p>
          <a:p>
            <a:r>
              <a:t>좌표·클릭 후 실제 화면: D-COM-02.json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271,500원</a:t>
            </a:r>
          </a:p>
          <a:p>
            <a:r>
              <a:t>▼ -1.63%</a:t>
            </a:r>
          </a:p>
          <a:p>
            <a:r>
              <a:t>하락</a:t>
            </a:r>
          </a:p>
          <a:p>
            <a:r>
              <a:t>삼</a:t>
            </a:r>
          </a:p>
          <a:p>
            <a:r>
              <a:t>삼성SDI</a:t>
            </a:r>
          </a:p>
          <a:p>
            <a:r>
              <a:t>567,000원</a:t>
            </a:r>
          </a:p>
          <a:p>
            <a:r>
              <a:t>▲ +7.18%</a:t>
            </a:r>
          </a:p>
          <a:p>
            <a:r>
              <a:t>상승</a:t>
            </a:r>
          </a:p>
          <a:p>
            <a:r>
              <a:t>관심 기업</a:t>
            </a:r>
          </a:p>
          <a:p>
            <a:r>
              <a:t>NVIDIA</a:t>
            </a:r>
          </a:p>
          <a:p>
            <a:r>
              <a:t>$238.90</a:t>
            </a:r>
          </a:p>
          <a:p>
            <a:r>
              <a:t>▲ +2.12%</a:t>
            </a:r>
          </a:p>
          <a:p>
            <a:r>
              <a:t>상승</a:t>
            </a:r>
          </a:p>
          <a:p>
            <a:r>
              <a:t>최근 본 기업</a:t>
            </a:r>
          </a:p>
          <a:p>
            <a:r>
              <a:t>삼성전자</a:t>
            </a:r>
          </a:p>
          <a:p>
            <a:r>
              <a:t>271,500원</a:t>
            </a:r>
          </a:p>
          <a:p>
            <a:r>
              <a:t>▼ -1.63%</a:t>
            </a:r>
          </a:p>
          <a:p>
            <a:r>
              <a:t>하락</a:t>
            </a:r>
          </a:p>
          <a:p>
            <a:r>
              <a:t>연결된 기업</a:t>
            </a:r>
          </a:p>
          <a:p>
            <a:r>
              <a:t>A</a:t>
            </a:r>
          </a:p>
          <a:p>
            <a:r>
              <a:t>ASML</a:t>
            </a:r>
          </a:p>
          <a:p>
            <a:r>
              <a:t>$1,859.86</a:t>
            </a:r>
          </a:p>
          <a:p>
            <a:r>
              <a:t>▼ -0.40%</a:t>
            </a:r>
          </a:p>
          <a:p>
            <a:r>
              <a:t>하락</a:t>
            </a:r>
          </a:p>
          <a:p>
            <a:r>
              <a:t>삼</a:t>
            </a:r>
          </a:p>
          <a:p>
            <a:r>
              <a:t>삼성물산</a:t>
            </a:r>
          </a:p>
          <a:p>
            <a:r>
              <a:t>341,500원</a:t>
            </a:r>
          </a:p>
          <a:p>
            <a:r>
              <a:t>▼ -1.30%</a:t>
            </a:r>
          </a:p>
          <a:p>
            <a:r>
              <a:t>하락</a:t>
            </a:r>
          </a:p>
          <a:p>
            <a:r>
              <a:t>삼</a:t>
            </a:r>
          </a:p>
          <a:p>
            <a:r>
              <a:t>삼성에스디에스</a:t>
            </a:r>
          </a:p>
          <a:p>
            <a:r>
              <a:t>219,000원</a:t>
            </a:r>
          </a:p>
          <a:p>
            <a:r>
              <a:t>▼ -0.23%</a:t>
            </a:r>
          </a:p>
          <a:p>
            <a:r>
              <a:t>하락</a:t>
            </a:r>
          </a:p>
          <a:p>
            <a:r>
              <a:t>삼</a:t>
            </a:r>
          </a:p>
          <a:p>
            <a:r>
              <a:t>삼성SDI</a:t>
            </a:r>
          </a:p>
          <a:p>
            <a:r>
              <a:t>567,000원</a:t>
            </a:r>
          </a:p>
          <a:p>
            <a:r>
              <a:t>▲ +7.18%</a:t>
            </a:r>
          </a:p>
          <a:p>
            <a:r>
              <a:t>상승</a:t>
            </a:r>
          </a:p>
          <a:p>
            <a:r>
              <a:t>NVIDIA</a:t>
            </a:r>
          </a:p>
          <a:p>
            <a:r>
              <a:t>$238.90</a:t>
            </a:r>
          </a:p>
          <a:p>
            <a:r>
              <a:t>▲ +2.12%</a:t>
            </a:r>
          </a:p>
          <a:p>
            <a:r>
              <a:t>상승</a:t>
            </a:r>
          </a:p>
          <a:p>
            <a:r>
              <a:t>현대자동차</a:t>
            </a:r>
          </a:p>
          <a:p>
            <a:r>
              <a:t>348,750원</a:t>
            </a:r>
          </a:p>
          <a:p>
            <a:r>
              <a:t>▲ +0.65%</a:t>
            </a:r>
          </a:p>
          <a:p>
            <a:r>
              <a:t>상승</a:t>
            </a:r>
          </a:p>
          <a:p>
            <a:r>
              <a:t>NAVER</a:t>
            </a:r>
          </a:p>
          <a:p>
            <a:r>
              <a:t>192,300원</a:t>
            </a:r>
          </a:p>
          <a:p>
            <a:r>
              <a:t>▲ +0.05%</a:t>
            </a:r>
          </a:p>
          <a:p>
            <a:r>
              <a:t>상승</a:t>
            </a:r>
          </a:p>
          <a:p>
            <a:r>
              <a:t>S</a:t>
            </a:r>
          </a:p>
          <a:p>
            <a:r>
              <a:t>SK텔레콤</a:t>
            </a:r>
          </a:p>
          <a:p>
            <a:r>
              <a:t>87,900원</a:t>
            </a:r>
          </a:p>
          <a:p>
            <a:r>
              <a:t>▼ -0.57%</a:t>
            </a:r>
          </a:p>
          <a:p>
            <a:r>
              <a:t>하락</a:t>
            </a:r>
          </a:p>
          <a:p>
            <a:r>
              <a:t>K</a:t>
            </a:r>
          </a:p>
          <a:p>
            <a:r>
              <a:t>KT</a:t>
            </a:r>
          </a:p>
          <a:p>
            <a:r>
              <a:t>51,500원</a:t>
            </a:r>
          </a:p>
          <a:p>
            <a:r>
              <a:t>▼ -0.77%</a:t>
            </a:r>
          </a:p>
          <a:p>
            <a:r>
              <a:t>하락</a:t>
            </a:r>
          </a:p>
          <a:p>
            <a:r>
              <a:t>관계 그래프 보기</a:t>
            </a:r>
          </a:p>
          <a:p>
            <a:r>
              <a:t>삼성전자</a:t>
            </a:r>
          </a:p>
          <a:p>
            <a:r>
              <a:t>005930</a:t>
            </a:r>
          </a:p>
          <a:p>
            <a:r>
              <a:t>보유</a:t>
            </a:r>
          </a:p>
          <a:p>
            <a:r>
              <a:t>시세</a:t>
            </a:r>
          </a:p>
          <a:p/>
          <a:p>
            <a:r>
              <a:t>271,500원</a:t>
            </a:r>
          </a:p>
          <a:p/>
          <a:p>
            <a:r>
              <a:t>전일 대비</a:t>
            </a:r>
          </a:p>
          <a:p>
            <a:r>
              <a:t>▼ -4,500원 (-1.63%)</a:t>
            </a:r>
          </a:p>
          <a:p>
            <a:r>
              <a:t>하락</a:t>
            </a:r>
          </a:p>
          <a:p/>
          <a:p>
            <a:r>
              <a:t>전일 대비 · 기준 2026-10-06 12:21 KST · Yahoo Finance · 지연 가능</a:t>
            </a:r>
          </a:p>
          <a:p>
            <a:r>
              <a:t>거래량</a:t>
            </a:r>
          </a:p>
          <a:p>
            <a:r>
              <a:t>658.8만주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5,430,000원</a:t>
            </a:r>
          </a:p>
          <a:p>
            <a:r>
              <a:t>자산 비중</a:t>
            </a:r>
          </a:p>
          <a:p>
            <a:r>
              <a:t>계산 불가</a:t>
            </a:r>
          </a:p>
          <a:p>
            <a:r>
              <a:t>평가 손익</a:t>
            </a:r>
          </a:p>
          <a:p>
            <a:r>
              <a:t>▲ +4,230,000원 (+352.50%)</a:t>
            </a:r>
          </a:p>
          <a:p>
            <a:r>
              <a:t>상승</a:t>
            </a:r>
          </a:p>
          <a:p/>
          <a:p>
            <a:r>
              <a:t>모의 정보 기준 2026-10-01 20:33 KST · 평가 계산 2026-10-06 12:41 KST</a:t>
            </a:r>
          </a:p>
          <a:p/>
          <a:p>
            <a:r>
              <a:t>자산 비중: 보유 종목의 시세 통화가 서로 달라요. 환율로 바꾸지 않아 합계와 비중을 계산하지 않았어요.</a:t>
            </a:r>
          </a:p>
          <a:p/>
          <a:p>
            <a:r>
              <a:t>사건</a:t>
            </a:r>
          </a:p>
          <a:p>
            <a:r>
              <a:t>문서</a:t>
            </a:r>
          </a:p>
          <a:p>
            <a:r>
              <a:t>기업 정보</a:t>
            </a:r>
          </a:p>
          <a:p>
            <a:r>
              <a:t>근거 문서 10건</a:t>
            </a:r>
          </a:p>
          <a:p/>
          <a:p>
            <a:r>
              <a:t>Samsung Electronics Newsroom (news.samsung.com)</a:t>
            </a:r>
          </a:p>
          <a:p>
            <a:r>
              <a:t>·</a:t>
            </a:r>
          </a:p>
          <a:p>
            <a:r>
              <a:t>발행 2026-09-29 17:00 KST</a:t>
            </a:r>
          </a:p>
          <a:p/>
          <a:p>
            <a:r>
              <a:t>삼성 6개사, 美 AI 인프라 기업 ‘헬릭스’에 10억 달러 투자</a:t>
            </a:r>
          </a:p>
          <a:p>
            <a:r>
              <a:t>사건을 보도한 기사 · 사건 1건: 삼성 6개사, 美 AI 인프라 기업 ‘헬릭스’에 10억 달러 투자</a:t>
            </a:r>
          </a:p>
          <a:p>
            <a:r>
              <a:t>“삼성전자와 삼성물산, 삼성SDS, 삼성SDI, 삼성생명, 삼성화재 등 6개사는 29일 미국의 글로벌 투자 회사 KKR이 설립한 AI 인프라 기업 ‘헬릭스 디지털 인프라스트럭처(Helix Digital Infrastructure, 이하 헬릭스)’에 총 10억 달러를 투자하기로 결정했다고 밝혔다.”</a:t>
            </a:r>
          </a:p>
          <a:p>
            <a:r>
              <a:t>“삼성 관계사들은 KKR, 엔비디아(Nvidia), 미국 전력 회사 비스트라(Vistra), 쿠웨이트투자청(KIA) 등 글로벌 AI 인프라 생태계를 이끄는 투자사, 반도체 기업, 전력 회사와 나란히 헬릭스의 창립 투자자로 참여했다.”</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사건을 보도한 기사 · 사건 2건: Samsung, SK Telecom, and Hana Financial Group Build Korea’s First Private 5G Smart Office in the Financial Sector</a:t>
            </a:r>
          </a:p>
          <a:p>
            <a:r>
              <a:t>“In collaboration with SK Telecom and Samsung, Hana Financial Group built out a large-scale smart office, spanning 16 floors of its headquarters, multiple group affiliates, and thousands of employees.”</a:t>
            </a:r>
          </a:p>
          <a:p>
            <a:r>
              <a:t>“For this project, Samsung provided its full stack of network solutions including radios, baseband, and cloud-native core, supporting the mid-band (4.7GHz) spectrum dedicated to private 5G networks in Korea.”</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사건을 보도한 기사 · 사건 3건: Samsung Provides AI-Native NIS Solution for SK Telecom’s Project / Samsung to Support KT’s Quadruped Welding Robot Use Case with NIS and CognitiV NOS / Samsung Signs AI RAN Project Contracts with KT and SK Telecom Under Korea’s Hyper AI Network Initiative</a:t>
            </a:r>
          </a:p>
          <a:p>
            <a:r>
              <a:t>“Samsung is providing its AI-native NIS solution for SK Telecom’s project.”</a:t>
            </a:r>
          </a:p>
          <a:p>
            <a:r>
              <a:t>“For the AI-powered quadruped welding robot use case, Samsung will support KT with its software-driven, AI-native solutions, including Network in a Server (NIS)”</a:t>
            </a:r>
          </a:p>
          <a:p>
            <a:r>
              <a:t>“Samsung Electronics today announced it has signed contracts with KT and SK Telecom for their AI RAN projects under the Korean Ministry of Science and ICT’s (MSIT) “Hyper AI Network” initiative, taking on the roles of sole global vendor for KT and main vendor for SK Telecom.”</a:t>
            </a:r>
          </a:p>
          <a:p>
            <a:r>
              <a:t>원문 기사 보기</a:t>
            </a:r>
          </a:p>
          <a:p>
            <a:r>
              <a:t>(새 창에서 열림)</a:t>
            </a:r>
          </a:p>
          <a:p/>
          <a:p>
            <a:r>
              <a:t>Samsung Electronics Newsroom (news.samsung.com)</a:t>
            </a:r>
          </a:p>
          <a:p>
            <a:r>
              <a:t>·</a:t>
            </a:r>
          </a:p>
          <a:p>
            <a:r>
              <a:t>발행 2026-09-17 20:00 KST</a:t>
            </a:r>
          </a:p>
          <a:p/>
          <a:p>
            <a:r>
              <a:t>삼성전자, 필리핀 복합단지 개발사업에 통합 운영 솔루션 공급 협력</a:t>
            </a:r>
          </a:p>
          <a:p>
            <a:r>
              <a:t>사건을 보도한 기사 · 사건 1건: 삼성전자, 필리핀 복합단지 개발사업에 통합 운영 솔루션 공급 협력</a:t>
            </a:r>
          </a:p>
          <a:p>
            <a:r>
              <a:t>“삼성전자는 17일 전문 부동산 개발사인 디에이치플러스(DH플러스)와 필리핀 세부에서 추진되는 ‘그란츠 포레스트 파크’ 개발사업에 AI 가전과 스마트싱스 프로, b.IoT 등 B2B 통합 운영 솔루션을 제공하는 업무협약을 체결했다.”</a:t>
            </a:r>
          </a:p>
          <a:p>
            <a:r>
              <a:t>원문 기사 보기</a:t>
            </a:r>
          </a:p>
          <a:p>
            <a:r>
              <a:t>(새 창에서 열림)</a:t>
            </a:r>
          </a:p>
          <a:p/>
          <a:p>
            <a:r>
              <a:t>Samsung Electronics Newsroom (news.samsung.com)</a:t>
            </a:r>
          </a:p>
          <a:p>
            <a:r>
              <a:t>·</a:t>
            </a:r>
          </a:p>
          <a:p>
            <a:r>
              <a:t>발행 2026-09-17 17:00 KST</a:t>
            </a:r>
          </a:p>
          <a:p/>
          <a:p>
            <a:r>
              <a:t>삼성전자, 가전 테크세미나 개최…지역 맞춤형 AI 가전 선봬</a:t>
            </a:r>
          </a:p>
          <a:p>
            <a:r>
              <a:t>사건을 보도한 기사 · 사건 2건: 삼성전자, 가전 테크세미나 개최…지역 맞춤형 AI 가전 선봬</a:t>
            </a:r>
          </a:p>
          <a:p>
            <a:r>
              <a:t>“삼성전자가 16일 인도 구루그람에서 가전 테크세미나 ‘더 브리프(The Brief)’를 열고, 현지 소비자 특성과 주거 환경을 반영한 맞춤형 AI 가전 경험을 선보였다.”</a:t>
            </a:r>
          </a:p>
          <a:p>
            <a:r>
              <a:t>“삼성전자는 이번 행사에서 AI기반 통합 연결 플랫폼인 ‘스마트싱스’를 기반으로 가사 부담을 덜고 에너지를 효율적으로 관리하며 가족의 일상까지 세심하게 살피는 ‘일상 속 AI 동반자’로서의 삼성전자 AI 가전이 제공하는 가치를 강조했다.”</a:t>
            </a:r>
          </a:p>
          <a:p>
            <a:r>
              <a:t>“또 갤럭시 워치, 갤럭시 링과 연동해 수면 단계와 체온 변화에 맞춘 최적의 수면 환경을 조성하는 ‘웨어러블 굿슬립’ 모드도 선보였다.”</a:t>
            </a:r>
          </a:p>
          <a:p>
            <a:r>
              <a:t>“주방가전 체험 존에서는 ‘비스포크 AI 패밀리허브’ 냉장고 스크린을 통해 사용자 맞춤형 정보를 추천하는 ‘나우 브리프’ 기능을 시연했다.”</a:t>
            </a:r>
          </a:p>
          <a:p>
            <a:r>
              <a:t>“홈케어·신뢰성 존에서는 제품 구매 이후까지 책임지는 차별화된 품질·서비스 경쟁력을 강조했다. 특히 ‘스마트싱스 홈케어’와 ‘가전제품 원격 관리(HRM)’를 통해 이상 징후를 확인하고 진단과 조치를 지원하는 서비스를 소개했다.”</a:t>
            </a:r>
          </a:p>
          <a:p>
            <a:r>
              <a:t>“삼성전자는 이번 서남아 테크세미나에 현지 주요 미디어, 인플루언서 등을 초청해 인도 특유의 기후 환경과 문화에 최적화된 AI 가전 기술을 소개했다.”</a:t>
            </a:r>
          </a:p>
          <a:p>
            <a:r>
              <a:t>“에어컨 체험 존에서는 직바람 없이 쾌적함을 유지하는 무풍 기술을 시연했다. 특히 ‘비스포크 AI 무풍 프로’ 에어컨의 송풍 날개인 ‘모션 블레이드’를 활용한 5가지 기류 제어 기술을 소개했다.”</a:t>
            </a:r>
          </a:p>
          <a:p>
            <a:r>
              <a:t>원문 기사 보기</a:t>
            </a:r>
          </a:p>
          <a:p>
            <a:r>
              <a:t>(새 창에서 열림)</a:t>
            </a:r>
          </a:p>
          <a:p/>
          <a:p>
            <a:r>
              <a:t>Samsung Electronics Newsroom (news.samsung.com)</a:t>
            </a:r>
          </a:p>
          <a:p>
            <a:r>
              <a:t>·</a:t>
            </a:r>
          </a:p>
          <a:p>
            <a:r>
              <a:t>발행 2026-09-16 19:00 KST</a:t>
            </a:r>
          </a:p>
          <a:p/>
          <a:p>
            <a:r>
              <a:t>삼성전자, ‘2026 기후산업국제박람회’서 일상부터 산업까지 맞춤형 에너지 솔루션 선보여</a:t>
            </a:r>
          </a:p>
          <a:p>
            <a:r>
              <a:t>사건을 보도한 기사 · 사건 1건: 삼성전자, ‘2026 기후산업국제박람회’서 일상부터 산업까지 맞춤형 에너지 솔루션 선보여</a:t>
            </a:r>
          </a:p>
          <a:p>
            <a:r>
              <a:t>“삼성전자가 ‘2026 기후산업국제박람회’에 참가해 독보적인 AI 기술과 고효율 가전을 결합한 에너지 절감 솔루션을 대거 선보인다.”</a:t>
            </a:r>
          </a:p>
          <a:p>
            <a:r>
              <a:t>“삼성전자는 약 270㎡(약 82평) 규모의 단독 전시관을 마련하고 일상 속 가전제품부터 AI 데이터센터, 대형 상업시설의 공조 솔루션에 이르기까지 다양한 에너지 절감 솔루션을 통해 글로벌 시장 내 에너지 기술 리더십을 선보인다.”</a:t>
            </a:r>
          </a:p>
          <a:p>
            <a:r>
              <a:t>“삼성전자는 고효율 히트펌프 솔루션인 ‘EHS 올인원’을 전면에 내세웠다.”</a:t>
            </a:r>
          </a:p>
          <a:p>
            <a:r>
              <a:t>원문 기사 보기</a:t>
            </a:r>
          </a:p>
          <a:p>
            <a:r>
              <a:t>(새 창에서 열림)</a:t>
            </a:r>
          </a:p>
          <a:p/>
          <a:p>
            <a:r>
              <a:t>Samsung Electronics Newsroom (news.samsung.com)</a:t>
            </a:r>
          </a:p>
          <a:p>
            <a:r>
              <a:t>·</a:t>
            </a:r>
          </a:p>
          <a:p>
            <a:r>
              <a:t>발행 2026-09-16 17:00 KST</a:t>
            </a:r>
          </a:p>
          <a:p/>
          <a:p>
            <a:r>
              <a:t>[영상] 요즘 사람들의 책 읽기, 민음사와 함께 한 갤럭시 Z 폴드8 북토크 현장</a:t>
            </a:r>
          </a:p>
          <a:p>
            <a:r>
              <a:t>사건을 보도한 기사 · 사건 1건: [영상] 요즘 사람들의 책 읽기, 민음사와 함께 한 갤럭시 Z 폴드8 북토크 현장</a:t>
            </a:r>
          </a:p>
          <a:p>
            <a:r>
              <a:t>“삼성전자는 9월 11일 삼성 강남에서 ‘갤럭시 Z 폴드8’과 민음사가 함께하는 북토크를 진행했다.”</a:t>
            </a:r>
          </a:p>
          <a:p>
            <a:r>
              <a:t>“▲ 북토크를 진행한 민음사 조아란 마케터(좌), 박혜진 편집자(우)”</a:t>
            </a:r>
          </a:p>
          <a:p>
            <a:r>
              <a:t>원문 기사 보기</a:t>
            </a:r>
          </a:p>
          <a:p>
            <a:r>
              <a:t>(새 창에서 열림)</a:t>
            </a:r>
          </a:p>
          <a:p/>
          <a:p>
            <a:r>
              <a:t>Samsung Electronics Newsroom (news.samsung.com)</a:t>
            </a:r>
          </a:p>
          <a:p>
            <a:r>
              <a:t>·</a:t>
            </a:r>
          </a:p>
          <a:p>
            <a:r>
              <a:t>발행 2026-09-15 17:00 KST</a:t>
            </a:r>
          </a:p>
          <a:p/>
          <a:p>
            <a:r>
              <a:t>삼성전자, 상업용 시스템에어컨 세척 프로모션 진행</a:t>
            </a:r>
          </a:p>
          <a:p>
            <a:r>
              <a:t>사건을 보도한 기사 · 사건 1건: 삼성전자, 상업용 시스템에어컨 세척 프로모션 진행</a:t>
            </a:r>
          </a:p>
          <a:p>
            <a:r>
              <a:t>“삼성전자가 이번주부터 10월 31일까지 하반기 상업용 시스템에어컨 세척 할인 프로모션을 진행한다.”</a:t>
            </a:r>
          </a:p>
          <a:p>
            <a:r>
              <a:t>원문 기사 보기</a:t>
            </a:r>
          </a:p>
          <a:p>
            <a:r>
              <a:t>(새 창에서 열림)</a:t>
            </a:r>
          </a:p>
          <a:p/>
          <a:p>
            <a:r>
              <a:t>Samsung Electronics Newsroom (news.samsung.com)</a:t>
            </a:r>
          </a:p>
          <a:p>
            <a:r>
              <a:t>·</a:t>
            </a:r>
          </a:p>
          <a:p>
            <a:r>
              <a:t>발행 2026-09-09 00:03 KST</a:t>
            </a:r>
          </a:p>
          <a:p/>
          <a:p>
            <a:r>
              <a:t>삼성전자, ASML과 차세대 반도체 제조 협력 확대</a:t>
            </a:r>
          </a:p>
          <a:p>
            <a:r>
              <a:t>사건을 보도한 기사 · 사건 2건: 삼성전자, ASML과 차세대 반도체 제조 협력 확대</a:t>
            </a:r>
          </a:p>
          <a:p>
            <a:r>
              <a:t>“한편, 삼성전자는 ASML과 2028년까지 첨단 D램 제조에 차세대 노광 설비 High NA EUV 도입을 위한 협력도 강화할 계획이다.”</a:t>
            </a:r>
          </a:p>
          <a:p>
            <a:r>
              <a:t>“2028년 업계 최초로 메모리 제조에 High NA EUV 도입 추진”</a:t>
            </a:r>
          </a:p>
          <a:p>
            <a:r>
              <a:t>“삼성전자가 네덜란드 반도체 노광설비 기업 ASML이 주도하는 ‘대형 마스크 컨소시엄(Large Size Mask Consortium)’에 참여하고 차세대 12인치 포토 마스크 공동 개발에 나선다.”</a:t>
            </a:r>
          </a:p>
          <a:p>
            <a:r>
              <a:t>“노광설비와 포토 마스크 관련 글로벌 기술 동향을 함께 모니터링하고 12인치 포토 마스크 개발을 목표로 공동 연구, 표준 개발 등의 협력 활동을 펼칠 계획이다.”</a:t>
            </a:r>
          </a:p>
          <a:p>
            <a:r>
              <a:t>원문 기사 보기</a:t>
            </a:r>
          </a:p>
          <a:p>
            <a:r>
              <a:t>(새 창에서 열림)</a:t>
            </a:r>
          </a:p>
          <a:p/>
          <a:p>
            <a:r>
              <a:t>OpenDART (dart.fss.or.kr)</a:t>
            </a:r>
          </a:p>
          <a:p>
            <a:r>
              <a:t>·</a:t>
            </a:r>
          </a:p>
          <a:p>
            <a:r>
              <a:t>발행 2026-09-08 09:00 KST</a:t>
            </a:r>
          </a:p>
          <a:p/>
          <a:p>
            <a:r>
              <a:t>최대주주등소유주식변동신고서</a:t>
            </a:r>
          </a:p>
          <a:p>
            <a:r>
              <a:t>사건을 보도한 기사 · 사건 3건: 최대주주등소유주식변동신고서</a:t>
            </a:r>
          </a:p>
          <a:p>
            <a:r>
              <a:t>“이번보고서제출일 2026-09-08 보통주식 1,151,093,368”</a:t>
            </a:r>
          </a:p>
          <a:p>
            <a:r>
              <a:t>“보고일자 소유주식”</a:t>
            </a:r>
          </a:p>
          <a:p>
            <a:r>
              <a:t>“종류주식 -8,562 0.00”</a:t>
            </a:r>
          </a:p>
          <a:p>
            <a:r>
              <a:t>“2026-08-10 장내매도(-) 종류주식 76,633 -5,125 71,508”</a:t>
            </a:r>
          </a:p>
          <a:p>
            <a:r>
              <a:t>“증감 보통주식 -216,504 0.00”</a:t>
            </a:r>
          </a:p>
          <a:p>
            <a:r>
              <a:t>“성명 삼성생명(특별계정) 사업자등록번호 104-81-26688”</a:t>
            </a:r>
          </a:p>
          <a:p>
            <a:r>
              <a:t>“2026-08-04 장내매도(-) 보통주식 3,573,813 -82,354 3,491,459”</a:t>
            </a:r>
          </a:p>
          <a:p>
            <a:r>
              <a:t>원문 기사 보기</a:t>
            </a:r>
          </a:p>
          <a:p>
            <a:r>
              <a:t>(새 창에서 열림)</a:t>
            </a:r>
          </a:p>
          <a:p/>
          <a:p>
            <a:r>
              <a:t>본 정보는 참고용이며 투자 권유가 아니에요.</a:t>
            </a:r>
          </a:p>
          <a:p/>
          <a:p>
            <a:r>
              <a:t>관계 그래프</a:t>
            </a:r>
          </a:p>
          <a:p>
            <a:r>
              <a:t>지도에서 보기</a:t>
            </a:r>
          </a:p>
          <a:p/>
          <a:p>
            <a:r>
              <a:t>기준 2026-10-06 12:41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D-COM-03.png</a:t>
            </a:r>
          </a:p>
          <a:p>
            <a:r>
              <a:t>좌표·클릭 후 실제 화면: D-COM-03.json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271,000원</a:t>
            </a:r>
          </a:p>
          <a:p>
            <a:r>
              <a:t>▼ -1.81%</a:t>
            </a:r>
          </a:p>
          <a:p>
            <a:r>
              <a:t>하락</a:t>
            </a:r>
          </a:p>
          <a:p>
            <a:r>
              <a:t>삼</a:t>
            </a:r>
          </a:p>
          <a:p>
            <a:r>
              <a:t>삼성SDI</a:t>
            </a:r>
          </a:p>
          <a:p>
            <a:r>
              <a:t>567,000원</a:t>
            </a:r>
          </a:p>
          <a:p>
            <a:r>
              <a:t>▲ +7.18%</a:t>
            </a:r>
          </a:p>
          <a:p>
            <a:r>
              <a:t>상승</a:t>
            </a:r>
          </a:p>
          <a:p>
            <a:r>
              <a:t>관심 기업</a:t>
            </a:r>
          </a:p>
          <a:p>
            <a:r>
              <a:t>NVIDIA</a:t>
            </a:r>
          </a:p>
          <a:p>
            <a:r>
              <a:t>$238.90</a:t>
            </a:r>
          </a:p>
          <a:p>
            <a:r>
              <a:t>▲ +2.12%</a:t>
            </a:r>
          </a:p>
          <a:p>
            <a:r>
              <a:t>상승</a:t>
            </a:r>
          </a:p>
          <a:p>
            <a:r>
              <a:t>최근 본 기업</a:t>
            </a:r>
          </a:p>
          <a:p>
            <a:r>
              <a:t>삼성전자</a:t>
            </a:r>
          </a:p>
          <a:p>
            <a:r>
              <a:t>271,000원</a:t>
            </a:r>
          </a:p>
          <a:p>
            <a:r>
              <a:t>▼ -1.81%</a:t>
            </a:r>
          </a:p>
          <a:p>
            <a:r>
              <a:t>하락</a:t>
            </a:r>
          </a:p>
          <a:p>
            <a:r>
              <a:t>연결된 기업</a:t>
            </a:r>
          </a:p>
          <a:p>
            <a:r>
              <a:t>A</a:t>
            </a:r>
          </a:p>
          <a:p>
            <a:r>
              <a:t>ASML</a:t>
            </a:r>
          </a:p>
          <a:p>
            <a:r>
              <a:t>$1,859.86</a:t>
            </a:r>
          </a:p>
          <a:p>
            <a:r>
              <a:t>▼ -0.40%</a:t>
            </a:r>
          </a:p>
          <a:p>
            <a:r>
              <a:t>하락</a:t>
            </a:r>
          </a:p>
          <a:p>
            <a:r>
              <a:t>삼</a:t>
            </a:r>
          </a:p>
          <a:p>
            <a:r>
              <a:t>삼성물산</a:t>
            </a:r>
          </a:p>
          <a:p>
            <a:r>
              <a:t>342,000원</a:t>
            </a:r>
          </a:p>
          <a:p>
            <a:r>
              <a:t>▼ -1.16%</a:t>
            </a:r>
          </a:p>
          <a:p>
            <a:r>
              <a:t>하락</a:t>
            </a:r>
          </a:p>
          <a:p>
            <a:r>
              <a:t>삼</a:t>
            </a:r>
          </a:p>
          <a:p>
            <a:r>
              <a:t>삼성에스디에스</a:t>
            </a:r>
          </a:p>
          <a:p>
            <a:r>
              <a:t>218,500원</a:t>
            </a:r>
          </a:p>
          <a:p>
            <a:r>
              <a:t>▼ -0.46%</a:t>
            </a:r>
          </a:p>
          <a:p>
            <a:r>
              <a:t>하락</a:t>
            </a:r>
          </a:p>
          <a:p>
            <a:r>
              <a:t>삼</a:t>
            </a:r>
          </a:p>
          <a:p>
            <a:r>
              <a:t>삼성SDI</a:t>
            </a:r>
          </a:p>
          <a:p>
            <a:r>
              <a:t>567,000원</a:t>
            </a:r>
          </a:p>
          <a:p>
            <a:r>
              <a:t>▲ +7.18%</a:t>
            </a:r>
          </a:p>
          <a:p>
            <a:r>
              <a:t>상승</a:t>
            </a:r>
          </a:p>
          <a:p>
            <a:r>
              <a:t>NVIDIA</a:t>
            </a:r>
          </a:p>
          <a:p>
            <a:r>
              <a:t>$238.90</a:t>
            </a:r>
          </a:p>
          <a:p>
            <a:r>
              <a:t>▲ +2.12%</a:t>
            </a:r>
          </a:p>
          <a:p>
            <a:r>
              <a:t>상승</a:t>
            </a:r>
          </a:p>
          <a:p>
            <a:r>
              <a:t>현대자동차</a:t>
            </a:r>
          </a:p>
          <a:p>
            <a:r>
              <a:t>348,750원</a:t>
            </a:r>
          </a:p>
          <a:p>
            <a:r>
              <a:t>▲ +0.65%</a:t>
            </a:r>
          </a:p>
          <a:p>
            <a:r>
              <a:t>상승</a:t>
            </a:r>
          </a:p>
          <a:p>
            <a:r>
              <a:t>NAVER</a:t>
            </a:r>
          </a:p>
          <a:p>
            <a:r>
              <a:t>192,200원</a:t>
            </a:r>
          </a:p>
          <a:p>
            <a:r>
              <a:t>0.00%</a:t>
            </a:r>
          </a:p>
          <a:p>
            <a:r>
              <a:t>보합</a:t>
            </a:r>
          </a:p>
          <a:p>
            <a:r>
              <a:t>S</a:t>
            </a:r>
          </a:p>
          <a:p>
            <a:r>
              <a:t>SK텔레콤</a:t>
            </a:r>
          </a:p>
          <a:p>
            <a:r>
              <a:t>87,900원</a:t>
            </a:r>
          </a:p>
          <a:p>
            <a:r>
              <a:t>▼ -0.57%</a:t>
            </a:r>
          </a:p>
          <a:p>
            <a:r>
              <a:t>하락</a:t>
            </a:r>
          </a:p>
          <a:p>
            <a:r>
              <a:t>K</a:t>
            </a:r>
          </a:p>
          <a:p>
            <a:r>
              <a:t>KT</a:t>
            </a:r>
          </a:p>
          <a:p>
            <a:r>
              <a:t>51,600원</a:t>
            </a:r>
          </a:p>
          <a:p>
            <a:r>
              <a:t>▼ -0.58%</a:t>
            </a:r>
          </a:p>
          <a:p>
            <a:r>
              <a:t>하락</a:t>
            </a:r>
          </a:p>
          <a:p>
            <a:r>
              <a:t>관계 그래프 보기</a:t>
            </a:r>
          </a:p>
          <a:p>
            <a:r>
              <a:t>삼성전자</a:t>
            </a:r>
          </a:p>
          <a:p>
            <a:r>
              <a:t>005930</a:t>
            </a:r>
          </a:p>
          <a:p>
            <a:r>
              <a:t>보유</a:t>
            </a:r>
          </a:p>
          <a:p>
            <a:r>
              <a:t>시세</a:t>
            </a:r>
          </a:p>
          <a:p/>
          <a:p>
            <a:r>
              <a:t>271,000원</a:t>
            </a:r>
          </a:p>
          <a:p/>
          <a:p>
            <a:r>
              <a:t>전일 대비</a:t>
            </a:r>
          </a:p>
          <a:p>
            <a:r>
              <a:t>▼ -5,000원 (-1.81%)</a:t>
            </a:r>
          </a:p>
          <a:p>
            <a:r>
              <a:t>하락</a:t>
            </a:r>
          </a:p>
          <a:p/>
          <a:p>
            <a:r>
              <a:t>전일 대비 · 기준 2026-10-06 12:21 KST · Yahoo Finance · 지연 가능</a:t>
            </a:r>
          </a:p>
          <a:p>
            <a:r>
              <a:t>거래량</a:t>
            </a:r>
          </a:p>
          <a:p>
            <a:r>
              <a:t>659.7만주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5,420,000원</a:t>
            </a:r>
          </a:p>
          <a:p>
            <a:r>
              <a:t>자산 비중</a:t>
            </a:r>
          </a:p>
          <a:p>
            <a:r>
              <a:t>계산 불가</a:t>
            </a:r>
          </a:p>
          <a:p>
            <a:r>
              <a:t>평가 손익</a:t>
            </a:r>
          </a:p>
          <a:p>
            <a:r>
              <a:t>▲ +4,220,000원 (+351.67%)</a:t>
            </a:r>
          </a:p>
          <a:p>
            <a:r>
              <a:t>상승</a:t>
            </a:r>
          </a:p>
          <a:p/>
          <a:p>
            <a:r>
              <a:t>모의 정보 기준 2026-10-01 20:33 KST · 평가 계산 2026-10-06 12:41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2026-09-30 23:59 KST · 일 버킷</a:t>
            </a:r>
          </a:p>
          <a:p/>
          <a:p>
            <a:r>
              <a:t>1개월 주가. 처음 8월 31일 260,000원, 마지막 9월 30일 268,500원. 최고 285,500원(9월 23일), 최저 248,500원(9월 15일). 사건이 있었던 날 4곳을 표시했어요.</a:t>
            </a:r>
          </a:p>
          <a:p/>
          <a:p>
            <a:r>
              <a:t>1개월 · 처음 시세 대비</a:t>
            </a:r>
          </a:p>
          <a:p>
            <a:r>
              <a:t>▲ +8,500원 (+3.27%)</a:t>
            </a:r>
          </a:p>
          <a:p>
            <a:r>
              <a:t>상승</a:t>
            </a:r>
          </a:p>
          <a:p>
            <a:r>
              <a:t>285,500원</a:t>
            </a:r>
          </a:p>
          <a:p>
            <a:r>
              <a:t>248,500원</a:t>
            </a:r>
          </a:p>
          <a:p>
            <a:r>
              <a:t>8월 31일</a:t>
            </a:r>
          </a:p>
          <a:p>
            <a:r>
              <a:t>9월 30일</a:t>
            </a:r>
          </a:p>
          <a:p>
            <a:r>
              <a:t>Yahoo Finance · 일별 종가</a:t>
            </a:r>
          </a:p>
          <a:p>
            <a:r>
              <a:t>마지막 시세 2026-09-30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2026-09-30 23:59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D-COM-04.png</a:t>
            </a:r>
          </a:p>
          <a:p>
            <a:r>
              <a:t>좌표·클릭 후 실제 화면: D-COM-04.json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271,000원</a:t>
            </a:r>
          </a:p>
          <a:p>
            <a:r>
              <a:t>▼ -1.81%</a:t>
            </a:r>
          </a:p>
          <a:p>
            <a:r>
              <a:t>하락</a:t>
            </a:r>
          </a:p>
          <a:p>
            <a:r>
              <a:t>삼</a:t>
            </a:r>
          </a:p>
          <a:p>
            <a:r>
              <a:t>삼성SDI</a:t>
            </a:r>
          </a:p>
          <a:p>
            <a:r>
              <a:t>567,000원</a:t>
            </a:r>
          </a:p>
          <a:p>
            <a:r>
              <a:t>▲ +7.18%</a:t>
            </a:r>
          </a:p>
          <a:p>
            <a:r>
              <a:t>상승</a:t>
            </a:r>
          </a:p>
          <a:p>
            <a:r>
              <a:t>관심 기업</a:t>
            </a:r>
          </a:p>
          <a:p>
            <a:r>
              <a:t>NVIDIA</a:t>
            </a:r>
          </a:p>
          <a:p>
            <a:r>
              <a:t>$238.90</a:t>
            </a:r>
          </a:p>
          <a:p>
            <a:r>
              <a:t>▲ +2.12%</a:t>
            </a:r>
          </a:p>
          <a:p>
            <a:r>
              <a:t>상승</a:t>
            </a:r>
          </a:p>
          <a:p>
            <a:r>
              <a:t>최근 본 기업</a:t>
            </a:r>
          </a:p>
          <a:p>
            <a:r>
              <a:t>삼성전자</a:t>
            </a:r>
          </a:p>
          <a:p>
            <a:r>
              <a:t>271,000원</a:t>
            </a:r>
          </a:p>
          <a:p>
            <a:r>
              <a:t>▼ -1.81%</a:t>
            </a:r>
          </a:p>
          <a:p>
            <a:r>
              <a:t>하락</a:t>
            </a:r>
          </a:p>
          <a:p>
            <a:r>
              <a:t>NVIDIA</a:t>
            </a:r>
          </a:p>
          <a:p>
            <a:r>
              <a:t>$238.90</a:t>
            </a:r>
          </a:p>
          <a:p>
            <a:r>
              <a:t>▲ +2.12%</a:t>
            </a:r>
          </a:p>
          <a:p>
            <a:r>
              <a:t>상승</a:t>
            </a:r>
          </a:p>
          <a:p>
            <a:r>
              <a:t>연결된 기업</a:t>
            </a:r>
          </a:p>
          <a:p>
            <a:r>
              <a:t>A</a:t>
            </a:r>
          </a:p>
          <a:p>
            <a:r>
              <a:t>ASML</a:t>
            </a:r>
          </a:p>
          <a:p>
            <a:r>
              <a:t>$1,859.86</a:t>
            </a:r>
          </a:p>
          <a:p>
            <a:r>
              <a:t>▼ -0.40%</a:t>
            </a:r>
          </a:p>
          <a:p>
            <a:r>
              <a:t>하락</a:t>
            </a:r>
          </a:p>
          <a:p>
            <a:r>
              <a:t>삼</a:t>
            </a:r>
          </a:p>
          <a:p>
            <a:r>
              <a:t>삼성물산</a:t>
            </a:r>
          </a:p>
          <a:p>
            <a:r>
              <a:t>342,000원</a:t>
            </a:r>
          </a:p>
          <a:p>
            <a:r>
              <a:t>▼ -1.16%</a:t>
            </a:r>
          </a:p>
          <a:p>
            <a:r>
              <a:t>하락</a:t>
            </a:r>
          </a:p>
          <a:p>
            <a:r>
              <a:t>삼</a:t>
            </a:r>
          </a:p>
          <a:p>
            <a:r>
              <a:t>삼성에스디에스</a:t>
            </a:r>
          </a:p>
          <a:p>
            <a:r>
              <a:t>218,500원</a:t>
            </a:r>
          </a:p>
          <a:p>
            <a:r>
              <a:t>▼ -0.46%</a:t>
            </a:r>
          </a:p>
          <a:p>
            <a:r>
              <a:t>하락</a:t>
            </a:r>
          </a:p>
          <a:p>
            <a:r>
              <a:t>삼</a:t>
            </a:r>
          </a:p>
          <a:p>
            <a:r>
              <a:t>삼성SDI</a:t>
            </a:r>
          </a:p>
          <a:p>
            <a:r>
              <a:t>567,000원</a:t>
            </a:r>
          </a:p>
          <a:p>
            <a:r>
              <a:t>▲ +7.18%</a:t>
            </a:r>
          </a:p>
          <a:p>
            <a:r>
              <a:t>상승</a:t>
            </a:r>
          </a:p>
          <a:p>
            <a:r>
              <a:t>NVIDIA</a:t>
            </a:r>
          </a:p>
          <a:p>
            <a:r>
              <a:t>$238.90</a:t>
            </a:r>
          </a:p>
          <a:p>
            <a:r>
              <a:t>▲ +2.12%</a:t>
            </a:r>
          </a:p>
          <a:p>
            <a:r>
              <a:t>상승</a:t>
            </a:r>
          </a:p>
          <a:p>
            <a:r>
              <a:t>현대자동차</a:t>
            </a:r>
          </a:p>
          <a:p>
            <a:r>
              <a:t>348,750원</a:t>
            </a:r>
          </a:p>
          <a:p>
            <a:r>
              <a:t>▲ +0.65%</a:t>
            </a:r>
          </a:p>
          <a:p>
            <a:r>
              <a:t>상승</a:t>
            </a:r>
          </a:p>
          <a:p>
            <a:r>
              <a:t>NAVER</a:t>
            </a:r>
          </a:p>
          <a:p>
            <a:r>
              <a:t>192,200원</a:t>
            </a:r>
          </a:p>
          <a:p>
            <a:r>
              <a:t>0.00%</a:t>
            </a:r>
          </a:p>
          <a:p>
            <a:r>
              <a:t>보합</a:t>
            </a:r>
          </a:p>
          <a:p>
            <a:r>
              <a:t>S</a:t>
            </a:r>
          </a:p>
          <a:p>
            <a:r>
              <a:t>SK텔레콤</a:t>
            </a:r>
          </a:p>
          <a:p>
            <a:r>
              <a:t>87,900원</a:t>
            </a:r>
          </a:p>
          <a:p>
            <a:r>
              <a:t>▼ -0.57%</a:t>
            </a:r>
          </a:p>
          <a:p>
            <a:r>
              <a:t>하락</a:t>
            </a:r>
          </a:p>
          <a:p>
            <a:r>
              <a:t>K</a:t>
            </a:r>
          </a:p>
          <a:p>
            <a:r>
              <a:t>KT</a:t>
            </a:r>
          </a:p>
          <a:p>
            <a:r>
              <a:t>51,600원</a:t>
            </a:r>
          </a:p>
          <a:p>
            <a:r>
              <a:t>▼ -0.58%</a:t>
            </a:r>
          </a:p>
          <a:p>
            <a:r>
              <a:t>하락</a:t>
            </a:r>
          </a:p>
          <a:p>
            <a:r>
              <a:t>관계 그래프 보기</a:t>
            </a:r>
          </a:p>
          <a:p>
            <a:r>
              <a:t>삼성전자</a:t>
            </a:r>
          </a:p>
          <a:p>
            <a:r>
              <a:t>005930</a:t>
            </a:r>
          </a:p>
          <a:p>
            <a:r>
              <a:t>보유</a:t>
            </a:r>
          </a:p>
          <a:p>
            <a:r>
              <a:t>시세</a:t>
            </a:r>
          </a:p>
          <a:p/>
          <a:p>
            <a:r>
              <a:t>271,000원</a:t>
            </a:r>
          </a:p>
          <a:p/>
          <a:p>
            <a:r>
              <a:t>전일 대비</a:t>
            </a:r>
          </a:p>
          <a:p>
            <a:r>
              <a:t>▼ -5,000원 (-1.81%)</a:t>
            </a:r>
          </a:p>
          <a:p>
            <a:r>
              <a:t>하락</a:t>
            </a:r>
          </a:p>
          <a:p/>
          <a:p>
            <a:r>
              <a:t>전일 대비 · 기준 2026-10-06 12:21 KST · Yahoo Finance · 지연 가능</a:t>
            </a:r>
          </a:p>
          <a:p>
            <a:r>
              <a:t>거래량</a:t>
            </a:r>
          </a:p>
          <a:p>
            <a:r>
              <a:t>659.7만주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5,420,000원</a:t>
            </a:r>
          </a:p>
          <a:p>
            <a:r>
              <a:t>자산 비중</a:t>
            </a:r>
          </a:p>
          <a:p>
            <a:r>
              <a:t>계산 불가</a:t>
            </a:r>
          </a:p>
          <a:p>
            <a:r>
              <a:t>평가 손익</a:t>
            </a:r>
          </a:p>
          <a:p>
            <a:r>
              <a:t>▲ +4,220,000원 (+351.67%)</a:t>
            </a:r>
          </a:p>
          <a:p>
            <a:r>
              <a:t>상승</a:t>
            </a:r>
          </a:p>
          <a:p/>
          <a:p>
            <a:r>
              <a:t>모의 정보 기준 2026-10-01 20:33 KST · 평가 계산 2026-10-06 12:42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2026-09-30 23:59 KST · 일 버킷</a:t>
            </a:r>
          </a:p>
          <a:p/>
          <a:p>
            <a:r>
              <a:t>1개월 주가. 처음 8월 31일 260,000원, 마지막 9월 30일 268,500원. 최고 285,500원(9월 23일), 최저 248,500원(9월 15일). 사건이 있었던 날 4곳을 표시했어요.</a:t>
            </a:r>
          </a:p>
          <a:p/>
          <a:p>
            <a:r>
              <a:t>1개월 · 처음 시세 대비</a:t>
            </a:r>
          </a:p>
          <a:p>
            <a:r>
              <a:t>▲ +8,500원 (+3.27%)</a:t>
            </a:r>
          </a:p>
          <a:p>
            <a:r>
              <a:t>상승</a:t>
            </a:r>
          </a:p>
          <a:p>
            <a:r>
              <a:t>285,500원</a:t>
            </a:r>
          </a:p>
          <a:p>
            <a:r>
              <a:t>248,500원</a:t>
            </a:r>
          </a:p>
          <a:p>
            <a:r>
              <a:t>8월 31일</a:t>
            </a:r>
          </a:p>
          <a:p>
            <a:r>
              <a:t>9월 30일</a:t>
            </a:r>
          </a:p>
          <a:p>
            <a:r>
              <a:t>Yahoo Finance · 일별 종가</a:t>
            </a:r>
          </a:p>
          <a:p>
            <a:r>
              <a:t>마지막 시세 2026-09-30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2026-09-30 23:59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D-COM-05.png</a:t>
            </a:r>
          </a:p>
          <a:p>
            <a:r>
              <a:t>좌표·클릭 후 실제 화면: D-COM-05.json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271,000원</a:t>
            </a:r>
          </a:p>
          <a:p>
            <a:r>
              <a:t>▼ -1.81%</a:t>
            </a:r>
          </a:p>
          <a:p>
            <a:r>
              <a:t>하락</a:t>
            </a:r>
          </a:p>
          <a:p>
            <a:r>
              <a:t>삼</a:t>
            </a:r>
          </a:p>
          <a:p>
            <a:r>
              <a:t>삼성SDI</a:t>
            </a:r>
          </a:p>
          <a:p>
            <a:r>
              <a:t>568,000원</a:t>
            </a:r>
          </a:p>
          <a:p>
            <a:r>
              <a:t>▲ +7.37%</a:t>
            </a:r>
          </a:p>
          <a:p>
            <a:r>
              <a:t>상승</a:t>
            </a:r>
          </a:p>
          <a:p>
            <a:r>
              <a:t>관심 기업</a:t>
            </a:r>
          </a:p>
          <a:p>
            <a:r>
              <a:t>NVIDIA</a:t>
            </a:r>
          </a:p>
          <a:p>
            <a:r>
              <a:t>$238.90</a:t>
            </a:r>
          </a:p>
          <a:p>
            <a:r>
              <a:t>▲ +2.12%</a:t>
            </a:r>
          </a:p>
          <a:p>
            <a:r>
              <a:t>상승</a:t>
            </a:r>
          </a:p>
          <a:p>
            <a:r>
              <a:t>최근 본 기업</a:t>
            </a:r>
          </a:p>
          <a:p>
            <a:r>
              <a:t>삼성전자</a:t>
            </a:r>
          </a:p>
          <a:p>
            <a:r>
              <a:t>271,000원</a:t>
            </a:r>
          </a:p>
          <a:p>
            <a:r>
              <a:t>▼ -1.81%</a:t>
            </a:r>
          </a:p>
          <a:p>
            <a:r>
              <a:t>하락</a:t>
            </a:r>
          </a:p>
          <a:p>
            <a:r>
              <a:t>NVIDIA</a:t>
            </a:r>
          </a:p>
          <a:p>
            <a:r>
              <a:t>$238.90</a:t>
            </a:r>
          </a:p>
          <a:p>
            <a:r>
              <a:t>▲ +2.12%</a:t>
            </a:r>
          </a:p>
          <a:p>
            <a:r>
              <a:t>상승</a:t>
            </a:r>
          </a:p>
          <a:p>
            <a:r>
              <a:t>연결된 기업</a:t>
            </a:r>
          </a:p>
          <a:p>
            <a:r>
              <a:t>A</a:t>
            </a:r>
          </a:p>
          <a:p>
            <a:r>
              <a:t>ASML</a:t>
            </a:r>
          </a:p>
          <a:p>
            <a:r>
              <a:t>$1,859.86</a:t>
            </a:r>
          </a:p>
          <a:p>
            <a:r>
              <a:t>▼ -0.40%</a:t>
            </a:r>
          </a:p>
          <a:p>
            <a:r>
              <a:t>하락</a:t>
            </a:r>
          </a:p>
          <a:p>
            <a:r>
              <a:t>삼</a:t>
            </a:r>
          </a:p>
          <a:p>
            <a:r>
              <a:t>삼성물산</a:t>
            </a:r>
          </a:p>
          <a:p>
            <a:r>
              <a:t>342,000원</a:t>
            </a:r>
          </a:p>
          <a:p>
            <a:r>
              <a:t>▼ -1.16%</a:t>
            </a:r>
          </a:p>
          <a:p>
            <a:r>
              <a:t>하락</a:t>
            </a:r>
          </a:p>
          <a:p>
            <a:r>
              <a:t>삼</a:t>
            </a:r>
          </a:p>
          <a:p>
            <a:r>
              <a:t>삼성에스디에스</a:t>
            </a:r>
          </a:p>
          <a:p>
            <a:r>
              <a:t>218,500원</a:t>
            </a:r>
          </a:p>
          <a:p>
            <a:r>
              <a:t>▼ -0.46%</a:t>
            </a:r>
          </a:p>
          <a:p>
            <a:r>
              <a:t>하락</a:t>
            </a:r>
          </a:p>
          <a:p>
            <a:r>
              <a:t>삼</a:t>
            </a:r>
          </a:p>
          <a:p>
            <a:r>
              <a:t>삼성SDI</a:t>
            </a:r>
          </a:p>
          <a:p>
            <a:r>
              <a:t>568,000원</a:t>
            </a:r>
          </a:p>
          <a:p>
            <a:r>
              <a:t>▲ +7.37%</a:t>
            </a:r>
          </a:p>
          <a:p>
            <a:r>
              <a:t>상승</a:t>
            </a:r>
          </a:p>
          <a:p>
            <a:r>
              <a:t>NVIDIA</a:t>
            </a:r>
          </a:p>
          <a:p>
            <a:r>
              <a:t>$238.90</a:t>
            </a:r>
          </a:p>
          <a:p>
            <a:r>
              <a:t>▲ +2.12%</a:t>
            </a:r>
          </a:p>
          <a:p>
            <a:r>
              <a:t>상승</a:t>
            </a:r>
          </a:p>
          <a:p>
            <a:r>
              <a:t>현대자동차</a:t>
            </a:r>
          </a:p>
          <a:p>
            <a:r>
              <a:t>348,750원</a:t>
            </a:r>
          </a:p>
          <a:p>
            <a:r>
              <a:t>▲ +0.65%</a:t>
            </a:r>
          </a:p>
          <a:p>
            <a:r>
              <a:t>상승</a:t>
            </a:r>
          </a:p>
          <a:p>
            <a:r>
              <a:t>NAVER</a:t>
            </a:r>
          </a:p>
          <a:p>
            <a:r>
              <a:t>192,200원</a:t>
            </a:r>
          </a:p>
          <a:p>
            <a:r>
              <a:t>0.00%</a:t>
            </a:r>
          </a:p>
          <a:p>
            <a:r>
              <a:t>보합</a:t>
            </a:r>
          </a:p>
          <a:p>
            <a:r>
              <a:t>S</a:t>
            </a:r>
          </a:p>
          <a:p>
            <a:r>
              <a:t>SK텔레콤</a:t>
            </a:r>
          </a:p>
          <a:p>
            <a:r>
              <a:t>87,900원</a:t>
            </a:r>
          </a:p>
          <a:p>
            <a:r>
              <a:t>▼ -0.57%</a:t>
            </a:r>
          </a:p>
          <a:p>
            <a:r>
              <a:t>하락</a:t>
            </a:r>
          </a:p>
          <a:p>
            <a:r>
              <a:t>K</a:t>
            </a:r>
          </a:p>
          <a:p>
            <a:r>
              <a:t>KT</a:t>
            </a:r>
          </a:p>
          <a:p>
            <a:r>
              <a:t>51,600원</a:t>
            </a:r>
          </a:p>
          <a:p>
            <a:r>
              <a:t>▼ -0.58%</a:t>
            </a:r>
          </a:p>
          <a:p>
            <a:r>
              <a:t>하락</a:t>
            </a:r>
          </a:p>
          <a:p>
            <a:r>
              <a:t>관계 그래프 보기</a:t>
            </a:r>
          </a:p>
          <a:p>
            <a:r>
              <a:t>삼성전자</a:t>
            </a:r>
          </a:p>
          <a:p>
            <a:r>
              <a:t>005930</a:t>
            </a:r>
          </a:p>
          <a:p>
            <a:r>
              <a:t>보유</a:t>
            </a:r>
          </a:p>
          <a:p>
            <a:r>
              <a:t>시세</a:t>
            </a:r>
          </a:p>
          <a:p/>
          <a:p>
            <a:r>
              <a:t>271,000원</a:t>
            </a:r>
          </a:p>
          <a:p/>
          <a:p>
            <a:r>
              <a:t>전일 대비</a:t>
            </a:r>
          </a:p>
          <a:p>
            <a:r>
              <a:t>▼ -5,000원 (-1.81%)</a:t>
            </a:r>
          </a:p>
          <a:p>
            <a:r>
              <a:t>하락</a:t>
            </a:r>
          </a:p>
          <a:p/>
          <a:p>
            <a:r>
              <a:t>전일 대비 · 기준 2026-10-06 12:21 KST · Yahoo Finance · 지연 가능</a:t>
            </a:r>
          </a:p>
          <a:p>
            <a:r>
              <a:t>거래량</a:t>
            </a:r>
          </a:p>
          <a:p>
            <a:r>
              <a:t>659.7만주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5,420,000원</a:t>
            </a:r>
          </a:p>
          <a:p>
            <a:r>
              <a:t>자산 비중</a:t>
            </a:r>
          </a:p>
          <a:p>
            <a:r>
              <a:t>계산 불가</a:t>
            </a:r>
          </a:p>
          <a:p>
            <a:r>
              <a:t>평가 손익</a:t>
            </a:r>
          </a:p>
          <a:p>
            <a:r>
              <a:t>▲ +4,220,000원 (+351.67%)</a:t>
            </a:r>
          </a:p>
          <a:p>
            <a:r>
              <a:t>상승</a:t>
            </a:r>
          </a:p>
          <a:p/>
          <a:p>
            <a:r>
              <a:t>모의 정보 기준 2026-10-01 20:33 KST · 평가 계산 2026-10-06 12:42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2026-09-30 23:59 KST · 일 버킷</a:t>
            </a:r>
          </a:p>
          <a:p/>
          <a:p>
            <a:r>
              <a:t>1개월 주가. 처음 8월 31일 260,000원, 마지막 9월 30일 268,500원. 최고 285,500원(9월 23일), 최저 248,500원(9월 15일). 사건이 있었던 날 4곳을 표시했어요.</a:t>
            </a:r>
          </a:p>
          <a:p/>
          <a:p>
            <a:r>
              <a:t>1개월 · 처음 시세 대비</a:t>
            </a:r>
          </a:p>
          <a:p>
            <a:r>
              <a:t>▲ +8,500원 (+3.27%)</a:t>
            </a:r>
          </a:p>
          <a:p>
            <a:r>
              <a:t>상승</a:t>
            </a:r>
          </a:p>
          <a:p>
            <a:r>
              <a:t>285,500원</a:t>
            </a:r>
          </a:p>
          <a:p>
            <a:r>
              <a:t>248,500원</a:t>
            </a:r>
          </a:p>
          <a:p>
            <a:r>
              <a:t>8월 31일</a:t>
            </a:r>
          </a:p>
          <a:p>
            <a:r>
              <a:t>9월 30일</a:t>
            </a:r>
          </a:p>
          <a:p>
            <a:r>
              <a:t>Yahoo Finance · 일별 종가</a:t>
            </a:r>
          </a:p>
          <a:p>
            <a:r>
              <a:t>마지막 시세 2026-09-30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2026-09-30 23:59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D-COM-06.png</a:t>
            </a:r>
          </a:p>
          <a:p>
            <a:r>
              <a:t>좌표·클릭 후 실제 화면: D-COM-06.json</a:t>
            </a:r>
          </a:p>
          <a:p>
            <a:r>
              <a:t>본문으로 건너뛰기</a:t>
            </a:r>
          </a:p>
          <a:p>
            <a:r>
              <a:t>줍</a:t>
            </a:r>
          </a:p>
          <a:p>
            <a:r>
              <a:t>Zoop</a:t>
            </a:r>
          </a:p>
          <a:p>
            <a:r>
              <a:t>지도</a:t>
            </a:r>
          </a:p>
          <a:p>
            <a:r>
              <a:t>종목</a:t>
            </a:r>
          </a:p>
          <a:p>
            <a:r>
              <a:t>브리핑</a:t>
            </a:r>
          </a:p>
          <a:p>
            <a:r>
              <a:t>내 종목</a:t>
            </a:r>
          </a:p>
          <a:p>
            <a:r>
              <a:t>데모 사용자님</a:t>
            </a:r>
          </a:p>
          <a:p/>
          <a:p>
            <a:r>
              <a:t>삼성전자</a:t>
            </a:r>
          </a:p>
          <a:p/>
          <a:p>
            <a:r>
              <a:t>005930</a:t>
            </a:r>
          </a:p>
          <a:p/>
          <a:p>
            <a:r>
              <a:t>기업 검색</a:t>
            </a:r>
          </a:p>
          <a:p>
            <a:r>
              <a:t>검색</a:t>
            </a:r>
          </a:p>
          <a:p>
            <a:r>
              <a:t>보유 기업</a:t>
            </a:r>
          </a:p>
          <a:p>
            <a:r>
              <a:t>NVIDIA</a:t>
            </a:r>
          </a:p>
          <a:p>
            <a:r>
              <a:t>$238.90</a:t>
            </a:r>
          </a:p>
          <a:p>
            <a:r>
              <a:t>▲ +2.12%</a:t>
            </a:r>
          </a:p>
          <a:p>
            <a:r>
              <a:t>상승</a:t>
            </a:r>
          </a:p>
          <a:p>
            <a:r>
              <a:t>삼성전자</a:t>
            </a:r>
          </a:p>
          <a:p>
            <a:r>
              <a:t>271,500원</a:t>
            </a:r>
          </a:p>
          <a:p>
            <a:r>
              <a:t>▼ -1.63%</a:t>
            </a:r>
          </a:p>
          <a:p>
            <a:r>
              <a:t>하락</a:t>
            </a:r>
          </a:p>
          <a:p>
            <a:r>
              <a:t>삼</a:t>
            </a:r>
          </a:p>
          <a:p>
            <a:r>
              <a:t>삼성SDI</a:t>
            </a:r>
          </a:p>
          <a:p>
            <a:r>
              <a:t>568,000원</a:t>
            </a:r>
          </a:p>
          <a:p>
            <a:r>
              <a:t>▲ +7.37%</a:t>
            </a:r>
          </a:p>
          <a:p>
            <a:r>
              <a:t>상승</a:t>
            </a:r>
          </a:p>
          <a:p>
            <a:r>
              <a:t>관심 기업</a:t>
            </a:r>
          </a:p>
          <a:p>
            <a:r>
              <a:t>NVIDIA</a:t>
            </a:r>
          </a:p>
          <a:p>
            <a:r>
              <a:t>$238.90</a:t>
            </a:r>
          </a:p>
          <a:p>
            <a:r>
              <a:t>▲ +2.12%</a:t>
            </a:r>
          </a:p>
          <a:p>
            <a:r>
              <a:t>상승</a:t>
            </a:r>
          </a:p>
          <a:p>
            <a:r>
              <a:t>최근 본 기업</a:t>
            </a:r>
          </a:p>
          <a:p>
            <a:r>
              <a:t>삼성전자</a:t>
            </a:r>
          </a:p>
          <a:p>
            <a:r>
              <a:t>271,500원</a:t>
            </a:r>
          </a:p>
          <a:p>
            <a:r>
              <a:t>▼ -1.63%</a:t>
            </a:r>
          </a:p>
          <a:p>
            <a:r>
              <a:t>하락</a:t>
            </a:r>
          </a:p>
          <a:p>
            <a:r>
              <a:t>NVIDIA</a:t>
            </a:r>
          </a:p>
          <a:p>
            <a:r>
              <a:t>$238.90</a:t>
            </a:r>
          </a:p>
          <a:p>
            <a:r>
              <a:t>▲ +2.12%</a:t>
            </a:r>
          </a:p>
          <a:p>
            <a:r>
              <a:t>상승</a:t>
            </a:r>
          </a:p>
          <a:p>
            <a:r>
              <a:t>연결된 기업</a:t>
            </a:r>
          </a:p>
          <a:p>
            <a:r>
              <a:t>A</a:t>
            </a:r>
          </a:p>
          <a:p>
            <a:r>
              <a:t>ASML</a:t>
            </a:r>
          </a:p>
          <a:p>
            <a:r>
              <a:t>$1,859.86</a:t>
            </a:r>
          </a:p>
          <a:p>
            <a:r>
              <a:t>▼ -0.40%</a:t>
            </a:r>
          </a:p>
          <a:p>
            <a:r>
              <a:t>하락</a:t>
            </a:r>
          </a:p>
          <a:p>
            <a:r>
              <a:t>삼</a:t>
            </a:r>
          </a:p>
          <a:p>
            <a:r>
              <a:t>삼성물산</a:t>
            </a:r>
          </a:p>
          <a:p>
            <a:r>
              <a:t>342,000원</a:t>
            </a:r>
          </a:p>
          <a:p>
            <a:r>
              <a:t>▼ -1.16%</a:t>
            </a:r>
          </a:p>
          <a:p>
            <a:r>
              <a:t>하락</a:t>
            </a:r>
          </a:p>
          <a:p>
            <a:r>
              <a:t>삼</a:t>
            </a:r>
          </a:p>
          <a:p>
            <a:r>
              <a:t>삼성에스디에스</a:t>
            </a:r>
          </a:p>
          <a:p>
            <a:r>
              <a:t>218,500원</a:t>
            </a:r>
          </a:p>
          <a:p>
            <a:r>
              <a:t>▼ -0.46%</a:t>
            </a:r>
          </a:p>
          <a:p>
            <a:r>
              <a:t>하락</a:t>
            </a:r>
          </a:p>
          <a:p>
            <a:r>
              <a:t>삼</a:t>
            </a:r>
          </a:p>
          <a:p>
            <a:r>
              <a:t>삼성SDI</a:t>
            </a:r>
          </a:p>
          <a:p>
            <a:r>
              <a:t>568,000원</a:t>
            </a:r>
          </a:p>
          <a:p>
            <a:r>
              <a:t>▲ +7.37%</a:t>
            </a:r>
          </a:p>
          <a:p>
            <a:r>
              <a:t>상승</a:t>
            </a:r>
          </a:p>
          <a:p>
            <a:r>
              <a:t>NVIDIA</a:t>
            </a:r>
          </a:p>
          <a:p>
            <a:r>
              <a:t>$238.90</a:t>
            </a:r>
          </a:p>
          <a:p>
            <a:r>
              <a:t>▲ +2.12%</a:t>
            </a:r>
          </a:p>
          <a:p>
            <a:r>
              <a:t>상승</a:t>
            </a:r>
          </a:p>
          <a:p>
            <a:r>
              <a:t>현대자동차</a:t>
            </a:r>
          </a:p>
          <a:p>
            <a:r>
              <a:t>348,750원</a:t>
            </a:r>
          </a:p>
          <a:p>
            <a:r>
              <a:t>▲ +0.65%</a:t>
            </a:r>
          </a:p>
          <a:p>
            <a:r>
              <a:t>상승</a:t>
            </a:r>
          </a:p>
          <a:p>
            <a:r>
              <a:t>NAVER</a:t>
            </a:r>
          </a:p>
          <a:p>
            <a:r>
              <a:t>192,300원</a:t>
            </a:r>
          </a:p>
          <a:p>
            <a:r>
              <a:t>▲ +0.05%</a:t>
            </a:r>
          </a:p>
          <a:p>
            <a:r>
              <a:t>상승</a:t>
            </a:r>
          </a:p>
          <a:p>
            <a:r>
              <a:t>S</a:t>
            </a:r>
          </a:p>
          <a:p>
            <a:r>
              <a:t>SK텔레콤</a:t>
            </a:r>
          </a:p>
          <a:p>
            <a:r>
              <a:t>87,900원</a:t>
            </a:r>
          </a:p>
          <a:p>
            <a:r>
              <a:t>▼ -0.57%</a:t>
            </a:r>
          </a:p>
          <a:p>
            <a:r>
              <a:t>하락</a:t>
            </a:r>
          </a:p>
          <a:p>
            <a:r>
              <a:t>K</a:t>
            </a:r>
          </a:p>
          <a:p>
            <a:r>
              <a:t>KT</a:t>
            </a:r>
          </a:p>
          <a:p>
            <a:r>
              <a:t>51,500원</a:t>
            </a:r>
          </a:p>
          <a:p>
            <a:r>
              <a:t>▼ -0.77%</a:t>
            </a:r>
          </a:p>
          <a:p>
            <a:r>
              <a:t>하락</a:t>
            </a:r>
          </a:p>
          <a:p>
            <a:r>
              <a:t>관계 그래프 보기</a:t>
            </a:r>
          </a:p>
          <a:p>
            <a:r>
              <a:t>삼성전자</a:t>
            </a:r>
          </a:p>
          <a:p>
            <a:r>
              <a:t>005930</a:t>
            </a:r>
          </a:p>
          <a:p>
            <a:r>
              <a:t>보유</a:t>
            </a:r>
          </a:p>
          <a:p>
            <a:r>
              <a:t>시세</a:t>
            </a:r>
          </a:p>
          <a:p/>
          <a:p>
            <a:r>
              <a:t>271,500원</a:t>
            </a:r>
          </a:p>
          <a:p/>
          <a:p>
            <a:r>
              <a:t>전일 대비</a:t>
            </a:r>
          </a:p>
          <a:p>
            <a:r>
              <a:t>▼ -4,500원 (-1.63%)</a:t>
            </a:r>
          </a:p>
          <a:p>
            <a:r>
              <a:t>하락</a:t>
            </a:r>
          </a:p>
          <a:p/>
          <a:p>
            <a:r>
              <a:t>전일 대비 · 기준 2026-10-06 12:22 KST · Yahoo Finance · 지연 가능</a:t>
            </a:r>
          </a:p>
          <a:p>
            <a:r>
              <a:t>거래량</a:t>
            </a:r>
          </a:p>
          <a:p>
            <a:r>
              <a:t>659.9만주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5,430,000원</a:t>
            </a:r>
          </a:p>
          <a:p>
            <a:r>
              <a:t>자산 비중</a:t>
            </a:r>
          </a:p>
          <a:p>
            <a:r>
              <a:t>계산 불가</a:t>
            </a:r>
          </a:p>
          <a:p>
            <a:r>
              <a:t>평가 손익</a:t>
            </a:r>
          </a:p>
          <a:p>
            <a:r>
              <a:t>▲ +4,230,000원 (+352.50%)</a:t>
            </a:r>
          </a:p>
          <a:p>
            <a:r>
              <a:t>상승</a:t>
            </a:r>
          </a:p>
          <a:p/>
          <a:p>
            <a:r>
              <a:t>모의 정보 기준 2026-10-01 20:33 KST · 평가 계산 2026-10-06 12:42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2026-09-30 23:59 KST · 일 버킷</a:t>
            </a:r>
          </a:p>
          <a:p/>
          <a:p>
            <a:r>
              <a:t>1개월 주가. 처음 8월 31일 260,000원, 마지막 9월 30일 268,500원. 최고 285,500원(9월 23일), 최저 248,500원(9월 15일). 사건이 있었던 날 4곳을 표시했어요.</a:t>
            </a:r>
          </a:p>
          <a:p/>
          <a:p>
            <a:r>
              <a:t>1개월 · 처음 시세 대비</a:t>
            </a:r>
          </a:p>
          <a:p>
            <a:r>
              <a:t>▲ +8,500원 (+3.27%)</a:t>
            </a:r>
          </a:p>
          <a:p>
            <a:r>
              <a:t>상승</a:t>
            </a:r>
          </a:p>
          <a:p>
            <a:r>
              <a:t>285,500원</a:t>
            </a:r>
          </a:p>
          <a:p>
            <a:r>
              <a:t>248,500원</a:t>
            </a:r>
          </a:p>
          <a:p>
            <a:r>
              <a:t>8월 31일</a:t>
            </a:r>
          </a:p>
          <a:p>
            <a:r>
              <a:t>9월 30일</a:t>
            </a:r>
          </a:p>
          <a:p>
            <a:r>
              <a:t>Yahoo Finance · 일별 종가</a:t>
            </a:r>
          </a:p>
          <a:p>
            <a:r>
              <a:t>마지막 시세 2026-09-30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2026-09-30 23:59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D-MY-01.png</a:t>
            </a:r>
          </a:p>
          <a:p>
            <a:r>
              <a:t>좌표·클릭 후 실제 화면: D-MY-01.json</a:t>
            </a:r>
          </a:p>
          <a:p>
            <a:r>
              <a:t>본문으로 건너뛰기</a:t>
            </a:r>
          </a:p>
          <a:p>
            <a:r>
              <a:t>줍</a:t>
            </a:r>
          </a:p>
          <a:p>
            <a:r>
              <a:t>Zoop</a:t>
            </a:r>
          </a:p>
          <a:p>
            <a:r>
              <a:t>지도</a:t>
            </a:r>
          </a:p>
          <a:p>
            <a:r>
              <a:t>종목</a:t>
            </a:r>
          </a:p>
          <a:p>
            <a:r>
              <a:t>브리핑</a:t>
            </a:r>
          </a:p>
          <a:p>
            <a:r>
              <a:t>내 종목</a:t>
            </a:r>
          </a:p>
          <a:p>
            <a:r>
              <a:t>데모 사용자님</a:t>
            </a:r>
          </a:p>
          <a:p>
            <a:r>
              <a:t>내 종목</a:t>
            </a:r>
          </a:p>
          <a:p>
            <a:r>
              <a:t>보유 종목(가상 계좌)</a:t>
            </a:r>
          </a:p>
          <a:p>
            <a:r>
              <a:t>연결 끊기</a:t>
            </a:r>
          </a:p>
          <a:p/>
          <a:p>
            <a:r>
              <a:t>모의 계좌 식별 정보 미제공 · 예수금 미제공</a:t>
            </a:r>
          </a:p>
          <a:p/>
          <a:p>
            <a:r>
              <a:t>모의 정보 기준 2026-10-01 20:33 KST · 평가 계산 2026-10-06 12:43 KST</a:t>
            </a:r>
          </a:p>
          <a:p/>
          <a:p>
            <a:r>
              <a:t>보유 종목의 시세 통화가 서로 달라요. 환율로 바꾸지 않아 합계와 비중을 계산하지 않았어요.</a:t>
            </a:r>
          </a:p>
          <a:p/>
          <a:p>
            <a:r>
              <a:t>N</a:t>
            </a:r>
          </a:p>
          <a:p>
            <a:r>
              <a:t>NVIDIA</a:t>
            </a:r>
          </a:p>
          <a:p>
            <a:r>
              <a:t>10주 · 평가 $2,389.00 · 비중 계산 불가</a:t>
            </a:r>
          </a:p>
          <a:p>
            <a:r>
              <a:t>삼</a:t>
            </a:r>
          </a:p>
          <a:p>
            <a:r>
              <a:t>삼성전자</a:t>
            </a:r>
          </a:p>
          <a:p>
            <a:r>
              <a:t>20주 · 평가 5,435,000원 · 비중 계산 불가</a:t>
            </a:r>
          </a:p>
          <a:p>
            <a:r>
              <a:t>삼</a:t>
            </a:r>
          </a:p>
          <a:p>
            <a:r>
              <a:t>삼성SDI</a:t>
            </a:r>
          </a:p>
          <a:p>
            <a:r>
              <a:t>30주 · 평가 17,040,000원 · 비중 계산 불가</a:t>
            </a:r>
          </a:p>
          <a:p>
            <a:r>
              <a:t>관심 종목</a:t>
            </a:r>
          </a:p>
          <a:p>
            <a:r>
              <a:t>1개</a:t>
            </a:r>
          </a:p>
          <a:p>
            <a:r>
              <a:t>NVIDIA</a:t>
            </a:r>
          </a:p>
          <a:p>
            <a:r>
              <a:t>NVDA</a:t>
            </a:r>
          </a:p>
          <a:p>
            <a:r>
              <a:t>관심 종목 추가</a:t>
            </a:r>
          </a:p>
          <a:p>
            <a:r>
              <a:t>검색</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D-BRF-01.png</a:t>
            </a:r>
          </a:p>
          <a:p>
            <a:r>
              <a:t>좌표·클릭 후 실제 화면: D-BRF-01.json</a:t>
            </a:r>
          </a:p>
          <a:p>
            <a:r>
              <a:t>본문으로 건너뛰기</a:t>
            </a:r>
          </a:p>
          <a:p>
            <a:r>
              <a:t>줍</a:t>
            </a:r>
          </a:p>
          <a:p>
            <a:r>
              <a:t>Zoop</a:t>
            </a:r>
          </a:p>
          <a:p>
            <a:r>
              <a:t>지도</a:t>
            </a:r>
          </a:p>
          <a:p>
            <a:r>
              <a:t>종목</a:t>
            </a:r>
          </a:p>
          <a:p>
            <a:r>
              <a:t>브리핑</a:t>
            </a:r>
          </a:p>
          <a:p>
            <a:r>
              <a:t>내 종목</a:t>
            </a:r>
          </a:p>
          <a:p>
            <a:r>
              <a:t>데모 사용자님</a:t>
            </a:r>
          </a:p>
          <a:p>
            <a:r>
              <a:t>브리핑</a:t>
            </a:r>
          </a:p>
          <a:p>
            <a:r>
              <a:t>발행일</a:t>
            </a:r>
          </a:p>
          <a:p>
            <a:r>
              <a:t>2026-09-17</a:t>
            </a:r>
          </a:p>
          <a:p>
            <a:r>
              <a:t>출근</a:t>
            </a:r>
          </a:p>
          <a:p>
            <a:r>
              <a:t>퇴근</a:t>
            </a:r>
          </a:p>
          <a:p>
            <a:r>
              <a:t>출근 브리핑</a:t>
            </a:r>
          </a:p>
          <a:p>
            <a:r>
              <a:t>발행</a:t>
            </a:r>
          </a:p>
          <a:p>
            <a:r>
              <a:t>발행일</a:t>
            </a:r>
          </a:p>
          <a:p>
            <a:r>
              <a:t>2026-09-17</a:t>
            </a:r>
          </a:p>
          <a:p>
            <a:r>
              <a:t>예정</a:t>
            </a:r>
          </a:p>
          <a:p>
            <a:r>
              <a:t>07:40</a:t>
            </a:r>
          </a:p>
          <a:p>
            <a:r>
              <a:t>생성·발행</a:t>
            </a:r>
          </a:p>
          <a:p>
            <a:r>
              <a:t>2026-09-17 07:41 KST</a:t>
            </a:r>
          </a:p>
          <a:p>
            <a:r>
              <a:t>데이터 기준</a:t>
            </a:r>
          </a:p>
          <a:p>
            <a:r>
              <a:t>2026-09-17 07:40 KST</a:t>
            </a:r>
          </a:p>
          <a:p>
            <a:r>
              <a:t>주요 시장 지표</a:t>
            </a:r>
          </a:p>
          <a:p>
            <a:r>
              <a:t>KOSPI</a:t>
            </a:r>
          </a:p>
          <a:p/>
          <a:p>
            <a:r>
              <a:t>9월 16일 종가</a:t>
            </a:r>
          </a:p>
          <a:p>
            <a:r>
              <a:t>9월 15일 종가 대비</a:t>
            </a:r>
          </a:p>
          <a:p/>
          <a:p>
            <a:r>
              <a:t>6,717.97</a:t>
            </a:r>
          </a:p>
          <a:p>
            <a:r>
              <a:t>▲ +90.71 (+1.37%)</a:t>
            </a:r>
          </a:p>
          <a:p>
            <a:r>
              <a:t>상승</a:t>
            </a:r>
          </a:p>
          <a:p>
            <a:r>
              <a:t>KOSDAQ</a:t>
            </a:r>
          </a:p>
          <a:p/>
          <a:p>
            <a:r>
              <a:t>9월 16일 종가</a:t>
            </a:r>
          </a:p>
          <a:p>
            <a:r>
              <a:t>9월 15일 종가 대비</a:t>
            </a:r>
          </a:p>
          <a:p/>
          <a:p>
            <a:r>
              <a:t>815.98</a:t>
            </a:r>
          </a:p>
          <a:p>
            <a:r>
              <a:t>▲ +3.57 (+0.44%)</a:t>
            </a:r>
          </a:p>
          <a:p>
            <a:r>
              <a:t>상승</a:t>
            </a:r>
          </a:p>
          <a:p>
            <a:r>
              <a:t>원/달러</a:t>
            </a:r>
          </a:p>
          <a:p/>
          <a:p>
            <a:r>
              <a:t>9월 17일 07:35 기준</a:t>
            </a:r>
          </a:p>
          <a:p>
            <a:r>
              <a:t>9월 16일 15:30 대비</a:t>
            </a:r>
          </a:p>
          <a:p/>
          <a:p>
            <a:r>
              <a:t>1,377.17원</a:t>
            </a:r>
          </a:p>
          <a:p>
            <a:r>
              <a:t>▲ +8.79원 (+0.64%)</a:t>
            </a:r>
          </a:p>
          <a:p>
            <a:r>
              <a:t>상승</a:t>
            </a:r>
          </a:p>
          <a:p>
            <a:r>
              <a:t>핵심 이슈</a:t>
            </a:r>
          </a:p>
          <a:p>
            <a:r>
              <a:t>이 회차 전체 관계 그래프</a:t>
            </a:r>
          </a:p>
          <a:p>
            <a:r>
              <a:t>발생 시각 미상</a:t>
            </a:r>
          </a:p>
          <a:p>
            <a:r>
              <a:t>보도 기사</a:t>
            </a:r>
          </a:p>
          <a:p>
            <a:r>
              <a:t>1</a:t>
            </a:r>
          </a:p>
          <a:p>
            <a:r>
              <a:t>1.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1번째로 최근입니다 · 근거 1건</a:t>
            </a:r>
          </a:p>
          <a:p/>
          <a:p>
            <a:r>
              <a:t>이 회차 관계 그래프에서 보기</a:t>
            </a:r>
          </a:p>
          <a:p>
            <a:r>
              <a:t>발생 시각 미상</a:t>
            </a:r>
          </a:p>
          <a:p>
            <a:r>
              <a:t>보도 기사</a:t>
            </a:r>
          </a:p>
          <a:p>
            <a:r>
              <a:t>1</a:t>
            </a:r>
          </a:p>
          <a:p>
            <a:r>
              <a:t>2. NVIDIA Vera Rubin NVL72 Delivers Leading Performance in MLPerf Inference v6.1 Debut</a:t>
            </a:r>
          </a:p>
          <a:p/>
          <a:p>
            <a:r>
              <a:t>관련 기업:</a:t>
            </a:r>
          </a:p>
          <a:p>
            <a:r>
              <a:t>NVIDIA</a:t>
            </a:r>
          </a:p>
          <a:p/>
          <a:p>
            <a:r>
              <a:t>근거</a:t>
            </a:r>
          </a:p>
          <a:p>
            <a:r>
              <a:t>3</a:t>
            </a:r>
          </a:p>
          <a:p/>
          <a:p>
            <a:r>
              <a:t>선정 이유 이번 회차 데이터 창 안의 승인 이슈 7건 중 사건 시각이 2번째로 최근입니다 · 근거 3건</a:t>
            </a:r>
          </a:p>
          <a:p/>
          <a:p>
            <a:r>
              <a:t>이 회차 관계 그래프에서 보기</a:t>
            </a:r>
          </a:p>
          <a:p>
            <a:r>
              <a:t>발생 시각 미상</a:t>
            </a:r>
          </a:p>
          <a:p>
            <a:r>
              <a:t>보도 기사</a:t>
            </a:r>
          </a:p>
          <a:p>
            <a:r>
              <a:t>1</a:t>
            </a:r>
          </a:p>
          <a:p>
            <a:r>
              <a:t>3.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3번째로 최근입니다 · 근거 1건</a:t>
            </a:r>
          </a:p>
          <a:p/>
          <a:p>
            <a:r>
              <a:t>이 회차 관계 그래프에서 보기</a:t>
            </a:r>
          </a:p>
          <a:p>
            <a:r>
              <a:t>이 회차가 도움이 됐나요?</a:t>
            </a:r>
          </a:p>
          <a:p>
            <a:r>
              <a:t>근거 문서</a:t>
            </a:r>
          </a:p>
          <a:p>
            <a:r>
              <a:t>5</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D-BRF-02.png</a:t>
            </a:r>
          </a:p>
          <a:p>
            <a:r>
              <a:t>좌표·클릭 후 실제 화면: D-BRF-02.json</a:t>
            </a:r>
          </a:p>
          <a:p>
            <a:r>
              <a:t>본문으로 건너뛰기</a:t>
            </a:r>
          </a:p>
          <a:p>
            <a:r>
              <a:t>줍</a:t>
            </a:r>
          </a:p>
          <a:p>
            <a:r>
              <a:t>Zoop</a:t>
            </a:r>
          </a:p>
          <a:p>
            <a:r>
              <a:t>지도</a:t>
            </a:r>
          </a:p>
          <a:p>
            <a:r>
              <a:t>종목</a:t>
            </a:r>
          </a:p>
          <a:p>
            <a:r>
              <a:t>브리핑</a:t>
            </a:r>
          </a:p>
          <a:p>
            <a:r>
              <a:t>내 종목</a:t>
            </a:r>
          </a:p>
          <a:p>
            <a:r>
              <a:t>데모 사용자님</a:t>
            </a:r>
          </a:p>
          <a:p>
            <a:r>
              <a:t>브리핑</a:t>
            </a:r>
          </a:p>
          <a:p>
            <a:r>
              <a:t>발행일</a:t>
            </a:r>
          </a:p>
          <a:p>
            <a:r>
              <a:t>2026-09-17</a:t>
            </a:r>
          </a:p>
          <a:p>
            <a:r>
              <a:t>출근</a:t>
            </a:r>
          </a:p>
          <a:p>
            <a:r>
              <a:t>퇴근</a:t>
            </a:r>
          </a:p>
          <a:p>
            <a:r>
              <a:t>퇴근 브리핑</a:t>
            </a:r>
          </a:p>
          <a:p>
            <a:r>
              <a:t>발행</a:t>
            </a:r>
          </a:p>
          <a:p>
            <a:r>
              <a:t>발행일</a:t>
            </a:r>
          </a:p>
          <a:p>
            <a:r>
              <a:t>2026-09-17</a:t>
            </a:r>
          </a:p>
          <a:p>
            <a:r>
              <a:t>예정</a:t>
            </a:r>
          </a:p>
          <a:p>
            <a:r>
              <a:t>18:10</a:t>
            </a:r>
          </a:p>
          <a:p>
            <a:r>
              <a:t>생성·발행</a:t>
            </a:r>
          </a:p>
          <a:p>
            <a:r>
              <a:t>2026-09-17 18:11 KST</a:t>
            </a:r>
          </a:p>
          <a:p>
            <a:r>
              <a:t>데이터 기준</a:t>
            </a:r>
          </a:p>
          <a:p>
            <a:r>
              <a:t>2026-09-17 18:10 KST</a:t>
            </a:r>
          </a:p>
          <a:p>
            <a:r>
              <a:t>주요 시장 지표</a:t>
            </a:r>
          </a:p>
          <a:p>
            <a:r>
              <a:t>KOSPI</a:t>
            </a:r>
          </a:p>
          <a:p/>
          <a:p>
            <a:r>
              <a:t>9월 17일 종가</a:t>
            </a:r>
          </a:p>
          <a:p>
            <a:r>
              <a:t>9월 16일 종가 대비</a:t>
            </a:r>
          </a:p>
          <a:p/>
          <a:p>
            <a:r>
              <a:t>6,715.41</a:t>
            </a:r>
          </a:p>
          <a:p>
            <a:r>
              <a:t>▼ -2.56 (-0.04%)</a:t>
            </a:r>
          </a:p>
          <a:p>
            <a:r>
              <a:t>하락</a:t>
            </a:r>
          </a:p>
          <a:p>
            <a:r>
              <a:t>KOSDAQ</a:t>
            </a:r>
          </a:p>
          <a:p/>
          <a:p>
            <a:r>
              <a:t>9월 17일 종가</a:t>
            </a:r>
          </a:p>
          <a:p>
            <a:r>
              <a:t>9월 16일 종가 대비</a:t>
            </a:r>
          </a:p>
          <a:p/>
          <a:p>
            <a:r>
              <a:t>822.18</a:t>
            </a:r>
          </a:p>
          <a:p>
            <a:r>
              <a:t>▲ +6.20 (+0.76%)</a:t>
            </a:r>
          </a:p>
          <a:p>
            <a:r>
              <a:t>상승</a:t>
            </a:r>
          </a:p>
          <a:p>
            <a:r>
              <a:t>원/달러</a:t>
            </a:r>
          </a:p>
          <a:p/>
          <a:p>
            <a:r>
              <a:t>9월 17일 18:00 기준</a:t>
            </a:r>
          </a:p>
          <a:p>
            <a:r>
              <a:t>9월 16일 15:30 대비</a:t>
            </a:r>
          </a:p>
          <a:p/>
          <a:p>
            <a:r>
              <a:t>1,383.98원</a:t>
            </a:r>
          </a:p>
          <a:p>
            <a:r>
              <a:t>▲ +15.60원 (+1.14%)</a:t>
            </a:r>
          </a:p>
          <a:p>
            <a:r>
              <a:t>상승</a:t>
            </a:r>
          </a:p>
          <a:p>
            <a:r>
              <a:t>핵심 이슈</a:t>
            </a:r>
          </a:p>
          <a:p>
            <a:r>
              <a:t>이 회차 전체 관계 그래프</a:t>
            </a:r>
          </a:p>
          <a:p>
            <a:r>
              <a:t>2026-09-16</a:t>
            </a:r>
          </a:p>
          <a:p>
            <a:r>
              <a:t>보도 기사</a:t>
            </a:r>
          </a:p>
          <a:p>
            <a:r>
              <a:t>1</a:t>
            </a:r>
          </a:p>
          <a:p>
            <a:r>
              <a:t>1. 삼성전자, One UI 9 공식 버전 업데이트 시작</a:t>
            </a:r>
          </a:p>
          <a:p>
            <a:r>
              <a:t>근거</a:t>
            </a:r>
          </a:p>
          <a:p>
            <a:r>
              <a:t>1</a:t>
            </a:r>
          </a:p>
          <a:p/>
          <a:p>
            <a:r>
              <a:t>선정 이유 이번 회차 데이터 창 안의 승인 이슈 5건 중 사건 시각이 1번째로 최근입니다 · 근거 1건</a:t>
            </a:r>
          </a:p>
          <a:p/>
          <a:p>
            <a:r>
              <a:t>이 회차 관계 그래프에서 보기</a:t>
            </a:r>
          </a:p>
          <a:p>
            <a:r>
              <a:t>발생 시각 미상</a:t>
            </a:r>
          </a:p>
          <a:p>
            <a:r>
              <a:t>보도 기사</a:t>
            </a:r>
          </a:p>
          <a:p>
            <a:r>
              <a:t>1</a:t>
            </a:r>
          </a:p>
          <a:p>
            <a:r>
              <a:t>2. 삼성전자, One UI 9 공식 버전 업데이트 시작</a:t>
            </a:r>
          </a:p>
          <a:p>
            <a:r>
              <a:t>근거</a:t>
            </a:r>
          </a:p>
          <a:p>
            <a:r>
              <a:t>2</a:t>
            </a:r>
          </a:p>
          <a:p/>
          <a:p>
            <a:r>
              <a:t>선정 이유 이번 회차 데이터 창 안의 승인 이슈 5건 중 사건 시각이 2번째로 최근입니다 · 근거 2건</a:t>
            </a:r>
          </a:p>
          <a:p/>
          <a:p>
            <a:r>
              <a:t>이 회차 관계 그래프에서 보기</a:t>
            </a:r>
          </a:p>
          <a:p>
            <a:r>
              <a:t>발생 시각 미상</a:t>
            </a:r>
          </a:p>
          <a:p>
            <a:r>
              <a:t>보도 기사</a:t>
            </a:r>
          </a:p>
          <a:p>
            <a:r>
              <a:t>1</a:t>
            </a:r>
          </a:p>
          <a:p>
            <a:r>
              <a:t>3. 삼성전자, 가전 테크세미나 개최…지역 맞춤형 AI 가전 선봬</a:t>
            </a:r>
          </a:p>
          <a:p/>
          <a:p>
            <a:r>
              <a:t>관련 기업:</a:t>
            </a:r>
          </a:p>
          <a:p>
            <a:r>
              <a:t>삼성전자</a:t>
            </a:r>
          </a:p>
          <a:p/>
          <a:p>
            <a:r>
              <a:t>근거</a:t>
            </a:r>
          </a:p>
          <a:p>
            <a:r>
              <a:t>6</a:t>
            </a:r>
          </a:p>
          <a:p/>
          <a:p>
            <a:r>
              <a:t>선정 이유 이번 회차 데이터 창 안의 승인 이슈 5건 중 사건 시각이 3번째로 최근입니다 · 근거 6건</a:t>
            </a:r>
          </a:p>
          <a:p/>
          <a:p>
            <a:r>
              <a:t>이 회차 관계 그래프에서 보기</a:t>
            </a:r>
          </a:p>
          <a:p>
            <a:r>
              <a:t>아침 이후 바뀐 내용</a:t>
            </a:r>
          </a:p>
          <a:p>
            <a:r>
              <a:t>6건</a:t>
            </a:r>
          </a:p>
          <a:p>
            <a:r>
              <a:t>출근 브리핑 보기</a:t>
            </a:r>
          </a:p>
          <a:p>
            <a:r>
              <a:t>보도 00:00</a:t>
            </a:r>
          </a:p>
          <a:p>
            <a:r>
              <a:t>빠짐</a:t>
            </a:r>
          </a:p>
          <a:p>
            <a:r>
              <a:t>NVIDIA Vera Rubin NVL72 Delivers Leading Performance in MLPerf Inference v6.1 Debut</a:t>
            </a:r>
          </a:p>
          <a:p/>
          <a:p>
            <a:r>
              <a:t>관련 기업 NVIDIA · 발생 시각 미상 · 이번 회차 핵심 이슈에는 없어요 · 근거 1건</a:t>
            </a:r>
          </a:p>
          <a:p/>
          <a:p>
            <a:r>
              <a:t>보도 00:00</a:t>
            </a:r>
          </a:p>
          <a:p>
            <a:r>
              <a:t>빠짐</a:t>
            </a:r>
          </a:p>
          <a:p>
            <a:r>
              <a:t>NVIDIA Vera Rubin NVL72 Delivers Leading Performance in MLPerf Inference v6.1 Debut</a:t>
            </a:r>
          </a:p>
          <a:p/>
          <a:p>
            <a:r>
              <a:t>관련 기업 NVIDIA · 발생 시각 미상 · 이번 회차 핵심 이슈에는 없어요 · 근거 3건</a:t>
            </a:r>
          </a:p>
          <a:p/>
          <a:p>
            <a:r>
              <a:t>보도 00:00</a:t>
            </a:r>
          </a:p>
          <a:p>
            <a:r>
              <a:t>빠짐</a:t>
            </a:r>
          </a:p>
          <a:p>
            <a:r>
              <a:t>NVIDIA Vera Rubin NVL72 Delivers Leading Performance in MLPerf Inference v6.1 Debut</a:t>
            </a:r>
          </a:p>
          <a:p/>
          <a:p>
            <a:r>
              <a:t>관련 기업 NVIDIA · 발생 시각 미상 · 이번 회차 핵심 이슈에는 없어요 · 근거 1건</a:t>
            </a:r>
          </a:p>
          <a:p/>
          <a:p>
            <a:r>
              <a:t>보도 17:00</a:t>
            </a:r>
          </a:p>
          <a:p>
            <a:r>
              <a:t>신규</a:t>
            </a:r>
          </a:p>
          <a:p>
            <a:r>
              <a:t>삼성전자, One UI 9 공식 버전 업데이트 시작</a:t>
            </a:r>
          </a:p>
          <a:p/>
          <a:p>
            <a:r>
              <a:t>발생 2026-09-16 · 근거 1건</a:t>
            </a:r>
          </a:p>
          <a:p/>
          <a:p>
            <a:r>
              <a:t>보도 17:00</a:t>
            </a:r>
          </a:p>
          <a:p>
            <a:r>
              <a:t>신규</a:t>
            </a:r>
          </a:p>
          <a:p>
            <a:r>
              <a:t>삼성전자, One UI 9 공식 버전 업데이트 시작</a:t>
            </a:r>
          </a:p>
          <a:p/>
          <a:p>
            <a:r>
              <a:t>발생 시각 미상 · 근거 2건</a:t>
            </a:r>
          </a:p>
          <a:p/>
          <a:p>
            <a:r>
              <a:t>보도 17:00</a:t>
            </a:r>
          </a:p>
          <a:p>
            <a:r>
              <a:t>신규</a:t>
            </a:r>
          </a:p>
          <a:p>
            <a:r>
              <a:t>삼성전자, 가전 테크세미나 개최…지역 맞춤형 AI 가전 선봬</a:t>
            </a:r>
          </a:p>
          <a:p/>
          <a:p>
            <a:r>
              <a:t>근거 6건</a:t>
            </a:r>
          </a:p>
          <a:p/>
          <a:p>
            <a:r>
              <a:t>이 회차가 도움이 됐나요?</a:t>
            </a:r>
          </a:p>
          <a:p>
            <a:r>
              <a:t>근거 문서</a:t>
            </a:r>
          </a:p>
          <a:p>
            <a:r>
              <a:t>9</a:t>
            </a:r>
          </a:p>
          <a:p/>
          <a:p>
            <a:r>
              <a:t>본 정보는 참고용이며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D-BRF-04.png</a:t>
            </a:r>
          </a:p>
          <a:p>
            <a:r>
              <a:t>좌표·클릭 후 실제 화면: D-BRF-04.json</a:t>
            </a:r>
          </a:p>
          <a:p>
            <a:r>
              <a:t>본문으로 건너뛰기</a:t>
            </a:r>
          </a:p>
          <a:p>
            <a:r>
              <a:t>줍</a:t>
            </a:r>
          </a:p>
          <a:p>
            <a:r>
              <a:t>Zoop</a:t>
            </a:r>
          </a:p>
          <a:p>
            <a:r>
              <a:t>지도</a:t>
            </a:r>
          </a:p>
          <a:p>
            <a:r>
              <a:t>종목</a:t>
            </a:r>
          </a:p>
          <a:p>
            <a:r>
              <a:t>브리핑</a:t>
            </a:r>
          </a:p>
          <a:p>
            <a:r>
              <a:t>내 종목</a:t>
            </a:r>
          </a:p>
          <a:p>
            <a:r>
              <a:t>데모 사용자님</a:t>
            </a:r>
          </a:p>
          <a:p>
            <a:r>
              <a:t>브리핑 회차 기준 지도</a:t>
            </a:r>
          </a:p>
          <a:p/>
          <a:p>
            <a:r>
              <a:t>2026-09-17 퇴근 브리핑 기준 그래프</a:t>
            </a:r>
          </a:p>
          <a:p/>
          <a:p>
            <a:r>
              <a:t>발행 당시의 관계·근거 · 데이터 기준 2026-09-17 18:10 KST</a:t>
            </a:r>
          </a:p>
          <a:p/>
          <a:p>
            <a:r>
              <a:t>현재 그래프로 보기</a:t>
            </a:r>
          </a:p>
          <a:p>
            <a:r>
              <a:t>브리핑으로</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흐름 순으로 정렬</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D-AI-01.png</a:t>
            </a:r>
          </a:p>
          <a:p>
            <a:r>
              <a:t>좌표·클릭 후 실제 화면: D-AI-01.json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a:t>
            </a:r>
          </a:p>
          <a:p/>
          <a:p>
            <a:r>
              <a:t>005930</a:t>
            </a:r>
          </a:p>
          <a:p/>
          <a:p>
            <a:r>
              <a:t>보유 종목</a:t>
            </a:r>
          </a:p>
          <a:p/>
          <a:p>
            <a:r>
              <a:t>기업명 더 보기</a:t>
            </a:r>
          </a:p>
          <a:p>
            <a:r>
              <a:t>시세</a:t>
            </a:r>
          </a:p>
          <a:p/>
          <a:p>
            <a:r>
              <a:t>271,750원</a:t>
            </a:r>
          </a:p>
          <a:p/>
          <a:p>
            <a:r>
              <a:t>전일 대비</a:t>
            </a:r>
          </a:p>
          <a:p>
            <a:r>
              <a:t>▼ -4,250원 (-1.54%)</a:t>
            </a:r>
          </a:p>
          <a:p>
            <a:r>
              <a:t>하락</a:t>
            </a:r>
          </a:p>
          <a:p/>
          <a:p>
            <a:r>
              <a:t>전일 대비 · 기준 2026-10-06 12:22 KST · Yahoo Finance · 지연 가능</a:t>
            </a:r>
          </a:p>
          <a:p>
            <a:r>
              <a:t>거래량</a:t>
            </a:r>
          </a:p>
          <a:p>
            <a:r>
              <a:t>662만주</a:t>
            </a:r>
          </a:p>
          <a:p>
            <a:r>
              <a:t>당일 저가 ~ 고가</a:t>
            </a:r>
          </a:p>
          <a:p>
            <a:r>
              <a:t>271,000원 ~ 279,000원</a:t>
            </a:r>
          </a:p>
          <a:p>
            <a:r>
              <a:t>52주 저가 ~ 고가</a:t>
            </a:r>
          </a:p>
          <a:p>
            <a:r>
              <a:t>89,750원 ~ 374,500원</a:t>
            </a:r>
          </a:p>
          <a:p>
            <a:r>
              <a:t>최근 1개월 시세 추이</a:t>
            </a:r>
          </a:p>
          <a:p/>
          <a:p>
            <a:r>
              <a:t>2026-09-07 09:00 KST</a:t>
            </a:r>
          </a:p>
          <a:p>
            <a:r>
              <a:t>2026-10-06 09:00 KST</a:t>
            </a:r>
          </a:p>
          <a:p/>
          <a:p>
            <a:r>
              <a:t>Yahoo Finance · 마지막 거래 2026-10-06 09:00 KST</a:t>
            </a:r>
          </a:p>
          <a:p/>
          <a:p>
            <a:r>
              <a:t>주요 지표</a:t>
            </a:r>
          </a:p>
          <a:p>
            <a:r>
              <a:t>가상 계좌 보유</a:t>
            </a:r>
          </a:p>
          <a:p>
            <a:r>
              <a:t>보유 수량</a:t>
            </a:r>
          </a:p>
          <a:p>
            <a:r>
              <a:t>20주</a:t>
            </a:r>
          </a:p>
          <a:p>
            <a:r>
              <a:t>평균 매입가</a:t>
            </a:r>
          </a:p>
          <a:p>
            <a:r>
              <a:t>60,000원</a:t>
            </a:r>
          </a:p>
          <a:p>
            <a:r>
              <a:t>평가 금액</a:t>
            </a:r>
          </a:p>
          <a:p>
            <a:r>
              <a:t>5,435,000원</a:t>
            </a:r>
          </a:p>
          <a:p>
            <a:r>
              <a:t>자산 비중</a:t>
            </a:r>
          </a:p>
          <a:p>
            <a:r>
              <a:t>계산 불가</a:t>
            </a:r>
          </a:p>
          <a:p>
            <a:r>
              <a:t>평가 손익</a:t>
            </a:r>
          </a:p>
          <a:p>
            <a:r>
              <a:t>▲ +4,235,000원 (+352.92%)</a:t>
            </a:r>
          </a:p>
          <a:p>
            <a:r>
              <a:t>상승</a:t>
            </a:r>
          </a:p>
          <a:p/>
          <a:p>
            <a:r>
              <a:t>모의 정보 기준 2026-10-06 12:43 KST · 평가 계산 2026-10-06 12:43 KST</a:t>
            </a:r>
          </a:p>
          <a:p/>
          <a:p>
            <a:r>
              <a:t>자산 비중: 보유 종목의 시세 통화가 서로 달라요. 환율로 바꾸지 않아 합계와 비중을 계산하지 않았어요.</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직접 이슈 24건 더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뉴스·공시</a:t>
            </a:r>
          </a:p>
          <a:p/>
          <a:p>
            <a:r>
              <a:t>Samsung Electronics Newsroom (news.samsung.com)</a:t>
            </a:r>
          </a:p>
          <a:p>
            <a:r>
              <a:t>·</a:t>
            </a:r>
          </a:p>
          <a:p>
            <a:r>
              <a:t>발행 2026-09-29 17:00 KST</a:t>
            </a:r>
          </a:p>
          <a:p/>
          <a:p>
            <a:r>
              <a:t>삼성 6개사, 美 AI 인프라 기업 ‘헬릭스’에 10억 달러 투자</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원문 기사 보기</a:t>
            </a:r>
          </a:p>
          <a:p>
            <a:r>
              <a:t>(새 창에서 열림)</a:t>
            </a:r>
          </a:p>
          <a:p/>
          <a:p>
            <a:r>
              <a:t>전체 10건은 기업 상세의 문서에서 볼 수 있어요.</a:t>
            </a:r>
          </a:p>
          <a:p/>
          <a:p>
            <a:r>
              <a:t>AI에게 묻기</a:t>
            </a:r>
          </a:p>
          <a:p/>
          <a:p>
            <a:r>
              <a:t>질문 대상: 삼성전자</a:t>
            </a:r>
          </a:p>
          <a:p/>
          <a:p>
            <a:r>
              <a:t>새 대화</a:t>
            </a:r>
          </a:p>
          <a:p>
            <a:r>
              <a:t>질문에 연결할 대상</a:t>
            </a:r>
          </a:p>
          <a:p>
            <a:r>
              <a:t>삼성전자</a:t>
            </a:r>
          </a:p>
          <a:p>
            <a:r>
              <a:t>직접 이슈 27건 · 2026-07-22 ~ 2028년 · 근거 43건</a:t>
            </a:r>
          </a:p>
          <a:p>
            <a:r>
              <a:t>추천 질문</a:t>
            </a:r>
          </a:p>
          <a:p>
            <a:r>
              <a:t>함께 언급된 기업은 어디인가요?</a:t>
            </a:r>
          </a:p>
          <a:p>
            <a:r>
              <a:t>이 사건은 언제, 어떤 보도로 알려졌나요?</a:t>
            </a:r>
          </a:p>
          <a:p>
            <a:r>
              <a:t>이 사건 이후 주가 전망은 어떤가요?</a:t>
            </a:r>
          </a:p>
          <a:p>
            <a:r>
              <a:t>질문</a:t>
            </a:r>
          </a:p>
          <a:p>
            <a:r>
              <a:t>보내기</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D-AI-01b.png</a:t>
            </a:r>
          </a:p>
          <a:p>
            <a:r>
              <a:t>좌표·클릭 후 실제 화면: D-AI-01b.json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a:t>
            </a:r>
          </a:p>
          <a:p/>
          <a:p>
            <a:r>
              <a:t>005930</a:t>
            </a:r>
          </a:p>
          <a:p/>
          <a:p>
            <a:r>
              <a:t>보유 종목</a:t>
            </a:r>
          </a:p>
          <a:p/>
          <a:p>
            <a:r>
              <a:t>기업명 더 보기</a:t>
            </a:r>
          </a:p>
          <a:p>
            <a:r>
              <a:t>시세</a:t>
            </a:r>
          </a:p>
          <a:p/>
          <a:p>
            <a:r>
              <a:t>271,750원</a:t>
            </a:r>
          </a:p>
          <a:p/>
          <a:p>
            <a:r>
              <a:t>전일 대비</a:t>
            </a:r>
          </a:p>
          <a:p>
            <a:r>
              <a:t>▼ -4,250원 (-1.54%)</a:t>
            </a:r>
          </a:p>
          <a:p>
            <a:r>
              <a:t>하락</a:t>
            </a:r>
          </a:p>
          <a:p/>
          <a:p>
            <a:r>
              <a:t>전일 대비 · 기준 2026-10-06 12:22 KST · Yahoo Finance · 지연 가능</a:t>
            </a:r>
          </a:p>
          <a:p>
            <a:r>
              <a:t>거래량</a:t>
            </a:r>
          </a:p>
          <a:p>
            <a:r>
              <a:t>662만주</a:t>
            </a:r>
          </a:p>
          <a:p>
            <a:r>
              <a:t>당일 저가 ~ 고가</a:t>
            </a:r>
          </a:p>
          <a:p>
            <a:r>
              <a:t>271,000원 ~ 279,000원</a:t>
            </a:r>
          </a:p>
          <a:p>
            <a:r>
              <a:t>52주 저가 ~ 고가</a:t>
            </a:r>
          </a:p>
          <a:p>
            <a:r>
              <a:t>89,750원 ~ 374,500원</a:t>
            </a:r>
          </a:p>
          <a:p>
            <a:r>
              <a:t>최근 1개월 시세 추이</a:t>
            </a:r>
          </a:p>
          <a:p/>
          <a:p>
            <a:r>
              <a:t>2026-09-07 09:00 KST</a:t>
            </a:r>
          </a:p>
          <a:p>
            <a:r>
              <a:t>2026-10-06 09:00 KST</a:t>
            </a:r>
          </a:p>
          <a:p/>
          <a:p>
            <a:r>
              <a:t>Yahoo Finance · 마지막 거래 2026-10-06 09:00 KST</a:t>
            </a:r>
          </a:p>
          <a:p/>
          <a:p>
            <a:r>
              <a:t>주요 지표</a:t>
            </a:r>
          </a:p>
          <a:p>
            <a:r>
              <a:t>가상 계좌 보유</a:t>
            </a:r>
          </a:p>
          <a:p>
            <a:r>
              <a:t>보유 수량</a:t>
            </a:r>
          </a:p>
          <a:p>
            <a:r>
              <a:t>20주</a:t>
            </a:r>
          </a:p>
          <a:p>
            <a:r>
              <a:t>평균 매입가</a:t>
            </a:r>
          </a:p>
          <a:p>
            <a:r>
              <a:t>60,000원</a:t>
            </a:r>
          </a:p>
          <a:p>
            <a:r>
              <a:t>평가 금액</a:t>
            </a:r>
          </a:p>
          <a:p>
            <a:r>
              <a:t>5,435,000원</a:t>
            </a:r>
          </a:p>
          <a:p>
            <a:r>
              <a:t>자산 비중</a:t>
            </a:r>
          </a:p>
          <a:p>
            <a:r>
              <a:t>계산 불가</a:t>
            </a:r>
          </a:p>
          <a:p>
            <a:r>
              <a:t>평가 손익</a:t>
            </a:r>
          </a:p>
          <a:p>
            <a:r>
              <a:t>▲ +4,235,000원 (+352.92%)</a:t>
            </a:r>
          </a:p>
          <a:p>
            <a:r>
              <a:t>상승</a:t>
            </a:r>
          </a:p>
          <a:p/>
          <a:p>
            <a:r>
              <a:t>모의 정보 기준 2026-10-06 12:43 KST · 평가 계산 2026-10-06 12:43 KST</a:t>
            </a:r>
          </a:p>
          <a:p/>
          <a:p>
            <a:r>
              <a:t>자산 비중: 보유 종목의 시세 통화가 서로 달라요. 환율로 바꾸지 않아 합계와 비중을 계산하지 않았어요.</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직접 이슈 24건 더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뉴스·공시</a:t>
            </a:r>
          </a:p>
          <a:p/>
          <a:p>
            <a:r>
              <a:t>Samsung Electronics Newsroom (news.samsung.com)</a:t>
            </a:r>
          </a:p>
          <a:p>
            <a:r>
              <a:t>·</a:t>
            </a:r>
          </a:p>
          <a:p>
            <a:r>
              <a:t>발행 2026-09-29 17:00 KST</a:t>
            </a:r>
          </a:p>
          <a:p/>
          <a:p>
            <a:r>
              <a:t>삼성 6개사, 美 AI 인프라 기업 ‘헬릭스’에 10억 달러 투자</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원문 기사 보기</a:t>
            </a:r>
          </a:p>
          <a:p>
            <a:r>
              <a:t>(새 창에서 열림)</a:t>
            </a:r>
          </a:p>
          <a:p/>
          <a:p>
            <a:r>
              <a:t>전체 10건은 기업 상세의 문서에서 볼 수 있어요.</a:t>
            </a:r>
          </a:p>
          <a:p/>
          <a:p>
            <a:r>
              <a:t>AI에게 묻기</a:t>
            </a:r>
          </a:p>
          <a:p/>
          <a:p>
            <a:r>
              <a:t>질문 대상: 없음</a:t>
            </a:r>
          </a:p>
          <a:p/>
          <a:p>
            <a:r>
              <a:t>새 대화</a:t>
            </a:r>
          </a:p>
          <a:p>
            <a:r>
              <a:t>질문에 연결할 대상</a:t>
            </a:r>
          </a:p>
          <a:p>
            <a:r>
              <a:t>삼성전자</a:t>
            </a:r>
          </a:p>
          <a:p>
            <a:r>
              <a:t>직접 이슈 27건 · 2026-07-22 ~ 2028년 · 근거 43건</a:t>
            </a:r>
          </a:p>
          <a:p/>
          <a:p>
            <a:r>
              <a:t>내 질문:</a:t>
            </a:r>
          </a:p>
          <a:p>
            <a:r>
              <a:t>그 기업은 언제?</a:t>
            </a:r>
          </a:p>
          <a:p/>
          <a:p>
            <a:r>
              <a:t>연결한 대상: 없음</a:t>
            </a:r>
          </a:p>
          <a:p/>
          <a:p>
            <a:r>
              <a:t>‘그 기업’만으로는 어느 대상인지 알 수 없어요. 그래프에서 기업이나 사건을 고르거나 기업 이름을 알려 주세요.</a:t>
            </a:r>
          </a:p>
          <a:p/>
          <a:p>
            <a:r>
              <a:t>질문</a:t>
            </a:r>
          </a:p>
          <a:p>
            <a:r>
              <a:t>보내기</a:t>
            </a:r>
          </a:p>
          <a:p/>
          <a:p>
            <a:r>
              <a:t>연결한 대상이 없어요. 질문에 기업 이름을 적거나 위에서 대상을 골라 주세요.</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D-AI-02.png</a:t>
            </a:r>
          </a:p>
          <a:p>
            <a:r>
              <a:t>좌표·클릭 후 실제 화면: D-AI-02.json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a:t>
            </a:r>
          </a:p>
          <a:p/>
          <a:p>
            <a:r>
              <a:t>005930</a:t>
            </a:r>
          </a:p>
          <a:p/>
          <a:p>
            <a:r>
              <a:t>보유 종목</a:t>
            </a:r>
          </a:p>
          <a:p/>
          <a:p>
            <a:r>
              <a:t>기업명 더 보기</a:t>
            </a:r>
          </a:p>
          <a:p>
            <a:r>
              <a:t>시세</a:t>
            </a:r>
          </a:p>
          <a:p/>
          <a:p>
            <a:r>
              <a:t>272,000원</a:t>
            </a:r>
          </a:p>
          <a:p/>
          <a:p>
            <a:r>
              <a:t>전일 대비</a:t>
            </a:r>
          </a:p>
          <a:p>
            <a:r>
              <a:t>▼ -4,000원 (-1.45%)</a:t>
            </a:r>
          </a:p>
          <a:p>
            <a:r>
              <a:t>하락</a:t>
            </a:r>
          </a:p>
          <a:p/>
          <a:p>
            <a:r>
              <a:t>전일 대비 · 기준 2026-10-06 12:23 KST · Yahoo Finance · 지연 가능</a:t>
            </a:r>
          </a:p>
          <a:p>
            <a:r>
              <a:t>거래량</a:t>
            </a:r>
          </a:p>
          <a:p>
            <a:r>
              <a:t>662.4만주</a:t>
            </a:r>
          </a:p>
          <a:p>
            <a:r>
              <a:t>당일 저가 ~ 고가</a:t>
            </a:r>
          </a:p>
          <a:p>
            <a:r>
              <a:t>271,000원 ~ 279,000원</a:t>
            </a:r>
          </a:p>
          <a:p>
            <a:r>
              <a:t>52주 저가 ~ 고가</a:t>
            </a:r>
          </a:p>
          <a:p>
            <a:r>
              <a:t>89,750원 ~ 374,500원</a:t>
            </a:r>
          </a:p>
          <a:p>
            <a:r>
              <a:t>최근 1개월 시세 추이</a:t>
            </a:r>
          </a:p>
          <a:p/>
          <a:p>
            <a:r>
              <a:t>2026-09-07 09:00 KST</a:t>
            </a:r>
          </a:p>
          <a:p>
            <a:r>
              <a:t>2026-10-06 09:00 KST</a:t>
            </a:r>
          </a:p>
          <a:p/>
          <a:p>
            <a:r>
              <a:t>Yahoo Finance · 마지막 거래 2026-10-06 09:00 KST</a:t>
            </a:r>
          </a:p>
          <a:p/>
          <a:p>
            <a:r>
              <a:t>주요 지표</a:t>
            </a:r>
          </a:p>
          <a:p>
            <a:r>
              <a:t>가상 계좌 보유</a:t>
            </a:r>
          </a:p>
          <a:p>
            <a:r>
              <a:t>보유 수량</a:t>
            </a:r>
          </a:p>
          <a:p>
            <a:r>
              <a:t>20주</a:t>
            </a:r>
          </a:p>
          <a:p>
            <a:r>
              <a:t>평균 매입가</a:t>
            </a:r>
          </a:p>
          <a:p>
            <a:r>
              <a:t>60,000원</a:t>
            </a:r>
          </a:p>
          <a:p>
            <a:r>
              <a:t>평가 금액</a:t>
            </a:r>
          </a:p>
          <a:p>
            <a:r>
              <a:t>5,440,000원</a:t>
            </a:r>
          </a:p>
          <a:p>
            <a:r>
              <a:t>자산 비중</a:t>
            </a:r>
          </a:p>
          <a:p>
            <a:r>
              <a:t>계산 불가</a:t>
            </a:r>
          </a:p>
          <a:p>
            <a:r>
              <a:t>평가 손익</a:t>
            </a:r>
          </a:p>
          <a:p>
            <a:r>
              <a:t>▲ +4,240,000원 (+353.33%)</a:t>
            </a:r>
          </a:p>
          <a:p>
            <a:r>
              <a:t>상승</a:t>
            </a:r>
          </a:p>
          <a:p/>
          <a:p>
            <a:r>
              <a:t>모의 정보 기준 2026-10-06 12:43 KST · 평가 계산 2026-10-06 12:43 KST</a:t>
            </a:r>
          </a:p>
          <a:p/>
          <a:p>
            <a:r>
              <a:t>자산 비중: 보유 종목의 시세 통화가 서로 달라요. 환율로 바꾸지 않아 합계와 비중을 계산하지 않았어요.</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직접 이슈 24건 더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뉴스·공시</a:t>
            </a:r>
          </a:p>
          <a:p/>
          <a:p>
            <a:r>
              <a:t>Samsung Electronics Newsroom (news.samsung.com)</a:t>
            </a:r>
          </a:p>
          <a:p>
            <a:r>
              <a:t>·</a:t>
            </a:r>
          </a:p>
          <a:p>
            <a:r>
              <a:t>발행 2026-09-29 17:00 KST</a:t>
            </a:r>
          </a:p>
          <a:p/>
          <a:p>
            <a:r>
              <a:t>삼성 6개사, 美 AI 인프라 기업 ‘헬릭스’에 10억 달러 투자</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원문 기사 보기</a:t>
            </a:r>
          </a:p>
          <a:p>
            <a:r>
              <a:t>(새 창에서 열림)</a:t>
            </a:r>
          </a:p>
          <a:p/>
          <a:p>
            <a:r>
              <a:t>전체 10건은 기업 상세의 문서에서 볼 수 있어요.</a:t>
            </a:r>
          </a:p>
          <a:p/>
          <a:p>
            <a:r>
              <a:t>AI에게 묻기</a:t>
            </a:r>
          </a:p>
          <a:p/>
          <a:p>
            <a:r>
              <a:t>질문 대상: 없음</a:t>
            </a:r>
          </a:p>
          <a:p/>
          <a:p>
            <a:r>
              <a:t>새 대화</a:t>
            </a:r>
          </a:p>
          <a:p>
            <a:r>
              <a:t>질문에 연결할 대상</a:t>
            </a:r>
          </a:p>
          <a:p>
            <a:r>
              <a:t>삼성전자</a:t>
            </a:r>
          </a:p>
          <a:p>
            <a:r>
              <a:t>직접 이슈 27건 · 2026-07-22 ~ 2028년 · 근거 43건</a:t>
            </a:r>
          </a:p>
          <a:p/>
          <a:p>
            <a:r>
              <a:t>내 질문:</a:t>
            </a:r>
          </a:p>
          <a:p>
            <a:r>
              <a:t>그 기업은 언제?</a:t>
            </a:r>
          </a:p>
          <a:p/>
          <a:p>
            <a:r>
              <a:t>연결한 대상: 없음</a:t>
            </a:r>
          </a:p>
          <a:p/>
          <a:p>
            <a:r>
              <a:t>‘그 기업’만으로는 어느 대상인지 알 수 없어요. 그래프에서 기업이나 사건을 고르거나 기업 이름을 알려 주세요.</a:t>
            </a:r>
          </a:p>
          <a:p/>
          <a:p>
            <a:r>
              <a:t>질문</a:t>
            </a:r>
          </a:p>
          <a:p>
            <a:r>
              <a:t>보내기</a:t>
            </a:r>
          </a:p>
          <a:p/>
          <a:p>
            <a:r>
              <a:t>연결한 대상이 없어요. 질문에 기업 이름을 적거나 위에서 대상을 골라 주세요.</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D-AI-02b.png</a:t>
            </a:r>
          </a:p>
          <a:p>
            <a:r>
              <a:t>좌표·클릭 후 실제 화면: D-AI-02b.json</a:t>
            </a:r>
          </a:p>
          <a:p>
            <a:r>
              <a:t>본문으로 건너뛰기</a:t>
            </a:r>
          </a:p>
          <a:p>
            <a:r>
              <a:t>줍</a:t>
            </a:r>
          </a:p>
          <a:p>
            <a:r>
              <a:t>Zoop</a:t>
            </a:r>
          </a:p>
          <a:p>
            <a:r>
              <a:t>지도</a:t>
            </a:r>
          </a:p>
          <a:p>
            <a:r>
              <a:t>종목</a:t>
            </a:r>
          </a:p>
          <a:p>
            <a:r>
              <a:t>브리핑</a:t>
            </a:r>
          </a:p>
          <a:p>
            <a:r>
              <a:t>내 종목</a:t>
            </a:r>
          </a:p>
          <a:p>
            <a:r>
              <a:t>데모 사용자님</a:t>
            </a:r>
          </a:p>
          <a:p>
            <a:r>
              <a:t>시장 전체 지도</a:t>
            </a:r>
          </a:p>
          <a:p>
            <a:r>
              <a:t>내 종목</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삼성전자 선택됨</a:t>
            </a:r>
          </a:p>
          <a:p/>
          <a:p>
            <a:r>
              <a:t>흐름 순으로 정렬</a:t>
            </a:r>
          </a:p>
          <a:p>
            <a:r>
              <a:t>삼성전자</a:t>
            </a:r>
          </a:p>
          <a:p/>
          <a:p>
            <a:r>
              <a:t>005930</a:t>
            </a:r>
          </a:p>
          <a:p/>
          <a:p>
            <a:r>
              <a:t>보유 종목</a:t>
            </a:r>
          </a:p>
          <a:p/>
          <a:p>
            <a:r>
              <a:t>기업명 더 보기</a:t>
            </a:r>
          </a:p>
          <a:p>
            <a:r>
              <a:t>시세</a:t>
            </a:r>
          </a:p>
          <a:p/>
          <a:p>
            <a:r>
              <a:t>272,000원</a:t>
            </a:r>
          </a:p>
          <a:p/>
          <a:p>
            <a:r>
              <a:t>전일 대비</a:t>
            </a:r>
          </a:p>
          <a:p>
            <a:r>
              <a:t>▼ -4,000원 (-1.45%)</a:t>
            </a:r>
          </a:p>
          <a:p>
            <a:r>
              <a:t>하락</a:t>
            </a:r>
          </a:p>
          <a:p/>
          <a:p>
            <a:r>
              <a:t>전일 대비 · 기준 2026-10-06 12:23 KST · Yahoo Finance · 지연 가능</a:t>
            </a:r>
          </a:p>
          <a:p>
            <a:r>
              <a:t>거래량</a:t>
            </a:r>
          </a:p>
          <a:p>
            <a:r>
              <a:t>662.4만주</a:t>
            </a:r>
          </a:p>
          <a:p>
            <a:r>
              <a:t>당일 저가 ~ 고가</a:t>
            </a:r>
          </a:p>
          <a:p>
            <a:r>
              <a:t>271,000원 ~ 279,000원</a:t>
            </a:r>
          </a:p>
          <a:p>
            <a:r>
              <a:t>52주 저가 ~ 고가</a:t>
            </a:r>
          </a:p>
          <a:p>
            <a:r>
              <a:t>89,750원 ~ 374,500원</a:t>
            </a:r>
          </a:p>
          <a:p>
            <a:r>
              <a:t>최근 1개월 시세 추이</a:t>
            </a:r>
          </a:p>
          <a:p/>
          <a:p>
            <a:r>
              <a:t>2026-09-07 09:00 KST</a:t>
            </a:r>
          </a:p>
          <a:p>
            <a:r>
              <a:t>2026-10-06 09:00 KST</a:t>
            </a:r>
          </a:p>
          <a:p/>
          <a:p>
            <a:r>
              <a:t>Yahoo Finance · 마지막 거래 2026-10-06 09:00 KST</a:t>
            </a:r>
          </a:p>
          <a:p/>
          <a:p>
            <a:r>
              <a:t>주요 지표</a:t>
            </a:r>
          </a:p>
          <a:p>
            <a:r>
              <a:t>가상 계좌 보유</a:t>
            </a:r>
          </a:p>
          <a:p>
            <a:r>
              <a:t>보유 수량</a:t>
            </a:r>
          </a:p>
          <a:p>
            <a:r>
              <a:t>20주</a:t>
            </a:r>
          </a:p>
          <a:p>
            <a:r>
              <a:t>평균 매입가</a:t>
            </a:r>
          </a:p>
          <a:p>
            <a:r>
              <a:t>60,000원</a:t>
            </a:r>
          </a:p>
          <a:p>
            <a:r>
              <a:t>평가 금액</a:t>
            </a:r>
          </a:p>
          <a:p>
            <a:r>
              <a:t>5,440,000원</a:t>
            </a:r>
          </a:p>
          <a:p>
            <a:r>
              <a:t>자산 비중</a:t>
            </a:r>
          </a:p>
          <a:p>
            <a:r>
              <a:t>계산 불가</a:t>
            </a:r>
          </a:p>
          <a:p>
            <a:r>
              <a:t>평가 손익</a:t>
            </a:r>
          </a:p>
          <a:p>
            <a:r>
              <a:t>▲ +4,240,000원 (+353.33%)</a:t>
            </a:r>
          </a:p>
          <a:p>
            <a:r>
              <a:t>상승</a:t>
            </a:r>
          </a:p>
          <a:p/>
          <a:p>
            <a:r>
              <a:t>모의 정보 기준 2026-10-06 12:43 KST · 평가 계산 2026-10-06 12:43 KST</a:t>
            </a:r>
          </a:p>
          <a:p/>
          <a:p>
            <a:r>
              <a:t>자산 비중: 보유 종목의 시세 통화가 서로 달라요. 환율로 바꾸지 않아 합계와 비중을 계산하지 않았어요.</a:t>
            </a:r>
          </a:p>
          <a:p/>
          <a:p>
            <a:r>
              <a:t>기업 상세</a:t>
            </a:r>
          </a:p>
          <a:p>
            <a:r>
              <a:t>관심 종목에 담기</a:t>
            </a:r>
          </a:p>
          <a:p>
            <a:r>
              <a:t>이 노드 중심으로 보기</a:t>
            </a:r>
          </a:p>
          <a:p>
            <a:r>
              <a:t>다른 기업과의 연결 보기</a:t>
            </a:r>
          </a:p>
          <a:p>
            <a:r>
              <a:t>AI에게 묻기</a:t>
            </a:r>
          </a:p>
          <a:p>
            <a:r>
              <a:t>직접 이슈 27건</a:t>
            </a:r>
          </a:p>
          <a:p/>
          <a:p>
            <a:r>
              <a:t>사건을 누르면 이 기업과 이어진 경로와 근거가 보여요.</a:t>
            </a:r>
          </a:p>
          <a:p/>
          <a:p>
            <a:r>
              <a:t>2028년</a:t>
            </a:r>
          </a:p>
          <a:p>
            <a:r>
              <a:t>High NA EUV 도…</a:t>
            </a:r>
          </a:p>
          <a:p>
            <a:r>
              <a:t>삼성전자, ASML과 차세대 반도체 제조 협력 확대</a:t>
            </a:r>
          </a:p>
          <a:p>
            <a:r>
              <a:t>근거 2건 보기</a:t>
            </a:r>
          </a:p>
          <a:p>
            <a:r>
              <a:t>2026-09-29</a:t>
            </a:r>
          </a:p>
          <a:p>
            <a:r>
              <a:t>투자사</a:t>
            </a:r>
          </a:p>
          <a:p>
            <a:r>
              <a:t>삼성 6개사, 美 AI 인프라 기업 ‘헬릭스’에 10억 달러 투자</a:t>
            </a:r>
          </a:p>
          <a:p>
            <a:r>
              <a:t>근거 2건 보기</a:t>
            </a:r>
          </a:p>
          <a:p>
            <a:r>
              <a:t>2026-09-17</a:t>
            </a:r>
          </a:p>
          <a:p>
            <a:r>
              <a:t>MOU 체결사</a:t>
            </a:r>
          </a:p>
          <a:p>
            <a:r>
              <a:t>삼성전자, 필리핀 복합단지 개발사업에 통합 운영 솔루션 공급 협력</a:t>
            </a:r>
          </a:p>
          <a:p>
            <a:r>
              <a:t>근거 1건 보기</a:t>
            </a:r>
          </a:p>
          <a:p>
            <a:r>
              <a:t>직접 이슈 24건 더 보기</a:t>
            </a:r>
          </a:p>
          <a:p>
            <a:r>
              <a:t>간접 이슈 0건</a:t>
            </a:r>
          </a:p>
          <a:p/>
          <a:p>
            <a:r>
              <a:t>데이터로 이어진 간접 이슈가 없어요.</a:t>
            </a:r>
          </a:p>
          <a:p/>
          <a:p>
            <a:r>
              <a:t>관련 기업 9곳</a:t>
            </a:r>
          </a:p>
          <a:p>
            <a:r>
              <a:t>삼</a:t>
            </a:r>
          </a:p>
          <a:p>
            <a:r>
              <a:t>삼성에스디에스</a:t>
            </a:r>
          </a:p>
          <a:p>
            <a:r>
              <a:t>같은 사건 2건</a:t>
            </a:r>
          </a:p>
          <a:p>
            <a:r>
              <a:t>A</a:t>
            </a:r>
          </a:p>
          <a:p>
            <a:r>
              <a:t>ASML</a:t>
            </a:r>
          </a:p>
          <a:p>
            <a:r>
              <a:t>같은 사건 2건</a:t>
            </a:r>
          </a:p>
          <a:p>
            <a:r>
              <a:t>S</a:t>
            </a:r>
          </a:p>
          <a:p>
            <a:r>
              <a:t>SK텔레콤</a:t>
            </a:r>
          </a:p>
          <a:p>
            <a:r>
              <a:t>같은 사건 2건</a:t>
            </a:r>
          </a:p>
          <a:p>
            <a:r>
              <a:t>K</a:t>
            </a:r>
          </a:p>
          <a:p>
            <a:r>
              <a:t>KT</a:t>
            </a:r>
          </a:p>
          <a:p>
            <a:r>
              <a:t>같은 사건 2건</a:t>
            </a:r>
          </a:p>
          <a:p>
            <a:r>
              <a:t>현대자동차</a:t>
            </a:r>
          </a:p>
          <a:p>
            <a:r>
              <a:t>같은 사건 1건</a:t>
            </a:r>
          </a:p>
          <a:p>
            <a:r>
              <a:t>NAVER</a:t>
            </a:r>
          </a:p>
          <a:p>
            <a:r>
              <a:t>같은 사건 1건</a:t>
            </a:r>
          </a:p>
          <a:p>
            <a:r>
              <a:t>삼</a:t>
            </a:r>
          </a:p>
          <a:p>
            <a:r>
              <a:t>삼성SDI</a:t>
            </a:r>
          </a:p>
          <a:p>
            <a:r>
              <a:t>같은 사건 1건</a:t>
            </a:r>
          </a:p>
          <a:p>
            <a:r>
              <a:t>삼</a:t>
            </a:r>
          </a:p>
          <a:p>
            <a:r>
              <a:t>삼성물산</a:t>
            </a:r>
          </a:p>
          <a:p>
            <a:r>
              <a:t>같은 사건 1건</a:t>
            </a:r>
          </a:p>
          <a:p>
            <a:r>
              <a:t>NVIDIA</a:t>
            </a:r>
          </a:p>
          <a:p>
            <a:r>
              <a:t>같은 사건 1건</a:t>
            </a:r>
          </a:p>
          <a:p>
            <a:r>
              <a:t>뉴스·공시</a:t>
            </a:r>
          </a:p>
          <a:p/>
          <a:p>
            <a:r>
              <a:t>Samsung Electronics Newsroom (news.samsung.com)</a:t>
            </a:r>
          </a:p>
          <a:p>
            <a:r>
              <a:t>·</a:t>
            </a:r>
          </a:p>
          <a:p>
            <a:r>
              <a:t>발행 2026-09-29 17:00 KST</a:t>
            </a:r>
          </a:p>
          <a:p/>
          <a:p>
            <a:r>
              <a:t>삼성 6개사, 美 AI 인프라 기업 ‘헬릭스’에 10억 달러 투자</a:t>
            </a:r>
          </a:p>
          <a:p>
            <a:r>
              <a:t>원문 기사 보기</a:t>
            </a:r>
          </a:p>
          <a:p>
            <a:r>
              <a:t>(새 창에서 열림)</a:t>
            </a:r>
          </a:p>
          <a:p/>
          <a:p>
            <a:r>
              <a:t>Samsung Electronics Newsroom (news.samsung.com)</a:t>
            </a:r>
          </a:p>
          <a:p>
            <a:r>
              <a:t>·</a:t>
            </a:r>
          </a:p>
          <a:p>
            <a:r>
              <a:t>발행 2026-09-28 17:30 KST</a:t>
            </a:r>
          </a:p>
          <a:p/>
          <a:p>
            <a:r>
              <a:t>Samsung, SK Telecom, and Hana Financial Group Build Korea’s First Private 5G Smart Office in the Financial Sector</a:t>
            </a:r>
          </a:p>
          <a:p>
            <a:r>
              <a:t>원문 기사 보기</a:t>
            </a:r>
          </a:p>
          <a:p>
            <a:r>
              <a:t>(새 창에서 열림)</a:t>
            </a:r>
          </a:p>
          <a:p/>
          <a:p>
            <a:r>
              <a:t>Samsung Electronics Newsroom (news.samsung.com)</a:t>
            </a:r>
          </a:p>
          <a:p>
            <a:r>
              <a:t>·</a:t>
            </a:r>
          </a:p>
          <a:p>
            <a:r>
              <a:t>발행 2026-09-24 07:00 KST</a:t>
            </a:r>
          </a:p>
          <a:p/>
          <a:p>
            <a:r>
              <a:t>Samsung at the Forefront of Korea’s AI RAN Projects with KT and SK Telecom</a:t>
            </a:r>
          </a:p>
          <a:p>
            <a:r>
              <a:t>원문 기사 보기</a:t>
            </a:r>
          </a:p>
          <a:p>
            <a:r>
              <a:t>(새 창에서 열림)</a:t>
            </a:r>
          </a:p>
          <a:p/>
          <a:p>
            <a:r>
              <a:t>전체 10건은 기업 상세의 문서에서 볼 수 있어요.</a:t>
            </a:r>
          </a:p>
          <a:p/>
          <a:p>
            <a:r>
              <a:t>AI에게 묻기</a:t>
            </a:r>
          </a:p>
          <a:p/>
          <a:p>
            <a:r>
              <a:t>질문 대상: 삼성전자</a:t>
            </a:r>
          </a:p>
          <a:p/>
          <a:p>
            <a:r>
              <a:t>새 대화</a:t>
            </a:r>
          </a:p>
          <a:p>
            <a:r>
              <a:t>질문에 연결할 대상</a:t>
            </a:r>
          </a:p>
          <a:p>
            <a:r>
              <a:t>삼성전자</a:t>
            </a:r>
          </a:p>
          <a:p>
            <a:r>
              <a:t>직접 이슈 27건 · 2026-07-22 ~ 2028년 · 근거 43건</a:t>
            </a:r>
          </a:p>
          <a:p/>
          <a:p>
            <a:r>
              <a:t>이전 대화를 확인하지 못했어요</a:t>
            </a:r>
          </a:p>
          <a:p/>
          <a:p>
            <a:r>
              <a:t>대화가 없는 것이 아니라 확인에 실패했어요. 다시 확인하면 이어서 질문할 수 있어요.</a:t>
            </a:r>
          </a:p>
          <a:p/>
          <a:p>
            <a:r>
              <a:t>자세히</a:t>
            </a:r>
          </a:p>
          <a:p>
            <a:r>
              <a:t>다시 시도</a:t>
            </a:r>
          </a:p>
          <a:p>
            <a:r>
              <a:t>질문</a:t>
            </a:r>
          </a:p>
          <a:p>
            <a:r>
              <a:t>보내기</a:t>
            </a:r>
          </a:p>
          <a:p/>
          <a:p>
            <a:r>
              <a:t>AI가 생성한 예시 답변이며 투자 권유가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M-GRP-01-before.png</a:t>
            </a:r>
          </a:p>
          <a:p>
            <a:r>
              <a:t>좌표·클릭 후 실제 화면: M-GRP-01-before.json</a:t>
            </a:r>
          </a:p>
          <a:p>
            <a:r>
              <a:t>본문으로 건너뛰기</a:t>
            </a:r>
          </a:p>
          <a:p>
            <a:r>
              <a:t>줍</a:t>
            </a:r>
          </a:p>
          <a:p>
            <a:r>
              <a:t>Zoop</a:t>
            </a:r>
          </a:p>
          <a:p>
            <a:r>
              <a:t>시장 전체 지도</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지도</a:t>
            </a:r>
          </a:p>
          <a:p>
            <a:r>
              <a:t>종목</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M-STK-01-before.png</a:t>
            </a:r>
          </a:p>
          <a:p>
            <a:r>
              <a:t>좌표·클릭 후 실제 화면: M-STK-01-before.json</a:t>
            </a:r>
          </a:p>
          <a:p>
            <a:r>
              <a:t>본문으로 건너뛰기</a:t>
            </a:r>
          </a:p>
          <a:p>
            <a:r>
              <a:t>줍</a:t>
            </a:r>
          </a:p>
          <a:p>
            <a:r>
              <a:t>Zoop</a:t>
            </a:r>
          </a:p>
          <a:p>
            <a:r>
              <a:t>종목</a:t>
            </a:r>
          </a:p>
          <a:p>
            <a:r>
              <a:t>기업명·영문명·티커 검색</a:t>
            </a:r>
          </a:p>
          <a:p>
            <a:r>
              <a:t>검색</a:t>
            </a:r>
          </a:p>
          <a:p>
            <a:r>
              <a:t>시장 전체</a:t>
            </a:r>
          </a:p>
          <a:p>
            <a:r>
              <a:t>내 종목</a:t>
            </a:r>
          </a:p>
          <a:p/>
          <a:p>
            <a:r>
              <a:t>5개 종목</a:t>
            </a:r>
          </a:p>
          <a:p/>
          <a:p>
            <a:r>
              <a:t>삼</a:t>
            </a:r>
          </a:p>
          <a:p>
            <a:r>
              <a:t>삼성SDI</a:t>
            </a:r>
          </a:p>
          <a:p>
            <a:r>
              <a:t>006400 · 승인 사건 6건</a:t>
            </a:r>
          </a:p>
          <a:p>
            <a:r>
              <a:t>보유</a:t>
            </a:r>
          </a:p>
          <a:p>
            <a:r>
              <a:t>569,000원</a:t>
            </a:r>
          </a:p>
          <a:p>
            <a:r>
              <a:t>▲ +7.56%</a:t>
            </a:r>
          </a:p>
          <a:p>
            <a:r>
              <a:t>상승</a:t>
            </a:r>
          </a:p>
          <a:p>
            <a:r>
              <a:t>삼</a:t>
            </a:r>
          </a:p>
          <a:p>
            <a:r>
              <a:t>삼성물산</a:t>
            </a:r>
          </a:p>
          <a:p>
            <a:r>
              <a:t>028260 · 승인 사건 2건</a:t>
            </a:r>
          </a:p>
          <a:p>
            <a:r>
              <a:t>342,000원</a:t>
            </a:r>
          </a:p>
          <a:p>
            <a:r>
              <a:t>▼ -1.16%</a:t>
            </a:r>
          </a:p>
          <a:p>
            <a:r>
              <a:t>하락</a:t>
            </a:r>
          </a:p>
          <a:p>
            <a:r>
              <a:t>삼</a:t>
            </a:r>
          </a:p>
          <a:p>
            <a:r>
              <a:t>삼성에스디에스</a:t>
            </a:r>
          </a:p>
          <a:p>
            <a:r>
              <a:t>018260 · 승인 사건 2건</a:t>
            </a:r>
          </a:p>
          <a:p>
            <a:r>
              <a:t>218,500원</a:t>
            </a:r>
          </a:p>
          <a:p>
            <a:r>
              <a:t>▼ -0.46%</a:t>
            </a:r>
          </a:p>
          <a:p>
            <a:r>
              <a:t>하락</a:t>
            </a:r>
          </a:p>
          <a:p>
            <a:r>
              <a:t>삼</a:t>
            </a:r>
          </a:p>
          <a:p>
            <a:r>
              <a:t>삼성전기</a:t>
            </a:r>
          </a:p>
          <a:p>
            <a:r>
              <a:t>009150 · 승인 사건 1건</a:t>
            </a:r>
          </a:p>
          <a:p>
            <a:r>
              <a:t>1,668,000원</a:t>
            </a:r>
          </a:p>
          <a:p>
            <a:r>
              <a:t>▲ +5.50%</a:t>
            </a:r>
          </a:p>
          <a:p>
            <a:r>
              <a:t>상승</a:t>
            </a:r>
          </a:p>
          <a:p>
            <a:r>
              <a:t>삼성전자</a:t>
            </a:r>
          </a:p>
          <a:p>
            <a:r>
              <a:t>005930 · 승인 사건 27건</a:t>
            </a:r>
          </a:p>
          <a:p>
            <a:r>
              <a:t>보유</a:t>
            </a:r>
          </a:p>
          <a:p>
            <a:r>
              <a:t>271,500원</a:t>
            </a:r>
          </a:p>
          <a:p>
            <a:r>
              <a:t>▼ -1.63%</a:t>
            </a:r>
          </a:p>
          <a:p>
            <a:r>
              <a:t>하락</a:t>
            </a:r>
          </a:p>
          <a:p>
            <a:r>
              <a:t>지도</a:t>
            </a:r>
          </a:p>
          <a:p>
            <a:r>
              <a:t>종목</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M-BRF-01-before.png</a:t>
            </a:r>
          </a:p>
          <a:p>
            <a:r>
              <a:t>좌표·클릭 후 실제 화면: M-BRF-01-before.json</a:t>
            </a:r>
          </a:p>
          <a:p>
            <a:r>
              <a:t>본문으로 건너뛰기</a:t>
            </a:r>
          </a:p>
          <a:p>
            <a:r>
              <a:t>줍</a:t>
            </a:r>
          </a:p>
          <a:p>
            <a:r>
              <a:t>Zoop</a:t>
            </a:r>
          </a:p>
          <a:p>
            <a:r>
              <a:t>브리핑</a:t>
            </a:r>
          </a:p>
          <a:p>
            <a:r>
              <a:t>발행일</a:t>
            </a:r>
          </a:p>
          <a:p>
            <a:r>
              <a:t>2026-09-17</a:t>
            </a:r>
          </a:p>
          <a:p>
            <a:r>
              <a:t>출근</a:t>
            </a:r>
          </a:p>
          <a:p>
            <a:r>
              <a:t>퇴근</a:t>
            </a:r>
          </a:p>
          <a:p>
            <a:r>
              <a:t>출근 브리핑</a:t>
            </a:r>
          </a:p>
          <a:p>
            <a:r>
              <a:t>발행</a:t>
            </a:r>
          </a:p>
          <a:p>
            <a:r>
              <a:t>발행일</a:t>
            </a:r>
          </a:p>
          <a:p>
            <a:r>
              <a:t>2026-09-17</a:t>
            </a:r>
          </a:p>
          <a:p>
            <a:r>
              <a:t>예정</a:t>
            </a:r>
          </a:p>
          <a:p>
            <a:r>
              <a:t>07:40</a:t>
            </a:r>
          </a:p>
          <a:p>
            <a:r>
              <a:t>생성·발행</a:t>
            </a:r>
          </a:p>
          <a:p>
            <a:r>
              <a:t>2026-09-17 07:41 KST</a:t>
            </a:r>
          </a:p>
          <a:p>
            <a:r>
              <a:t>데이터 기준</a:t>
            </a:r>
          </a:p>
          <a:p>
            <a:r>
              <a:t>2026-09-17 07:40 KST</a:t>
            </a:r>
          </a:p>
          <a:p>
            <a:r>
              <a:t>주요 시장 지표</a:t>
            </a:r>
          </a:p>
          <a:p>
            <a:r>
              <a:t>KOSPI</a:t>
            </a:r>
          </a:p>
          <a:p/>
          <a:p>
            <a:r>
              <a:t>9월 16일 종가</a:t>
            </a:r>
          </a:p>
          <a:p>
            <a:r>
              <a:t>9월 15일 종가 대비</a:t>
            </a:r>
          </a:p>
          <a:p/>
          <a:p>
            <a:r>
              <a:t>6,717.97</a:t>
            </a:r>
          </a:p>
          <a:p>
            <a:r>
              <a:t>▲ +90.71 (+1.37%)</a:t>
            </a:r>
          </a:p>
          <a:p>
            <a:r>
              <a:t>상승</a:t>
            </a:r>
          </a:p>
          <a:p>
            <a:r>
              <a:t>KOSDAQ</a:t>
            </a:r>
          </a:p>
          <a:p/>
          <a:p>
            <a:r>
              <a:t>9월 16일 종가</a:t>
            </a:r>
          </a:p>
          <a:p>
            <a:r>
              <a:t>9월 15일 종가 대비</a:t>
            </a:r>
          </a:p>
          <a:p/>
          <a:p>
            <a:r>
              <a:t>815.98</a:t>
            </a:r>
          </a:p>
          <a:p>
            <a:r>
              <a:t>▲ +3.57 (+0.44%)</a:t>
            </a:r>
          </a:p>
          <a:p>
            <a:r>
              <a:t>상승</a:t>
            </a:r>
          </a:p>
          <a:p>
            <a:r>
              <a:t>원/달러</a:t>
            </a:r>
          </a:p>
          <a:p/>
          <a:p>
            <a:r>
              <a:t>9월 17일 07:35 기준</a:t>
            </a:r>
          </a:p>
          <a:p>
            <a:r>
              <a:t>9월 16일 15:30 대비</a:t>
            </a:r>
          </a:p>
          <a:p/>
          <a:p>
            <a:r>
              <a:t>1,377.17원</a:t>
            </a:r>
          </a:p>
          <a:p>
            <a:r>
              <a:t>▲ +8.79원 (+0.64%)</a:t>
            </a:r>
          </a:p>
          <a:p>
            <a:r>
              <a:t>상승</a:t>
            </a:r>
          </a:p>
          <a:p>
            <a:r>
              <a:t>핵심 이슈</a:t>
            </a:r>
          </a:p>
          <a:p>
            <a:r>
              <a:t>이 회차 전체 관계 그래프</a:t>
            </a:r>
          </a:p>
          <a:p>
            <a:r>
              <a:t>발생 시각 미상</a:t>
            </a:r>
          </a:p>
          <a:p>
            <a:r>
              <a:t>보도 기사</a:t>
            </a:r>
          </a:p>
          <a:p>
            <a:r>
              <a:t>1</a:t>
            </a:r>
          </a:p>
          <a:p>
            <a:r>
              <a:t>1.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1번째로 최근입니다 · 근거 1건</a:t>
            </a:r>
          </a:p>
          <a:p/>
          <a:p>
            <a:r>
              <a:t>이 회차 관계 그래프에서 보기</a:t>
            </a:r>
          </a:p>
          <a:p>
            <a:r>
              <a:t>발생 시각 미상</a:t>
            </a:r>
          </a:p>
          <a:p>
            <a:r>
              <a:t>보도 기사</a:t>
            </a:r>
          </a:p>
          <a:p>
            <a:r>
              <a:t>1</a:t>
            </a:r>
          </a:p>
          <a:p>
            <a:r>
              <a:t>2. NVIDIA Vera Rubin NVL72 Delivers Leading Performance in MLPerf Inference v6.1 Debut</a:t>
            </a:r>
          </a:p>
          <a:p/>
          <a:p>
            <a:r>
              <a:t>관련 기업:</a:t>
            </a:r>
          </a:p>
          <a:p>
            <a:r>
              <a:t>NVIDIA</a:t>
            </a:r>
          </a:p>
          <a:p/>
          <a:p>
            <a:r>
              <a:t>근거</a:t>
            </a:r>
          </a:p>
          <a:p>
            <a:r>
              <a:t>3</a:t>
            </a:r>
          </a:p>
          <a:p/>
          <a:p>
            <a:r>
              <a:t>선정 이유 이번 회차 데이터 창 안의 승인 이슈 7건 중 사건 시각이 2번째로 최근입니다 · 근거 3건</a:t>
            </a:r>
          </a:p>
          <a:p/>
          <a:p>
            <a:r>
              <a:t>이 회차 관계 그래프에서 보기</a:t>
            </a:r>
          </a:p>
          <a:p>
            <a:r>
              <a:t>발생 시각 미상</a:t>
            </a:r>
          </a:p>
          <a:p>
            <a:r>
              <a:t>보도 기사</a:t>
            </a:r>
          </a:p>
          <a:p>
            <a:r>
              <a:t>1</a:t>
            </a:r>
          </a:p>
          <a:p>
            <a:r>
              <a:t>3. NVIDIA Vera Rubin NVL72 Delivers Leading Performance in MLPerf Inference v6.1 Debut</a:t>
            </a:r>
          </a:p>
          <a:p/>
          <a:p>
            <a:r>
              <a:t>관련 기업:</a:t>
            </a:r>
          </a:p>
          <a:p>
            <a:r>
              <a:t>NVIDIA</a:t>
            </a:r>
          </a:p>
          <a:p/>
          <a:p>
            <a:r>
              <a:t>근거</a:t>
            </a:r>
          </a:p>
          <a:p>
            <a:r>
              <a:t>1</a:t>
            </a:r>
          </a:p>
          <a:p/>
          <a:p>
            <a:r>
              <a:t>선정 이유 이번 회차 데이터 창 안의 승인 이슈 7건 중 사건 시각이 3번째로 최근입니다 · 근거 1건</a:t>
            </a:r>
          </a:p>
          <a:p/>
          <a:p>
            <a:r>
              <a:t>이 회차 관계 그래프에서 보기</a:t>
            </a:r>
          </a:p>
          <a:p>
            <a:r>
              <a:t>이 회차가 도움이 됐나요?</a:t>
            </a:r>
          </a:p>
          <a:p>
            <a:r>
              <a:t>근거 문서</a:t>
            </a:r>
          </a:p>
          <a:p>
            <a:r>
              <a:t>5</a:t>
            </a:r>
          </a:p>
          <a:p/>
          <a:p>
            <a:r>
              <a:t>본 정보는 참고용이며 투자 권유가 아니에요.</a:t>
            </a:r>
          </a:p>
          <a:p/>
          <a:p>
            <a:r>
              <a:t>지도</a:t>
            </a:r>
          </a:p>
          <a:p>
            <a:r>
              <a:t>종목</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M-AI-01-before.png</a:t>
            </a:r>
          </a:p>
          <a:p>
            <a:r>
              <a:t>좌표·클릭 후 실제 화면: M-AI-01-before.json</a:t>
            </a:r>
          </a:p>
          <a:p>
            <a:r>
              <a:t>본문으로 건너뛰기</a:t>
            </a:r>
          </a:p>
          <a:p>
            <a:r>
              <a:t>줍</a:t>
            </a:r>
          </a:p>
          <a:p>
            <a:r>
              <a:t>Zoop</a:t>
            </a:r>
          </a:p>
          <a:p>
            <a:r>
              <a:t>시장 전체 지도</a:t>
            </a:r>
          </a:p>
          <a:p>
            <a:r>
              <a:t>시장 전체</a:t>
            </a:r>
          </a:p>
          <a:p>
            <a:r>
              <a:t>내 종목</a:t>
            </a:r>
          </a:p>
          <a:p>
            <a:r>
              <a:t>기업</a:t>
            </a:r>
          </a:p>
          <a:p>
            <a:r>
              <a:t>26</a:t>
            </a:r>
          </a:p>
          <a:p>
            <a:r>
              <a:t>사건</a:t>
            </a:r>
          </a:p>
          <a:p>
            <a:r>
              <a:t>138</a:t>
            </a:r>
          </a:p>
          <a:p>
            <a:r>
              <a:t>보유</a:t>
            </a:r>
          </a:p>
          <a:p>
            <a:r>
              <a:t>3</a:t>
            </a:r>
          </a:p>
          <a:p>
            <a:r>
              <a:t>관심</a:t>
            </a:r>
          </a:p>
          <a:p>
            <a:r>
              <a:t>1</a:t>
            </a:r>
          </a:p>
          <a:p>
            <a:r>
              <a:t>직접 관련</a:t>
            </a:r>
          </a:p>
          <a:p>
            <a:r>
              <a:t>130</a:t>
            </a:r>
          </a:p>
          <a:p>
            <a:r>
              <a:t>후속 사건</a:t>
            </a:r>
          </a:p>
          <a:p>
            <a:r>
              <a:t>2</a:t>
            </a:r>
          </a:p>
          <a:p>
            <a:r>
              <a:t>사건 공유</a:t>
            </a:r>
          </a:p>
          <a:p>
            <a:r>
              <a:t>38</a:t>
            </a:r>
          </a:p>
          <a:p/>
          <a:p>
            <a:r>
              <a:t>지도</a:t>
            </a:r>
          </a:p>
          <a:p>
            <a:r>
              <a:t>종목</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M-COM-01-before.png</a:t>
            </a:r>
          </a:p>
          <a:p>
            <a:r>
              <a:t>좌표·클릭 후 실제 화면: M-COM-01-before.json</a:t>
            </a:r>
          </a:p>
          <a:p>
            <a:r>
              <a:t>본문으로 건너뛰기</a:t>
            </a:r>
          </a:p>
          <a:p>
            <a:r>
              <a:t>줍</a:t>
            </a:r>
          </a:p>
          <a:p>
            <a:r>
              <a:t>Zoop</a:t>
            </a:r>
          </a:p>
          <a:p>
            <a:r>
              <a:t>삼성전자 · 다른 기업 보기</a:t>
            </a:r>
          </a:p>
          <a:p>
            <a:r>
              <a:t>관계 그래프 보기</a:t>
            </a:r>
          </a:p>
          <a:p>
            <a:r>
              <a:t>삼성전자</a:t>
            </a:r>
          </a:p>
          <a:p>
            <a:r>
              <a:t>005930</a:t>
            </a:r>
          </a:p>
          <a:p>
            <a:r>
              <a:t>보유</a:t>
            </a:r>
          </a:p>
          <a:p>
            <a:r>
              <a:t>시세</a:t>
            </a:r>
          </a:p>
          <a:p/>
          <a:p>
            <a:r>
              <a:t>271,750원</a:t>
            </a:r>
          </a:p>
          <a:p/>
          <a:p>
            <a:r>
              <a:t>전일 대비</a:t>
            </a:r>
          </a:p>
          <a:p>
            <a:r>
              <a:t>▼ -4,250원 (-1.54%)</a:t>
            </a:r>
          </a:p>
          <a:p>
            <a:r>
              <a:t>하락</a:t>
            </a:r>
          </a:p>
          <a:p/>
          <a:p>
            <a:r>
              <a:t>전일 대비 · 기준 2026-10-06 12:26 KST · Yahoo Finance · 지연 가능</a:t>
            </a:r>
          </a:p>
          <a:p>
            <a:r>
              <a:t>거래량</a:t>
            </a:r>
          </a:p>
          <a:p>
            <a:r>
              <a:t>664만주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5,435,000원</a:t>
            </a:r>
          </a:p>
          <a:p>
            <a:r>
              <a:t>자산 비중</a:t>
            </a:r>
          </a:p>
          <a:p>
            <a:r>
              <a:t>계산 불가</a:t>
            </a:r>
          </a:p>
          <a:p>
            <a:r>
              <a:t>평가 손익</a:t>
            </a:r>
          </a:p>
          <a:p>
            <a:r>
              <a:t>▲ +4,235,000원 (+352.92%)</a:t>
            </a:r>
          </a:p>
          <a:p>
            <a:r>
              <a:t>상승</a:t>
            </a:r>
          </a:p>
          <a:p/>
          <a:p>
            <a:r>
              <a:t>모의 정보 기준 2026-10-06 12:43 KST · 평가 계산 2026-10-06 12:46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2026-10-06 12:46 KST · 일 버킷</a:t>
            </a:r>
          </a:p>
          <a:p/>
          <a:p>
            <a:r>
              <a:t>1개월 주가. 처음 9월 7일 270,000원, 마지막 10월 6일 271,500원. 최고 285,500원(9월 23일), 최저 248,500원(9월 15일). 사건이 있었던 날 4곳을 표시했어요.</a:t>
            </a:r>
          </a:p>
          <a:p/>
          <a:p>
            <a:r>
              <a:t>1개월 · 처음 시세 대비</a:t>
            </a:r>
          </a:p>
          <a:p>
            <a:r>
              <a:t>▲ +1,500원 (+0.56%)</a:t>
            </a:r>
          </a:p>
          <a:p>
            <a:r>
              <a:t>상승</a:t>
            </a:r>
          </a:p>
          <a:p>
            <a:r>
              <a:t>285,500원</a:t>
            </a:r>
          </a:p>
          <a:p>
            <a:r>
              <a:t>248,500원</a:t>
            </a:r>
          </a:p>
          <a:p>
            <a:r>
              <a:t>9월 7일</a:t>
            </a:r>
          </a:p>
          <a:p>
            <a:r>
              <a:t>10월 6일</a:t>
            </a:r>
          </a:p>
          <a:p>
            <a:r>
              <a:t>Yahoo Finance · 일별 종가</a:t>
            </a:r>
          </a:p>
          <a:p>
            <a:r>
              <a:t>마지막 시세 2026-10-06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2026-10-06 12:46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a:p>
            <a:r>
              <a:t>지도</a:t>
            </a:r>
          </a:p>
          <a:p>
            <a:r>
              <a:t>종목</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M-COM-02-before.png</a:t>
            </a:r>
          </a:p>
          <a:p>
            <a:r>
              <a:t>좌표·클릭 후 실제 화면: M-COM-02-before.json</a:t>
            </a:r>
          </a:p>
          <a:p>
            <a:r>
              <a:t>본문으로 건너뛰기</a:t>
            </a:r>
          </a:p>
          <a:p>
            <a:r>
              <a:t>줍</a:t>
            </a:r>
          </a:p>
          <a:p>
            <a:r>
              <a:t>Zoop</a:t>
            </a:r>
          </a:p>
          <a:p>
            <a:r>
              <a:t>삼성전자 · 다른 기업 보기</a:t>
            </a:r>
          </a:p>
          <a:p>
            <a:r>
              <a:t>관계 그래프 보기</a:t>
            </a:r>
          </a:p>
          <a:p>
            <a:r>
              <a:t>삼성전자</a:t>
            </a:r>
          </a:p>
          <a:p>
            <a:r>
              <a:t>005930</a:t>
            </a:r>
          </a:p>
          <a:p>
            <a:r>
              <a:t>보유</a:t>
            </a:r>
          </a:p>
          <a:p>
            <a:r>
              <a:t>시세</a:t>
            </a:r>
          </a:p>
          <a:p/>
          <a:p>
            <a:r>
              <a:t>271,500원</a:t>
            </a:r>
          </a:p>
          <a:p/>
          <a:p>
            <a:r>
              <a:t>전일 대비</a:t>
            </a:r>
          </a:p>
          <a:p>
            <a:r>
              <a:t>▼ -4,500원 (-1.63%)</a:t>
            </a:r>
          </a:p>
          <a:p>
            <a:r>
              <a:t>하락</a:t>
            </a:r>
          </a:p>
          <a:p/>
          <a:p>
            <a:r>
              <a:t>전일 대비 · 기준 2026-10-06 12:26 KST · Yahoo Finance · 지연 가능</a:t>
            </a:r>
          </a:p>
          <a:p>
            <a:r>
              <a:t>거래량</a:t>
            </a:r>
          </a:p>
          <a:p>
            <a:r>
              <a:t>664.2만주</a:t>
            </a:r>
          </a:p>
          <a:p>
            <a:r>
              <a:t>당일 저가 ~ 고가</a:t>
            </a:r>
          </a:p>
          <a:p>
            <a:r>
              <a:t>271,000원 ~ 279,000원</a:t>
            </a:r>
          </a:p>
          <a:p>
            <a:r>
              <a:t>52주 저가 ~ 고가</a:t>
            </a:r>
          </a:p>
          <a:p>
            <a:r>
              <a:t>89,750원 ~ 374,500원</a:t>
            </a:r>
          </a:p>
          <a:p>
            <a:r>
              <a:t>주요 지표</a:t>
            </a:r>
          </a:p>
          <a:p>
            <a:r>
              <a:t>주요 지표 · 네이버 증권 · 기준 2026-10-06 12:39 KST</a:t>
            </a:r>
          </a:p>
          <a:p>
            <a:r>
              <a:t>시가총액</a:t>
            </a:r>
          </a:p>
          <a:p>
            <a:r>
              <a:t>1,588조 7,262억</a:t>
            </a:r>
          </a:p>
          <a:p>
            <a:r>
              <a:t>PER</a:t>
            </a:r>
          </a:p>
          <a:p>
            <a:r>
              <a:t>12.19배</a:t>
            </a:r>
          </a:p>
          <a:p>
            <a:r>
              <a:t>(2026.06. 기준)</a:t>
            </a:r>
          </a:p>
          <a:p>
            <a:r>
              <a:t>EPS</a:t>
            </a:r>
          </a:p>
          <a:p>
            <a:r>
              <a:t>22,292원</a:t>
            </a:r>
          </a:p>
          <a:p>
            <a:r>
              <a:t>(2026.06. 기준)</a:t>
            </a:r>
          </a:p>
          <a:p>
            <a:r>
              <a:t>PBR</a:t>
            </a:r>
          </a:p>
          <a:p>
            <a:r>
              <a:t>3.16배</a:t>
            </a:r>
          </a:p>
          <a:p>
            <a:r>
              <a:t>(2026.06. 기준)</a:t>
            </a:r>
          </a:p>
          <a:p>
            <a:r>
              <a:t>BPS</a:t>
            </a:r>
          </a:p>
          <a:p>
            <a:r>
              <a:t>86,052원</a:t>
            </a:r>
          </a:p>
          <a:p>
            <a:r>
              <a:t>(2026.06. 기준)</a:t>
            </a:r>
          </a:p>
          <a:p>
            <a:r>
              <a:t>배당수익률</a:t>
            </a:r>
          </a:p>
          <a:p>
            <a:r>
              <a:t>0.61%</a:t>
            </a:r>
          </a:p>
          <a:p>
            <a:r>
              <a:t>(2025.12. 기준)</a:t>
            </a:r>
          </a:p>
          <a:p>
            <a:r>
              <a:t>주당배당금</a:t>
            </a:r>
          </a:p>
          <a:p>
            <a:r>
              <a:t>1,668원</a:t>
            </a:r>
          </a:p>
          <a:p>
            <a:r>
              <a:t>(2025.12. 기준)</a:t>
            </a:r>
          </a:p>
          <a:p>
            <a:r>
              <a:t>외국인 소진율</a:t>
            </a:r>
          </a:p>
          <a:p>
            <a:r>
              <a:t>46.41%</a:t>
            </a:r>
          </a:p>
          <a:p>
            <a:r>
              <a:t>가상 계좌 보유</a:t>
            </a:r>
          </a:p>
          <a:p>
            <a:r>
              <a:t>보유 수량</a:t>
            </a:r>
          </a:p>
          <a:p>
            <a:r>
              <a:t>20주</a:t>
            </a:r>
          </a:p>
          <a:p>
            <a:r>
              <a:t>평균 매입가</a:t>
            </a:r>
          </a:p>
          <a:p>
            <a:r>
              <a:t>60,000원</a:t>
            </a:r>
          </a:p>
          <a:p>
            <a:r>
              <a:t>평가 금액</a:t>
            </a:r>
          </a:p>
          <a:p>
            <a:r>
              <a:t>5,430,000원</a:t>
            </a:r>
          </a:p>
          <a:p>
            <a:r>
              <a:t>자산 비중</a:t>
            </a:r>
          </a:p>
          <a:p>
            <a:r>
              <a:t>계산 불가</a:t>
            </a:r>
          </a:p>
          <a:p>
            <a:r>
              <a:t>평가 손익</a:t>
            </a:r>
          </a:p>
          <a:p>
            <a:r>
              <a:t>▲ +4,230,000원 (+352.50%)</a:t>
            </a:r>
          </a:p>
          <a:p>
            <a:r>
              <a:t>상승</a:t>
            </a:r>
          </a:p>
          <a:p/>
          <a:p>
            <a:r>
              <a:t>모의 정보 기준 2026-10-06 12:43 KST · 평가 계산 2026-10-06 12:46 KST</a:t>
            </a:r>
          </a:p>
          <a:p/>
          <a:p>
            <a:r>
              <a:t>자산 비중: 보유 종목의 시세 통화가 서로 달라요. 환율로 바꾸지 않아 합계와 비중을 계산하지 않았어요.</a:t>
            </a:r>
          </a:p>
          <a:p/>
          <a:p>
            <a:r>
              <a:t>사건</a:t>
            </a:r>
          </a:p>
          <a:p>
            <a:r>
              <a:t>문서</a:t>
            </a:r>
          </a:p>
          <a:p>
            <a:r>
              <a:t>기업 정보</a:t>
            </a:r>
          </a:p>
          <a:p>
            <a:r>
              <a:t>사건 타임라인</a:t>
            </a:r>
          </a:p>
          <a:p>
            <a:r>
              <a:t>1일</a:t>
            </a:r>
          </a:p>
          <a:p>
            <a:r>
              <a:t>1주</a:t>
            </a:r>
          </a:p>
          <a:p>
            <a:r>
              <a:t>1개월</a:t>
            </a:r>
          </a:p>
          <a:p>
            <a:r>
              <a:t>1년</a:t>
            </a:r>
          </a:p>
          <a:p>
            <a:r>
              <a:t>전체</a:t>
            </a:r>
          </a:p>
          <a:p>
            <a:r>
              <a:t>직접 관련</a:t>
            </a:r>
          </a:p>
          <a:p>
            <a:r>
              <a:t>구조적 관련</a:t>
            </a:r>
          </a:p>
          <a:p>
            <a:r>
              <a:t>최신 시점</a:t>
            </a:r>
          </a:p>
          <a:p/>
          <a:p>
            <a:r>
              <a:t>기준 2026-09-30 23:59 KST · 일 버킷</a:t>
            </a:r>
          </a:p>
          <a:p/>
          <a:p>
            <a:r>
              <a:t>1개월 주가. 처음 8월 31일 260,000원, 마지막 9월 30일 268,500원. 최고 285,500원(9월 23일), 최저 248,500원(9월 15일). 사건이 있었던 날 4곳을 표시했어요.</a:t>
            </a:r>
          </a:p>
          <a:p/>
          <a:p>
            <a:r>
              <a:t>1개월 · 처음 시세 대비</a:t>
            </a:r>
          </a:p>
          <a:p>
            <a:r>
              <a:t>▲ +8,500원 (+3.27%)</a:t>
            </a:r>
          </a:p>
          <a:p>
            <a:r>
              <a:t>상승</a:t>
            </a:r>
          </a:p>
          <a:p>
            <a:r>
              <a:t>285,500원</a:t>
            </a:r>
          </a:p>
          <a:p>
            <a:r>
              <a:t>248,500원</a:t>
            </a:r>
          </a:p>
          <a:p>
            <a:r>
              <a:t>8월 31일</a:t>
            </a:r>
          </a:p>
          <a:p>
            <a:r>
              <a:t>9월 30일</a:t>
            </a:r>
          </a:p>
          <a:p>
            <a:r>
              <a:t>Yahoo Finance · 일별 종가</a:t>
            </a:r>
          </a:p>
          <a:p>
            <a:r>
              <a:t>마지막 시세 2026-09-30 09:00 KST</a:t>
            </a:r>
          </a:p>
          <a:p/>
          <a:p>
            <a:r>
              <a:t>차트와 사건의 시점이 겹쳐도 인과관계를 뜻하지는 않아요.</a:t>
            </a:r>
          </a:p>
          <a:p/>
          <a:p>
            <a:r>
              <a:t>표로 보기</a:t>
            </a:r>
          </a:p>
          <a:p/>
          <a:p>
            <a:r>
              <a:t>1개월 · 사건 17건</a:t>
            </a:r>
          </a:p>
          <a:p/>
          <a:p>
            <a:r>
              <a:t>2026-09-29</a:t>
            </a:r>
          </a:p>
          <a:p>
            <a:r>
              <a:t>사건 1건</a:t>
            </a:r>
          </a:p>
          <a:p>
            <a:r>
              <a:t>근거 문서</a:t>
            </a:r>
          </a:p>
          <a:p>
            <a:r>
              <a:t>1</a:t>
            </a:r>
          </a:p>
          <a:p>
            <a:r>
              <a:t>삼성 6개사, 美 AI 인프라 기업 ‘헬릭스’에 10억 달러 투자</a:t>
            </a:r>
          </a:p>
          <a:p/>
          <a:p>
            <a:r>
              <a:t>Helix Digital Infrastructure</a:t>
            </a:r>
          </a:p>
          <a:p/>
          <a:p>
            <a:r>
              <a:t>2026-09-17</a:t>
            </a:r>
          </a:p>
          <a:p>
            <a:r>
              <a:t>사건 1건</a:t>
            </a:r>
          </a:p>
          <a:p>
            <a:r>
              <a:t>근거 문서</a:t>
            </a:r>
          </a:p>
          <a:p>
            <a:r>
              <a:t>1</a:t>
            </a:r>
          </a:p>
          <a:p>
            <a:r>
              <a:t>삼성전자, 필리핀 복합단지 개발사업에 통합 운영 솔루션 공급 협력</a:t>
            </a:r>
          </a:p>
          <a:p/>
          <a:p>
            <a:r>
              <a:t>그란츠 포레스트 파크 개발사업 (필리핀 세부)</a:t>
            </a:r>
          </a:p>
          <a:p/>
          <a:p>
            <a:r>
              <a:t>2026-09-11</a:t>
            </a:r>
          </a:p>
          <a:p>
            <a:r>
              <a:t>사건 1건</a:t>
            </a:r>
          </a:p>
          <a:p>
            <a:r>
              <a:t>근거 문서</a:t>
            </a:r>
          </a:p>
          <a:p>
            <a:r>
              <a:t>1</a:t>
            </a:r>
          </a:p>
          <a:p>
            <a:r>
              <a:t>[영상] 요즘 사람들의 책 읽기, 민음사와 함께 한 갤럭시 Z 폴드8 북토크 현장</a:t>
            </a:r>
          </a:p>
          <a:p/>
          <a:p>
            <a:r>
              <a:t>갤럭시 Z 폴드8과 민음사가 함께하는 북토크</a:t>
            </a:r>
          </a:p>
          <a:p/>
          <a:p>
            <a:r>
              <a:t>2026-09-08</a:t>
            </a:r>
          </a:p>
          <a:p>
            <a:r>
              <a:t>사건 1건</a:t>
            </a:r>
          </a:p>
          <a:p>
            <a:r>
              <a:t>근거 문서</a:t>
            </a:r>
          </a:p>
          <a:p>
            <a:r>
              <a:t>1</a:t>
            </a:r>
          </a:p>
          <a:p>
            <a:r>
              <a:t>최대주주등소유주식변동신고서</a:t>
            </a:r>
          </a:p>
          <a:p>
            <a:r>
              <a:t>발생 시점 미상</a:t>
            </a:r>
          </a:p>
          <a:p>
            <a:r>
              <a:t>사건 13건</a:t>
            </a:r>
          </a:p>
          <a:p>
            <a:r>
              <a:t>Samsung, SK Telecom, and Hana Financial Group Build Korea’s First Private 5G Smart Office in the Financial Sector</a:t>
            </a:r>
          </a:p>
          <a:p/>
          <a:p>
            <a:r>
              <a:t>본 정보는 참고용이며 투자 권유가 아니에요.</a:t>
            </a:r>
          </a:p>
          <a:p/>
          <a:p>
            <a:r>
              <a:t>관계 그래프</a:t>
            </a:r>
          </a:p>
          <a:p>
            <a:r>
              <a:t>지도에서 보기</a:t>
            </a:r>
          </a:p>
          <a:p/>
          <a:p>
            <a:r>
              <a:t>기준 2026-09-30 23:59 KST</a:t>
            </a:r>
          </a:p>
          <a:p/>
          <a:p>
            <a:r>
              <a:t>1단계</a:t>
            </a:r>
          </a:p>
          <a:p>
            <a:r>
              <a:t>2단계</a:t>
            </a:r>
          </a:p>
          <a:p>
            <a:r>
              <a:t>기업</a:t>
            </a:r>
          </a:p>
          <a:p>
            <a:r>
              <a:t>10</a:t>
            </a:r>
          </a:p>
          <a:p>
            <a:r>
              <a:t>사건</a:t>
            </a:r>
          </a:p>
          <a:p>
            <a:r>
              <a:t>27</a:t>
            </a:r>
          </a:p>
          <a:p>
            <a:r>
              <a:t>직접 관련</a:t>
            </a:r>
          </a:p>
          <a:p>
            <a:r>
              <a:t>40</a:t>
            </a:r>
          </a:p>
          <a:p>
            <a:r>
              <a:t>사건 공유</a:t>
            </a:r>
          </a:p>
          <a:p>
            <a:r>
              <a:t>17</a:t>
            </a:r>
          </a:p>
          <a:p/>
          <a:p>
            <a:r>
              <a:t>관계 목록 · 키보드로 선택하기</a:t>
            </a:r>
          </a:p>
          <a:p>
            <a:r>
              <a:t>사건</a:t>
            </a:r>
          </a:p>
          <a:p>
            <a:r>
              <a:t>삼성전자, ASML과 차세대 반도체 제조 협력 확대</a:t>
            </a:r>
          </a:p>
          <a:p>
            <a:r>
              <a:t>A</a:t>
            </a:r>
          </a:p>
          <a:p>
            <a:r>
              <a:t>ASML</a:t>
            </a:r>
          </a:p>
          <a:p>
            <a:r>
              <a:t>사건</a:t>
            </a:r>
          </a:p>
          <a:p>
            <a:r>
              <a:t>삼성 6개사, 美 AI 인프라 기업 ‘헬릭스’에 10억 달러 투자</a:t>
            </a:r>
          </a:p>
          <a:p>
            <a:r>
              <a:t>삼</a:t>
            </a:r>
          </a:p>
          <a:p>
            <a:r>
              <a:t>삼성물산</a:t>
            </a:r>
          </a:p>
          <a:p>
            <a:r>
              <a:t>삼</a:t>
            </a:r>
          </a:p>
          <a:p>
            <a:r>
              <a:t>삼성에스디에스</a:t>
            </a:r>
          </a:p>
          <a:p>
            <a:r>
              <a:t>삼</a:t>
            </a:r>
          </a:p>
          <a:p>
            <a:r>
              <a:t>삼성SDI</a:t>
            </a:r>
          </a:p>
          <a:p>
            <a:r>
              <a:t>NVIDIA</a:t>
            </a:r>
          </a:p>
          <a:p>
            <a:r>
              <a:t>사건</a:t>
            </a:r>
          </a:p>
          <a:p>
            <a:r>
              <a:t>삼성전자, 필리핀 복합단지 개발사업에 통합 운영 솔루션 공급 협력</a:t>
            </a:r>
          </a:p>
          <a:p>
            <a:r>
              <a:t>사건</a:t>
            </a:r>
          </a:p>
          <a:p>
            <a:r>
              <a:t>[영상] 요즘 사람들의 책 읽기, 민음사와 함께 한 갤럭시 Z 폴드8 북토크 현장</a:t>
            </a:r>
          </a:p>
          <a:p>
            <a:r>
              <a:t>사건</a:t>
            </a:r>
          </a:p>
          <a:p>
            <a:r>
              <a:t>최대주주등소유주식변동신고서</a:t>
            </a:r>
          </a:p>
          <a:p>
            <a:r>
              <a:t>사건</a:t>
            </a:r>
          </a:p>
          <a:p>
            <a:r>
              <a:t>삼성전자, 8월 7일 갤럭시 워치 공식 출시</a:t>
            </a:r>
          </a:p>
          <a:p>
            <a:r>
              <a:t>사건</a:t>
            </a:r>
          </a:p>
          <a:p>
            <a:r>
              <a:t>삼성전자, ‘갤럭시 Z 폴드8 울트라·폴드8·플립8’, ‘갤럭시 워치 울트라2·워치9’ 사전 판매 시작</a:t>
            </a:r>
          </a:p>
          <a:p>
            <a:r>
              <a:t>사건</a:t>
            </a:r>
          </a:p>
          <a:p>
            <a:r>
              <a:t>삼성전자, 7월 28일 갤럭시 워치 사전 판매 시작</a:t>
            </a:r>
          </a:p>
          <a:p>
            <a:r>
              <a:t>사건</a:t>
            </a:r>
          </a:p>
          <a:p>
            <a:r>
              <a:t>AI Summit Stage Gathering of Global Tech Leaders at the Midway in San Francisco</a:t>
            </a:r>
          </a:p>
          <a:p>
            <a:r>
              <a:t>현대자동차</a:t>
            </a:r>
          </a:p>
          <a:p>
            <a:r>
              <a:t>NAVER</a:t>
            </a:r>
          </a:p>
          <a:p>
            <a:r>
              <a:t>사건</a:t>
            </a:r>
          </a:p>
          <a:p>
            <a:r>
              <a:t>삼성전자, ‘갤럭시 워치 울트라2·워치9’ 공개</a:t>
            </a:r>
          </a:p>
          <a:p>
            <a:r>
              <a:t>사건</a:t>
            </a:r>
          </a:p>
          <a:p>
            <a:r>
              <a:t>Samsung, SK Telecom, and Hana Financial Group Build Korea’s First Private 5G Smart Office in the Financial Sector</a:t>
            </a:r>
          </a:p>
          <a:p>
            <a:r>
              <a:t>S</a:t>
            </a:r>
          </a:p>
          <a:p>
            <a:r>
              <a:t>SK텔레콤</a:t>
            </a:r>
          </a:p>
          <a:p>
            <a:r>
              <a:t>사건</a:t>
            </a:r>
          </a:p>
          <a:p>
            <a:r>
              <a:t>Samsung, SK Telecom, and Hana Financial Group Build Korea’s First Private 5G Smart Office in the Financial Sector</a:t>
            </a:r>
          </a:p>
          <a:p>
            <a:r>
              <a:t>사건</a:t>
            </a:r>
          </a:p>
          <a:p>
            <a:r>
              <a:t>Samsung Provides AI-Native NIS Solution for SK Telecom’s Project</a:t>
            </a:r>
          </a:p>
          <a:p>
            <a:r>
              <a:t>사건</a:t>
            </a:r>
          </a:p>
          <a:p>
            <a:r>
              <a:t>Samsung to Support KT’s Quadruped Welding Robot Use Case with NIS and CognitiV NOS</a:t>
            </a:r>
          </a:p>
          <a:p>
            <a:r>
              <a:t>K</a:t>
            </a:r>
          </a:p>
          <a:p>
            <a:r>
              <a:t>KT</a:t>
            </a:r>
          </a:p>
          <a:p>
            <a:r>
              <a:t>사건</a:t>
            </a:r>
          </a:p>
          <a:p>
            <a:r>
              <a:t>Samsung Signs AI RAN Project Contracts with KT and SK Telecom Under Korea’s Hyper AI Network Initiative</a:t>
            </a:r>
          </a:p>
          <a:p>
            <a:r>
              <a:t>사건</a:t>
            </a:r>
          </a:p>
          <a:p>
            <a:r>
              <a:t>삼성전자, 가전 테크세미나 개최…지역 맞춤형 AI 가전 선봬</a:t>
            </a:r>
          </a:p>
          <a:p>
            <a:r>
              <a:t>사건</a:t>
            </a:r>
          </a:p>
          <a:p>
            <a:r>
              <a:t>삼성전자, 가전 테크세미나 개최…지역 맞춤형 AI 가전 선봬</a:t>
            </a:r>
          </a:p>
          <a:p>
            <a:r>
              <a:t>사건</a:t>
            </a:r>
          </a:p>
          <a:p>
            <a:r>
              <a:t>삼성전자, ‘2026 기후산업국제박람회’서 일상부터 산업까지 맞춤형 에너지 솔루션 선보여</a:t>
            </a:r>
          </a:p>
          <a:p>
            <a:r>
              <a:t>사건</a:t>
            </a:r>
          </a:p>
          <a:p>
            <a:r>
              <a:t>삼성전자, 상업용 시스템에어컨 세척 프로모션 진행</a:t>
            </a:r>
          </a:p>
          <a:p>
            <a:r>
              <a:t>사건</a:t>
            </a:r>
          </a:p>
          <a:p>
            <a:r>
              <a:t>삼성전자, ASML과 차세대 반도체 제조 협력 확대</a:t>
            </a:r>
          </a:p>
          <a:p>
            <a:r>
              <a:t>사건</a:t>
            </a:r>
          </a:p>
          <a:p>
            <a:r>
              <a:t>최대주주등소유주식변동신고서</a:t>
            </a:r>
          </a:p>
          <a:p>
            <a:r>
              <a:t>사건</a:t>
            </a:r>
          </a:p>
          <a:p>
            <a:r>
              <a:t>최대주주등소유주식변동신고서</a:t>
            </a:r>
          </a:p>
          <a:p>
            <a:r>
              <a:t>사건</a:t>
            </a:r>
          </a:p>
          <a:p>
            <a:r>
              <a:t>삼성전자, ‘갤럭시 Z 폴드8 울트라·폴드8·플립8’, ‘갤럭시 워치 울트라2·워치9’ 사전 판매 시작</a:t>
            </a:r>
          </a:p>
          <a:p>
            <a:r>
              <a:t>사건</a:t>
            </a:r>
          </a:p>
          <a:p>
            <a:r>
              <a:t>삼성전자, 갤럭시 워치 건강 관리 기능 추가</a:t>
            </a:r>
          </a:p>
          <a:p>
            <a:r>
              <a:t>사건</a:t>
            </a:r>
          </a:p>
          <a:p>
            <a:r>
              <a:t>삼성전자·삼성SDS, 구미에 휴머노이드 양산·AI 데이터센터 투자 계획</a:t>
            </a:r>
          </a:p>
          <a:p>
            <a:r>
              <a:t>사건</a:t>
            </a:r>
          </a:p>
          <a:p>
            <a:r>
              <a:t>삼성, 미래 성장 위해 호남에 425조원 투자</a:t>
            </a:r>
          </a:p>
          <a:p>
            <a:r>
              <a:t>사건</a:t>
            </a:r>
          </a:p>
          <a:p>
            <a:r>
              <a:t>삼성, 미래 성장 위해 2,655조원 투자</a:t>
            </a:r>
          </a:p>
          <a:p>
            <a:r>
              <a:t>지도</a:t>
            </a:r>
          </a:p>
          <a:p>
            <a:r>
              <a:t>종목</a:t>
            </a:r>
          </a:p>
          <a:p>
            <a:r>
              <a:t>브리핑</a:t>
            </a:r>
          </a:p>
          <a:p>
            <a:r>
              <a:t>AI</a:t>
            </a:r>
          </a:p>
          <a:p>
            <a:r>
              <a:t>내 종목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D-SEN-01.png</a:t>
            </a:r>
          </a:p>
          <a:p>
            <a:r>
              <a:t>좌표·클릭 후 실제 화면: D-SEN-01.json</a:t>
            </a:r>
          </a:p>
          <a:p>
            <a:r>
              <a:t>본문으로 건너뛰기</a:t>
            </a:r>
          </a:p>
          <a:p>
            <a:r>
              <a:t>줍</a:t>
            </a:r>
          </a:p>
          <a:p>
            <a:r>
              <a:t>Zoop</a:t>
            </a:r>
          </a:p>
          <a:p>
            <a:r>
              <a:t>지도</a:t>
            </a:r>
          </a:p>
          <a:p>
            <a:r>
              <a:t>종목</a:t>
            </a:r>
          </a:p>
          <a:p>
            <a:r>
              <a:t>브리핑</a:t>
            </a:r>
          </a:p>
          <a:p>
            <a:r>
              <a:t>내 종목</a:t>
            </a:r>
          </a:p>
          <a:p>
            <a:r>
              <a:t>데모 사용자님</a:t>
            </a:r>
          </a:p>
          <a:p>
            <a:r>
              <a:t>원칙</a:t>
            </a:r>
          </a:p>
          <a:p>
            <a:r>
              <a:t>색</a:t>
            </a:r>
          </a:p>
          <a:p>
            <a:r>
              <a:t>글꼴</a:t>
            </a:r>
          </a:p>
          <a:p>
            <a:r>
              <a:t>형태</a:t>
            </a:r>
          </a:p>
          <a:p>
            <a:r>
              <a:t>간격</a:t>
            </a:r>
          </a:p>
          <a:p>
            <a:r>
              <a:t>기본 컴포넌트</a:t>
            </a:r>
          </a:p>
          <a:p>
            <a:r>
              <a:t>줍 컴포넌트</a:t>
            </a:r>
          </a:p>
          <a:p>
            <a:r>
              <a:t>그래프</a:t>
            </a:r>
          </a:p>
          <a:p>
            <a:r>
              <a:t>모션</a:t>
            </a:r>
          </a:p>
          <a:p>
            <a:r>
              <a:t>아이콘</a:t>
            </a:r>
          </a:p>
          <a:p>
            <a:r>
              <a:t>UX 라이팅</a:t>
            </a:r>
          </a:p>
          <a:p>
            <a:r>
              <a:t>슬롭 금지 체크리스트</a:t>
            </a:r>
          </a:p>
          <a:p>
            <a:r>
              <a:t>줍 디자인시스템</a:t>
            </a:r>
          </a:p>
          <a:p/>
          <a:p>
            <a:r>
              <a:t>화면을 만들 때 쓰는 색, 글꼴, 간격과 컴포넌트를 모았어요. 아래 컴포넌트는 앱 코드 그대로이고, 기업·기사 내용은 모두 예시예요. 라이트와 다크는 오른쪽 위 테마 버튼으로 바꿔 보세요.</a:t>
            </a:r>
          </a:p>
          <a:p/>
          <a:p>
            <a:r>
              <a:t>원칙</a:t>
            </a:r>
          </a:p>
          <a:p>
            <a:r>
              <a:t>근거가 먼저예요. 기사 인용과 출처 없이 주장하지 않아요.</a:t>
            </a:r>
          </a:p>
          <a:p>
            <a:r>
              <a:t>없는 값은 지어내지 않아요. 시세·감성·AI 요약이 없으면 그 자리를 아예 그리지 않아요(‘준비 중’ 글자도 쓰지 않아요).</a:t>
            </a:r>
          </a:p>
          <a:p>
            <a:r>
              <a:t>색만으로 뜻을 전하지 않아요. 부호, 선 모양, 글자를 함께 써요.</a:t>
            </a:r>
          </a:p>
          <a:p>
            <a:r>
              <a:t>화면 대부분은 회색이에요. 브랜드 색은 주 행동 버튼 1개와 선택 상태에, 기업 상징색은 지도 노드와 기업 표지에만 써요.</a:t>
            </a:r>
          </a:p>
          <a:p>
            <a:r>
              <a:t>상자를 겹치지 않아요. 행, 구분선, 여백으로 묶어요.</a:t>
            </a:r>
          </a:p>
          <a:p>
            <a:r>
              <a:t>메타 문구는 글자 대신 아이콘으로. 설명이 필요하면 아이콘을 누르면 열려요(툴팁 + 팝오버).</a:t>
            </a:r>
          </a:p>
          <a:p>
            <a:r>
              <a:t>색</a:t>
            </a:r>
          </a:p>
          <a:p/>
          <a:p>
            <a:r>
              <a:t>Tailwind 클래스는 용도 뒤에 토큰 이름을 붙여요(bg-surface-raised, text-text-secondary). 대비는 글자 4.5:1, 선·테두리 3:1 이상이면 통과예요.</a:t>
            </a:r>
          </a:p>
          <a:p/>
          <a:p>
            <a:r>
              <a:t>색 토큰의 라이트·다크 값과 명도 대비</a:t>
            </a:r>
          </a:p>
          <a:p>
            <a:r>
              <a:t>이름	라이트	다크	대비 (라이트 · 다크)</a:t>
            </a:r>
          </a:p>
          <a:p>
            <a:r>
              <a:t>브랜드</a:t>
            </a:r>
          </a:p>
          <a:p>
            <a:r>
              <a:t>brand-primary</a:t>
            </a:r>
          </a:p>
          <a:p>
            <a:r>
              <a:t>주 행동 버튼 1개, 선택된 탭·행 표시</a:t>
            </a:r>
          </a:p>
          <a:p>
            <a:r>
              <a:t>	</a:t>
            </a:r>
          </a:p>
          <a:p>
            <a:r>
              <a:t>#0A5C48</a:t>
            </a:r>
          </a:p>
          <a:p>
            <a:r>
              <a:t>	</a:t>
            </a:r>
          </a:p>
          <a:p>
            <a:r>
              <a:t>#47A189</a:t>
            </a:r>
          </a:p>
          <a:p>
            <a:r>
              <a:t>	</a:t>
            </a:r>
          </a:p>
          <a:p>
            <a:r>
              <a:t>7.96 · 5.67</a:t>
            </a:r>
          </a:p>
          <a:p>
            <a:r>
              <a:t>surface-raised 위, 기준 4.5:1 통과</a:t>
            </a:r>
          </a:p>
          <a:p/>
          <a:p>
            <a:r>
              <a:t>brand-primary-hover</a:t>
            </a:r>
          </a:p>
          <a:p>
            <a:r>
              <a:t>주 행동 버튼에 마우스를 올렸을 때</a:t>
            </a:r>
          </a:p>
          <a:p>
            <a:r>
              <a:t>	</a:t>
            </a:r>
          </a:p>
          <a:p>
            <a:r>
              <a:t>#0E7059</a:t>
            </a:r>
          </a:p>
          <a:p>
            <a:r>
              <a:t>	</a:t>
            </a:r>
          </a:p>
          <a:p>
            <a:r>
              <a:t>#58B198</a:t>
            </a:r>
          </a:p>
          <a:p>
            <a:r>
              <a:t>	</a:t>
            </a:r>
          </a:p>
          <a:p>
            <a:r>
              <a:t>6.03 · 7.18</a:t>
            </a:r>
          </a:p>
          <a:p>
            <a:r>
              <a:t>brand-primary-foreground 위, 기준 4.5:1 통과</a:t>
            </a:r>
          </a:p>
          <a:p/>
          <a:p>
            <a:r>
              <a:t>brand-primary-active</a:t>
            </a:r>
          </a:p>
          <a:p>
            <a:r>
              <a:t>주 행동 버튼을 누르는 동안</a:t>
            </a:r>
          </a:p>
          <a:p>
            <a:r>
              <a:t>	</a:t>
            </a:r>
          </a:p>
          <a:p>
            <a:r>
              <a:t>#074838</a:t>
            </a:r>
          </a:p>
          <a:p>
            <a:r>
              <a:t>	</a:t>
            </a:r>
          </a:p>
          <a:p>
            <a:r>
              <a:t>#36927A</a:t>
            </a:r>
          </a:p>
          <a:p>
            <a:r>
              <a:t>	</a:t>
            </a:r>
          </a:p>
          <a:p>
            <a:r>
              <a:t>10.54 · 4.88</a:t>
            </a:r>
          </a:p>
          <a:p>
            <a:r>
              <a:t>brand-primary-foreground 위, 기준 4.5:1 통과</a:t>
            </a:r>
          </a:p>
          <a:p/>
          <a:p>
            <a:r>
              <a:t>brand-primary-foreground</a:t>
            </a:r>
          </a:p>
          <a:p>
            <a:r>
              <a:t>브랜드 바탕 위 글자·아이콘</a:t>
            </a:r>
          </a:p>
          <a:p>
            <a:r>
              <a:t>	</a:t>
            </a:r>
          </a:p>
          <a:p>
            <a:r>
              <a:t>#FFFFFF</a:t>
            </a:r>
          </a:p>
          <a:p>
            <a:r>
              <a:t>	</a:t>
            </a:r>
          </a:p>
          <a:p>
            <a:r>
              <a:t>#0A1612</a:t>
            </a:r>
          </a:p>
          <a:p>
            <a:r>
              <a:t>	</a:t>
            </a:r>
          </a:p>
          <a:p>
            <a:r>
              <a:t>7.96 · 5.92</a:t>
            </a:r>
          </a:p>
          <a:p>
            <a:r>
              <a:t>brand-primary 위, 기준 4.5:1 통과</a:t>
            </a:r>
          </a:p>
          <a:p/>
          <a:p>
            <a:r>
              <a:t>바탕</a:t>
            </a:r>
          </a:p>
          <a:p>
            <a:r>
              <a:t>surface-base</a:t>
            </a:r>
          </a:p>
          <a:p>
            <a:r>
              <a:t>앱 바탕, 지도 캔버스</a:t>
            </a:r>
          </a:p>
          <a:p>
            <a:r>
              <a:t>	</a:t>
            </a:r>
          </a:p>
          <a:p>
            <a:r>
              <a:t>#F8FAF9</a:t>
            </a:r>
          </a:p>
          <a:p>
            <a:r>
              <a:t>	</a:t>
            </a:r>
          </a:p>
          <a:p>
            <a:r>
              <a:t>#0E1110</a:t>
            </a:r>
          </a:p>
          <a:p>
            <a:r>
              <a:t>	바탕·구분선이라 기준 없음</a:t>
            </a:r>
          </a:p>
          <a:p>
            <a:r>
              <a:t>surface-raised</a:t>
            </a:r>
          </a:p>
          <a:p>
            <a:r>
              <a:t>헤더, 패널, 목록 바탕</a:t>
            </a:r>
          </a:p>
          <a:p>
            <a:r>
              <a:t>	</a:t>
            </a:r>
          </a:p>
          <a:p>
            <a:r>
              <a:t>#FFFFFF</a:t>
            </a:r>
          </a:p>
          <a:p>
            <a:r>
              <a:t>	</a:t>
            </a:r>
          </a:p>
          <a:p>
            <a:r>
              <a:t>#161918</a:t>
            </a:r>
          </a:p>
          <a:p>
            <a:r>
              <a:t>	바탕·구분선이라 기준 없음</a:t>
            </a:r>
          </a:p>
          <a:p>
            <a:r>
              <a:t>surface-overlay</a:t>
            </a:r>
          </a:p>
          <a:p>
            <a:r>
              <a:t>시트, 다이얼로그, 팝오버처럼 떠 있는 면</a:t>
            </a:r>
          </a:p>
          <a:p>
            <a:r>
              <a:t>	</a:t>
            </a:r>
          </a:p>
          <a:p>
            <a:r>
              <a:t>#FFFFFF</a:t>
            </a:r>
          </a:p>
          <a:p>
            <a:r>
              <a:t>	</a:t>
            </a:r>
          </a:p>
          <a:p>
            <a:r>
              <a:t>#1D2220</a:t>
            </a:r>
          </a:p>
          <a:p>
            <a:r>
              <a:t>	바탕·구분선이라 기준 없음</a:t>
            </a:r>
          </a:p>
          <a:p>
            <a:r>
              <a:t>surface-sunken</a:t>
            </a:r>
          </a:p>
          <a:p>
            <a:r>
              <a:t>입력창 안, 배지 바탕, 눌린 면</a:t>
            </a:r>
          </a:p>
          <a:p>
            <a:r>
              <a:t>	</a:t>
            </a:r>
          </a:p>
          <a:p>
            <a:r>
              <a:t>#F0F3F2</a:t>
            </a:r>
          </a:p>
          <a:p>
            <a:r>
              <a:t>	</a:t>
            </a:r>
          </a:p>
          <a:p>
            <a:r>
              <a:t>#090C0B</a:t>
            </a:r>
          </a:p>
          <a:p>
            <a:r>
              <a:t>	바탕·구분선이라 기준 없음</a:t>
            </a:r>
          </a:p>
          <a:p>
            <a:r>
              <a:t>surface-selected</a:t>
            </a:r>
          </a:p>
          <a:p>
            <a:r>
              <a:t>선택된 행·항목 바탕</a:t>
            </a:r>
          </a:p>
          <a:p>
            <a:r>
              <a:t>	</a:t>
            </a:r>
          </a:p>
          <a:p>
            <a:r>
              <a:t>#E4F5EE</a:t>
            </a:r>
          </a:p>
          <a:p>
            <a:r>
              <a:t>	</a:t>
            </a:r>
          </a:p>
          <a:p>
            <a:r>
              <a:t>#1A2A25</a:t>
            </a:r>
          </a:p>
          <a:p>
            <a:r>
              <a:t>	바탕·구분선이라 기준 없음</a:t>
            </a:r>
          </a:p>
          <a:p>
            <a:r>
              <a:t>선</a:t>
            </a:r>
          </a:p>
          <a:p>
            <a:r>
              <a:t>border-subtle</a:t>
            </a:r>
          </a:p>
          <a:p>
            <a:r>
              <a:t>행과 영역 사이 구분선</a:t>
            </a:r>
          </a:p>
          <a:p>
            <a:r>
              <a:t>	</a:t>
            </a:r>
          </a:p>
          <a:p>
            <a:r>
              <a:t>#DFE4E2</a:t>
            </a:r>
          </a:p>
          <a:p>
            <a:r>
              <a:t>	</a:t>
            </a:r>
          </a:p>
          <a:p>
            <a:r>
              <a:t>#2B2F2D</a:t>
            </a:r>
          </a:p>
          <a:p>
            <a:r>
              <a:t>	바탕·구분선이라 기준 없음</a:t>
            </a:r>
          </a:p>
          <a:p>
            <a:r>
              <a:t>border-strong</a:t>
            </a:r>
          </a:p>
          <a:p>
            <a:r>
              <a:t>표 머리글 아래처럼 조금 더 뚜렷한 구분선</a:t>
            </a:r>
          </a:p>
          <a:p>
            <a:r>
              <a:t>	</a:t>
            </a:r>
          </a:p>
          <a:p>
            <a:r>
              <a:t>#C2C9C6</a:t>
            </a:r>
          </a:p>
          <a:p>
            <a:r>
              <a:t>	</a:t>
            </a:r>
          </a:p>
          <a:p>
            <a:r>
              <a:t>#3E4442</a:t>
            </a:r>
          </a:p>
          <a:p>
            <a:r>
              <a:t>	바탕·구분선이라 기준 없음</a:t>
            </a:r>
          </a:p>
          <a:p>
            <a:r>
              <a:t>border-control</a:t>
            </a:r>
          </a:p>
          <a:p>
            <a:r>
              <a:t>입력창·버튼처럼 누를 수 있는 것의 테두리</a:t>
            </a:r>
          </a:p>
          <a:p>
            <a:r>
              <a:t>	</a:t>
            </a:r>
          </a:p>
          <a:p>
            <a:r>
              <a:t>#818885</a:t>
            </a:r>
          </a:p>
          <a:p>
            <a:r>
              <a:t>	</a:t>
            </a:r>
          </a:p>
          <a:p>
            <a:r>
              <a:t>#6B726F</a:t>
            </a:r>
          </a:p>
          <a:p>
            <a:r>
              <a:t>	</a:t>
            </a:r>
          </a:p>
          <a:p>
            <a:r>
              <a:t>3.62 · 3.59</a:t>
            </a:r>
          </a:p>
          <a:p>
            <a:r>
              <a:t>surface-raised 위, 기준 3:1 통과</a:t>
            </a:r>
          </a:p>
          <a:p/>
          <a:p>
            <a:r>
              <a:t>border-focus</a:t>
            </a:r>
          </a:p>
          <a:p>
            <a:r>
              <a:t>키보드 포커스 링</a:t>
            </a:r>
          </a:p>
          <a:p>
            <a:r>
              <a:t>	</a:t>
            </a:r>
          </a:p>
          <a:p>
            <a:r>
              <a:t>#0A5C48</a:t>
            </a:r>
          </a:p>
          <a:p>
            <a:r>
              <a:t>	</a:t>
            </a:r>
          </a:p>
          <a:p>
            <a:r>
              <a:t>#47A189</a:t>
            </a:r>
          </a:p>
          <a:p>
            <a:r>
              <a:t>	</a:t>
            </a:r>
          </a:p>
          <a:p>
            <a:r>
              <a:t>7.96 · 5.67</a:t>
            </a:r>
          </a:p>
          <a:p>
            <a:r>
              <a:t>surface-raised 위, 기준 3:1 통과</a:t>
            </a:r>
          </a:p>
          <a:p/>
          <a:p>
            <a:r>
              <a:t>글자</a:t>
            </a:r>
          </a:p>
          <a:p>
            <a:r>
              <a:t>text-primary</a:t>
            </a:r>
          </a:p>
          <a:p>
            <a:r>
              <a:t>제목, 본문</a:t>
            </a:r>
          </a:p>
          <a:p>
            <a:r>
              <a:t>	</a:t>
            </a:r>
          </a:p>
          <a:p>
            <a:r>
              <a:t>#19201D</a:t>
            </a:r>
          </a:p>
          <a:p>
            <a:r>
              <a:t>	</a:t>
            </a:r>
          </a:p>
          <a:p>
            <a:r>
              <a:t>#ECEFEE</a:t>
            </a:r>
          </a:p>
          <a:p>
            <a:r>
              <a:t>	</a:t>
            </a:r>
          </a:p>
          <a:p>
            <a:r>
              <a:t>16.59 · 15.30</a:t>
            </a:r>
          </a:p>
          <a:p>
            <a:r>
              <a:t>surface-raised 위, 기준 4.5:1 통과</a:t>
            </a:r>
          </a:p>
          <a:p/>
          <a:p>
            <a:r>
              <a:t>text-secondary</a:t>
            </a:r>
          </a:p>
          <a:p>
            <a:r>
              <a:t>보조 설명, 시각, 출처</a:t>
            </a:r>
          </a:p>
          <a:p>
            <a:r>
              <a:t>	</a:t>
            </a:r>
          </a:p>
          <a:p>
            <a:r>
              <a:t>#474F4C</a:t>
            </a:r>
          </a:p>
          <a:p>
            <a:r>
              <a:t>	</a:t>
            </a:r>
          </a:p>
          <a:p>
            <a:r>
              <a:t>#BABFBD</a:t>
            </a:r>
          </a:p>
          <a:p>
            <a:r>
              <a:t>	</a:t>
            </a:r>
          </a:p>
          <a:p>
            <a:r>
              <a:t>8.43 · 9.50</a:t>
            </a:r>
          </a:p>
          <a:p>
            <a:r>
              <a:t>surface-raised 위, 기준 4.5:1 통과</a:t>
            </a:r>
          </a:p>
          <a:p/>
          <a:p>
            <a:r>
              <a:t>text-tertiary</a:t>
            </a:r>
          </a:p>
          <a:p>
            <a:r>
              <a:t>플레이스홀더, 비활성 글자</a:t>
            </a:r>
          </a:p>
          <a:p>
            <a:r>
              <a:t>	</a:t>
            </a:r>
          </a:p>
          <a:p>
            <a:r>
              <a:t>#636B68</a:t>
            </a:r>
          </a:p>
          <a:p>
            <a:r>
              <a:t>	</a:t>
            </a:r>
          </a:p>
          <a:p>
            <a:r>
              <a:t>#979D9A</a:t>
            </a:r>
          </a:p>
          <a:p>
            <a:r>
              <a:t>	</a:t>
            </a:r>
          </a:p>
          <a:p>
            <a:r>
              <a:t>5.48 · 6.41</a:t>
            </a:r>
          </a:p>
          <a:p>
            <a:r>
              <a:t>surface-raised 위, 기준 4.5:1 통과</a:t>
            </a:r>
          </a:p>
          <a:p/>
          <a:p>
            <a:r>
              <a:t>text-inverse</a:t>
            </a:r>
          </a:p>
          <a:p>
            <a:r>
              <a:t>어두운 바탕 위 글자</a:t>
            </a:r>
          </a:p>
          <a:p>
            <a:r>
              <a:t>	</a:t>
            </a:r>
          </a:p>
          <a:p>
            <a:r>
              <a:t>#FFFFFF</a:t>
            </a:r>
          </a:p>
          <a:p>
            <a:r>
              <a:t>	</a:t>
            </a:r>
          </a:p>
          <a:p>
            <a:r>
              <a:t>#0E1110</a:t>
            </a:r>
          </a:p>
          <a:p>
            <a:r>
              <a:t>	</a:t>
            </a:r>
          </a:p>
          <a:p>
            <a:r>
              <a:t>16.59 · 16.40</a:t>
            </a:r>
          </a:p>
          <a:p>
            <a:r>
              <a:t>text-primary 위, 기준 4.5:1 통과</a:t>
            </a:r>
          </a:p>
          <a:p/>
          <a:p>
            <a:r>
              <a:t>상태</a:t>
            </a:r>
          </a:p>
          <a:p>
            <a:r>
              <a:t>up</a:t>
            </a:r>
          </a:p>
          <a:p>
            <a:r>
              <a:t>상승(▲ + 부호와 함께)</a:t>
            </a:r>
          </a:p>
          <a:p>
            <a:r>
              <a:t>	</a:t>
            </a:r>
          </a:p>
          <a:p>
            <a:r>
              <a:t>#BE222A</a:t>
            </a:r>
          </a:p>
          <a:p>
            <a:r>
              <a:t>	</a:t>
            </a:r>
          </a:p>
          <a:p>
            <a:r>
              <a:t>#EB827B</a:t>
            </a:r>
          </a:p>
          <a:p>
            <a:r>
              <a:t>	</a:t>
            </a:r>
          </a:p>
          <a:p>
            <a:r>
              <a:t>6.08 · 6.75</a:t>
            </a:r>
          </a:p>
          <a:p>
            <a:r>
              <a:t>surface-raised 위, 기준 4.5:1 통과</a:t>
            </a:r>
          </a:p>
          <a:p/>
          <a:p>
            <a:r>
              <a:t>down</a:t>
            </a:r>
          </a:p>
          <a:p>
            <a:r>
              <a:t>하락(▼ − 부호와 함께)</a:t>
            </a:r>
          </a:p>
          <a:p>
            <a:r>
              <a:t>	</a:t>
            </a:r>
          </a:p>
          <a:p>
            <a:r>
              <a:t>#145EC1</a:t>
            </a:r>
          </a:p>
          <a:p>
            <a:r>
              <a:t>	</a:t>
            </a:r>
          </a:p>
          <a:p>
            <a:r>
              <a:t>#79A6E9</a:t>
            </a:r>
          </a:p>
          <a:p>
            <a:r>
              <a:t>	</a:t>
            </a:r>
          </a:p>
          <a:p>
            <a:r>
              <a:t>6.17 · 7.12</a:t>
            </a:r>
          </a:p>
          <a:p>
            <a:r>
              <a:t>surface-raised 위, 기준 4.5:1 통과</a:t>
            </a:r>
          </a:p>
          <a:p/>
          <a:p>
            <a:r>
              <a:t>warning</a:t>
            </a:r>
          </a:p>
          <a:p>
            <a:r>
              <a:t>원문 대조 필요 같은 확인 요청</a:t>
            </a:r>
          </a:p>
          <a:p>
            <a:r>
              <a:t>	</a:t>
            </a:r>
          </a:p>
          <a:p>
            <a:r>
              <a:t>#915C08</a:t>
            </a:r>
          </a:p>
          <a:p>
            <a:r>
              <a:t>	</a:t>
            </a:r>
          </a:p>
          <a:p>
            <a:r>
              <a:t>#D9AF75</a:t>
            </a:r>
          </a:p>
          <a:p>
            <a:r>
              <a:t>	</a:t>
            </a:r>
          </a:p>
          <a:p>
            <a:r>
              <a:t>5.03 · 9.67</a:t>
            </a:r>
          </a:p>
          <a:p>
            <a:r>
              <a:t>surface-sunken 위, 기준 4.5:1 통과</a:t>
            </a:r>
          </a:p>
          <a:p/>
          <a:p>
            <a:r>
              <a:t>error</a:t>
            </a:r>
          </a:p>
          <a:p>
            <a:r>
              <a:t>오류, 입력 오류 문장</a:t>
            </a:r>
          </a:p>
          <a:p>
            <a:r>
              <a:t>	</a:t>
            </a:r>
          </a:p>
          <a:p>
            <a:r>
              <a:t>#B21F41</a:t>
            </a:r>
          </a:p>
          <a:p>
            <a:r>
              <a:t>	</a:t>
            </a:r>
          </a:p>
          <a:p>
            <a:r>
              <a:t>#EA808A</a:t>
            </a:r>
          </a:p>
          <a:p>
            <a:r>
              <a:t>	</a:t>
            </a:r>
          </a:p>
          <a:p>
            <a:r>
              <a:t>5.94 · 7.44</a:t>
            </a:r>
          </a:p>
          <a:p>
            <a:r>
              <a:t>surface-sunken 위, 기준 4.5:1 통과</a:t>
            </a:r>
          </a:p>
          <a:p/>
          <a:p>
            <a:r>
              <a:t>그래프</a:t>
            </a:r>
          </a:p>
          <a:p>
            <a:r>
              <a:t>graph-node-issue</a:t>
            </a:r>
          </a:p>
          <a:p>
            <a:r>
              <a:t>사건 노드 범주색(원 + 번개 아이콘)</a:t>
            </a:r>
          </a:p>
          <a:p>
            <a:r>
              <a:t>	</a:t>
            </a:r>
          </a:p>
          <a:p>
            <a:r>
              <a:t>#4B5652</a:t>
            </a:r>
          </a:p>
          <a:p>
            <a:r>
              <a:t>	</a:t>
            </a:r>
          </a:p>
          <a:p>
            <a:r>
              <a:t>#7C8985</a:t>
            </a:r>
          </a:p>
          <a:p>
            <a:r>
              <a:t>	</a:t>
            </a:r>
          </a:p>
          <a:p>
            <a:r>
              <a:t>7.28 · 5.22</a:t>
            </a:r>
          </a:p>
          <a:p>
            <a:r>
              <a:t>surface-base 위, 기준 3:1 통과</a:t>
            </a:r>
          </a:p>
          <a:p/>
          <a:p>
            <a:r>
              <a:t>graph-node-glyph</a:t>
            </a:r>
          </a:p>
          <a:p>
            <a:r>
              <a:t>사건 노드 안 아이콘</a:t>
            </a:r>
          </a:p>
          <a:p>
            <a:r>
              <a:t>	</a:t>
            </a:r>
          </a:p>
          <a:p>
            <a:r>
              <a:t>#FFFFFF</a:t>
            </a:r>
          </a:p>
          <a:p>
            <a:r>
              <a:t>	</a:t>
            </a:r>
          </a:p>
          <a:p>
            <a:r>
              <a:t>#0E1110</a:t>
            </a:r>
          </a:p>
          <a:p>
            <a:r>
              <a:t>	</a:t>
            </a:r>
          </a:p>
          <a:p>
            <a:r>
              <a:t>7.63 · 5.22</a:t>
            </a:r>
          </a:p>
          <a:p>
            <a:r>
              <a:t>graph-node-issue 위, 기준 3:1 통과</a:t>
            </a:r>
          </a:p>
          <a:p/>
          <a:p>
            <a:r>
              <a:t>graph-node-mark</a:t>
            </a:r>
          </a:p>
          <a:p>
            <a:r>
              <a:t>보유·관심 기업 노드의 3px 바깥 테두리</a:t>
            </a:r>
          </a:p>
          <a:p>
            <a:r>
              <a:t>	</a:t>
            </a:r>
          </a:p>
          <a:p>
            <a:r>
              <a:t>#19201D</a:t>
            </a:r>
          </a:p>
          <a:p>
            <a:r>
              <a:t>	</a:t>
            </a:r>
          </a:p>
          <a:p>
            <a:r>
              <a:t>#ECEFEE</a:t>
            </a:r>
          </a:p>
          <a:p>
            <a:r>
              <a:t>	</a:t>
            </a:r>
          </a:p>
          <a:p>
            <a:r>
              <a:t>15.83 · 16.40</a:t>
            </a:r>
          </a:p>
          <a:p>
            <a:r>
              <a:t>surface-base 위, 기준 3:1 통과</a:t>
            </a:r>
          </a:p>
          <a:p/>
          <a:p>
            <a:r>
              <a:t>graph-company-fallback-1</a:t>
            </a:r>
          </a:p>
          <a:p>
            <a:r>
              <a:t>상징색 없는 기업 폴백 1~8(company_id 해시). 두 테마 모두 흰 이니셜과 4.9:1 이상</a:t>
            </a:r>
          </a:p>
          <a:p>
            <a:r>
              <a:t>	</a:t>
            </a:r>
          </a:p>
          <a:p>
            <a:r>
              <a:t>#2F6F9F</a:t>
            </a:r>
          </a:p>
          <a:p>
            <a:r>
              <a:t>	</a:t>
            </a:r>
          </a:p>
          <a:p>
            <a:r>
              <a:t>#2F6F9F</a:t>
            </a:r>
          </a:p>
          <a:p>
            <a:r>
              <a:t>	바탕·구분선이라 기준 없음</a:t>
            </a:r>
          </a:p>
          <a:p>
            <a:r>
              <a:t>graph-company-fallback-2</a:t>
            </a:r>
          </a:p>
          <a:p>
            <a:r>
              <a:t>폴백 2</a:t>
            </a:r>
          </a:p>
          <a:p>
            <a:r>
              <a:t>	</a:t>
            </a:r>
          </a:p>
          <a:p>
            <a:r>
              <a:t>#8A5A2B</a:t>
            </a:r>
          </a:p>
          <a:p>
            <a:r>
              <a:t>	</a:t>
            </a:r>
          </a:p>
          <a:p>
            <a:r>
              <a:t>#8A5A2B</a:t>
            </a:r>
          </a:p>
          <a:p>
            <a:r>
              <a:t>	바탕·구분선이라 기준 없음</a:t>
            </a:r>
          </a:p>
          <a:p>
            <a:r>
              <a:t>graph-company-fallback-3</a:t>
            </a:r>
          </a:p>
          <a:p>
            <a:r>
              <a:t>폴백 3</a:t>
            </a:r>
          </a:p>
          <a:p>
            <a:r>
              <a:t>	</a:t>
            </a:r>
          </a:p>
          <a:p>
            <a:r>
              <a:t>#6B4FA0</a:t>
            </a:r>
          </a:p>
          <a:p>
            <a:r>
              <a:t>	</a:t>
            </a:r>
          </a:p>
          <a:p>
            <a:r>
              <a:t>#6B4FA0</a:t>
            </a:r>
          </a:p>
          <a:p>
            <a:r>
              <a:t>	바탕·구분선이라 기준 없음</a:t>
            </a:r>
          </a:p>
          <a:p>
            <a:r>
              <a:t>graph-company-fallback-4</a:t>
            </a:r>
          </a:p>
          <a:p>
            <a:r>
              <a:t>폴백 4</a:t>
            </a:r>
          </a:p>
          <a:p>
            <a:r>
              <a:t>	</a:t>
            </a:r>
          </a:p>
          <a:p>
            <a:r>
              <a:t>#2E7D5B</a:t>
            </a:r>
          </a:p>
          <a:p>
            <a:r>
              <a:t>	</a:t>
            </a:r>
          </a:p>
          <a:p>
            <a:r>
              <a:t>#2E7D5B</a:t>
            </a:r>
          </a:p>
          <a:p>
            <a:r>
              <a:t>	바탕·구분선이라 기준 없음</a:t>
            </a:r>
          </a:p>
          <a:p>
            <a:r>
              <a:t>graph-company-fallback-5</a:t>
            </a:r>
          </a:p>
          <a:p>
            <a:r>
              <a:t>폴백 5</a:t>
            </a:r>
          </a:p>
          <a:p>
            <a:r>
              <a:t>	</a:t>
            </a:r>
          </a:p>
          <a:p>
            <a:r>
              <a:t>#A2463F</a:t>
            </a:r>
          </a:p>
          <a:p>
            <a:r>
              <a:t>	</a:t>
            </a:r>
          </a:p>
          <a:p>
            <a:r>
              <a:t>#A2463F</a:t>
            </a:r>
          </a:p>
          <a:p>
            <a:r>
              <a:t>	바탕·구분선이라 기준 없음</a:t>
            </a:r>
          </a:p>
          <a:p>
            <a:r>
              <a:t>graph-company-fallback-6</a:t>
            </a:r>
          </a:p>
          <a:p>
            <a:r>
              <a:t>폴백 6</a:t>
            </a:r>
          </a:p>
          <a:p>
            <a:r>
              <a:t>	</a:t>
            </a:r>
          </a:p>
          <a:p>
            <a:r>
              <a:t>#5B6B2A</a:t>
            </a:r>
          </a:p>
          <a:p>
            <a:r>
              <a:t>	</a:t>
            </a:r>
          </a:p>
          <a:p>
            <a:r>
              <a:t>#5B6B2A</a:t>
            </a:r>
          </a:p>
          <a:p>
            <a:r>
              <a:t>	바탕·구분선이라 기준 없음</a:t>
            </a:r>
          </a:p>
          <a:p>
            <a:r>
              <a:t>graph-company-fallback-7</a:t>
            </a:r>
          </a:p>
          <a:p>
            <a:r>
              <a:t>폴백 7</a:t>
            </a:r>
          </a:p>
          <a:p>
            <a:r>
              <a:t>	</a:t>
            </a:r>
          </a:p>
          <a:p>
            <a:r>
              <a:t>#2B7A85</a:t>
            </a:r>
          </a:p>
          <a:p>
            <a:r>
              <a:t>	</a:t>
            </a:r>
          </a:p>
          <a:p>
            <a:r>
              <a:t>#2B7A85</a:t>
            </a:r>
          </a:p>
          <a:p>
            <a:r>
              <a:t>	바탕·구분선이라 기준 없음</a:t>
            </a:r>
          </a:p>
          <a:p>
            <a:r>
              <a:t>graph-company-fallback-8</a:t>
            </a:r>
          </a:p>
          <a:p>
            <a:r>
              <a:t>폴백 8</a:t>
            </a:r>
          </a:p>
          <a:p>
            <a:r>
              <a:t>	</a:t>
            </a:r>
          </a:p>
          <a:p>
            <a:r>
              <a:t>#8E4A78</a:t>
            </a:r>
          </a:p>
          <a:p>
            <a:r>
              <a:t>	</a:t>
            </a:r>
          </a:p>
          <a:p>
            <a:r>
              <a:t>#8E4A78</a:t>
            </a:r>
          </a:p>
          <a:p>
            <a:r>
              <a:t>	바탕·구분선이라 기준 없음</a:t>
            </a:r>
          </a:p>
          <a:p>
            <a:r>
              <a:t>graph-focus-ring</a:t>
            </a:r>
          </a:p>
          <a:p>
            <a:r>
              <a:t>선택한 노드의 실선 링</a:t>
            </a:r>
          </a:p>
          <a:p>
            <a:r>
              <a:t>	</a:t>
            </a:r>
          </a:p>
          <a:p>
            <a:r>
              <a:t>#0A5C48</a:t>
            </a:r>
          </a:p>
          <a:p>
            <a:r>
              <a:t>	</a:t>
            </a:r>
          </a:p>
          <a:p>
            <a:r>
              <a:t>#47A189</a:t>
            </a:r>
          </a:p>
          <a:p>
            <a:r>
              <a:t>	</a:t>
            </a:r>
          </a:p>
          <a:p>
            <a:r>
              <a:t>7.60 · 6.08</a:t>
            </a:r>
          </a:p>
          <a:p>
            <a:r>
              <a:t>surface-base 위, 기준 3:1 통과</a:t>
            </a:r>
          </a:p>
          <a:p/>
          <a:p>
            <a:r>
              <a:t>graph-edge-involves</a:t>
            </a:r>
          </a:p>
          <a:p>
            <a:r>
              <a:t>직접 관련 선</a:t>
            </a:r>
          </a:p>
          <a:p>
            <a:r>
              <a:t>	</a:t>
            </a:r>
          </a:p>
          <a:p>
            <a:r>
              <a:t>#2D6359</a:t>
            </a:r>
          </a:p>
          <a:p>
            <a:r>
              <a:t>	</a:t>
            </a:r>
          </a:p>
          <a:p>
            <a:r>
              <a:t>#83AFA6</a:t>
            </a:r>
          </a:p>
          <a:p>
            <a:r>
              <a:t>	</a:t>
            </a:r>
          </a:p>
          <a:p>
            <a:r>
              <a:t>6.59 · 7.82</a:t>
            </a:r>
          </a:p>
          <a:p>
            <a:r>
              <a:t>surface-base 위, 기준 3:1 통과</a:t>
            </a:r>
          </a:p>
          <a:p/>
          <a:p>
            <a:r>
              <a:t>graph-edge-structurally-related</a:t>
            </a:r>
          </a:p>
          <a:p>
            <a:r>
              <a:t>구조적 관련 선</a:t>
            </a:r>
          </a:p>
          <a:p>
            <a:r>
              <a:t>	</a:t>
            </a:r>
          </a:p>
          <a:p>
            <a:r>
              <a:t>#626B68</a:t>
            </a:r>
          </a:p>
          <a:p>
            <a:r>
              <a:t>	</a:t>
            </a:r>
          </a:p>
          <a:p>
            <a:r>
              <a:t>#8D9491</a:t>
            </a:r>
          </a:p>
          <a:p>
            <a:r>
              <a:t>	</a:t>
            </a:r>
          </a:p>
          <a:p>
            <a:r>
              <a:t>5.24 · 6.13</a:t>
            </a:r>
          </a:p>
          <a:p>
            <a:r>
              <a:t>surface-base 위, 기준 3:1 통과</a:t>
            </a:r>
          </a:p>
          <a:p/>
          <a:p>
            <a:r>
              <a:t>graph-edge-follows</a:t>
            </a:r>
          </a:p>
          <a:p>
            <a:r>
              <a:t>후속 사건 선</a:t>
            </a:r>
          </a:p>
          <a:p>
            <a:r>
              <a:t>	</a:t>
            </a:r>
          </a:p>
          <a:p>
            <a:r>
              <a:t>#895F34</a:t>
            </a:r>
          </a:p>
          <a:p>
            <a:r>
              <a:t>	</a:t>
            </a:r>
          </a:p>
          <a:p>
            <a:r>
              <a:t>#C8A47A</a:t>
            </a:r>
          </a:p>
          <a:p>
            <a:r>
              <a:t>	</a:t>
            </a:r>
          </a:p>
          <a:p>
            <a:r>
              <a:t>5.34 · 8.18</a:t>
            </a:r>
          </a:p>
          <a:p>
            <a:r>
              <a:t>surface-base 위, 기준 3:1 통과</a:t>
            </a:r>
          </a:p>
          <a:p/>
          <a:p>
            <a:r>
              <a:t>graph-edge-shares-issue</a:t>
            </a:r>
          </a:p>
          <a:p>
            <a:r>
              <a:t>사건 공유(파생) 선. 일부러 흐리게 둬요</a:t>
            </a:r>
          </a:p>
          <a:p>
            <a:r>
              <a:t>	</a:t>
            </a:r>
          </a:p>
          <a:p>
            <a:r>
              <a:t>#858B88</a:t>
            </a:r>
          </a:p>
          <a:p>
            <a:r>
              <a:t>	</a:t>
            </a:r>
          </a:p>
          <a:p>
            <a:r>
              <a:t>#6D7371</a:t>
            </a:r>
          </a:p>
          <a:p>
            <a:r>
              <a:t>	</a:t>
            </a:r>
          </a:p>
          <a:p>
            <a:r>
              <a:t>3.31 · 3.92</a:t>
            </a:r>
          </a:p>
          <a:p>
            <a:r>
              <a:t>surface-base 위, 기준 3:1 통과</a:t>
            </a:r>
          </a:p>
          <a:p/>
          <a:p>
            <a:r>
              <a:t>graph-edge-label</a:t>
            </a:r>
          </a:p>
          <a:p>
            <a:r>
              <a:t>선 가운데 관계 요약 글자</a:t>
            </a:r>
          </a:p>
          <a:p>
            <a:r>
              <a:t>	</a:t>
            </a:r>
          </a:p>
          <a:p>
            <a:r>
              <a:t>#474F4C</a:t>
            </a:r>
          </a:p>
          <a:p>
            <a:r>
              <a:t>	</a:t>
            </a:r>
          </a:p>
          <a:p>
            <a:r>
              <a:t>#BABFBD</a:t>
            </a:r>
          </a:p>
          <a:p>
            <a:r>
              <a:t>	</a:t>
            </a:r>
          </a:p>
          <a:p>
            <a:r>
              <a:t>8.04 · 10.19</a:t>
            </a:r>
          </a:p>
          <a:p>
            <a:r>
              <a:t>surface-base 위, 기준 4.5:1 통과</a:t>
            </a:r>
          </a:p>
          <a:p/>
          <a:p>
            <a:r>
              <a:t>그래프 노드를 흐리게 할 때는 색 대신 불투명도 0.22(graph-dimmed-opacity)를 써요. 값의 원본은 docs/design/tokens.json이에요.</a:t>
            </a:r>
          </a:p>
          <a:p/>
          <a:p>
            <a:r>
              <a:t>글꼴</a:t>
            </a:r>
          </a:p>
          <a:p/>
          <a:p>
            <a:r>
              <a:t>SUIT Variable 한 가지만 써요. 크기는 6단계뿐이고, 제목과 본문은 크기와 굵기 차이로 구분해요.</a:t>
            </a:r>
          </a:p>
          <a:p/>
          <a:p>
            <a:r>
              <a:t>text-2xl · 28px</a:t>
            </a:r>
          </a:p>
          <a:p>
            <a:r>
              <a:t>Bold 700</a:t>
            </a:r>
          </a:p>
          <a:p>
            <a:r>
              <a:t>내 종목 지도</a:t>
            </a:r>
          </a:p>
          <a:p>
            <a:r>
              <a:t>화면 대표 제목. 화면에 한 번만 써요.</a:t>
            </a:r>
          </a:p>
          <a:p>
            <a:r>
              <a:t>text-xl · 22px</a:t>
            </a:r>
          </a:p>
          <a:p>
            <a:r>
              <a:t>Semibold 600 · Bold 700</a:t>
            </a:r>
          </a:p>
          <a:p>
            <a:r>
              <a:t>예시전자 2분기 실적 발표</a:t>
            </a:r>
          </a:p>
          <a:p>
            <a:r>
              <a:t>패널·다이얼로그 제목, 주요 수치</a:t>
            </a:r>
          </a:p>
          <a:p>
            <a:r>
              <a:t>text-lg · 18px</a:t>
            </a:r>
          </a:p>
          <a:p>
            <a:r>
              <a:t>Semibold 600</a:t>
            </a:r>
          </a:p>
          <a:p>
            <a:r>
              <a:t>관련 사건</a:t>
            </a:r>
          </a:p>
          <a:p>
            <a:r>
              <a:t>섹션 제목, 기업명</a:t>
            </a:r>
          </a:p>
          <a:p>
            <a:r>
              <a:t>text-md · 16px</a:t>
            </a:r>
          </a:p>
          <a:p>
            <a:r>
              <a:t>Regular 400 · Medium 500</a:t>
            </a:r>
          </a:p>
          <a:p>
            <a:r>
              <a:t>관심 종목을 검색해 보세요</a:t>
            </a:r>
          </a:p>
          <a:p>
            <a:r>
              <a:t>모바일 본문, 입력창(아이폰 확대 방지)</a:t>
            </a:r>
          </a:p>
          <a:p>
            <a:r>
              <a:t>text-base · 15px</a:t>
            </a:r>
          </a:p>
          <a:p>
            <a:r>
              <a:t>Regular 400</a:t>
            </a:r>
          </a:p>
          <a:p>
            <a:r>
              <a:t>예시전자는 2분기 메모리 실적을 발표했어요.</a:t>
            </a:r>
          </a:p>
          <a:p>
            <a:r>
              <a:t>데스크톱 본문, 목록 행</a:t>
            </a:r>
          </a:p>
          <a:p>
            <a:r>
              <a:t>text-sm · 13px</a:t>
            </a:r>
          </a:p>
          <a:p>
            <a:r>
              <a:t>Regular 400</a:t>
            </a:r>
          </a:p>
          <a:p>
            <a:r>
              <a:t>예시일보 · 2026.07.10 09:20</a:t>
            </a:r>
          </a:p>
          <a:p>
            <a:r>
              <a:t>출처, 시각, 고지. 이보다 작은 글자는 쓰지 않아요.</a:t>
            </a:r>
          </a:p>
          <a:p>
            <a:r>
              <a:t>본문 한 줄은 한글 40자 안팎에서 끊어요(max-w-prose). 너무 길면 다음 줄을 찾기 어려워요.</a:t>
            </a:r>
          </a:p>
          <a:p>
            <a:r>
              <a:t>굵기는 4가지만 써요. 본문 400, 강조 500, 제목 600, 화면 제목 700.</a:t>
            </a:r>
          </a:p>
          <a:p>
            <a:r>
              <a:t>13px보다 작은 글자는 쓰지 않아요. 출처와 고지도 13px이에요.</a:t>
            </a:r>
          </a:p>
          <a:p>
            <a:r>
              <a:t>숫자는 자릿수를 맞춰요 (tnum)</a:t>
            </a:r>
          </a:p>
          <a:p/>
          <a:p>
            <a:r>
              <a:t>가격·등락률·날짜에는 고정폭 숫자(tabular-nums)를 켜요. 앱 전체에 기본으로 켜져 있어서, 숫자가 바뀌어도 폭이 흔들리지 않아요.</a:t>
            </a:r>
          </a:p>
          <a:p/>
          <a:p>
            <a:r>
              <a:t>끔</a:t>
            </a:r>
          </a:p>
          <a:p>
            <a:r>
              <a:t>1,111.11</a:t>
            </a:r>
          </a:p>
          <a:p>
            <a:r>
              <a:t>88,888.80</a:t>
            </a:r>
          </a:p>
          <a:p>
            <a:r>
              <a:t>+12.30%</a:t>
            </a:r>
          </a:p>
          <a:p>
            <a:r>
              <a:t>켬 (기본)</a:t>
            </a:r>
          </a:p>
          <a:p>
            <a:r>
              <a:t>1,111.11</a:t>
            </a:r>
          </a:p>
          <a:p>
            <a:r>
              <a:t>88,888.80</a:t>
            </a:r>
          </a:p>
          <a:p>
            <a:r>
              <a:t>+12.30%</a:t>
            </a:r>
          </a:p>
          <a:p/>
          <a:p>
            <a:r>
              <a:t>글꼴 순서: "SUIT Variable", SUIT, -apple-system, BlinkMacSystemFont, "Apple SD Gothic Neo", "Malgun Gothic", system-ui, sans-serif. SUIT에 없는 드문 한글은 뒤의 시스템 글꼴로 보여요.</a:t>
            </a:r>
          </a:p>
          <a:p/>
          <a:p>
            <a:r>
              <a:t>형태</a:t>
            </a:r>
          </a:p>
          <a:p/>
          <a:p>
            <a:r>
              <a:t>둥근 모서리는 누를 수 있는 컨트롤과 떠 있는 면에만 줘요. 목록과 섹션은 각지게 두고 구분선으로 나눠요.</a:t>
            </a:r>
          </a:p>
          <a:p/>
          <a:p>
            <a:r>
              <a:t>rounded-none · 0px</a:t>
            </a:r>
          </a:p>
          <a:p>
            <a:r>
              <a:t>목록 행, 섹션, 패널 안 항목, 표, 지도 캔버스</a:t>
            </a:r>
          </a:p>
          <a:p>
            <a:r>
              <a:t>쓰지 않는 곳: 버튼, 팝오버</a:t>
            </a:r>
          </a:p>
          <a:p>
            <a:r>
              <a:t>rounded-sm · 8px</a:t>
            </a:r>
          </a:p>
          <a:p>
            <a:r>
              <a:t>버튼, 입력창, 세그먼트 선택 배경</a:t>
            </a:r>
          </a:p>
          <a:p>
            <a:r>
              <a:t>쓰지 않는 곳: 카드 틀, 목록 행</a:t>
            </a:r>
          </a:p>
          <a:p>
            <a:r>
              <a:t>rounded-lg · 16px</a:t>
            </a:r>
          </a:p>
          <a:p>
            <a:r>
              <a:t>바텀시트 위 모서리, 다이얼로그, 토스트, 팝오버</a:t>
            </a:r>
          </a:p>
          <a:p>
            <a:r>
              <a:t>쓰지 않는 곳: 일반 패널, 안쪽 항목</a:t>
            </a:r>
          </a:p>
          <a:p>
            <a:r>
              <a:t>rounded-full · 9999px</a:t>
            </a:r>
          </a:p>
          <a:p>
            <a:r>
              <a:t>원형 조작 버튼, 스위치 손잡이, 기업 노드</a:t>
            </a:r>
          </a:p>
          <a:p>
            <a:r>
              <a:t>쓰지 않는 곳: 상태 배지, 목록 항목</a:t>
            </a:r>
          </a:p>
          <a:p>
            <a:r>
              <a:t>그림자는 시트, 다이얼로그, 팝오버, 토스트처럼 떠 있는 면에만 줘요. 그림자를 준 면에는 테두리를 같이 주지 않아요.</a:t>
            </a:r>
          </a:p>
          <a:p>
            <a:r>
              <a:t>16px 시트 안의 버튼은 8px을 유지해요. 안쪽 모서리가 바깥보다 둥글면 어색해 보여요.</a:t>
            </a:r>
          </a:p>
          <a:p>
            <a:r>
              <a:t>간격</a:t>
            </a:r>
          </a:p>
          <a:p/>
          <a:p>
            <a:r>
              <a:t>간격은 4px 단위예요. Tailwind에서 p-4는 16px(4 × 4px)이에요. 누르는 영역은 항상 44×44px 이상이에요.</a:t>
            </a:r>
          </a:p>
          <a:p/>
          <a:p>
            <a:r>
              <a:t>1 · 4px</a:t>
            </a:r>
          </a:p>
          <a:p>
            <a:r>
              <a:t>아이콘과 글자 사이</a:t>
            </a:r>
          </a:p>
          <a:p>
            <a:r>
              <a:t>2 · 8px</a:t>
            </a:r>
          </a:p>
          <a:p>
            <a:r>
              <a:t>배지·버튼끼리</a:t>
            </a:r>
          </a:p>
          <a:p>
            <a:r>
              <a:t>3 · 12px</a:t>
            </a:r>
          </a:p>
          <a:p>
            <a:r>
              <a:t>목록 행 위아래</a:t>
            </a:r>
          </a:p>
          <a:p>
            <a:r>
              <a:t>4 · 16px</a:t>
            </a:r>
          </a:p>
          <a:p>
            <a:r>
              <a:t>모바일 화면 좌우, 행 좌우</a:t>
            </a:r>
          </a:p>
          <a:p>
            <a:r>
              <a:t>5 · 20px</a:t>
            </a:r>
          </a:p>
          <a:p>
            <a:r>
              <a:t>6 · 24px</a:t>
            </a:r>
          </a:p>
          <a:p>
            <a:r>
              <a:t>데스크톱 화면 좌우</a:t>
            </a:r>
          </a:p>
          <a:p>
            <a:r>
              <a:t>8 · 32px</a:t>
            </a:r>
          </a:p>
          <a:p>
            <a:r>
              <a:t>묶음과 묶음 사이</a:t>
            </a:r>
          </a:p>
          <a:p>
            <a:r>
              <a:t>10 · 40px</a:t>
            </a:r>
          </a:p>
          <a:p>
            <a:r>
              <a:t>섹션 사이</a:t>
            </a:r>
          </a:p>
          <a:p>
            <a:r>
              <a:t>12 · 48px</a:t>
            </a:r>
          </a:p>
          <a:p>
            <a:r>
              <a:t>앱 바 높이, 행 최소 높이</a:t>
            </a:r>
          </a:p>
          <a:p>
            <a:r>
              <a:t>16 · 64px</a:t>
            </a:r>
          </a:p>
          <a:p>
            <a:r>
              <a:t>기본 컴포넌트</a:t>
            </a:r>
          </a:p>
          <a:p/>
          <a:p>
            <a:r>
              <a:t>어느 화면에서나 쓰는 부품이에요. 새 화면을 만들 때 직접 스타일을 쓰기 전에 여기서 먼저 찾아요.</a:t>
            </a:r>
          </a:p>
          <a:p/>
          <a:p>
            <a:r>
              <a:t>Button</a:t>
            </a:r>
          </a:p>
          <a:p/>
          <a:p>
            <a:r>
              <a:t>한 번의 행동을 실행해요. 글자에는 누른 뒤 결과를 적어요. primary는 화면에 하나만 두니, 이 페이지의 primary도 아래 하나뿐이에요.</a:t>
            </a:r>
          </a:p>
          <a:p/>
          <a:p>
            <a:r>
              <a:t>종류</a:t>
            </a:r>
          </a:p>
          <a:p>
            <a:r>
              <a:t>관심 종목 저장하기</a:t>
            </a:r>
          </a:p>
          <a:p>
            <a:r>
              <a:t>근거 보기</a:t>
            </a:r>
          </a:p>
          <a:p>
            <a:r>
              <a:t>지도 설정</a:t>
            </a:r>
          </a:p>
          <a:p>
            <a:r>
              <a:t>원문 열기</a:t>
            </a:r>
          </a:p>
          <a:p>
            <a:r>
              <a:t>상태</a:t>
            </a:r>
          </a:p>
          <a:p>
            <a:r>
              <a:t>비활성</a:t>
            </a:r>
          </a:p>
          <a:p>
            <a:r>
              <a:t>저장하는 중</a:t>
            </a:r>
          </a:p>
          <a:p>
            <a:r>
              <a:t>크기</a:t>
            </a:r>
          </a:p>
          <a:p>
            <a:r>
              <a:t>작게</a:t>
            </a:r>
          </a:p>
          <a:p>
            <a:r>
              <a:t>보통</a:t>
            </a:r>
          </a:p>
          <a:p>
            <a:r>
              <a:t>크게</a:t>
            </a:r>
          </a:p>
          <a:p/>
          <a:p>
            <a:r>
              <a:t>코드:</a:t>
            </a:r>
          </a:p>
          <a:p>
            <a:r>
              <a:t>&lt;Button variant="secondary" onClick={openEvidence}&gt;근거 보기&lt;/Button&gt;</a:t>
            </a:r>
          </a:p>
          <a:p/>
          <a:p>
            <a:r>
              <a:t>Input</a:t>
            </a:r>
          </a:p>
          <a:p/>
          <a:p>
            <a:r>
              <a:t>검색어와 질문을 받아요. 라벨은 항상 연결하고(숨겨도 돼요), 오류는 빨간 테두리와 함께 문장으로 알려요.</a:t>
            </a:r>
          </a:p>
          <a:p/>
          <a:p>
            <a:r>
              <a:t>기본</a:t>
            </a:r>
          </a:p>
          <a:p/>
          <a:p>
            <a:r>
              <a:t>기업 이름이나 종목 코드를 입력해요</a:t>
            </a:r>
          </a:p>
          <a:p/>
          <a:p>
            <a:r>
              <a:t>검색</a:t>
            </a:r>
          </a:p>
          <a:p>
            <a:r>
              <a:t>오류</a:t>
            </a:r>
          </a:p>
          <a:p/>
          <a:p>
            <a:r>
              <a:t>관심 종목을 1개 이상 골라 주세요.</a:t>
            </a:r>
          </a:p>
          <a:p/>
          <a:p>
            <a:r>
              <a:t>비활성</a:t>
            </a:r>
          </a:p>
          <a:p/>
          <a:p>
            <a:r>
              <a:t>코드:</a:t>
            </a:r>
          </a:p>
          <a:p>
            <a:r>
              <a:t>&lt;Input label="종목 검색" variant="search" value={q} onChange={…} onClear={…} /&gt;</a:t>
            </a:r>
          </a:p>
          <a:p/>
          <a:p>
            <a:r>
              <a:t>Select</a:t>
            </a:r>
          </a:p>
          <a:p/>
          <a:p>
            <a:r>
              <a:t>선택지가 5개 이상일 때 써요. 2~4개면 Segmented가 더 빨라요.</a:t>
            </a:r>
          </a:p>
          <a:p/>
          <a:p>
            <a:r>
              <a:t>기간</a:t>
            </a:r>
          </a:p>
          <a:p>
            <a:r>
              <a:t>1주일</a:t>
            </a:r>
          </a:p>
          <a:p>
            <a:r>
              <a:t>비활성</a:t>
            </a:r>
          </a:p>
          <a:p>
            <a:r>
              <a:t>전체</a:t>
            </a:r>
          </a:p>
          <a:p/>
          <a:p>
            <a:r>
              <a:t>코드:</a:t>
            </a:r>
          </a:p>
          <a:p>
            <a:r>
              <a:t>&lt;Select label="기간" value={period} onValueChange={setPeriod} options={periods} /&gt;</a:t>
            </a:r>
          </a:p>
          <a:p/>
          <a:p>
            <a:r>
              <a:t>Segmented</a:t>
            </a:r>
          </a:p>
          <a:p/>
          <a:p>
            <a:r>
              <a:t>같은 내용을 보는 방식을 바꿔요(지도 ↔ 목록). 아래 내용 영역이 따로 없어요. 선택 표시는 고른 칸으로 미끄러져요(200ms). 못 쓰는 선택지는 이유를 알려줘요.</a:t>
            </a:r>
          </a:p>
          <a:p/>
          <a:p>
            <a:r>
              <a:t>기본</a:t>
            </a:r>
          </a:p>
          <a:p>
            <a:r>
              <a:t>지도</a:t>
            </a:r>
          </a:p>
          <a:p>
            <a:r>
              <a:t>목록</a:t>
            </a:r>
          </a:p>
          <a:p>
            <a:r>
              <a:t>비활성</a:t>
            </a:r>
          </a:p>
          <a:p>
            <a:r>
              <a:t>시장 전체</a:t>
            </a:r>
          </a:p>
          <a:p>
            <a:r>
              <a:t>내 종목</a:t>
            </a:r>
          </a:p>
          <a:p/>
          <a:p>
            <a:r>
              <a:t>코드:</a:t>
            </a:r>
          </a:p>
          <a:p>
            <a:r>
              <a:t>&lt;Segmented aria-label="보기 방식" value={view} onValueChange={setView} options={[…]} /&gt;</a:t>
            </a:r>
          </a:p>
          <a:p/>
          <a:p>
            <a:r>
              <a:t>Tabs</a:t>
            </a:r>
          </a:p>
          <a:p/>
          <a:p>
            <a:r>
              <a:t>같은 대상의 다른 내용을 나눠 보여줘요. 최대 4개, 폭을 똑같이 나눠요. 밑줄은 고른 탭으로 미끄러지고, 좌우 방향키로 옮겨요.</a:t>
            </a:r>
          </a:p>
          <a:p/>
          <a:p>
            <a:r>
              <a:t>관련 사건</a:t>
            </a:r>
          </a:p>
          <a:p>
            <a:r>
              <a:t>연결</a:t>
            </a:r>
          </a:p>
          <a:p>
            <a:r>
              <a:t>AI에게 묻기</a:t>
            </a:r>
          </a:p>
          <a:p>
            <a:r>
              <a:t>예시전자와 연결된 사건 3건이 여기에 보여요.</a:t>
            </a:r>
          </a:p>
          <a:p/>
          <a:p>
            <a:r>
              <a:t>코드:</a:t>
            </a:r>
          </a:p>
          <a:p>
            <a:r>
              <a:t>&lt;Tabs defaultValue="events"&gt;&lt;TabsList&gt;…&lt;/TabsList&gt;&lt;TabsContent value="events"&gt;…&lt;/TabsContent&gt;&lt;/Tabs&gt;</a:t>
            </a:r>
          </a:p>
          <a:p/>
          <a:p>
            <a:r>
              <a:t>Dialog · Sheet · BottomSheet</a:t>
            </a:r>
          </a:p>
          <a:p/>
          <a:p>
            <a:r>
              <a:t>Dialog는 짧은 확인, Sheet는 근거처럼 긴 내용이에요. Sheet는 데스크톱에서 오른쪽 패널, 모바일에서 자동으로 BottomSheet가 돼요. Esc나 [닫기]로 닫고, 닫으면 연 버튼으로 포커스가 돌아와요.</a:t>
            </a:r>
          </a:p>
          <a:p/>
          <a:p>
            <a:r>
              <a:t>Dialog 열기</a:t>
            </a:r>
          </a:p>
          <a:p>
            <a:r>
              <a:t>Sheet 열기</a:t>
            </a:r>
          </a:p>
          <a:p>
            <a:r>
              <a:t>BottomSheet 열기</a:t>
            </a:r>
          </a:p>
          <a:p/>
          <a:p>
            <a:r>
              <a:t>코드:</a:t>
            </a:r>
          </a:p>
          <a:p>
            <a:r>
              <a:t>&lt;Sheet open={open} onOpenChange={setOpen} title="근거" closeLabel="근거 창 닫기"&gt;…&lt;/Sheet&gt;</a:t>
            </a:r>
          </a:p>
          <a:p/>
          <a:p>
            <a:r>
              <a:t>Popover · Tooltip</a:t>
            </a:r>
          </a:p>
          <a:p/>
          <a:p>
            <a:r>
              <a:t>Popover는 눌러서 여는 짧은 설명이라 터치에서도 돼요. Tooltip은 마우스를 올리거나 포커스할 때만 보여서, 꼭 필요한 정보는 넣지 않아요.</a:t>
            </a:r>
          </a:p>
          <a:p/>
          <a:p>
            <a:r>
              <a:t>사건 공유가 뭔가요?</a:t>
            </a:r>
          </a:p>
          <a:p>
            <a:r>
              <a:t>마우스를 올려 보세요</a:t>
            </a:r>
          </a:p>
          <a:p/>
          <a:p>
            <a:r>
              <a:t>코드:</a:t>
            </a:r>
          </a:p>
          <a:p>
            <a:r>
              <a:t>&lt;Popover label="사건 공유 설명" trigger={&lt;Button variant="link"&gt;사건 공유가 뭔가요?&lt;/Button&gt;}&gt;…&lt;/Popover&gt;</a:t>
            </a:r>
          </a:p>
          <a:p/>
          <a:p>
            <a:r>
              <a:t>Toast</a:t>
            </a:r>
          </a:p>
          <a:p/>
          <a:p>
            <a:r>
              <a:t>결과를 한 문장으로 알려요. 3초 뒤 사라지고, 경고는 5초 보여요. 오류는 Toast 말고 ErrorState로 보여줘요.</a:t>
            </a:r>
          </a:p>
          <a:p/>
          <a:p>
            <a:r>
              <a:t>기본 알림</a:t>
            </a:r>
          </a:p>
          <a:p>
            <a:r>
              <a:t>성공 알림</a:t>
            </a:r>
          </a:p>
          <a:p>
            <a:r>
              <a:t>경고 알림</a:t>
            </a:r>
          </a:p>
          <a:p/>
          <a:p>
            <a:r>
              <a:t>코드:</a:t>
            </a:r>
          </a:p>
          <a:p>
            <a:r>
              <a:t>const toast = useToast(); toast({ title: "관심 종목을 저장했어요", tone: "success" })</a:t>
            </a:r>
          </a:p>
          <a:p/>
          <a:p>
            <a:r>
              <a:t>Skeleton</a:t>
            </a:r>
          </a:p>
          <a:p/>
          <a:p>
            <a:r>
              <a:t>불러오는 동안 실제 내용과 같은 모양의 자리를 먼저 보여줘서 화면이 흔들리지 않게 해요.</a:t>
            </a:r>
          </a:p>
          <a:p/>
          <a:p>
            <a:r>
              <a:t>예시 사건을 불러오는 중이에요</a:t>
            </a:r>
          </a:p>
          <a:p/>
          <a:p>
            <a:r>
              <a:t>예시 글을 불러오는 중이에요</a:t>
            </a:r>
          </a:p>
          <a:p/>
          <a:p>
            <a:r>
              <a:t>코드:</a:t>
            </a:r>
          </a:p>
          <a:p>
            <a:r>
              <a:t>&lt;SkeletonRows count={3} label="사건을 불러오는 중이에요" /&gt;</a:t>
            </a:r>
          </a:p>
          <a:p/>
          <a:p>
            <a:r>
              <a:t>EmptyState</a:t>
            </a:r>
          </a:p>
          <a:p/>
          <a:p>
            <a:r>
              <a:t>오류가 아니라 정말 없을 때 써요. 지금 상태 한 문장과 다음 행동을 함께 줘요.</a:t>
            </a:r>
          </a:p>
          <a:p/>
          <a:p>
            <a:r>
              <a:t>아직 고른 관심 종목이 없어요</a:t>
            </a:r>
          </a:p>
          <a:p/>
          <a:p>
            <a:r>
              <a:t>관심 종목을 고르면 그 기업 주변 사건을 지도로 보여줘요.</a:t>
            </a:r>
          </a:p>
          <a:p/>
          <a:p>
            <a:r>
              <a:t>관심 종목 고르기</a:t>
            </a:r>
          </a:p>
          <a:p/>
          <a:p>
            <a:r>
              <a:t>코드:</a:t>
            </a:r>
          </a:p>
          <a:p>
            <a:r>
              <a:t>&lt;EmptyState title="아직 고른 관심 종목이 없어요" action={&lt;Button …&gt;종목 고르기&lt;/Button&gt;} /&gt;</a:t>
            </a:r>
          </a:p>
          <a:p/>
          <a:p>
            <a:r>
              <a:t>ErrorState</a:t>
            </a:r>
          </a:p>
          <a:p/>
          <a:p>
            <a:r>
              <a:t>불러오기에 실패했을 때 써요. 빈 목록처럼 보여주면 안 돼요. [다시 시도]를 꼭 넣고, 오류 코드는 [자세히] 안에 둬요.</a:t>
            </a:r>
          </a:p>
          <a:p/>
          <a:p>
            <a:r>
              <a:t>정보를 불러오지 못했어요</a:t>
            </a:r>
          </a:p>
          <a:p/>
          <a:p>
            <a:r>
              <a:t>서버에 연결할 수 없어요. 잠시 후 다시 시도해 주세요.</a:t>
            </a:r>
          </a:p>
          <a:p/>
          <a:p>
            <a:r>
              <a:t>자세히</a:t>
            </a:r>
          </a:p>
          <a:p>
            <a:r>
              <a:t>다시 시도</a:t>
            </a:r>
          </a:p>
          <a:p/>
          <a:p>
            <a:r>
              <a:t>좁은 자리(compact)</a:t>
            </a:r>
          </a:p>
          <a:p/>
          <a:p>
            <a:r>
              <a:t>일시적인 서버 문제예요. 잠시 후 다시 시도해 주세요.</a:t>
            </a:r>
          </a:p>
          <a:p/>
          <a:p>
            <a:r>
              <a:t>자세히</a:t>
            </a:r>
          </a:p>
          <a:p>
            <a:r>
              <a:t>다시 시도</a:t>
            </a:r>
          </a:p>
          <a:p/>
          <a:p>
            <a:r>
              <a:t>코드:</a:t>
            </a:r>
          </a:p>
          <a:p>
            <a:r>
              <a:t>&lt;ErrorState error={error} onRetry={refetch} /&gt;</a:t>
            </a:r>
          </a:p>
          <a:p/>
          <a:p>
            <a:r>
              <a:t>Badge</a:t>
            </a:r>
          </a:p>
          <a:p/>
          <a:p>
            <a:r>
              <a:t>누를 수 없는 상태 표시예요. 한 행에 1~2개까지만 달고, 누르는 필터는 Button이나 Segmented로 만들어요.</a:t>
            </a:r>
          </a:p>
          <a:p/>
          <a:p>
            <a:r>
              <a:t>종류</a:t>
            </a:r>
          </a:p>
          <a:p>
            <a:r>
              <a:t>보유</a:t>
            </a:r>
          </a:p>
          <a:p>
            <a:r>
              <a:t>원문 대조 필요</a:t>
            </a:r>
          </a:p>
          <a:p>
            <a:r>
              <a:t>불러오지 못함</a:t>
            </a:r>
          </a:p>
          <a:p/>
          <a:p>
            <a:r>
              <a:t>코드:</a:t>
            </a:r>
          </a:p>
          <a:p>
            <a:r>
              <a:t>&lt;Badge variant="warning"&gt;원문 대조 필요&lt;/Badge&gt;</a:t>
            </a:r>
          </a:p>
          <a:p/>
          <a:p>
            <a:r>
              <a:t>ListRow</a:t>
            </a:r>
          </a:p>
          <a:p/>
          <a:p>
            <a:r>
              <a:t>카드 대신 쓰는 목록 행이에요. 링크면 to, 같은 화면에서 고르면 onClick, 둘 다 없으면 누를 수 없는 행이에요. &lt;li&gt; 안에 넣어요.</a:t>
            </a:r>
          </a:p>
          <a:p/>
          <a:p>
            <a:r>
              <a:t>예</a:t>
            </a:r>
          </a:p>
          <a:p>
            <a:r>
              <a:t>예시전자</a:t>
            </a:r>
          </a:p>
          <a:p>
            <a:r>
              <a:t>관심 종목</a:t>
            </a:r>
          </a:p>
          <a:p>
            <a:r>
              <a:t>예</a:t>
            </a:r>
          </a:p>
          <a:p>
            <a:r>
              <a:t>예시반도체</a:t>
            </a:r>
          </a:p>
          <a:p>
            <a:r>
              <a:t>보유 종목</a:t>
            </a:r>
          </a:p>
          <a:p>
            <a:r>
              <a:t>예시소재</a:t>
            </a:r>
          </a:p>
          <a:p>
            <a:r>
              <a:t>누를 수 없는 행</a:t>
            </a:r>
          </a:p>
          <a:p/>
          <a:p>
            <a:r>
              <a:t>코드:</a:t>
            </a:r>
          </a:p>
          <a:p>
            <a:r>
              <a:t>&lt;li&gt;&lt;ListRow leading={&lt;CompanyMark … /&gt;} title="예시전자" description="관심 종목" selected onClick={select} /&gt;&lt;/li&gt;</a:t>
            </a:r>
          </a:p>
          <a:p/>
          <a:p>
            <a:r>
              <a:t>SectionHeader</a:t>
            </a:r>
          </a:p>
          <a:p/>
          <a:p>
            <a:r>
              <a:t>목록의 머리글이에요. 앞에 종류 아이콘을 두고, 설명은 오른쪽 정보 아이콘 안에 넣어요(제목 밑에 설명문을 늘어놓지 않아요).</a:t>
            </a:r>
          </a:p>
          <a:p/>
          <a:p>
            <a:r>
              <a:t>관련 사건</a:t>
            </a:r>
          </a:p>
          <a:p/>
          <a:p>
            <a:r>
              <a:t>코드:</a:t>
            </a:r>
          </a:p>
          <a:p>
            <a:r>
              <a:t>&lt;SectionHeader icon={Zap} title="관련 사건" action={&lt;IconHint icon={Info} label="직접 관련"&gt;…&lt;/IconHint&gt;} /&gt;</a:t>
            </a:r>
          </a:p>
          <a:p/>
          <a:p>
            <a:r>
              <a:t>AppBar · BottomTabBar</a:t>
            </a:r>
          </a:p>
          <a:p/>
          <a:p>
            <a:r>
              <a:t>모바일(768px 이하) 위아래 고정 바예요. 앱 셸이 이미 쓰고 있어서 화면에서는 따로 넣지 않아요. AI 탭은 화면을 옮기지 않고 AI 질문 창을 열어요. 아래는 390px 폭 예시예요.</a:t>
            </a:r>
          </a:p>
          <a:p/>
          <a:p>
            <a:r>
              <a:t>줍</a:t>
            </a:r>
          </a:p>
          <a:p>
            <a:r>
              <a:t>예시 화면</a:t>
            </a:r>
          </a:p>
          <a:p>
            <a:r>
              <a:t>지도</a:t>
            </a:r>
          </a:p>
          <a:p>
            <a:r>
              <a:t>브리핑</a:t>
            </a:r>
          </a:p>
          <a:p>
            <a:r>
              <a:t>AI</a:t>
            </a:r>
          </a:p>
          <a:p>
            <a:r>
              <a:t>내 종목</a:t>
            </a:r>
          </a:p>
          <a:p/>
          <a:p>
            <a:r>
              <a:t>코드:</a:t>
            </a:r>
          </a:p>
          <a:p>
            <a:r>
              <a:t>&lt;BottomTabBar tabs={[{ to: "/", label: "지도", icon: MapIcon, end: true }, …, { id: "ai", label: "AI", icon: Sparkles, onPress: openScreenChat, open: chatOpen }, …]} /&gt;</a:t>
            </a:r>
          </a:p>
          <a:p/>
          <a:p>
            <a:r>
              <a:t>줍 컴포넌트</a:t>
            </a:r>
          </a:p>
          <a:p/>
          <a:p>
            <a:r>
              <a:t>줍에만 있는 부품이에요. 근거와 출처를 정직하게 보여주고, 없는 값은 지어내지 않아요.</a:t>
            </a:r>
          </a:p>
          <a:p/>
          <a:p>
            <a:r>
              <a:t>SourceIndicator</a:t>
            </a:r>
          </a:p>
          <a:p/>
          <a:p>
            <a:r>
              <a:t>지금 데이터가 실제 기사인지 합성 데이터인지 글자 없이 아이콘 하나로 알려요. 앱 헤더와 근거 창 두 곳에만 둬요. 올리면 툴팁, 누르면 한 문장 설명이 열리고, 스크린리더는 ‘데이터 출처: 합성 데이터’처럼 읽어요.</a:t>
            </a:r>
          </a:p>
          <a:p/>
          <a:p>
            <a:r>
              <a:t>종류</a:t>
            </a:r>
          </a:p>
          <a:p>
            <a:r>
              <a:t>연결 끊김</a:t>
            </a:r>
          </a:p>
          <a:p>
            <a:r>
              <a:t>데이터 출처 라벨과 설명</a:t>
            </a:r>
          </a:p>
          <a:p>
            <a:r>
              <a:t>라벨	툴팁·스크린리더 이름</a:t>
            </a:r>
          </a:p>
          <a:p>
            <a:r>
              <a:t>데이터 출처: 실제 기사	검증 절차를 통과한 기사예요. 사실이나 투자 성과를 보증하지 않아요.</a:t>
            </a:r>
          </a:p>
          <a:p>
            <a:r>
              <a:t>데이터 출처: 실제 기사 · 저장본	검증 절차를 통과한 기사를 저장한 시점 기준으로 보여줘요.</a:t>
            </a:r>
          </a:p>
          <a:p>
            <a:r>
              <a:t>데이터 출처: 합성 데이터	화면 확인용으로 만든 가상의 기사와 기업이에요.</a:t>
            </a:r>
          </a:p>
          <a:p/>
          <a:p>
            <a:r>
              <a:t>코드:</a:t>
            </a:r>
          </a:p>
          <a:p>
            <a:r>
              <a:t>&lt;SourceIndicator kind={health.datasetKind} /&gt;</a:t>
            </a:r>
          </a:p>
          <a:p/>
          <a:p>
            <a:r>
              <a:t>IconHint · IconCount</a:t>
            </a:r>
          </a:p>
          <a:p/>
          <a:p>
            <a:r>
              <a:t>설명문·부제·메타 라벨 대신 아이콘 하나로 보여줘요. 올리면 툴팁(한 줄), 누르면 팝오버(짧은 설명). 개수 메타는 아이콘 + 숫자예요. 아이콘만 있는 컨트롤은 반드시 aria-label과 툴팁을 가져요.</a:t>
            </a:r>
          </a:p>
          <a:p/>
          <a:p>
            <a:r>
              <a:t>힌트</a:t>
            </a:r>
          </a:p>
          <a:p>
            <a:r>
              <a:t>개수</a:t>
            </a:r>
          </a:p>
          <a:p>
            <a:r>
              <a:t>보도 기사</a:t>
            </a:r>
          </a:p>
          <a:p>
            <a:r>
              <a:t>3</a:t>
            </a:r>
          </a:p>
          <a:p>
            <a:r>
              <a:t>근거 문서</a:t>
            </a:r>
          </a:p>
          <a:p>
            <a:r>
              <a:t>2</a:t>
            </a:r>
          </a:p>
          <a:p/>
          <a:p>
            <a:r>
              <a:t>코드:</a:t>
            </a:r>
          </a:p>
          <a:p>
            <a:r>
              <a:t>&lt;IconHint icon={CalendarClock} label="발행 시각 미확정"&gt;&lt;p&gt;예정 시각은 바뀔 수 있어요.&lt;/p&gt;&lt;/IconHint&gt; &lt;IconCount icon={Newspaper} label="보도 기사" count={3} /&gt;</a:t>
            </a:r>
          </a:p>
          <a:p/>
          <a:p>
            <a:r>
              <a:t>PriceChange · SentimentLabel</a:t>
            </a:r>
          </a:p>
          <a:p/>
          <a:p>
            <a:r>
              <a:t>등락은 색, 부호, ▲▼를 함께 써요. 금액과 등락률은 받은 통화 그대로 쓰고, 값이 없으면 아무것도 그리지 않아요. 기사 판정은 중성 글자와 아이콘으로 구분하고 누르면 근거를 열어요. 아래 숫자와 판정은 예시예요.</a:t>
            </a:r>
          </a:p>
          <a:p/>
          <a:p>
            <a:r>
              <a:t>등락률</a:t>
            </a:r>
          </a:p>
          <a:p>
            <a:r>
              <a:t>▲ +2.34%</a:t>
            </a:r>
          </a:p>
          <a:p>
            <a:r>
              <a:t>상승</a:t>
            </a:r>
          </a:p>
          <a:p>
            <a:r>
              <a:t>▼ -1.50%</a:t>
            </a:r>
          </a:p>
          <a:p>
            <a:r>
              <a:t>하락</a:t>
            </a:r>
          </a:p>
          <a:p>
            <a:r>
              <a:t>0.00%</a:t>
            </a:r>
          </a:p>
          <a:p>
            <a:r>
              <a:t>보합</a:t>
            </a:r>
          </a:p>
          <a:p>
            <a:r>
              <a:t>null → (그리지 않음)</a:t>
            </a:r>
          </a:p>
          <a:p>
            <a:r>
              <a:t>금액 + 등락률</a:t>
            </a:r>
          </a:p>
          <a:p>
            <a:r>
              <a:t>▲ +5,250원 (+1.96%)</a:t>
            </a:r>
          </a:p>
          <a:p>
            <a:r>
              <a:t>상승</a:t>
            </a:r>
          </a:p>
          <a:p>
            <a:r>
              <a:t>▼ -$13.61 (-1.84%)</a:t>
            </a:r>
          </a:p>
          <a:p>
            <a:r>
              <a:t>하락</a:t>
            </a:r>
          </a:p>
          <a:p>
            <a:r>
              <a:t>판정 예시</a:t>
            </a:r>
          </a:p>
          <a:p>
            <a:r>
              <a:t>긍정</a:t>
            </a:r>
          </a:p>
          <a:p>
            <a:r>
              <a:t>AI 판정</a:t>
            </a:r>
          </a:p>
          <a:p>
            <a:r>
              <a:t>부정</a:t>
            </a:r>
          </a:p>
          <a:p>
            <a:r>
              <a:t>AI 판정</a:t>
            </a:r>
          </a:p>
          <a:p>
            <a:r>
              <a:t>혼재</a:t>
            </a:r>
          </a:p>
          <a:p>
            <a:r>
              <a:t>AI 판정</a:t>
            </a:r>
          </a:p>
          <a:p>
            <a:r>
              <a:t>판단 보류</a:t>
            </a:r>
          </a:p>
          <a:p>
            <a:r>
              <a:t>AI 판정</a:t>
            </a:r>
          </a:p>
          <a:p/>
          <a:p>
            <a:r>
              <a:t>코드:</a:t>
            </a:r>
          </a:p>
          <a:p>
            <a:r>
              <a:t>&lt;PriceChange change={quote.change} changePercent={quote.changeRate * 100} currency={quote.currency} /&gt;</a:t>
            </a:r>
          </a:p>
          <a:p/>
          <a:p>
            <a:r>
              <a:t>DisclaimerNote</a:t>
            </a:r>
          </a:p>
          <a:p/>
          <a:p>
            <a:r>
              <a:t>투자 권유가 아니라는 고지예요. 브리핑과 기업 상세 맨 아래에 13px 한 줄로 둬요. 이 페이지의 고지도 여기 하나예요.</a:t>
            </a:r>
          </a:p>
          <a:p/>
          <a:p>
            <a:r>
              <a:t>본 정보는 참고용이며 투자 권유가 아니에요.</a:t>
            </a:r>
          </a:p>
          <a:p/>
          <a:p>
            <a:r>
              <a:t>코드:</a:t>
            </a:r>
          </a:p>
          <a:p>
            <a:r>
              <a:t>&lt;DisclaimerNote /&gt;</a:t>
            </a:r>
          </a:p>
          <a:p/>
          <a:p>
            <a:r>
              <a:t>EventRow</a:t>
            </a:r>
          </a:p>
          <a:p/>
          <a:p>
            <a:r>
              <a:t>사건 1건을 카드 없이 한 행으로 보여줘요. 날짜 줄에 아이콘 메타(관계 선 견본·보도 기사 수)를 붙이고, 제목과 근거 버튼이 이어져요.</a:t>
            </a:r>
          </a:p>
          <a:p/>
          <a:p>
            <a:r>
              <a:t>2026-07-10</a:t>
            </a:r>
          </a:p>
          <a:p>
            <a:r>
              <a:t>보도 기사</a:t>
            </a:r>
          </a:p>
          <a:p>
            <a:r>
              <a:t>3</a:t>
            </a:r>
          </a:p>
          <a:p>
            <a:r>
              <a:t>예시: 예시전자 2분기 실적 발표</a:t>
            </a:r>
          </a:p>
          <a:p>
            <a:r>
              <a:t>근거 2건 보기</a:t>
            </a:r>
          </a:p>
          <a:p>
            <a:r>
              <a:t>AI에게 묻기</a:t>
            </a:r>
          </a:p>
          <a:p>
            <a:r>
              <a:t>발생 시각 미상</a:t>
            </a:r>
          </a:p>
          <a:p>
            <a:r>
              <a:t>예시: 시각이 확인되지 않은 사건</a:t>
            </a:r>
          </a:p>
          <a:p>
            <a:r>
              <a:t>근거</a:t>
            </a:r>
          </a:p>
          <a:p>
            <a:r>
              <a:t>0</a:t>
            </a:r>
          </a:p>
          <a:p/>
          <a:p>
            <a:r>
              <a:t>코드:</a:t>
            </a:r>
          </a:p>
          <a:p>
            <a:r>
              <a:t>&lt;EventRow title={event.title} eventTime={event.eventTime} timePrecision="day" evidenceCount={3} onShowEvidence={open} meta={&lt;IconCount icon={Newspaper} label="보도 기사" count={3} /&gt;} /&gt;</a:t>
            </a:r>
          </a:p>
          <a:p/>
          <a:p>
            <a:r>
              <a:t>BriefingCard</a:t>
            </a:r>
          </a:p>
          <a:p/>
          <a:p>
            <a:r>
              <a:t>브리핑 1회분이에요. 바깥 경계는 이것 하나이고, 안은 EventRow로 채워요. 그래서 이 예시는 프레임 없이 보여줘요.</a:t>
            </a:r>
          </a:p>
          <a:p/>
          <a:p>
            <a:r>
              <a:t>출근 브리핑</a:t>
            </a:r>
          </a:p>
          <a:p>
            <a:r>
              <a:t>발행</a:t>
            </a:r>
          </a:p>
          <a:p>
            <a:r>
              <a:t>발행일</a:t>
            </a:r>
          </a:p>
          <a:p>
            <a:r>
              <a:t>2026-09-29</a:t>
            </a:r>
          </a:p>
          <a:p>
            <a:r>
              <a:t>예정</a:t>
            </a:r>
          </a:p>
          <a:p>
            <a:r>
              <a:t>07:40</a:t>
            </a:r>
          </a:p>
          <a:p>
            <a:r>
              <a:t>발행</a:t>
            </a:r>
          </a:p>
          <a:p>
            <a:r>
              <a:t>2026-09-29 07:41 KST</a:t>
            </a:r>
          </a:p>
          <a:p>
            <a:r>
              <a:t>데이터 기준</a:t>
            </a:r>
          </a:p>
          <a:p>
            <a:r>
              <a:t>2026-09-29 07:40 KST</a:t>
            </a:r>
          </a:p>
          <a:p>
            <a:r>
              <a:t>회차 판단</a:t>
            </a:r>
          </a:p>
          <a:p>
            <a:r>
              <a:t>혼재</a:t>
            </a:r>
          </a:p>
          <a:p>
            <a:r>
              <a:t>AI 판정</a:t>
            </a:r>
          </a:p>
          <a:p/>
          <a:p>
            <a:r>
              <a:t>예시: 매출 증가와 비용 부담이 함께 보도됐어요. 이 회차의 기사에는 긍정·부정 요인이 함께 있어요.</a:t>
            </a:r>
          </a:p>
          <a:p/>
          <a:p>
            <a:r>
              <a:t>근거 이슈</a:t>
            </a:r>
          </a:p>
          <a:p>
            <a:r>
              <a:t>1. 예시전자 2분기 실적 발표</a:t>
            </a:r>
          </a:p>
          <a:p/>
          <a:p>
            <a:r>
              <a:t>주가 전망이 아니에요.</a:t>
            </a:r>
          </a:p>
          <a:p/>
          <a:p>
            <a:r>
              <a:t>핵심 요약</a:t>
            </a:r>
          </a:p>
          <a:p>
            <a:r>
              <a:t>관계도</a:t>
            </a:r>
          </a:p>
          <a:p>
            <a:r>
              <a:t>2026-07-10</a:t>
            </a:r>
          </a:p>
          <a:p>
            <a:r>
              <a:t>예시: 예시전자 2분기 실적 발표</a:t>
            </a:r>
          </a:p>
          <a:p>
            <a:r>
              <a:t>근거</a:t>
            </a:r>
          </a:p>
          <a:p>
            <a:r>
              <a:t>2</a:t>
            </a:r>
          </a:p>
          <a:p>
            <a:r>
              <a:t>근거 문서</a:t>
            </a:r>
          </a:p>
          <a:p>
            <a:r>
              <a:t>2</a:t>
            </a:r>
          </a:p>
          <a:p/>
          <a:p>
            <a:r>
              <a:t>코드:</a:t>
            </a:r>
          </a:p>
          <a:p>
            <a:r>
              <a:t>&lt;BriefingCard edition="morning" status="published" date={date} scheduledAt="07:40" publishedAt={…} dataAsOf={…} notice={…} corrections={…} totalEvidence={3} summary={…} relations={…} /&gt;</a:t>
            </a:r>
          </a:p>
          <a:p/>
          <a:p>
            <a:r>
              <a:t>CompanyHeader · CompanyMark</a:t>
            </a:r>
          </a:p>
          <a:p/>
          <a:p>
            <a:r>
              <a:t>기업 상세와 패널 맨 위예요. 지도 노드와 같은 표지(상징색 원 + 로고, 없으면 이니셜)를 앞에 둬요. 시세가 없으면 시세 자리를 두지 않아요.</a:t>
            </a:r>
          </a:p>
          <a:p/>
          <a:p>
            <a:r>
              <a:t>예</a:t>
            </a:r>
          </a:p>
          <a:p>
            <a:r>
              <a:t>예시전자</a:t>
            </a:r>
          </a:p>
          <a:p>
            <a:r>
              <a:t>예시 업종 · 000000</a:t>
            </a:r>
          </a:p>
          <a:p>
            <a:r>
              <a:t>보유</a:t>
            </a:r>
          </a:p>
          <a:p>
            <a:r>
              <a:t>· 원가 비중 40%</a:t>
            </a:r>
          </a:p>
          <a:p>
            <a:r>
              <a:t>관심</a:t>
            </a:r>
          </a:p>
          <a:p>
            <a:r>
              <a:t>표지</a:t>
            </a:r>
          </a:p>
          <a:p>
            <a:r>
              <a:t>NVIDIA · 상징색 + 로고</a:t>
            </a:r>
          </a:p>
          <a:p>
            <a:r>
              <a:t>A</a:t>
            </a:r>
          </a:p>
          <a:p>
            <a:r>
              <a:t>Amazon · 상징색 + 이니셜(로고 없음)</a:t>
            </a:r>
          </a:p>
          <a:p>
            <a:r>
              <a:t>S</a:t>
            </a:r>
          </a:p>
          <a:p>
            <a:r>
              <a:t>SK하이닉스 · 폴백 팔레트 + 이니셜</a:t>
            </a:r>
          </a:p>
          <a:p>
            <a:r>
              <a:t>Apple · 어두운 상징색: 다크 테마에서 윤곽선</a:t>
            </a:r>
          </a:p>
          <a:p/>
          <a:p>
            <a:r>
              <a:t>코드:</a:t>
            </a:r>
          </a:p>
          <a:p>
            <a:r>
              <a:t>&lt;CompanyHeader id={c.id} name={c.name} brandColor={c.brandColor} logoUrl={c.logoUrl} ticker={c.ticker} holding={c.holding} watch={c.watch} /&gt;</a:t>
            </a:r>
          </a:p>
          <a:p/>
          <a:p>
            <a:r>
              <a:t>EvidenceList · VerificationBadge</a:t>
            </a:r>
          </a:p>
          <a:p/>
          <a:p>
            <a:r>
              <a:t>근거가 된 기사 문장을 원문 그대로 인용해요. 출처와 시각을 함께 적고, 원문과 대조하지 못한 인용은 경고로 알려요.</a:t>
            </a:r>
          </a:p>
          <a:p/>
          <a:p>
            <a:r>
              <a:t>확인 상태</a:t>
            </a:r>
          </a:p>
          <a:p>
            <a:r>
              <a:t>원문 대조 필요</a:t>
            </a:r>
          </a:p>
          <a:p/>
          <a:p>
            <a:r>
              <a:t>예시일보</a:t>
            </a:r>
          </a:p>
          <a:p>
            <a:r>
              <a:t>·</a:t>
            </a:r>
          </a:p>
          <a:p>
            <a:r>
              <a:t>발행 2026-07-10 09:20 KST</a:t>
            </a:r>
          </a:p>
          <a:p/>
          <a:p>
            <a:r>
              <a:t>예시전자, 2분기 실적 발표</a:t>
            </a:r>
          </a:p>
          <a:p/>
          <a:p>
            <a:r>
              <a:t>“예시전자는 2분기 메모리 실적을 7월 10일 발표했다.”</a:t>
            </a:r>
          </a:p>
          <a:p>
            <a:r>
              <a:t>원문을 제공하지 않는 자료입니다</a:t>
            </a:r>
          </a:p>
          <a:p/>
          <a:p>
            <a:r>
              <a:t>예시경제</a:t>
            </a:r>
          </a:p>
          <a:p>
            <a:r>
              <a:t>·</a:t>
            </a:r>
          </a:p>
          <a:p>
            <a:r>
              <a:t>발행 시각 미상</a:t>
            </a:r>
          </a:p>
          <a:p>
            <a:r>
              <a:t>원문 대조 필요</a:t>
            </a:r>
          </a:p>
          <a:p/>
          <a:p>
            <a:r>
              <a:t>예시공장 가동 중단</a:t>
            </a:r>
          </a:p>
          <a:p/>
          <a:p>
            <a:r>
              <a:t>“예시전자는 4월 11일 예시공장 가동을 중단했다.”</a:t>
            </a:r>
          </a:p>
          <a:p>
            <a:r>
              <a:t>원문을 제공하지 않는 자료입니다</a:t>
            </a:r>
          </a:p>
          <a:p/>
          <a:p>
            <a:r>
              <a:t>코드:</a:t>
            </a:r>
          </a:p>
          <a:p>
            <a:r>
              <a:t>&lt;EvidenceList items={evidence} /&gt;</a:t>
            </a:r>
          </a:p>
          <a:p/>
          <a:p>
            <a:r>
              <a:t>DocumentItem</a:t>
            </a:r>
          </a:p>
          <a:p/>
          <a:p>
            <a:r>
              <a:t>기업 상세의 근거 문서 한 건이에요. 출처·발행 시각, 제목, 사건과의 관계, 저장한 인용, 원문 링크 순서예요. 원문 링크가 없으면 정해진 문구를 써요. 인용과 출처는 저장한 값이라 원문 사이트가 열리지 않아도 남아요.</a:t>
            </a:r>
          </a:p>
          <a:p/>
          <a:p>
            <a:r>
              <a:t>예시 뉴스</a:t>
            </a:r>
          </a:p>
          <a:p>
            <a:r>
              <a:t>·</a:t>
            </a:r>
          </a:p>
          <a:p>
            <a:r>
              <a:t>발행 2026-07-10 09:00 KST</a:t>
            </a:r>
          </a:p>
          <a:p/>
          <a:p>
            <a:r>
              <a:t>예시: 예시전자 2분기 실적 발표</a:t>
            </a:r>
          </a:p>
          <a:p>
            <a:r>
              <a:t>사건을 보도한 기사</a:t>
            </a:r>
          </a:p>
          <a:p>
            <a:r>
              <a:t>“예시전자는 2분기 매출이 늘었다고 밝혔다.”</a:t>
            </a:r>
          </a:p>
          <a:p>
            <a:r>
              <a:t>원문 기사 보기</a:t>
            </a:r>
          </a:p>
          <a:p>
            <a:r>
              <a:t>(새 창에서 열림)</a:t>
            </a:r>
          </a:p>
          <a:p/>
          <a:p>
            <a:r>
              <a:t>예시 공시</a:t>
            </a:r>
          </a:p>
          <a:p>
            <a:r>
              <a:t>·</a:t>
            </a:r>
          </a:p>
          <a:p>
            <a:r>
              <a:t>발행 2026-07-11 18:00 KST</a:t>
            </a:r>
          </a:p>
          <a:p/>
          <a:p>
            <a:r>
              <a:t>예시: 원문 링크가 없는 공시 요약</a:t>
            </a:r>
          </a:p>
          <a:p>
            <a:r>
              <a:t>배경을 설명한 기사</a:t>
            </a:r>
          </a:p>
          <a:p>
            <a:r>
              <a:t>원문을 제공하지 않는 자료입니다</a:t>
            </a:r>
          </a:p>
          <a:p/>
          <a:p>
            <a:r>
              <a:t>코드:</a:t>
            </a:r>
          </a:p>
          <a:p>
            <a:r>
              <a:t>&lt;DocumentItem title={doc.title} publisher={doc.publisher} url={doc.url} publishedAt={doc.publishedAt} relation="사건을 보도한 기사" quotes={quotes} /&gt;</a:t>
            </a:r>
          </a:p>
          <a:p/>
          <a:p>
            <a:r>
              <a:t>AiBadge · AiNotice · AiDisclosure</a:t>
            </a:r>
          </a:p>
          <a:p/>
          <a:p>
            <a:r>
              <a:t>AI가 만든 글이라는 표시를 한 번, 아래에 한 줄 고지를 둬요. 만든 방법은 링크를 눌러 팝오버로 봐요.</a:t>
            </a:r>
          </a:p>
          <a:p/>
          <a:p>
            <a:r>
              <a:t>표시</a:t>
            </a:r>
          </a:p>
          <a:p>
            <a:r>
              <a:t>AI 요약</a:t>
            </a:r>
          </a:p>
          <a:p/>
          <a:p>
            <a:r>
              <a:t>AI가 수집된 기사로 만든 요약이에요. 원문을 대체하지 않아요.</a:t>
            </a:r>
          </a:p>
          <a:p/>
          <a:p>
            <a:r>
              <a:t>이 요약은 어떻게 만들었나요?</a:t>
            </a:r>
          </a:p>
          <a:p/>
          <a:p>
            <a:r>
              <a:t>코드:</a:t>
            </a:r>
          </a:p>
          <a:p>
            <a:r>
              <a:t>&lt;AiBadge /&gt; … &lt;AiNotice /&gt; &lt;AiDisclosure sourceScope="근거 3건" asOf={asOf} /&gt;</a:t>
            </a:r>
          </a:p>
          <a:p/>
          <a:p>
            <a:r>
              <a:t>그래프</a:t>
            </a:r>
          </a:p>
          <a:p/>
          <a:p>
            <a:r>
              <a:t>GraphDB 시각화(Neo4j Browser·Bloom) 관례를 따라요. 모든 노드는 원이고 종류는 색으로 구분해요. 선 가운데에는 관계 요약을 적고, 관계 유형은 선 모양으로 구분해요. 지도에는 항상 같은 내용의 목록이 함께 있어요.</a:t>
            </a:r>
          </a:p>
          <a:p/>
          <a:p>
            <a:r>
              <a:t>GraphLegend</a:t>
            </a:r>
          </a:p>
          <a:p/>
          <a:p>
            <a:r>
              <a:t>Neo4j식 라벨 칩이에요. 지도에 있는 종류만 표지 + 이름 + 개수로 보여줘요. onToggle을 주면 노드 종류·관계 유형 칩이 표시 켜기/끄기 버튼(aria-pressed)이 돼요. 꺼도 개수는 그대로고 칩만 흐려져요. 노드 종류는 하나 이상 켜 둬야 해서 마지막 하나는 끌 수 없어요. 연결 없는 사건 묶음은 '사건'을 따라요. 지도는 다시 배치하지 않아요.</a:t>
            </a:r>
          </a:p>
          <a:p/>
          <a:p>
            <a:r>
              <a:t>보기 전용</a:t>
            </a:r>
          </a:p>
          <a:p>
            <a:r>
              <a:t>기업</a:t>
            </a:r>
          </a:p>
          <a:p>
            <a:r>
              <a:t>3</a:t>
            </a:r>
          </a:p>
          <a:p>
            <a:r>
              <a:t>사건</a:t>
            </a:r>
          </a:p>
          <a:p>
            <a:r>
              <a:t>5</a:t>
            </a:r>
          </a:p>
          <a:p>
            <a:r>
              <a:t>보유</a:t>
            </a:r>
          </a:p>
          <a:p>
            <a:r>
              <a:t>1</a:t>
            </a:r>
          </a:p>
          <a:p>
            <a:r>
              <a:t>관심</a:t>
            </a:r>
          </a:p>
          <a:p>
            <a:r>
              <a:t>1</a:t>
            </a:r>
          </a:p>
          <a:p>
            <a:r>
              <a:t>직접 관련</a:t>
            </a:r>
          </a:p>
          <a:p>
            <a:r>
              <a:t>3</a:t>
            </a:r>
          </a:p>
          <a:p>
            <a:r>
              <a:t>구조적 관련</a:t>
            </a:r>
          </a:p>
          <a:p>
            <a:r>
              <a:t>1</a:t>
            </a:r>
          </a:p>
          <a:p>
            <a:r>
              <a:t>후속 사건</a:t>
            </a:r>
          </a:p>
          <a:p>
            <a:r>
              <a:t>1</a:t>
            </a:r>
          </a:p>
          <a:p>
            <a:r>
              <a:t>사건 공유</a:t>
            </a:r>
          </a:p>
          <a:p>
            <a:r>
              <a:t>1</a:t>
            </a:r>
          </a:p>
          <a:p>
            <a:r>
              <a:t>거르기</a:t>
            </a:r>
          </a:p>
          <a:p>
            <a:r>
              <a:t>기업</a:t>
            </a:r>
          </a:p>
          <a:p>
            <a:r>
              <a:t>3</a:t>
            </a:r>
          </a:p>
          <a:p>
            <a:r>
              <a:t>사건</a:t>
            </a:r>
          </a:p>
          <a:p>
            <a:r>
              <a:t>5</a:t>
            </a:r>
          </a:p>
          <a:p>
            <a:r>
              <a:t>보유</a:t>
            </a:r>
          </a:p>
          <a:p>
            <a:r>
              <a:t>1</a:t>
            </a:r>
          </a:p>
          <a:p>
            <a:r>
              <a:t>관심</a:t>
            </a:r>
          </a:p>
          <a:p>
            <a:r>
              <a:t>1</a:t>
            </a:r>
          </a:p>
          <a:p>
            <a:r>
              <a:t>직접 관련</a:t>
            </a:r>
          </a:p>
          <a:p>
            <a:r>
              <a:t>3</a:t>
            </a:r>
          </a:p>
          <a:p>
            <a:r>
              <a:t>구조적 관련</a:t>
            </a:r>
          </a:p>
          <a:p>
            <a:r>
              <a:t>1</a:t>
            </a:r>
          </a:p>
          <a:p>
            <a:r>
              <a:t>후속 사건</a:t>
            </a:r>
          </a:p>
          <a:p>
            <a:r>
              <a:t>1</a:t>
            </a:r>
          </a:p>
          <a:p>
            <a:r>
              <a:t>사건 공유</a:t>
            </a:r>
          </a:p>
          <a:p>
            <a:r>
              <a:t>1</a:t>
            </a:r>
          </a:p>
          <a:p/>
          <a:p>
            <a:r>
              <a:t>코드:</a:t>
            </a:r>
          </a:p>
          <a:p>
            <a:r>
              <a:t>&lt;GraphLegend nodes={graph.nodes} edges={graph.edges} hidden={hidden} onToggle={toggle} /&gt;</a:t>
            </a:r>
          </a:p>
          <a:p/>
          <a:p>
            <a:r>
              <a:t>노드</a:t>
            </a:r>
          </a:p>
          <a:p>
            <a:r>
              <a:t>기업: 상징색 원(기본 모델 크기 데스크톱 64px, 모바일 72px, 중심 기업 +12px) 안에 흰색 또는 거의 검정(대비가 큰 쪽) 로고. 화면 최소 지름은 넓게 볼수록 줄어요(배율 0.6배 이상 44px → 0.25배 이하 28px, WCAG 2.2 최소 대상 24px 이상). 로고가 없으면 이니셜, 상징색이 없으면 폴백 팔레트 8색 중 company_id 해시로 고른 색(항상 같은 색).</a:t>
            </a:r>
          </a:p>
          <a:p>
            <a:r>
              <a:t>사건: 범주색 원 하나(graph-node-issue) + 번개 아이콘. 캡션은 원문 대상이나 제목을 최대 두 줄로 줄여요(한글 포함 시 줄당 12자, 그 외 24자). 전체 제목은 상세에서 읽을 수 있어요.</a:t>
            </a:r>
          </a:p>
          <a:p>
            <a:r>
              <a:t>근거 수 배지: 사건 노드 오른쪽 위에 그 사건의 근거 수(그래프 응답 evidenceCount, 사건 상세 근거 수와 같음)를 채운 원으로 붙여요. 숫자는 text-primary 바탕에 surface-base 글자라 두 테마 모두 대비 4.5:1을 넘고, 바깥 바탕색 테두리로 노드와 떨어져 보여요. 숫자가 13px 아래로 작아지지 않게 배율에 반비례해 키우고, 사건 캡션과 같은 0.55배부터 보여요. 캡션 정리로는 숨기지 않아요.</a:t>
            </a:r>
          </a:p>
          <a:p>
            <a:r>
              <a:t>연결 없는 사건 묶음: 그래프에서 선이 하나도 없는 사건(후속 사건 선만 있어도 연결된 것)은 묶음 노드 하나로 모아 지도 가장자리(가로로 긴 화면은 오른쪽, 세로로 긴 화면은 아래)에 둬요. 범주색 원 + 개수 + 이중 테두리, 캡션은 “연결 없는 사건 N”. 기업처럼 축소해도 화면에서 48px을 지켜 개수가 읽혀요. 누르면 상세에 묶인 사건이 최신순으로 나와요. 캔버스 위 투명 버튼으로 키보드·스크린리더(“연결 없는 사건 N건 보기”)도 고를 수 있어요. 목록 보기는 모든 사건을 그대로 보여줘요.</a:t>
            </a:r>
          </a:p>
          <a:p>
            <a:r>
              <a:t>보유·관심: 3px 바깥 테두리(모양 신호). 선택: 3px 브랜드 외곽선(글로우 없음). 배경 대비 3:1이 안 되는 상징색은 얇은 윤곽선.</a:t>
            </a:r>
          </a:p>
          <a:p>
            <a:r>
              <a:t>캡션은 노드 아래, 선 요약은 선을 따라 회전하고 바탕색 배경을 깔아요. 화면 글자는 최소 13px이에요. 사건 캡션은 0.55배, 선 요약은 0.95배 미만에서 숨겨요. 선 160개 초과 시 강조된 선의 요약만 보여요.</a:t>
            </a:r>
          </a:p>
          <a:p>
            <a:r>
              <a:t>캡션 정리: 화면이 멈춘 뒤(140ms) 캡션끼리 또는 캡션과 다른 기업 원이 겹치면 우선순위가 낮은 쪽 캡션만 숨겨요. 순서는 선택·경로·포커스 중심(항상 보임) &gt; 선택의 이웃 기업 &gt; 보유·관심 기업 &gt; 연결 수가 많은 기업 &gt; 묶음 &gt; 사건이에요. 원·배지·선은 그대로이고, 확대하거나 올리거나 고르면 캡션이 다시 보여요.</a:t>
            </a:r>
          </a:p>
          <a:p>
            <a:r>
              <a:t>배치 고정: fcose 난수 씨앗을 고정하고 앱 실행 중에는 데이터별 좌표를 기억해, 새로고침이나 지도 복귀 뒤에도 같은 자리에 그려요. 배치 계산 때 기업은 이름 자리까지 포함한 크기(140)로 셈해요.</a:t>
            </a:r>
          </a:p>
          <a:p>
            <a:r>
              <a:t>선 요약은 12자를 넘으면 말줄임해요. 노드를 고르거나 올리면 연결된 사건이 최신인 선 6개에만 요약이 보이고, 나머지 선은 그 선에 올리거나 눌렀을 때 전체 요약이 보여요. 같은 두 노드 사이의 여러 선은 곡선 간격을 넓혀 요약이 겹치지 않게 해요.</a:t>
            </a:r>
          </a:p>
          <a:p>
            <a:r>
              <a:t>누를 수 있는 선(명세 D03·FS022): 사건 공유(기업 사이)와 후속 사건(사건 사이) 선만 연결선 상세를 열어요. 사건–기업 선(직접 관련·구조적 관련)은 올리면 요약만 보이고 눌러도 아무것도 고르지 않아요. 기업과 사건의 관계는 기업 상세의 [직접 이슈]에서 사건을 눌러 영향 경로로 봐요.</a:t>
            </a:r>
          </a:p>
          <a:p>
            <a:r>
              <a:t>선 4종</a:t>
            </a:r>
          </a:p>
          <a:p/>
          <a:p>
            <a:r>
              <a:t>위 세 가지는 검증된 관계예요(화살표 = 방향). 사건 공유는 같은 사건 보도에 두 기업이 함께 나왔다는 뜻일 뿐이라, 방향 없이 가장 흐린 점선으로 그려요. 직접 관계가 아니라는 설명은 연결선 상세에서만 해요.</a:t>
            </a:r>
          </a:p>
          <a:p/>
          <a:p>
            <a:r>
              <a:t>그래프 선 종류별 모양과 뜻</a:t>
            </a:r>
          </a:p>
          <a:p>
            <a:r>
              <a:t>선	모양	뜻	구분</a:t>
            </a:r>
          </a:p>
          <a:p/>
          <a:p>
            <a:r>
              <a:t>직접 관련</a:t>
            </a:r>
          </a:p>
          <a:p>
            <a:r>
              <a:t>	2px 실선 + 화살표	사건 기사에 이 기업이 직접 등장해요.	승인 관계</a:t>
            </a:r>
          </a:p>
          <a:p/>
          <a:p>
            <a:r>
              <a:t>구조적 관련</a:t>
            </a:r>
          </a:p>
          <a:p>
            <a:r>
              <a:t>	2px 파선 + 화살표	기존에 등록된 협력/공급 기준 관계를 바탕으로 연결된 흐름이에요.	승인 관계</a:t>
            </a:r>
          </a:p>
          <a:p/>
          <a:p>
            <a:r>
              <a:t>후속 사건</a:t>
            </a:r>
          </a:p>
          <a:p>
            <a:r>
              <a:t>	1.5px 실선 + 화살표	앞선 사건 뒤에 이어서 보도된 사건이에요.	승인 관계</a:t>
            </a:r>
          </a:p>
          <a:p/>
          <a:p>
            <a:r>
              <a:t>사건 공유</a:t>
            </a:r>
          </a:p>
          <a:p>
            <a:r>
              <a:t>	1.5px 점선, 방향 없음, 낮은 대비	두 기업 사이에 직접적인 계약이 체결된 것은 아니에요. 같은 이슈에서 함께 다뤄진 관계예요.	파생 경로</a:t>
            </a:r>
          </a:p>
          <a:p>
            <a:r>
              <a:t>FocusBar</a:t>
            </a:r>
          </a:p>
          <a:p/>
          <a:p>
            <a:r>
              <a:t>포커스 모드예요. 기업·사건 상세의 [이 노드 중심으로 보기]로 들어가면 그 노드의 1단계(바로 이어진 노드) 또는 2단계(이웃의 이웃) 이웃만 남기고, 포커스 노드를 제자리에 둔 방사형(1단계는 첫 링, 2단계는 둘째 링)으로 옮겨 사건 캡션과 근거 배지가 읽히는 배율로 맞춰요. 링 안 순서는 원래 지도의 방향을 따르고, 나오면 원래 위치로 돌아가요. 기본은 1단계예요. 들어가기·범위 바꾸기·전체 보기는 주소(?focus=&amp;hops=)에 쌓여 뒤로 가기로 돌아올 수 있어요. 좁은 화면에서는 [전체 보기]가 아이콘이 돼 한 줄을 지켜요.</a:t>
            </a:r>
          </a:p>
          <a:p/>
          <a:p>
            <a:r>
              <a:t>넓은 화면</a:t>
            </a:r>
          </a:p>
          <a:p>
            <a:r>
              <a:t>예</a:t>
            </a:r>
          </a:p>
          <a:p/>
          <a:p>
            <a:r>
              <a:t>예시전자 중심</a:t>
            </a:r>
          </a:p>
          <a:p/>
          <a:p>
            <a:r>
              <a:t>1단계</a:t>
            </a:r>
          </a:p>
          <a:p>
            <a:r>
              <a:t>2단계</a:t>
            </a:r>
          </a:p>
          <a:p>
            <a:r>
              <a:t>전체 보기</a:t>
            </a:r>
          </a:p>
          <a:p>
            <a:r>
              <a:t>좁은 화면</a:t>
            </a:r>
          </a:p>
          <a:p>
            <a:r>
              <a:t>예</a:t>
            </a:r>
          </a:p>
          <a:p/>
          <a:p>
            <a:r>
              <a:t>예시전자 중심</a:t>
            </a:r>
          </a:p>
          <a:p/>
          <a:p>
            <a:r>
              <a:t>1단계</a:t>
            </a:r>
          </a:p>
          <a:p>
            <a:r>
              <a:t>2단계</a:t>
            </a:r>
          </a:p>
          <a:p/>
          <a:p>
            <a:r>
              <a:t>코드:</a:t>
            </a:r>
          </a:p>
          <a:p>
            <a:r>
              <a:t>&lt;FocusBar node={node} hops={1} onHopsChange={setHops} onExit={exit} /&gt;</a:t>
            </a:r>
          </a:p>
          <a:p/>
          <a:p>
            <a:r>
              <a:t>PathBar</a:t>
            </a:r>
          </a:p>
          <a:p/>
          <a:p>
            <a:r>
              <a:t>두 기업 사이 경로예요. 기업 상세의 [다른 기업과의 연결 보기]에서 지도의 다른 기업을 고르면, 승인된 관계 선만 따라(방향 무시, 사건 공유 파생 선 제외) 가장 적은 단계로 잇는 경로를 강조해요. 나머지는 흐리게 두고 경로 선 요약은 항상 보이며, 상세에는 기업 → 선 요약 → 사건 → … 단계 목록이 나와요. 이어지지 않으면 막대 없이 상세에 '아직 두 기업을 잇는 사건이 없어요.'만 보여요. 주소(?path=A,B)에 쌓여 뒤로 가기로 돌아오고, 포커스와 함께 두지 않아요. 좁은 화면에서는 [경로 단계 보기]로 단계 시트를 열어요. 카메라는 경로(영향 경로 포함)에 맞추되, 넓은 화면에서 미니맵이 있으면 그 위까지만, 좁은 화면에서 상세 시트가 열려 있으면 시트 위 영역에 맞춰요. 아래 지도(작은 예시)에 적용돼요.</a:t>
            </a:r>
          </a:p>
          <a:p/>
          <a:p>
            <a:r>
              <a:t>예시전자 ↔ 예시소재 경로 보기</a:t>
            </a:r>
          </a:p>
          <a:p/>
          <a:p>
            <a:r>
              <a:t>코드:</a:t>
            </a:r>
          </a:p>
          <a:p>
            <a:r>
              <a:t>&lt;PathBar from={a} to={b} steps={path.edgeIds.length} onExit={exit} /&gt;</a:t>
            </a:r>
          </a:p>
          <a:p/>
          <a:p>
            <a:r>
              <a:t>GraphModeSwitch · 보유/관심 표시</a:t>
            </a:r>
          </a:p>
          <a:p/>
          <a:p>
            <a:r>
              <a:t>전체(시장 전체)와 개인화(내 종목: 보유 + 관심) 지도를 바꿔요. 고른 칸이 지금 모드예요. 주소가 없으면 보유·관심이 있는 회원은 개인화로, 아니면 전체로 열려요. 비회원이 개인화를 누르면 자물쇠와 로그인 안내가 나와요. 지도에서 보유는 실선 테두리, 관심은 점선 테두리, 둘 다면 이중 테두리이고 이름 아래에 글자로도 적어요(색만으로 구별하지 않아요). 보유·관심이 모두 없으면 관심 종목 고르기를 안내해요.</a:t>
            </a:r>
          </a:p>
          <a:p/>
          <a:p>
            <a:r>
              <a:t>회원</a:t>
            </a:r>
          </a:p>
          <a:p>
            <a:r>
              <a:t>시장 전체</a:t>
            </a:r>
          </a:p>
          <a:p>
            <a:r>
              <a:t>내 종목</a:t>
            </a:r>
          </a:p>
          <a:p>
            <a:r>
              <a:t>비회원</a:t>
            </a:r>
          </a:p>
          <a:p>
            <a:r>
              <a:t>시장 전체</a:t>
            </a:r>
          </a:p>
          <a:p>
            <a:r>
              <a:t>내 종목</a:t>
            </a:r>
          </a:p>
          <a:p>
            <a:r>
              <a:t>표시</a:t>
            </a:r>
          </a:p>
          <a:p>
            <a:r>
              <a:t>보유</a:t>
            </a:r>
          </a:p>
          <a:p>
            <a:r>
              <a:t>관심</a:t>
            </a:r>
          </a:p>
          <a:p>
            <a:r>
              <a:t>빈 개인화</a:t>
            </a:r>
          </a:p>
          <a:p/>
          <a:p>
            <a:r>
              <a:t>아직 보유·관심 종목이 없어요</a:t>
            </a:r>
          </a:p>
          <a:p/>
          <a:p>
            <a:r>
              <a:t>관심 종목을 고르거나 가상 계좌를 연결하면 내 종목 지도를 보여드려요.</a:t>
            </a:r>
          </a:p>
          <a:p/>
          <a:p>
            <a:r>
              <a:t>관심 종목 고르기</a:t>
            </a:r>
          </a:p>
          <a:p>
            <a:r>
              <a:t>시장 전체 지도 보기</a:t>
            </a:r>
          </a:p>
          <a:p/>
          <a:p>
            <a:r>
              <a:t>코드:</a:t>
            </a:r>
          </a:p>
          <a:p>
            <a:r>
              <a:t>&lt;GraphModeSwitch value={mode} onValueChange={setMode} lockedModes={isGuest ? ["personal"] : []} /&gt;</a:t>
            </a:r>
          </a:p>
          <a:p/>
          <a:p>
            <a:r>
              <a:t>GraphTutorialPanel · GraphTutorialSheetBar · 튜토리얼 대상 표시</a:t>
            </a:r>
          </a:p>
          <a:p/>
          <a:p>
            <a:r>
              <a:t>메인 지도 튜토리얼 5단계(지도 움직이기 → 기업·사건 고르기 → 영향 경로 보기(기업 상세의 [직접 이슈]에서 사건, 또는 기업 사이 선) → 근거 확인 → AI에게 묻기)예요. 사건–기업 선은 누를 수 없으므로 누르라고 하지 않아요(FS022). 비회원의 5단계는 AI 질문이 회원 기능이라는 것과 [로그인]만 안내해요. 패널은 데스크톱에서 왼쪽 목록 자리, 모바일에서 지도 위 흐름 안에 놓여요. 모바일 상세 시트가 열리면 같은 단계의 짧은 안내(번호·한 줄 지시·[다음]/[건너뛰기])가 시트 머리글 아래로 옮겨 가고, 지도에서 해야 하는 단계는 [창 닫기]를 함께 줘요. 단계 알림은 보이는 쪽 하나만 읽어요. 가리킬 대상에는 .tutorial-target(브랜드 점선 테두리)을 붙이고, 키보드 포커스는 실선으로 따로 보여요.</a:t>
            </a:r>
          </a:p>
          <a:p/>
          <a:p>
            <a:r>
              <a:t>대상 표시</a:t>
            </a:r>
          </a:p>
          <a:p>
            <a:r>
              <a:t>근거 2건 보기</a:t>
            </a:r>
          </a:p>
          <a:p>
            <a:r>
              <a:t>AI에게 묻기</a:t>
            </a:r>
          </a:p>
          <a:p/>
          <a:p>
            <a:r>
              <a:t>코드:</a:t>
            </a:r>
          </a:p>
          <a:p>
            <a:r>
              <a:t>const t = useGraphTutorial(active, onClose); &lt;GraphTutorialPanel tutorial={t} live={!sheetOpen} /&gt; &lt;GraphExplorer sheetTop={&lt;GraphTutorialSheetBar tutorial={t} onCloseSheet={…} /&gt;} /&gt;</a:t>
            </a:r>
          </a:p>
          <a:p/>
          <a:p>
            <a:r>
              <a:t>GraphCanvas · RelationList</a:t>
            </a:r>
          </a:p>
          <a:p/>
          <a:p>
            <a:r>
              <a:t>force-directed(fcose) 배치예요. 노드를 끌어 옮기고, 올리면 이웃만 선명해지고, 누르면 선택(카메라가 부드럽게 따라감), 두 번 누르면 이웃으로 확대해요. 큰 지도(150개)로 바꿔 라벨이 배율에 따라 줄어드는 모습을 볼 수 있어요. 넓은 화면에서 보이는 노드가 60개를 넘으면 오른쪽 아래에 미니맵(전체 조망 + 보이는 영역 사각형, 끌면 화면이 따라감)이 생겨요. 포인터 전용이라 스크린리더에는 숨기고, 키보드는 확대·축소·화면에 맞추기를 써요. 함께 둔 목록(RelationList)으로 같은 내용을 키보드와 스크린리더로 볼 수 있어요. 아래 인용의 [지도에서 보기]를 누르면 그 근거 id(evidenceIds)를 가진 선과 양 끝 노드만 강조돼요(해당 선이 없으면 그 사건 노드). 근거 창을 닫으면 강조가 풀려요. 위 범례·포커스·경로 예시의 상태가 이 지도에도 적용돼요.</a:t>
            </a:r>
          </a:p>
          <a:p/>
          <a:p>
            <a:r>
              <a:t>작은 예시(6개)</a:t>
            </a:r>
          </a:p>
          <a:p>
            <a:r>
              <a:t>큰 예시(150개)</a:t>
            </a:r>
          </a:p>
          <a:p>
            <a:r>
              <a:t>기업</a:t>
            </a:r>
          </a:p>
          <a:p>
            <a:r>
              <a:t>3</a:t>
            </a:r>
          </a:p>
          <a:p>
            <a:r>
              <a:t>사건</a:t>
            </a:r>
          </a:p>
          <a:p>
            <a:r>
              <a:t>5</a:t>
            </a:r>
          </a:p>
          <a:p>
            <a:r>
              <a:t>보유</a:t>
            </a:r>
          </a:p>
          <a:p>
            <a:r>
              <a:t>1</a:t>
            </a:r>
          </a:p>
          <a:p>
            <a:r>
              <a:t>관심</a:t>
            </a:r>
          </a:p>
          <a:p>
            <a:r>
              <a:t>1</a:t>
            </a:r>
          </a:p>
          <a:p>
            <a:r>
              <a:t>직접 관련</a:t>
            </a:r>
          </a:p>
          <a:p>
            <a:r>
              <a:t>3</a:t>
            </a:r>
          </a:p>
          <a:p>
            <a:r>
              <a:t>구조적 관련</a:t>
            </a:r>
          </a:p>
          <a:p>
            <a:r>
              <a:t>1</a:t>
            </a:r>
          </a:p>
          <a:p>
            <a:r>
              <a:t>후속 사건</a:t>
            </a:r>
          </a:p>
          <a:p>
            <a:r>
              <a:t>1</a:t>
            </a:r>
          </a:p>
          <a:p>
            <a:r>
              <a:t>사건 공유</a:t>
            </a:r>
          </a:p>
          <a:p>
            <a:r>
              <a:t>1</a:t>
            </a:r>
          </a:p>
          <a:p/>
          <a:p>
            <a:r>
              <a:t>예시전자 선택됨</a:t>
            </a:r>
          </a:p>
          <a:p/>
          <a:p>
            <a:r>
              <a:t>기업 3곳</a:t>
            </a:r>
          </a:p>
          <a:p>
            <a:r>
              <a:t>예</a:t>
            </a:r>
          </a:p>
          <a:p>
            <a:r>
              <a:t>예시전자</a:t>
            </a:r>
          </a:p>
          <a:p>
            <a:r>
              <a:t>관심</a:t>
            </a:r>
          </a:p>
          <a:p>
            <a:r>
              <a:t>사건</a:t>
            </a:r>
          </a:p>
          <a:p>
            <a:r>
              <a:t>2</a:t>
            </a:r>
          </a:p>
          <a:p>
            <a:r>
              <a:t>예</a:t>
            </a:r>
          </a:p>
          <a:p>
            <a:r>
              <a:t>예시반도체</a:t>
            </a:r>
          </a:p>
          <a:p>
            <a:r>
              <a:t>보유</a:t>
            </a:r>
          </a:p>
          <a:p>
            <a:r>
              <a:t>사건</a:t>
            </a:r>
          </a:p>
          <a:p>
            <a:r>
              <a:t>1</a:t>
            </a:r>
          </a:p>
          <a:p>
            <a:r>
              <a:t>예</a:t>
            </a:r>
          </a:p>
          <a:p>
            <a:r>
              <a:t>예시소재</a:t>
            </a:r>
          </a:p>
          <a:p>
            <a:r>
              <a:t>사건</a:t>
            </a:r>
          </a:p>
          <a:p>
            <a:r>
              <a:t>1</a:t>
            </a:r>
          </a:p>
          <a:p>
            <a:r>
              <a:t>사건 5건</a:t>
            </a:r>
          </a:p>
          <a:p>
            <a:r>
              <a:t>2026-07-10</a:t>
            </a:r>
          </a:p>
          <a:p>
            <a:r>
              <a:t>예시: 2분기 실적 발표</a:t>
            </a:r>
          </a:p>
          <a:p/>
          <a:p>
            <a:r>
              <a:t>관련 기업:</a:t>
            </a:r>
          </a:p>
          <a:p>
            <a:r>
              <a:t>예시전자, 예시반도체</a:t>
            </a:r>
          </a:p>
          <a:p/>
          <a:p>
            <a:r>
              <a:t>발생 시각 미상</a:t>
            </a:r>
          </a:p>
          <a:p>
            <a:r>
              <a:t>예시: 공장 가동 중단</a:t>
            </a:r>
          </a:p>
          <a:p/>
          <a:p>
            <a:r>
              <a:t>관련 기업:</a:t>
            </a:r>
          </a:p>
          <a:p>
            <a:r>
              <a:t>예시소재</a:t>
            </a:r>
          </a:p>
          <a:p/>
          <a:p>
            <a:r>
              <a:t>발생 시각 미상</a:t>
            </a:r>
          </a:p>
          <a:p>
            <a:r>
              <a:t>예시: 가동 재개 보도</a:t>
            </a:r>
          </a:p>
          <a:p/>
          <a:p>
            <a:r>
              <a:t>관련 기업:</a:t>
            </a:r>
          </a:p>
          <a:p>
            <a:r>
              <a:t>예시전자</a:t>
            </a:r>
          </a:p>
          <a:p/>
          <a:p>
            <a:r>
              <a:t>발생 시각 미상</a:t>
            </a:r>
          </a:p>
          <a:p>
            <a:r>
              <a:t>예시: 신제품 공개</a:t>
            </a:r>
          </a:p>
          <a:p>
            <a:r>
              <a:t>발생 시각 미상</a:t>
            </a:r>
          </a:p>
          <a:p>
            <a:r>
              <a:t>예시: 인사 발표</a:t>
            </a:r>
          </a:p>
          <a:p/>
          <a:p>
            <a:r>
              <a:t>예시일보</a:t>
            </a:r>
          </a:p>
          <a:p>
            <a:r>
              <a:t>·</a:t>
            </a:r>
          </a:p>
          <a:p>
            <a:r>
              <a:t>발행 2026-07-10 09:20 KST</a:t>
            </a:r>
          </a:p>
          <a:p/>
          <a:p>
            <a:r>
              <a:t>예시전자, 2분기 실적 발표</a:t>
            </a:r>
          </a:p>
          <a:p/>
          <a:p>
            <a:r>
              <a:t>“예시전자는 2분기 메모리 실적을 7월 10일 발표했다.”</a:t>
            </a:r>
          </a:p>
          <a:p>
            <a:r>
              <a:t>원문을 제공하지 않는 자료입니다</a:t>
            </a:r>
          </a:p>
          <a:p>
            <a:r>
              <a:t>지도에서 보기</a:t>
            </a:r>
          </a:p>
          <a:p/>
          <a:p>
            <a:r>
              <a:t>예시경제</a:t>
            </a:r>
          </a:p>
          <a:p>
            <a:r>
              <a:t>·</a:t>
            </a:r>
          </a:p>
          <a:p>
            <a:r>
              <a:t>발행 시각 미상</a:t>
            </a:r>
          </a:p>
          <a:p>
            <a:r>
              <a:t>원문 대조 필요</a:t>
            </a:r>
          </a:p>
          <a:p/>
          <a:p>
            <a:r>
              <a:t>예시공장 가동 중단</a:t>
            </a:r>
          </a:p>
          <a:p/>
          <a:p>
            <a:r>
              <a:t>“예시전자는 4월 11일 예시공장 가동을 중단했다.”</a:t>
            </a:r>
          </a:p>
          <a:p>
            <a:r>
              <a:t>원문을 제공하지 않는 자료입니다</a:t>
            </a:r>
          </a:p>
          <a:p>
            <a:r>
              <a:t>지도에서 보기</a:t>
            </a:r>
          </a:p>
          <a:p/>
          <a:p>
            <a:r>
              <a:t>코드:</a:t>
            </a:r>
          </a:p>
          <a:p>
            <a:r>
              <a:t>&lt;GraphCanvas nodes={nodes} edges={edges} selection={sel} onSelect={setSel} ariaLabel="…" groupIsolated focus={focus} hidden={hidden} evidence={highlight} path={path} /&gt;</a:t>
            </a:r>
          </a:p>
          <a:p/>
          <a:p>
            <a:r>
              <a:t>모션</a:t>
            </a:r>
          </a:p>
          <a:p/>
          <a:p>
            <a:r>
              <a:t>당근 SEED의 모션 값(seed-design.io/foundations/motion)을 그대로 옮겼어요. 200ms 이하는 마이크로, 넘으면 매크로예요. transform과 opacity만 움직이고 튀는 오버슈트는 쓰지 않아요. 동작 줄이기를 켜면 모두 즉시 바뀌어요.</a:t>
            </a:r>
          </a:p>
          <a:p/>
          <a:p>
            <a:r>
              <a:t>모션 토큰 값과 쓰는 곳</a:t>
            </a:r>
          </a:p>
          <a:p>
            <a:r>
              <a:t>토큰	값	쓰는 곳</a:t>
            </a:r>
          </a:p>
          <a:p>
            <a:r>
              <a:t>duration.d4	200ms	세그먼트 선택 표시가 미끄러질 때</a:t>
            </a:r>
          </a:p>
          <a:p>
            <a:r>
              <a:t>duration.fast	150ms	호버·눌림 색 전환, 눌림 축소, 팝오버·툴팁 등장</a:t>
            </a:r>
          </a:p>
          <a:p>
            <a:r>
              <a:t>duration.exit	200ms	시트·다이얼로그·토스트 퇴장</a:t>
            </a:r>
          </a:p>
          <a:p>
            <a:r>
              <a:t>duration.normal	250ms	화면 전환, 시트·다이얼로그·토스트 진입, 탭 밑줄 이동, 목록 첫 표시</a:t>
            </a:r>
          </a:p>
          <a:p>
            <a:r>
              <a:t>duration.slow	300ms	데스크톱 오른쪽 시트 진입, 그래프 선택 시 카메라 이동</a:t>
            </a:r>
          </a:p>
          <a:p>
            <a:r>
              <a:t>duration.graph-layout	600ms	그래프 초기 배치·모드 전환 재배치</a:t>
            </a:r>
          </a:p>
          <a:p>
            <a:r>
              <a:t>duration.stagger	30ms	목록 행 사이 지연(8행까지)</a:t>
            </a:r>
          </a:p>
          <a:p>
            <a:r>
              <a:t>easing.standard	cubic-bezier(0.35, 0, 0.35, 1)	제자리 이동(세그먼트·탭 표시, 그래프 카메라), 색 전환</a:t>
            </a:r>
          </a:p>
          <a:p>
            <a:r>
              <a:t>easing.enter	cubic-bezier(0, 0, 0.15, 1)	나타날 때, 눌림 축소</a:t>
            </a:r>
          </a:p>
          <a:p>
            <a:r>
              <a:t>easing.exit	cubic-bezier(0.35, 0, 1, 1)	사라질 때</a:t>
            </a:r>
          </a:p>
          <a:p>
            <a:r>
              <a:t>easing.enter-expressive	cubic-bezier(0.03, 0.4, 0.1, 1)	그래프 노드가 퍼져 나오는 첫 배치</a:t>
            </a:r>
          </a:p>
          <a:p>
            <a:r>
              <a:t>눌림 축소 · 목록 첫 표시</a:t>
            </a:r>
          </a:p>
          <a:p/>
          <a:p>
            <a:r>
              <a:t>누를 수 있는 것은 눌리는 동안 세로로 2px 줄어요(SEED Feedback/Scale, pressable). 목록은 처음 보일 때 행이 30ms 간격으로 떠올라요(stagger). 시트·다이얼로그의 진입·퇴장은 위 ‘Dialog · Sheet · BottomSheet’에서 열고 닫아 보세요.</a:t>
            </a:r>
          </a:p>
          <a:p/>
          <a:p>
            <a:r>
              <a:t>눌림</a:t>
            </a:r>
          </a:p>
          <a:p>
            <a:r>
              <a:t>주 행동</a:t>
            </a:r>
          </a:p>
          <a:p>
            <a:r>
              <a:t>보조 행동</a:t>
            </a:r>
          </a:p>
          <a:p>
            <a:r>
              <a:t>목록 다시 보이기</a:t>
            </a:r>
          </a:p>
          <a:p>
            <a:r>
              <a:t>예</a:t>
            </a:r>
          </a:p>
          <a:p>
            <a:r>
              <a:t>예시전자</a:t>
            </a:r>
          </a:p>
          <a:p>
            <a:r>
              <a:t>예</a:t>
            </a:r>
          </a:p>
          <a:p>
            <a:r>
              <a:t>예시반도체</a:t>
            </a:r>
          </a:p>
          <a:p>
            <a:r>
              <a:t>예</a:t>
            </a:r>
          </a:p>
          <a:p>
            <a:r>
              <a:t>예시소재</a:t>
            </a:r>
          </a:p>
          <a:p>
            <a:r>
              <a:t>예</a:t>
            </a:r>
          </a:p>
          <a:p>
            <a:r>
              <a:t>예시화학</a:t>
            </a:r>
          </a:p>
          <a:p/>
          <a:p>
            <a:r>
              <a:t>코드:</a:t>
            </a:r>
          </a:p>
          <a:p>
            <a:r>
              <a:t>&lt;button className="pressable"&gt;…&lt;/button&gt; &lt;ul className="stagger"&gt;…&lt;/ul&gt;</a:t>
            </a:r>
          </a:p>
          <a:p/>
          <a:p>
            <a:r>
              <a:t>아이콘</a:t>
            </a:r>
          </a:p>
          <a:p/>
          <a:p>
            <a:r>
              <a:t>lucide 아이콘을 글자 옆에 그대로 둬요(상자에 가두지 않아요). 같은 뜻에는 앱 전체에서 같은 아이콘을 써요. 아이콘만 있는 컨트롤은 aria-label과 툴팁이 필수예요.</a:t>
            </a:r>
          </a:p>
          <a:p/>
          <a:p>
            <a:r>
              <a:t>아이콘과 뜻</a:t>
            </a:r>
          </a:p>
          <a:p>
            <a:r>
              <a:t>아이콘	뜻</a:t>
            </a:r>
          </a:p>
          <a:p/>
          <a:p>
            <a:r>
              <a:t>Map</a:t>
            </a:r>
          </a:p>
          <a:p>
            <a:r>
              <a:t>	지도 탭</a:t>
            </a:r>
          </a:p>
          <a:p/>
          <a:p>
            <a:r>
              <a:t>Newspaper</a:t>
            </a:r>
          </a:p>
          <a:p>
            <a:r>
              <a:t>	브리핑 탭, 보도 기사 수</a:t>
            </a:r>
          </a:p>
          <a:p/>
          <a:p>
            <a:r>
              <a:t>Bookmark</a:t>
            </a:r>
          </a:p>
          <a:p>
            <a:r>
              <a:t>	내 종목 탭</a:t>
            </a:r>
          </a:p>
          <a:p/>
          <a:p>
            <a:r>
              <a:t>Globe</a:t>
            </a:r>
          </a:p>
          <a:p>
            <a:r>
              <a:t>	시장 전체 모드</a:t>
            </a:r>
          </a:p>
          <a:p/>
          <a:p>
            <a:r>
              <a:t>Star</a:t>
            </a:r>
          </a:p>
          <a:p>
            <a:r>
              <a:t>	관심 종목(모드·배지·섹션)</a:t>
            </a:r>
          </a:p>
          <a:p/>
          <a:p>
            <a:r>
              <a:t>Wallet</a:t>
            </a:r>
          </a:p>
          <a:p>
            <a:r>
              <a:t>	내 자산·보유 종목</a:t>
            </a:r>
          </a:p>
          <a:p/>
          <a:p>
            <a:r>
              <a:t>Building2</a:t>
            </a:r>
          </a:p>
          <a:p>
            <a:r>
              <a:t>	기업(범례·섹션)</a:t>
            </a:r>
          </a:p>
          <a:p/>
          <a:p>
            <a:r>
              <a:t>Zap</a:t>
            </a:r>
          </a:p>
          <a:p>
            <a:r>
              <a:t>	사건(노드·범례·섹션). 앱 전체에서 사건은 번개</a:t>
            </a:r>
          </a:p>
          <a:p/>
          <a:p>
            <a:r>
              <a:t>Link2</a:t>
            </a:r>
          </a:p>
          <a:p>
            <a:r>
              <a:t>	지도의 연결·연결된 두 대상</a:t>
            </a:r>
          </a:p>
          <a:p/>
          <a:p>
            <a:r>
              <a:t>FileText</a:t>
            </a:r>
          </a:p>
          <a:p>
            <a:r>
              <a:t>	근거 문서</a:t>
            </a:r>
          </a:p>
          <a:p/>
          <a:p>
            <a:r>
              <a:t>ShieldCheck</a:t>
            </a:r>
          </a:p>
          <a:p>
            <a:r>
              <a:t>	데이터 출처: 실제 기사(검증 통과)</a:t>
            </a:r>
          </a:p>
          <a:p/>
          <a:p>
            <a:r>
              <a:t>FlaskConical</a:t>
            </a:r>
          </a:p>
          <a:p>
            <a:r>
              <a:t>	데이터 출처: 합성 데이터</a:t>
            </a:r>
          </a:p>
          <a:p/>
          <a:p>
            <a:r>
              <a:t>Sparkles</a:t>
            </a:r>
          </a:p>
          <a:p>
            <a:r>
              <a:t>	AI가 만든 글</a:t>
            </a:r>
          </a:p>
          <a:p/>
          <a:p>
            <a:r>
              <a:t>MessageCircleQuestion</a:t>
            </a:r>
          </a:p>
          <a:p>
            <a:r>
              <a:t>	AI에게 묻기, 추천 질문</a:t>
            </a:r>
          </a:p>
          <a:p/>
          <a:p>
            <a:r>
              <a:t>CalendarClock</a:t>
            </a:r>
          </a:p>
          <a:p>
            <a:r>
              <a:t>	발행 시각 미확정</a:t>
            </a:r>
          </a:p>
          <a:p/>
          <a:p>
            <a:r>
              <a:t>Clock</a:t>
            </a:r>
          </a:p>
          <a:p>
            <a:r>
              <a:t>	기준 시각</a:t>
            </a:r>
          </a:p>
          <a:p/>
          <a:p>
            <a:r>
              <a:t>Info</a:t>
            </a:r>
          </a:p>
          <a:p>
            <a:r>
              <a:t>	관계 유형·편성 기준 설명(누르면 팝오버)</a:t>
            </a:r>
          </a:p>
          <a:p/>
          <a:p>
            <a:r>
              <a:t>ArrowUpRight</a:t>
            </a:r>
          </a:p>
          <a:p>
            <a:r>
              <a:t>	기업 상세로 이동</a:t>
            </a:r>
          </a:p>
          <a:p>
            <a:r>
              <a:t>UX 라이팅</a:t>
            </a:r>
          </a:p>
          <a:p/>
          <a:p>
            <a:r>
              <a:t>금융을 잘 몰라도 부담 없이 읽히게 써요. 투자를 권하거나 원인을 단정하지 않아요.</a:t>
            </a:r>
          </a:p>
          <a:p/>
          <a:p>
            <a:r>
              <a:t>라이팅 규칙과 고친 예</a:t>
            </a:r>
          </a:p>
          <a:p>
            <a:r>
              <a:t>규칙	이렇게 쓰지 않아요	이렇게 써요</a:t>
            </a:r>
          </a:p>
          <a:p>
            <a:r>
              <a:t>해요체로 써요	확인되었습니다	확인했어요</a:t>
            </a:r>
          </a:p>
          <a:p>
            <a:r>
              <a:t>해야 할 일을 긍정형으로	기업이 선택되지 않았습니다	기업을 골라 주세요</a:t>
            </a:r>
          </a:p>
          <a:p>
            <a:r>
              <a:t>없어도 뜻이 통하는 말은 빼요	해당 기능을 이용하시려면 로그인을 진행해 주시기 바랍니다	로그인하면 쓸 수 있어요</a:t>
            </a:r>
          </a:p>
          <a:p>
            <a:r>
              <a:t>기술 사정은 설명하지 않아요	브라우저 저장소를 초기화해요	(문장을 쓰지 않아요)</a:t>
            </a:r>
          </a:p>
          <a:p>
            <a:r>
              <a:t>버튼에는 누른 뒤 결과를 적어요	확인	내 종목 지도 보기</a:t>
            </a:r>
          </a:p>
          <a:p>
            <a:r>
              <a:t>오류는 상황 + 이유 + 해결책	오류가 발생했습니다	네트워크 연결이 불안정해요. 잠시 후 다시 시도해 주세요.</a:t>
            </a:r>
          </a:p>
          <a:p>
            <a:r>
              <a:t>창을 닫는 버튼은 [닫기]	취소	닫기</a:t>
            </a:r>
          </a:p>
          <a:p>
            <a:r>
              <a:t>금지어</a:t>
            </a:r>
          </a:p>
          <a:p>
            <a:r>
              <a:t>쓰지 않는 표현과 대신 쓰는 표현</a:t>
            </a:r>
          </a:p>
          <a:p>
            <a:r>
              <a:t>쓰지 않는 말	이유	대신</a:t>
            </a:r>
          </a:p>
          <a:p>
            <a:r>
              <a:t>무조건 상승, 급등 예상	이익을 보장하는 것처럼 읽혀요	관련 사건이 보도됐어요</a:t>
            </a:r>
          </a:p>
          <a:p>
            <a:r>
              <a:t>지금이 매수 타이밍	매매를 권하는 말이에요	관련 보도를 확인해 보세요</a:t>
            </a:r>
          </a:p>
          <a:p>
            <a:r>
              <a:t>목표가, 상승 확률 85%	없는 수치를 지어낸 거예요	(값이 없으면 그 자리를 그리지 않아요)</a:t>
            </a:r>
          </a:p>
          <a:p>
            <a:r>
              <a:t>~때문에 주가가 올랐다	원인을 단정해요	~ 이후 함께 보도됐어요</a:t>
            </a:r>
          </a:p>
          <a:p>
            <a:r>
              <a:t>국내 1위, 최고의 종목	근거 없는 최상급이에요	기준을 함께 적어요 (예: 시가총액 기준)</a:t>
            </a:r>
          </a:p>
          <a:p>
            <a:r>
              <a:t>BFF, PoC, Mock	개발 내부 용어예요	화면에 쓰지 않아요</a:t>
            </a:r>
          </a:p>
          <a:p>
            <a:r>
              <a:t>announced	내부 상태값이에요	보도 언급</a:t>
            </a:r>
          </a:p>
          <a:p>
            <a:r>
              <a:t>Node, Edge	개발 용어예요	기업·사건, 연결</a:t>
            </a:r>
          </a:p>
          <a:p>
            <a:r>
              <a:t>슬롭 금지 체크리스트</a:t>
            </a:r>
          </a:p>
          <a:p/>
          <a:p>
            <a:r>
              <a:t>화면을 만들거나 리뷰할 때 14가지를 확인해요. 하나라도 걸리면 고쳐요.</a:t>
            </a:r>
          </a:p>
          <a:p/>
          <a:p>
            <a:r>
              <a:t>카드 안에 카드를 넣지 않았나요? 행과 구분선으로 펼쳐요.</a:t>
            </a:r>
          </a:p>
          <a:p>
            <a:r>
              <a:t>한 요소에 테두리와 그림자를 같이 주지 않았나요?</a:t>
            </a:r>
          </a:p>
          <a:p>
            <a:r>
              <a:t>카드·패널 왼쪽에 두꺼운 색 줄을 긋지 않았나요?</a:t>
            </a:r>
          </a:p>
          <a:p>
            <a:r>
              <a:t>아이콘을 둥근 상자 안에 가두지 않았나요? 아이콘은 글자 옆에 그대로 둬요.</a:t>
            </a:r>
          </a:p>
          <a:p>
            <a:r>
              <a:t>지도나 배경에 뜻 없는 점·격자 무늬를 깔지 않았나요?</a:t>
            </a:r>
          </a:p>
          <a:p>
            <a:r>
              <a:t>다크 테마 노드·버튼 주위에 번지는 빛(글로우)을 넣지 않았나요?</a:t>
            </a:r>
          </a:p>
          <a:p>
            <a:r>
              <a:t>제목 위에 '방식 1' 같은 알약 라벨을 달지 않았나요?</a:t>
            </a:r>
          </a:p>
          <a:p>
            <a:r>
              <a:t>390px 화면에서 가로 스크롤이 생기지 않나요? (scrollWidth ≤ 390)</a:t>
            </a:r>
          </a:p>
          <a:p>
            <a:r>
              <a:t>아이콘만 있는 컨트롤에 aria-label과 툴팁이 있나요?</a:t>
            </a:r>
          </a:p>
          <a:p>
            <a:r>
              <a:t>‘준비 중’, ‘합성 데이터’ 같은 메타 문구를 글자로 늘어놓지 않았나요? 없는 값은 자리를 빼고, 출처는 아이콘으로.</a:t>
            </a:r>
          </a:p>
          <a:p>
            <a:r>
              <a:t>개발 내부 용어가 화면에 보이지 않나요?</a:t>
            </a:r>
          </a:p>
          <a:p>
            <a:r>
              <a:t>데이터에 없는 시세, 상승 확률, 감성 점수를 지어내지 않았나요?</a:t>
            </a:r>
          </a:p>
          <a:p>
            <a:r>
              <a:t>튜토리얼이 대상을 덮지 않나요? 패널은 목록 자리·지도 위 흐름에 두고, 대상은 점선 테두리로만 가리켜요. 직접 해 보면 넘어가고 [다음]·[건너뛰기]는 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D-SEN-02.png</a:t>
            </a:r>
          </a:p>
          <a:p>
            <a:r>
              <a:t>좌표·클릭 후 실제 화면: D-SEN-02.json</a:t>
            </a:r>
          </a:p>
          <a:p>
            <a:r>
              <a:t>본문으로 건너뛰기</a:t>
            </a:r>
          </a:p>
          <a:p>
            <a:r>
              <a:t>줍</a:t>
            </a:r>
          </a:p>
          <a:p>
            <a:r>
              <a:t>Zoop</a:t>
            </a:r>
          </a:p>
          <a:p>
            <a:r>
              <a:t>지도</a:t>
            </a:r>
          </a:p>
          <a:p>
            <a:r>
              <a:t>종목</a:t>
            </a:r>
          </a:p>
          <a:p>
            <a:r>
              <a:t>브리핑</a:t>
            </a:r>
          </a:p>
          <a:p>
            <a:r>
              <a:t>내 종목</a:t>
            </a:r>
          </a:p>
          <a:p>
            <a:r>
              <a:t>데모 사용자님</a:t>
            </a:r>
          </a:p>
          <a:p>
            <a:r>
              <a:t>원칙</a:t>
            </a:r>
          </a:p>
          <a:p>
            <a:r>
              <a:t>색</a:t>
            </a:r>
          </a:p>
          <a:p>
            <a:r>
              <a:t>글꼴</a:t>
            </a:r>
          </a:p>
          <a:p>
            <a:r>
              <a:t>형태</a:t>
            </a:r>
          </a:p>
          <a:p>
            <a:r>
              <a:t>간격</a:t>
            </a:r>
          </a:p>
          <a:p>
            <a:r>
              <a:t>기본 컴포넌트</a:t>
            </a:r>
          </a:p>
          <a:p>
            <a:r>
              <a:t>줍 컴포넌트</a:t>
            </a:r>
          </a:p>
          <a:p>
            <a:r>
              <a:t>그래프</a:t>
            </a:r>
          </a:p>
          <a:p>
            <a:r>
              <a:t>모션</a:t>
            </a:r>
          </a:p>
          <a:p>
            <a:r>
              <a:t>아이콘</a:t>
            </a:r>
          </a:p>
          <a:p>
            <a:r>
              <a:t>UX 라이팅</a:t>
            </a:r>
          </a:p>
          <a:p>
            <a:r>
              <a:t>슬롭 금지 체크리스트</a:t>
            </a:r>
          </a:p>
          <a:p>
            <a:r>
              <a:t>줍 디자인시스템</a:t>
            </a:r>
          </a:p>
          <a:p/>
          <a:p>
            <a:r>
              <a:t>화면을 만들 때 쓰는 색, 글꼴, 간격과 컴포넌트를 모았어요. 아래 컴포넌트는 앱 코드 그대로이고, 기업·기사 내용은 모두 예시예요. 라이트와 다크는 오른쪽 위 테마 버튼으로 바꿔 보세요.</a:t>
            </a:r>
          </a:p>
          <a:p/>
          <a:p>
            <a:r>
              <a:t>원칙</a:t>
            </a:r>
          </a:p>
          <a:p>
            <a:r>
              <a:t>근거가 먼저예요. 기사 인용과 출처 없이 주장하지 않아요.</a:t>
            </a:r>
          </a:p>
          <a:p>
            <a:r>
              <a:t>없는 값은 지어내지 않아요. 시세·감성·AI 요약이 없으면 그 자리를 아예 그리지 않아요(‘준비 중’ 글자도 쓰지 않아요).</a:t>
            </a:r>
          </a:p>
          <a:p>
            <a:r>
              <a:t>색만으로 뜻을 전하지 않아요. 부호, 선 모양, 글자를 함께 써요.</a:t>
            </a:r>
          </a:p>
          <a:p>
            <a:r>
              <a:t>화면 대부분은 회색이에요. 브랜드 색은 주 행동 버튼 1개와 선택 상태에, 기업 상징색은 지도 노드와 기업 표지에만 써요.</a:t>
            </a:r>
          </a:p>
          <a:p>
            <a:r>
              <a:t>상자를 겹치지 않아요. 행, 구분선, 여백으로 묶어요.</a:t>
            </a:r>
          </a:p>
          <a:p>
            <a:r>
              <a:t>메타 문구는 글자 대신 아이콘으로. 설명이 필요하면 아이콘을 누르면 열려요(툴팁 + 팝오버).</a:t>
            </a:r>
          </a:p>
          <a:p>
            <a:r>
              <a:t>색</a:t>
            </a:r>
          </a:p>
          <a:p/>
          <a:p>
            <a:r>
              <a:t>Tailwind 클래스는 용도 뒤에 토큰 이름을 붙여요(bg-surface-raised, text-text-secondary). 대비는 글자 4.5:1, 선·테두리 3:1 이상이면 통과예요.</a:t>
            </a:r>
          </a:p>
          <a:p/>
          <a:p>
            <a:r>
              <a:t>색 토큰의 라이트·다크 값과 명도 대비</a:t>
            </a:r>
          </a:p>
          <a:p>
            <a:r>
              <a:t>이름	라이트	다크	대비 (라이트 · 다크)</a:t>
            </a:r>
          </a:p>
          <a:p>
            <a:r>
              <a:t>브랜드</a:t>
            </a:r>
          </a:p>
          <a:p>
            <a:r>
              <a:t>brand-primary</a:t>
            </a:r>
          </a:p>
          <a:p>
            <a:r>
              <a:t>주 행동 버튼 1개, 선택된 탭·행 표시</a:t>
            </a:r>
          </a:p>
          <a:p>
            <a:r>
              <a:t>	</a:t>
            </a:r>
          </a:p>
          <a:p>
            <a:r>
              <a:t>#0A5C48</a:t>
            </a:r>
          </a:p>
          <a:p>
            <a:r>
              <a:t>	</a:t>
            </a:r>
          </a:p>
          <a:p>
            <a:r>
              <a:t>#47A189</a:t>
            </a:r>
          </a:p>
          <a:p>
            <a:r>
              <a:t>	</a:t>
            </a:r>
          </a:p>
          <a:p>
            <a:r>
              <a:t>7.96 · 5.67</a:t>
            </a:r>
          </a:p>
          <a:p>
            <a:r>
              <a:t>surface-raised 위, 기준 4.5:1 통과</a:t>
            </a:r>
          </a:p>
          <a:p/>
          <a:p>
            <a:r>
              <a:t>brand-primary-hover</a:t>
            </a:r>
          </a:p>
          <a:p>
            <a:r>
              <a:t>주 행동 버튼에 마우스를 올렸을 때</a:t>
            </a:r>
          </a:p>
          <a:p>
            <a:r>
              <a:t>	</a:t>
            </a:r>
          </a:p>
          <a:p>
            <a:r>
              <a:t>#0E7059</a:t>
            </a:r>
          </a:p>
          <a:p>
            <a:r>
              <a:t>	</a:t>
            </a:r>
          </a:p>
          <a:p>
            <a:r>
              <a:t>#58B198</a:t>
            </a:r>
          </a:p>
          <a:p>
            <a:r>
              <a:t>	</a:t>
            </a:r>
          </a:p>
          <a:p>
            <a:r>
              <a:t>6.03 · 7.18</a:t>
            </a:r>
          </a:p>
          <a:p>
            <a:r>
              <a:t>brand-primary-foreground 위, 기준 4.5:1 통과</a:t>
            </a:r>
          </a:p>
          <a:p/>
          <a:p>
            <a:r>
              <a:t>brand-primary-active</a:t>
            </a:r>
          </a:p>
          <a:p>
            <a:r>
              <a:t>주 행동 버튼을 누르는 동안</a:t>
            </a:r>
          </a:p>
          <a:p>
            <a:r>
              <a:t>	</a:t>
            </a:r>
          </a:p>
          <a:p>
            <a:r>
              <a:t>#074838</a:t>
            </a:r>
          </a:p>
          <a:p>
            <a:r>
              <a:t>	</a:t>
            </a:r>
          </a:p>
          <a:p>
            <a:r>
              <a:t>#36927A</a:t>
            </a:r>
          </a:p>
          <a:p>
            <a:r>
              <a:t>	</a:t>
            </a:r>
          </a:p>
          <a:p>
            <a:r>
              <a:t>10.54 · 4.88</a:t>
            </a:r>
          </a:p>
          <a:p>
            <a:r>
              <a:t>brand-primary-foreground 위, 기준 4.5:1 통과</a:t>
            </a:r>
          </a:p>
          <a:p/>
          <a:p>
            <a:r>
              <a:t>brand-primary-foreground</a:t>
            </a:r>
          </a:p>
          <a:p>
            <a:r>
              <a:t>브랜드 바탕 위 글자·아이콘</a:t>
            </a:r>
          </a:p>
          <a:p>
            <a:r>
              <a:t>	</a:t>
            </a:r>
          </a:p>
          <a:p>
            <a:r>
              <a:t>#FFFFFF</a:t>
            </a:r>
          </a:p>
          <a:p>
            <a:r>
              <a:t>	</a:t>
            </a:r>
          </a:p>
          <a:p>
            <a:r>
              <a:t>#0A1612</a:t>
            </a:r>
          </a:p>
          <a:p>
            <a:r>
              <a:t>	</a:t>
            </a:r>
          </a:p>
          <a:p>
            <a:r>
              <a:t>7.96 · 5.92</a:t>
            </a:r>
          </a:p>
          <a:p>
            <a:r>
              <a:t>brand-primary 위, 기준 4.5:1 통과</a:t>
            </a:r>
          </a:p>
          <a:p/>
          <a:p>
            <a:r>
              <a:t>바탕</a:t>
            </a:r>
          </a:p>
          <a:p>
            <a:r>
              <a:t>surface-base</a:t>
            </a:r>
          </a:p>
          <a:p>
            <a:r>
              <a:t>앱 바탕, 지도 캔버스</a:t>
            </a:r>
          </a:p>
          <a:p>
            <a:r>
              <a:t>	</a:t>
            </a:r>
          </a:p>
          <a:p>
            <a:r>
              <a:t>#F8FAF9</a:t>
            </a:r>
          </a:p>
          <a:p>
            <a:r>
              <a:t>	</a:t>
            </a:r>
          </a:p>
          <a:p>
            <a:r>
              <a:t>#0E1110</a:t>
            </a:r>
          </a:p>
          <a:p>
            <a:r>
              <a:t>	바탕·구분선이라 기준 없음</a:t>
            </a:r>
          </a:p>
          <a:p>
            <a:r>
              <a:t>surface-raised</a:t>
            </a:r>
          </a:p>
          <a:p>
            <a:r>
              <a:t>헤더, 패널, 목록 바탕</a:t>
            </a:r>
          </a:p>
          <a:p>
            <a:r>
              <a:t>	</a:t>
            </a:r>
          </a:p>
          <a:p>
            <a:r>
              <a:t>#FFFFFF</a:t>
            </a:r>
          </a:p>
          <a:p>
            <a:r>
              <a:t>	</a:t>
            </a:r>
          </a:p>
          <a:p>
            <a:r>
              <a:t>#161918</a:t>
            </a:r>
          </a:p>
          <a:p>
            <a:r>
              <a:t>	바탕·구분선이라 기준 없음</a:t>
            </a:r>
          </a:p>
          <a:p>
            <a:r>
              <a:t>surface-overlay</a:t>
            </a:r>
          </a:p>
          <a:p>
            <a:r>
              <a:t>시트, 다이얼로그, 팝오버처럼 떠 있는 면</a:t>
            </a:r>
          </a:p>
          <a:p>
            <a:r>
              <a:t>	</a:t>
            </a:r>
          </a:p>
          <a:p>
            <a:r>
              <a:t>#FFFFFF</a:t>
            </a:r>
          </a:p>
          <a:p>
            <a:r>
              <a:t>	</a:t>
            </a:r>
          </a:p>
          <a:p>
            <a:r>
              <a:t>#1D2220</a:t>
            </a:r>
          </a:p>
          <a:p>
            <a:r>
              <a:t>	바탕·구분선이라 기준 없음</a:t>
            </a:r>
          </a:p>
          <a:p>
            <a:r>
              <a:t>surface-sunken</a:t>
            </a:r>
          </a:p>
          <a:p>
            <a:r>
              <a:t>입력창 안, 배지 바탕, 눌린 면</a:t>
            </a:r>
          </a:p>
          <a:p>
            <a:r>
              <a:t>	</a:t>
            </a:r>
          </a:p>
          <a:p>
            <a:r>
              <a:t>#F0F3F2</a:t>
            </a:r>
          </a:p>
          <a:p>
            <a:r>
              <a:t>	</a:t>
            </a:r>
          </a:p>
          <a:p>
            <a:r>
              <a:t>#090C0B</a:t>
            </a:r>
          </a:p>
          <a:p>
            <a:r>
              <a:t>	바탕·구분선이라 기준 없음</a:t>
            </a:r>
          </a:p>
          <a:p>
            <a:r>
              <a:t>surface-selected</a:t>
            </a:r>
          </a:p>
          <a:p>
            <a:r>
              <a:t>선택된 행·항목 바탕</a:t>
            </a:r>
          </a:p>
          <a:p>
            <a:r>
              <a:t>	</a:t>
            </a:r>
          </a:p>
          <a:p>
            <a:r>
              <a:t>#E4F5EE</a:t>
            </a:r>
          </a:p>
          <a:p>
            <a:r>
              <a:t>	</a:t>
            </a:r>
          </a:p>
          <a:p>
            <a:r>
              <a:t>#1A2A25</a:t>
            </a:r>
          </a:p>
          <a:p>
            <a:r>
              <a:t>	바탕·구분선이라 기준 없음</a:t>
            </a:r>
          </a:p>
          <a:p>
            <a:r>
              <a:t>선</a:t>
            </a:r>
          </a:p>
          <a:p>
            <a:r>
              <a:t>border-subtle</a:t>
            </a:r>
          </a:p>
          <a:p>
            <a:r>
              <a:t>행과 영역 사이 구분선</a:t>
            </a:r>
          </a:p>
          <a:p>
            <a:r>
              <a:t>	</a:t>
            </a:r>
          </a:p>
          <a:p>
            <a:r>
              <a:t>#DFE4E2</a:t>
            </a:r>
          </a:p>
          <a:p>
            <a:r>
              <a:t>	</a:t>
            </a:r>
          </a:p>
          <a:p>
            <a:r>
              <a:t>#2B2F2D</a:t>
            </a:r>
          </a:p>
          <a:p>
            <a:r>
              <a:t>	바탕·구분선이라 기준 없음</a:t>
            </a:r>
          </a:p>
          <a:p>
            <a:r>
              <a:t>border-strong</a:t>
            </a:r>
          </a:p>
          <a:p>
            <a:r>
              <a:t>표 머리글 아래처럼 조금 더 뚜렷한 구분선</a:t>
            </a:r>
          </a:p>
          <a:p>
            <a:r>
              <a:t>	</a:t>
            </a:r>
          </a:p>
          <a:p>
            <a:r>
              <a:t>#C2C9C6</a:t>
            </a:r>
          </a:p>
          <a:p>
            <a:r>
              <a:t>	</a:t>
            </a:r>
          </a:p>
          <a:p>
            <a:r>
              <a:t>#3E4442</a:t>
            </a:r>
          </a:p>
          <a:p>
            <a:r>
              <a:t>	바탕·구분선이라 기준 없음</a:t>
            </a:r>
          </a:p>
          <a:p>
            <a:r>
              <a:t>border-control</a:t>
            </a:r>
          </a:p>
          <a:p>
            <a:r>
              <a:t>입력창·버튼처럼 누를 수 있는 것의 테두리</a:t>
            </a:r>
          </a:p>
          <a:p>
            <a:r>
              <a:t>	</a:t>
            </a:r>
          </a:p>
          <a:p>
            <a:r>
              <a:t>#818885</a:t>
            </a:r>
          </a:p>
          <a:p>
            <a:r>
              <a:t>	</a:t>
            </a:r>
          </a:p>
          <a:p>
            <a:r>
              <a:t>#6B726F</a:t>
            </a:r>
          </a:p>
          <a:p>
            <a:r>
              <a:t>	</a:t>
            </a:r>
          </a:p>
          <a:p>
            <a:r>
              <a:t>3.62 · 3.59</a:t>
            </a:r>
          </a:p>
          <a:p>
            <a:r>
              <a:t>surface-raised 위, 기준 3:1 통과</a:t>
            </a:r>
          </a:p>
          <a:p/>
          <a:p>
            <a:r>
              <a:t>border-focus</a:t>
            </a:r>
          </a:p>
          <a:p>
            <a:r>
              <a:t>키보드 포커스 링</a:t>
            </a:r>
          </a:p>
          <a:p>
            <a:r>
              <a:t>	</a:t>
            </a:r>
          </a:p>
          <a:p>
            <a:r>
              <a:t>#0A5C48</a:t>
            </a:r>
          </a:p>
          <a:p>
            <a:r>
              <a:t>	</a:t>
            </a:r>
          </a:p>
          <a:p>
            <a:r>
              <a:t>#47A189</a:t>
            </a:r>
          </a:p>
          <a:p>
            <a:r>
              <a:t>	</a:t>
            </a:r>
          </a:p>
          <a:p>
            <a:r>
              <a:t>7.96 · 5.67</a:t>
            </a:r>
          </a:p>
          <a:p>
            <a:r>
              <a:t>surface-raised 위, 기준 3:1 통과</a:t>
            </a:r>
          </a:p>
          <a:p/>
          <a:p>
            <a:r>
              <a:t>글자</a:t>
            </a:r>
          </a:p>
          <a:p>
            <a:r>
              <a:t>text-primary</a:t>
            </a:r>
          </a:p>
          <a:p>
            <a:r>
              <a:t>제목, 본문</a:t>
            </a:r>
          </a:p>
          <a:p>
            <a:r>
              <a:t>	</a:t>
            </a:r>
          </a:p>
          <a:p>
            <a:r>
              <a:t>#19201D</a:t>
            </a:r>
          </a:p>
          <a:p>
            <a:r>
              <a:t>	</a:t>
            </a:r>
          </a:p>
          <a:p>
            <a:r>
              <a:t>#ECEFEE</a:t>
            </a:r>
          </a:p>
          <a:p>
            <a:r>
              <a:t>	</a:t>
            </a:r>
          </a:p>
          <a:p>
            <a:r>
              <a:t>16.59 · 15.30</a:t>
            </a:r>
          </a:p>
          <a:p>
            <a:r>
              <a:t>surface-raised 위, 기준 4.5:1 통과</a:t>
            </a:r>
          </a:p>
          <a:p/>
          <a:p>
            <a:r>
              <a:t>text-secondary</a:t>
            </a:r>
          </a:p>
          <a:p>
            <a:r>
              <a:t>보조 설명, 시각, 출처</a:t>
            </a:r>
          </a:p>
          <a:p>
            <a:r>
              <a:t>	</a:t>
            </a:r>
          </a:p>
          <a:p>
            <a:r>
              <a:t>#474F4C</a:t>
            </a:r>
          </a:p>
          <a:p>
            <a:r>
              <a:t>	</a:t>
            </a:r>
          </a:p>
          <a:p>
            <a:r>
              <a:t>#BABFBD</a:t>
            </a:r>
          </a:p>
          <a:p>
            <a:r>
              <a:t>	</a:t>
            </a:r>
          </a:p>
          <a:p>
            <a:r>
              <a:t>8.43 · 9.50</a:t>
            </a:r>
          </a:p>
          <a:p>
            <a:r>
              <a:t>surface-raised 위, 기준 4.5:1 통과</a:t>
            </a:r>
          </a:p>
          <a:p/>
          <a:p>
            <a:r>
              <a:t>text-tertiary</a:t>
            </a:r>
          </a:p>
          <a:p>
            <a:r>
              <a:t>플레이스홀더, 비활성 글자</a:t>
            </a:r>
          </a:p>
          <a:p>
            <a:r>
              <a:t>	</a:t>
            </a:r>
          </a:p>
          <a:p>
            <a:r>
              <a:t>#636B68</a:t>
            </a:r>
          </a:p>
          <a:p>
            <a:r>
              <a:t>	</a:t>
            </a:r>
          </a:p>
          <a:p>
            <a:r>
              <a:t>#979D9A</a:t>
            </a:r>
          </a:p>
          <a:p>
            <a:r>
              <a:t>	</a:t>
            </a:r>
          </a:p>
          <a:p>
            <a:r>
              <a:t>5.48 · 6.41</a:t>
            </a:r>
          </a:p>
          <a:p>
            <a:r>
              <a:t>surface-raised 위, 기준 4.5:1 통과</a:t>
            </a:r>
          </a:p>
          <a:p/>
          <a:p>
            <a:r>
              <a:t>text-inverse</a:t>
            </a:r>
          </a:p>
          <a:p>
            <a:r>
              <a:t>어두운 바탕 위 글자</a:t>
            </a:r>
          </a:p>
          <a:p>
            <a:r>
              <a:t>	</a:t>
            </a:r>
          </a:p>
          <a:p>
            <a:r>
              <a:t>#FFFFFF</a:t>
            </a:r>
          </a:p>
          <a:p>
            <a:r>
              <a:t>	</a:t>
            </a:r>
          </a:p>
          <a:p>
            <a:r>
              <a:t>#0E1110</a:t>
            </a:r>
          </a:p>
          <a:p>
            <a:r>
              <a:t>	</a:t>
            </a:r>
          </a:p>
          <a:p>
            <a:r>
              <a:t>16.59 · 16.40</a:t>
            </a:r>
          </a:p>
          <a:p>
            <a:r>
              <a:t>text-primary 위, 기준 4.5:1 통과</a:t>
            </a:r>
          </a:p>
          <a:p/>
          <a:p>
            <a:r>
              <a:t>상태</a:t>
            </a:r>
          </a:p>
          <a:p>
            <a:r>
              <a:t>up</a:t>
            </a:r>
          </a:p>
          <a:p>
            <a:r>
              <a:t>상승(▲ + 부호와 함께)</a:t>
            </a:r>
          </a:p>
          <a:p>
            <a:r>
              <a:t>	</a:t>
            </a:r>
          </a:p>
          <a:p>
            <a:r>
              <a:t>#BE222A</a:t>
            </a:r>
          </a:p>
          <a:p>
            <a:r>
              <a:t>	</a:t>
            </a:r>
          </a:p>
          <a:p>
            <a:r>
              <a:t>#EB827B</a:t>
            </a:r>
          </a:p>
          <a:p>
            <a:r>
              <a:t>	</a:t>
            </a:r>
          </a:p>
          <a:p>
            <a:r>
              <a:t>6.08 · 6.75</a:t>
            </a:r>
          </a:p>
          <a:p>
            <a:r>
              <a:t>surface-raised 위, 기준 4.5:1 통과</a:t>
            </a:r>
          </a:p>
          <a:p/>
          <a:p>
            <a:r>
              <a:t>down</a:t>
            </a:r>
          </a:p>
          <a:p>
            <a:r>
              <a:t>하락(▼ − 부호와 함께)</a:t>
            </a:r>
          </a:p>
          <a:p>
            <a:r>
              <a:t>	</a:t>
            </a:r>
          </a:p>
          <a:p>
            <a:r>
              <a:t>#145EC1</a:t>
            </a:r>
          </a:p>
          <a:p>
            <a:r>
              <a:t>	</a:t>
            </a:r>
          </a:p>
          <a:p>
            <a:r>
              <a:t>#79A6E9</a:t>
            </a:r>
          </a:p>
          <a:p>
            <a:r>
              <a:t>	</a:t>
            </a:r>
          </a:p>
          <a:p>
            <a:r>
              <a:t>6.17 · 7.12</a:t>
            </a:r>
          </a:p>
          <a:p>
            <a:r>
              <a:t>surface-raised 위, 기준 4.5:1 통과</a:t>
            </a:r>
          </a:p>
          <a:p/>
          <a:p>
            <a:r>
              <a:t>warning</a:t>
            </a:r>
          </a:p>
          <a:p>
            <a:r>
              <a:t>원문 대조 필요 같은 확인 요청</a:t>
            </a:r>
          </a:p>
          <a:p>
            <a:r>
              <a:t>	</a:t>
            </a:r>
          </a:p>
          <a:p>
            <a:r>
              <a:t>#915C08</a:t>
            </a:r>
          </a:p>
          <a:p>
            <a:r>
              <a:t>	</a:t>
            </a:r>
          </a:p>
          <a:p>
            <a:r>
              <a:t>#D9AF75</a:t>
            </a:r>
          </a:p>
          <a:p>
            <a:r>
              <a:t>	</a:t>
            </a:r>
          </a:p>
          <a:p>
            <a:r>
              <a:t>5.03 · 9.67</a:t>
            </a:r>
          </a:p>
          <a:p>
            <a:r>
              <a:t>surface-sunken 위, 기준 4.5:1 통과</a:t>
            </a:r>
          </a:p>
          <a:p/>
          <a:p>
            <a:r>
              <a:t>error</a:t>
            </a:r>
          </a:p>
          <a:p>
            <a:r>
              <a:t>오류, 입력 오류 문장</a:t>
            </a:r>
          </a:p>
          <a:p>
            <a:r>
              <a:t>	</a:t>
            </a:r>
          </a:p>
          <a:p>
            <a:r>
              <a:t>#B21F41</a:t>
            </a:r>
          </a:p>
          <a:p>
            <a:r>
              <a:t>	</a:t>
            </a:r>
          </a:p>
          <a:p>
            <a:r>
              <a:t>#EA808A</a:t>
            </a:r>
          </a:p>
          <a:p>
            <a:r>
              <a:t>	</a:t>
            </a:r>
          </a:p>
          <a:p>
            <a:r>
              <a:t>5.94 · 7.44</a:t>
            </a:r>
          </a:p>
          <a:p>
            <a:r>
              <a:t>surface-sunken 위, 기준 4.5:1 통과</a:t>
            </a:r>
          </a:p>
          <a:p/>
          <a:p>
            <a:r>
              <a:t>그래프</a:t>
            </a:r>
          </a:p>
          <a:p>
            <a:r>
              <a:t>graph-node-issue</a:t>
            </a:r>
          </a:p>
          <a:p>
            <a:r>
              <a:t>사건 노드 범주색(원 + 번개 아이콘)</a:t>
            </a:r>
          </a:p>
          <a:p>
            <a:r>
              <a:t>	</a:t>
            </a:r>
          </a:p>
          <a:p>
            <a:r>
              <a:t>#4B5652</a:t>
            </a:r>
          </a:p>
          <a:p>
            <a:r>
              <a:t>	</a:t>
            </a:r>
          </a:p>
          <a:p>
            <a:r>
              <a:t>#7C8985</a:t>
            </a:r>
          </a:p>
          <a:p>
            <a:r>
              <a:t>	</a:t>
            </a:r>
          </a:p>
          <a:p>
            <a:r>
              <a:t>7.28 · 5.22</a:t>
            </a:r>
          </a:p>
          <a:p>
            <a:r>
              <a:t>surface-base 위, 기준 3:1 통과</a:t>
            </a:r>
          </a:p>
          <a:p/>
          <a:p>
            <a:r>
              <a:t>graph-node-glyph</a:t>
            </a:r>
          </a:p>
          <a:p>
            <a:r>
              <a:t>사건 노드 안 아이콘</a:t>
            </a:r>
          </a:p>
          <a:p>
            <a:r>
              <a:t>	</a:t>
            </a:r>
          </a:p>
          <a:p>
            <a:r>
              <a:t>#FFFFFF</a:t>
            </a:r>
          </a:p>
          <a:p>
            <a:r>
              <a:t>	</a:t>
            </a:r>
          </a:p>
          <a:p>
            <a:r>
              <a:t>#0E1110</a:t>
            </a:r>
          </a:p>
          <a:p>
            <a:r>
              <a:t>	</a:t>
            </a:r>
          </a:p>
          <a:p>
            <a:r>
              <a:t>7.63 · 5.22</a:t>
            </a:r>
          </a:p>
          <a:p>
            <a:r>
              <a:t>graph-node-issue 위, 기준 3:1 통과</a:t>
            </a:r>
          </a:p>
          <a:p/>
          <a:p>
            <a:r>
              <a:t>graph-node-mark</a:t>
            </a:r>
          </a:p>
          <a:p>
            <a:r>
              <a:t>보유·관심 기업 노드의 3px 바깥 테두리</a:t>
            </a:r>
          </a:p>
          <a:p>
            <a:r>
              <a:t>	</a:t>
            </a:r>
          </a:p>
          <a:p>
            <a:r>
              <a:t>#19201D</a:t>
            </a:r>
          </a:p>
          <a:p>
            <a:r>
              <a:t>	</a:t>
            </a:r>
          </a:p>
          <a:p>
            <a:r>
              <a:t>#ECEFEE</a:t>
            </a:r>
          </a:p>
          <a:p>
            <a:r>
              <a:t>	</a:t>
            </a:r>
          </a:p>
          <a:p>
            <a:r>
              <a:t>15.83 · 16.40</a:t>
            </a:r>
          </a:p>
          <a:p>
            <a:r>
              <a:t>surface-base 위, 기준 3:1 통과</a:t>
            </a:r>
          </a:p>
          <a:p/>
          <a:p>
            <a:r>
              <a:t>graph-company-fallback-1</a:t>
            </a:r>
          </a:p>
          <a:p>
            <a:r>
              <a:t>상징색 없는 기업 폴백 1~8(company_id 해시). 두 테마 모두 흰 이니셜과 4.9:1 이상</a:t>
            </a:r>
          </a:p>
          <a:p>
            <a:r>
              <a:t>	</a:t>
            </a:r>
          </a:p>
          <a:p>
            <a:r>
              <a:t>#2F6F9F</a:t>
            </a:r>
          </a:p>
          <a:p>
            <a:r>
              <a:t>	</a:t>
            </a:r>
          </a:p>
          <a:p>
            <a:r>
              <a:t>#2F6F9F</a:t>
            </a:r>
          </a:p>
          <a:p>
            <a:r>
              <a:t>	바탕·구분선이라 기준 없음</a:t>
            </a:r>
          </a:p>
          <a:p>
            <a:r>
              <a:t>graph-company-fallback-2</a:t>
            </a:r>
          </a:p>
          <a:p>
            <a:r>
              <a:t>폴백 2</a:t>
            </a:r>
          </a:p>
          <a:p>
            <a:r>
              <a:t>	</a:t>
            </a:r>
          </a:p>
          <a:p>
            <a:r>
              <a:t>#8A5A2B</a:t>
            </a:r>
          </a:p>
          <a:p>
            <a:r>
              <a:t>	</a:t>
            </a:r>
          </a:p>
          <a:p>
            <a:r>
              <a:t>#8A5A2B</a:t>
            </a:r>
          </a:p>
          <a:p>
            <a:r>
              <a:t>	바탕·구분선이라 기준 없음</a:t>
            </a:r>
          </a:p>
          <a:p>
            <a:r>
              <a:t>graph-company-fallback-3</a:t>
            </a:r>
          </a:p>
          <a:p>
            <a:r>
              <a:t>폴백 3</a:t>
            </a:r>
          </a:p>
          <a:p>
            <a:r>
              <a:t>	</a:t>
            </a:r>
          </a:p>
          <a:p>
            <a:r>
              <a:t>#6B4FA0</a:t>
            </a:r>
          </a:p>
          <a:p>
            <a:r>
              <a:t>	</a:t>
            </a:r>
          </a:p>
          <a:p>
            <a:r>
              <a:t>#6B4FA0</a:t>
            </a:r>
          </a:p>
          <a:p>
            <a:r>
              <a:t>	바탕·구분선이라 기준 없음</a:t>
            </a:r>
          </a:p>
          <a:p>
            <a:r>
              <a:t>graph-company-fallback-4</a:t>
            </a:r>
          </a:p>
          <a:p>
            <a:r>
              <a:t>폴백 4</a:t>
            </a:r>
          </a:p>
          <a:p>
            <a:r>
              <a:t>	</a:t>
            </a:r>
          </a:p>
          <a:p>
            <a:r>
              <a:t>#2E7D5B</a:t>
            </a:r>
          </a:p>
          <a:p>
            <a:r>
              <a:t>	</a:t>
            </a:r>
          </a:p>
          <a:p>
            <a:r>
              <a:t>#2E7D5B</a:t>
            </a:r>
          </a:p>
          <a:p>
            <a:r>
              <a:t>	바탕·구분선이라 기준 없음</a:t>
            </a:r>
          </a:p>
          <a:p>
            <a:r>
              <a:t>graph-company-fallback-5</a:t>
            </a:r>
          </a:p>
          <a:p>
            <a:r>
              <a:t>폴백 5</a:t>
            </a:r>
          </a:p>
          <a:p>
            <a:r>
              <a:t>	</a:t>
            </a:r>
          </a:p>
          <a:p>
            <a:r>
              <a:t>#A2463F</a:t>
            </a:r>
          </a:p>
          <a:p>
            <a:r>
              <a:t>	</a:t>
            </a:r>
          </a:p>
          <a:p>
            <a:r>
              <a:t>#A2463F</a:t>
            </a:r>
          </a:p>
          <a:p>
            <a:r>
              <a:t>	바탕·구분선이라 기준 없음</a:t>
            </a:r>
          </a:p>
          <a:p>
            <a:r>
              <a:t>graph-company-fallback-6</a:t>
            </a:r>
          </a:p>
          <a:p>
            <a:r>
              <a:t>폴백 6</a:t>
            </a:r>
          </a:p>
          <a:p>
            <a:r>
              <a:t>	</a:t>
            </a:r>
          </a:p>
          <a:p>
            <a:r>
              <a:t>#5B6B2A</a:t>
            </a:r>
          </a:p>
          <a:p>
            <a:r>
              <a:t>	</a:t>
            </a:r>
          </a:p>
          <a:p>
            <a:r>
              <a:t>#5B6B2A</a:t>
            </a:r>
          </a:p>
          <a:p>
            <a:r>
              <a:t>	바탕·구분선이라 기준 없음</a:t>
            </a:r>
          </a:p>
          <a:p>
            <a:r>
              <a:t>graph-company-fallback-7</a:t>
            </a:r>
          </a:p>
          <a:p>
            <a:r>
              <a:t>폴백 7</a:t>
            </a:r>
          </a:p>
          <a:p>
            <a:r>
              <a:t>	</a:t>
            </a:r>
          </a:p>
          <a:p>
            <a:r>
              <a:t>#2B7A85</a:t>
            </a:r>
          </a:p>
          <a:p>
            <a:r>
              <a:t>	</a:t>
            </a:r>
          </a:p>
          <a:p>
            <a:r>
              <a:t>#2B7A85</a:t>
            </a:r>
          </a:p>
          <a:p>
            <a:r>
              <a:t>	바탕·구분선이라 기준 없음</a:t>
            </a:r>
          </a:p>
          <a:p>
            <a:r>
              <a:t>graph-company-fallback-8</a:t>
            </a:r>
          </a:p>
          <a:p>
            <a:r>
              <a:t>폴백 8</a:t>
            </a:r>
          </a:p>
          <a:p>
            <a:r>
              <a:t>	</a:t>
            </a:r>
          </a:p>
          <a:p>
            <a:r>
              <a:t>#8E4A78</a:t>
            </a:r>
          </a:p>
          <a:p>
            <a:r>
              <a:t>	</a:t>
            </a:r>
          </a:p>
          <a:p>
            <a:r>
              <a:t>#8E4A78</a:t>
            </a:r>
          </a:p>
          <a:p>
            <a:r>
              <a:t>	바탕·구분선이라 기준 없음</a:t>
            </a:r>
          </a:p>
          <a:p>
            <a:r>
              <a:t>graph-focus-ring</a:t>
            </a:r>
          </a:p>
          <a:p>
            <a:r>
              <a:t>선택한 노드의 실선 링</a:t>
            </a:r>
          </a:p>
          <a:p>
            <a:r>
              <a:t>	</a:t>
            </a:r>
          </a:p>
          <a:p>
            <a:r>
              <a:t>#0A5C48</a:t>
            </a:r>
          </a:p>
          <a:p>
            <a:r>
              <a:t>	</a:t>
            </a:r>
          </a:p>
          <a:p>
            <a:r>
              <a:t>#47A189</a:t>
            </a:r>
          </a:p>
          <a:p>
            <a:r>
              <a:t>	</a:t>
            </a:r>
          </a:p>
          <a:p>
            <a:r>
              <a:t>7.60 · 6.08</a:t>
            </a:r>
          </a:p>
          <a:p>
            <a:r>
              <a:t>surface-base 위, 기준 3:1 통과</a:t>
            </a:r>
          </a:p>
          <a:p/>
          <a:p>
            <a:r>
              <a:t>graph-edge-involves</a:t>
            </a:r>
          </a:p>
          <a:p>
            <a:r>
              <a:t>직접 관련 선</a:t>
            </a:r>
          </a:p>
          <a:p>
            <a:r>
              <a:t>	</a:t>
            </a:r>
          </a:p>
          <a:p>
            <a:r>
              <a:t>#2D6359</a:t>
            </a:r>
          </a:p>
          <a:p>
            <a:r>
              <a:t>	</a:t>
            </a:r>
          </a:p>
          <a:p>
            <a:r>
              <a:t>#83AFA6</a:t>
            </a:r>
          </a:p>
          <a:p>
            <a:r>
              <a:t>	</a:t>
            </a:r>
          </a:p>
          <a:p>
            <a:r>
              <a:t>6.59 · 7.82</a:t>
            </a:r>
          </a:p>
          <a:p>
            <a:r>
              <a:t>surface-base 위, 기준 3:1 통과</a:t>
            </a:r>
          </a:p>
          <a:p/>
          <a:p>
            <a:r>
              <a:t>graph-edge-structurally-related</a:t>
            </a:r>
          </a:p>
          <a:p>
            <a:r>
              <a:t>구조적 관련 선</a:t>
            </a:r>
          </a:p>
          <a:p>
            <a:r>
              <a:t>	</a:t>
            </a:r>
          </a:p>
          <a:p>
            <a:r>
              <a:t>#626B68</a:t>
            </a:r>
          </a:p>
          <a:p>
            <a:r>
              <a:t>	</a:t>
            </a:r>
          </a:p>
          <a:p>
            <a:r>
              <a:t>#8D9491</a:t>
            </a:r>
          </a:p>
          <a:p>
            <a:r>
              <a:t>	</a:t>
            </a:r>
          </a:p>
          <a:p>
            <a:r>
              <a:t>5.24 · 6.13</a:t>
            </a:r>
          </a:p>
          <a:p>
            <a:r>
              <a:t>surface-base 위, 기준 3:1 통과</a:t>
            </a:r>
          </a:p>
          <a:p/>
          <a:p>
            <a:r>
              <a:t>graph-edge-follows</a:t>
            </a:r>
          </a:p>
          <a:p>
            <a:r>
              <a:t>후속 사건 선</a:t>
            </a:r>
          </a:p>
          <a:p>
            <a:r>
              <a:t>	</a:t>
            </a:r>
          </a:p>
          <a:p>
            <a:r>
              <a:t>#895F34</a:t>
            </a:r>
          </a:p>
          <a:p>
            <a:r>
              <a:t>	</a:t>
            </a:r>
          </a:p>
          <a:p>
            <a:r>
              <a:t>#C8A47A</a:t>
            </a:r>
          </a:p>
          <a:p>
            <a:r>
              <a:t>	</a:t>
            </a:r>
          </a:p>
          <a:p>
            <a:r>
              <a:t>5.34 · 8.18</a:t>
            </a:r>
          </a:p>
          <a:p>
            <a:r>
              <a:t>surface-base 위, 기준 3:1 통과</a:t>
            </a:r>
          </a:p>
          <a:p/>
          <a:p>
            <a:r>
              <a:t>graph-edge-shares-issue</a:t>
            </a:r>
          </a:p>
          <a:p>
            <a:r>
              <a:t>사건 공유(파생) 선. 일부러 흐리게 둬요</a:t>
            </a:r>
          </a:p>
          <a:p>
            <a:r>
              <a:t>	</a:t>
            </a:r>
          </a:p>
          <a:p>
            <a:r>
              <a:t>#858B88</a:t>
            </a:r>
          </a:p>
          <a:p>
            <a:r>
              <a:t>	</a:t>
            </a:r>
          </a:p>
          <a:p>
            <a:r>
              <a:t>#6D7371</a:t>
            </a:r>
          </a:p>
          <a:p>
            <a:r>
              <a:t>	</a:t>
            </a:r>
          </a:p>
          <a:p>
            <a:r>
              <a:t>3.31 · 3.92</a:t>
            </a:r>
          </a:p>
          <a:p>
            <a:r>
              <a:t>surface-base 위, 기준 3:1 통과</a:t>
            </a:r>
          </a:p>
          <a:p/>
          <a:p>
            <a:r>
              <a:t>graph-edge-label</a:t>
            </a:r>
          </a:p>
          <a:p>
            <a:r>
              <a:t>선 가운데 관계 요약 글자</a:t>
            </a:r>
          </a:p>
          <a:p>
            <a:r>
              <a:t>	</a:t>
            </a:r>
          </a:p>
          <a:p>
            <a:r>
              <a:t>#474F4C</a:t>
            </a:r>
          </a:p>
          <a:p>
            <a:r>
              <a:t>	</a:t>
            </a:r>
          </a:p>
          <a:p>
            <a:r>
              <a:t>#BABFBD</a:t>
            </a:r>
          </a:p>
          <a:p>
            <a:r>
              <a:t>	</a:t>
            </a:r>
          </a:p>
          <a:p>
            <a:r>
              <a:t>8.04 · 10.19</a:t>
            </a:r>
          </a:p>
          <a:p>
            <a:r>
              <a:t>surface-base 위, 기준 4.5:1 통과</a:t>
            </a:r>
          </a:p>
          <a:p/>
          <a:p>
            <a:r>
              <a:t>그래프 노드를 흐리게 할 때는 색 대신 불투명도 0.22(graph-dimmed-opacity)를 써요. 값의 원본은 docs/design/tokens.json이에요.</a:t>
            </a:r>
          </a:p>
          <a:p/>
          <a:p>
            <a:r>
              <a:t>글꼴</a:t>
            </a:r>
          </a:p>
          <a:p/>
          <a:p>
            <a:r>
              <a:t>SUIT Variable 한 가지만 써요. 크기는 6단계뿐이고, 제목과 본문은 크기와 굵기 차이로 구분해요.</a:t>
            </a:r>
          </a:p>
          <a:p/>
          <a:p>
            <a:r>
              <a:t>text-2xl · 28px</a:t>
            </a:r>
          </a:p>
          <a:p>
            <a:r>
              <a:t>Bold 700</a:t>
            </a:r>
          </a:p>
          <a:p>
            <a:r>
              <a:t>내 종목 지도</a:t>
            </a:r>
          </a:p>
          <a:p>
            <a:r>
              <a:t>화면 대표 제목. 화면에 한 번만 써요.</a:t>
            </a:r>
          </a:p>
          <a:p>
            <a:r>
              <a:t>text-xl · 22px</a:t>
            </a:r>
          </a:p>
          <a:p>
            <a:r>
              <a:t>Semibold 600 · Bold 700</a:t>
            </a:r>
          </a:p>
          <a:p>
            <a:r>
              <a:t>예시전자 2분기 실적 발표</a:t>
            </a:r>
          </a:p>
          <a:p>
            <a:r>
              <a:t>패널·다이얼로그 제목, 주요 수치</a:t>
            </a:r>
          </a:p>
          <a:p>
            <a:r>
              <a:t>text-lg · 18px</a:t>
            </a:r>
          </a:p>
          <a:p>
            <a:r>
              <a:t>Semibold 600</a:t>
            </a:r>
          </a:p>
          <a:p>
            <a:r>
              <a:t>관련 사건</a:t>
            </a:r>
          </a:p>
          <a:p>
            <a:r>
              <a:t>섹션 제목, 기업명</a:t>
            </a:r>
          </a:p>
          <a:p>
            <a:r>
              <a:t>text-md · 16px</a:t>
            </a:r>
          </a:p>
          <a:p>
            <a:r>
              <a:t>Regular 400 · Medium 500</a:t>
            </a:r>
          </a:p>
          <a:p>
            <a:r>
              <a:t>관심 종목을 검색해 보세요</a:t>
            </a:r>
          </a:p>
          <a:p>
            <a:r>
              <a:t>모바일 본문, 입력창(아이폰 확대 방지)</a:t>
            </a:r>
          </a:p>
          <a:p>
            <a:r>
              <a:t>text-base · 15px</a:t>
            </a:r>
          </a:p>
          <a:p>
            <a:r>
              <a:t>Regular 400</a:t>
            </a:r>
          </a:p>
          <a:p>
            <a:r>
              <a:t>예시전자는 2분기 메모리 실적을 발표했어요.</a:t>
            </a:r>
          </a:p>
          <a:p>
            <a:r>
              <a:t>데스크톱 본문, 목록 행</a:t>
            </a:r>
          </a:p>
          <a:p>
            <a:r>
              <a:t>text-sm · 13px</a:t>
            </a:r>
          </a:p>
          <a:p>
            <a:r>
              <a:t>Regular 400</a:t>
            </a:r>
          </a:p>
          <a:p>
            <a:r>
              <a:t>예시일보 · 2026.07.10 09:20</a:t>
            </a:r>
          </a:p>
          <a:p>
            <a:r>
              <a:t>출처, 시각, 고지. 이보다 작은 글자는 쓰지 않아요.</a:t>
            </a:r>
          </a:p>
          <a:p>
            <a:r>
              <a:t>본문 한 줄은 한글 40자 안팎에서 끊어요(max-w-prose). 너무 길면 다음 줄을 찾기 어려워요.</a:t>
            </a:r>
          </a:p>
          <a:p>
            <a:r>
              <a:t>굵기는 4가지만 써요. 본문 400, 강조 500, 제목 600, 화면 제목 700.</a:t>
            </a:r>
          </a:p>
          <a:p>
            <a:r>
              <a:t>13px보다 작은 글자는 쓰지 않아요. 출처와 고지도 13px이에요.</a:t>
            </a:r>
          </a:p>
          <a:p>
            <a:r>
              <a:t>숫자는 자릿수를 맞춰요 (tnum)</a:t>
            </a:r>
          </a:p>
          <a:p/>
          <a:p>
            <a:r>
              <a:t>가격·등락률·날짜에는 고정폭 숫자(tabular-nums)를 켜요. 앱 전체에 기본으로 켜져 있어서, 숫자가 바뀌어도 폭이 흔들리지 않아요.</a:t>
            </a:r>
          </a:p>
          <a:p/>
          <a:p>
            <a:r>
              <a:t>끔</a:t>
            </a:r>
          </a:p>
          <a:p>
            <a:r>
              <a:t>1,111.11</a:t>
            </a:r>
          </a:p>
          <a:p>
            <a:r>
              <a:t>88,888.80</a:t>
            </a:r>
          </a:p>
          <a:p>
            <a:r>
              <a:t>+12.30%</a:t>
            </a:r>
          </a:p>
          <a:p>
            <a:r>
              <a:t>켬 (기본)</a:t>
            </a:r>
          </a:p>
          <a:p>
            <a:r>
              <a:t>1,111.11</a:t>
            </a:r>
          </a:p>
          <a:p>
            <a:r>
              <a:t>88,888.80</a:t>
            </a:r>
          </a:p>
          <a:p>
            <a:r>
              <a:t>+12.30%</a:t>
            </a:r>
          </a:p>
          <a:p/>
          <a:p>
            <a:r>
              <a:t>글꼴 순서: "SUIT Variable", SUIT, -apple-system, BlinkMacSystemFont, "Apple SD Gothic Neo", "Malgun Gothic", system-ui, sans-serif. SUIT에 없는 드문 한글은 뒤의 시스템 글꼴로 보여요.</a:t>
            </a:r>
          </a:p>
          <a:p/>
          <a:p>
            <a:r>
              <a:t>형태</a:t>
            </a:r>
          </a:p>
          <a:p/>
          <a:p>
            <a:r>
              <a:t>둥근 모서리는 누를 수 있는 컨트롤과 떠 있는 면에만 줘요. 목록과 섹션은 각지게 두고 구분선으로 나눠요.</a:t>
            </a:r>
          </a:p>
          <a:p/>
          <a:p>
            <a:r>
              <a:t>rounded-none · 0px</a:t>
            </a:r>
          </a:p>
          <a:p>
            <a:r>
              <a:t>목록 행, 섹션, 패널 안 항목, 표, 지도 캔버스</a:t>
            </a:r>
          </a:p>
          <a:p>
            <a:r>
              <a:t>쓰지 않는 곳: 버튼, 팝오버</a:t>
            </a:r>
          </a:p>
          <a:p>
            <a:r>
              <a:t>rounded-sm · 8px</a:t>
            </a:r>
          </a:p>
          <a:p>
            <a:r>
              <a:t>버튼, 입력창, 세그먼트 선택 배경</a:t>
            </a:r>
          </a:p>
          <a:p>
            <a:r>
              <a:t>쓰지 않는 곳: 카드 틀, 목록 행</a:t>
            </a:r>
          </a:p>
          <a:p>
            <a:r>
              <a:t>rounded-lg · 16px</a:t>
            </a:r>
          </a:p>
          <a:p>
            <a:r>
              <a:t>바텀시트 위 모서리, 다이얼로그, 토스트, 팝오버</a:t>
            </a:r>
          </a:p>
          <a:p>
            <a:r>
              <a:t>쓰지 않는 곳: 일반 패널, 안쪽 항목</a:t>
            </a:r>
          </a:p>
          <a:p>
            <a:r>
              <a:t>rounded-full · 9999px</a:t>
            </a:r>
          </a:p>
          <a:p>
            <a:r>
              <a:t>원형 조작 버튼, 스위치 손잡이, 기업 노드</a:t>
            </a:r>
          </a:p>
          <a:p>
            <a:r>
              <a:t>쓰지 않는 곳: 상태 배지, 목록 항목</a:t>
            </a:r>
          </a:p>
          <a:p>
            <a:r>
              <a:t>그림자는 시트, 다이얼로그, 팝오버, 토스트처럼 떠 있는 면에만 줘요. 그림자를 준 면에는 테두리를 같이 주지 않아요.</a:t>
            </a:r>
          </a:p>
          <a:p>
            <a:r>
              <a:t>16px 시트 안의 버튼은 8px을 유지해요. 안쪽 모서리가 바깥보다 둥글면 어색해 보여요.</a:t>
            </a:r>
          </a:p>
          <a:p>
            <a:r>
              <a:t>간격</a:t>
            </a:r>
          </a:p>
          <a:p/>
          <a:p>
            <a:r>
              <a:t>간격은 4px 단위예요. Tailwind에서 p-4는 16px(4 × 4px)이에요. 누르는 영역은 항상 44×44px 이상이에요.</a:t>
            </a:r>
          </a:p>
          <a:p/>
          <a:p>
            <a:r>
              <a:t>1 · 4px</a:t>
            </a:r>
          </a:p>
          <a:p>
            <a:r>
              <a:t>아이콘과 글자 사이</a:t>
            </a:r>
          </a:p>
          <a:p>
            <a:r>
              <a:t>2 · 8px</a:t>
            </a:r>
          </a:p>
          <a:p>
            <a:r>
              <a:t>배지·버튼끼리</a:t>
            </a:r>
          </a:p>
          <a:p>
            <a:r>
              <a:t>3 · 12px</a:t>
            </a:r>
          </a:p>
          <a:p>
            <a:r>
              <a:t>목록 행 위아래</a:t>
            </a:r>
          </a:p>
          <a:p>
            <a:r>
              <a:t>4 · 16px</a:t>
            </a:r>
          </a:p>
          <a:p>
            <a:r>
              <a:t>모바일 화면 좌우, 행 좌우</a:t>
            </a:r>
          </a:p>
          <a:p>
            <a:r>
              <a:t>5 · 20px</a:t>
            </a:r>
          </a:p>
          <a:p>
            <a:r>
              <a:t>6 · 24px</a:t>
            </a:r>
          </a:p>
          <a:p>
            <a:r>
              <a:t>데스크톱 화면 좌우</a:t>
            </a:r>
          </a:p>
          <a:p>
            <a:r>
              <a:t>8 · 32px</a:t>
            </a:r>
          </a:p>
          <a:p>
            <a:r>
              <a:t>묶음과 묶음 사이</a:t>
            </a:r>
          </a:p>
          <a:p>
            <a:r>
              <a:t>10 · 40px</a:t>
            </a:r>
          </a:p>
          <a:p>
            <a:r>
              <a:t>섹션 사이</a:t>
            </a:r>
          </a:p>
          <a:p>
            <a:r>
              <a:t>12 · 48px</a:t>
            </a:r>
          </a:p>
          <a:p>
            <a:r>
              <a:t>앱 바 높이, 행 최소 높이</a:t>
            </a:r>
          </a:p>
          <a:p>
            <a:r>
              <a:t>16 · 64px</a:t>
            </a:r>
          </a:p>
          <a:p>
            <a:r>
              <a:t>기본 컴포넌트</a:t>
            </a:r>
          </a:p>
          <a:p/>
          <a:p>
            <a:r>
              <a:t>어느 화면에서나 쓰는 부품이에요. 새 화면을 만들 때 직접 스타일을 쓰기 전에 여기서 먼저 찾아요.</a:t>
            </a:r>
          </a:p>
          <a:p/>
          <a:p>
            <a:r>
              <a:t>Button</a:t>
            </a:r>
          </a:p>
          <a:p/>
          <a:p>
            <a:r>
              <a:t>한 번의 행동을 실행해요. 글자에는 누른 뒤 결과를 적어요. primary는 화면에 하나만 두니, 이 페이지의 primary도 아래 하나뿐이에요.</a:t>
            </a:r>
          </a:p>
          <a:p/>
          <a:p>
            <a:r>
              <a:t>종류</a:t>
            </a:r>
          </a:p>
          <a:p>
            <a:r>
              <a:t>관심 종목 저장하기</a:t>
            </a:r>
          </a:p>
          <a:p>
            <a:r>
              <a:t>근거 보기</a:t>
            </a:r>
          </a:p>
          <a:p>
            <a:r>
              <a:t>지도 설정</a:t>
            </a:r>
          </a:p>
          <a:p>
            <a:r>
              <a:t>원문 열기</a:t>
            </a:r>
          </a:p>
          <a:p>
            <a:r>
              <a:t>상태</a:t>
            </a:r>
          </a:p>
          <a:p>
            <a:r>
              <a:t>비활성</a:t>
            </a:r>
          </a:p>
          <a:p>
            <a:r>
              <a:t>저장하는 중</a:t>
            </a:r>
          </a:p>
          <a:p>
            <a:r>
              <a:t>크기</a:t>
            </a:r>
          </a:p>
          <a:p>
            <a:r>
              <a:t>작게</a:t>
            </a:r>
          </a:p>
          <a:p>
            <a:r>
              <a:t>보통</a:t>
            </a:r>
          </a:p>
          <a:p>
            <a:r>
              <a:t>크게</a:t>
            </a:r>
          </a:p>
          <a:p/>
          <a:p>
            <a:r>
              <a:t>코드:</a:t>
            </a:r>
          </a:p>
          <a:p>
            <a:r>
              <a:t>&lt;Button variant="secondary" onClick={openEvidence}&gt;근거 보기&lt;/Button&gt;</a:t>
            </a:r>
          </a:p>
          <a:p/>
          <a:p>
            <a:r>
              <a:t>Input</a:t>
            </a:r>
          </a:p>
          <a:p/>
          <a:p>
            <a:r>
              <a:t>검색어와 질문을 받아요. 라벨은 항상 연결하고(숨겨도 돼요), 오류는 빨간 테두리와 함께 문장으로 알려요.</a:t>
            </a:r>
          </a:p>
          <a:p/>
          <a:p>
            <a:r>
              <a:t>기본</a:t>
            </a:r>
          </a:p>
          <a:p/>
          <a:p>
            <a:r>
              <a:t>기업 이름이나 종목 코드를 입력해요</a:t>
            </a:r>
          </a:p>
          <a:p/>
          <a:p>
            <a:r>
              <a:t>검색</a:t>
            </a:r>
          </a:p>
          <a:p>
            <a:r>
              <a:t>오류</a:t>
            </a:r>
          </a:p>
          <a:p/>
          <a:p>
            <a:r>
              <a:t>관심 종목을 1개 이상 골라 주세요.</a:t>
            </a:r>
          </a:p>
          <a:p/>
          <a:p>
            <a:r>
              <a:t>비활성</a:t>
            </a:r>
          </a:p>
          <a:p/>
          <a:p>
            <a:r>
              <a:t>코드:</a:t>
            </a:r>
          </a:p>
          <a:p>
            <a:r>
              <a:t>&lt;Input label="종목 검색" variant="search" value={q} onChange={…} onClear={…} /&gt;</a:t>
            </a:r>
          </a:p>
          <a:p/>
          <a:p>
            <a:r>
              <a:t>Select</a:t>
            </a:r>
          </a:p>
          <a:p/>
          <a:p>
            <a:r>
              <a:t>선택지가 5개 이상일 때 써요. 2~4개면 Segmented가 더 빨라요.</a:t>
            </a:r>
          </a:p>
          <a:p/>
          <a:p>
            <a:r>
              <a:t>기간</a:t>
            </a:r>
          </a:p>
          <a:p>
            <a:r>
              <a:t>1주일</a:t>
            </a:r>
          </a:p>
          <a:p>
            <a:r>
              <a:t>비활성</a:t>
            </a:r>
          </a:p>
          <a:p>
            <a:r>
              <a:t>전체</a:t>
            </a:r>
          </a:p>
          <a:p/>
          <a:p>
            <a:r>
              <a:t>코드:</a:t>
            </a:r>
          </a:p>
          <a:p>
            <a:r>
              <a:t>&lt;Select label="기간" value={period} onValueChange={setPeriod} options={periods} /&gt;</a:t>
            </a:r>
          </a:p>
          <a:p/>
          <a:p>
            <a:r>
              <a:t>Segmented</a:t>
            </a:r>
          </a:p>
          <a:p/>
          <a:p>
            <a:r>
              <a:t>같은 내용을 보는 방식을 바꿔요(지도 ↔ 목록). 아래 내용 영역이 따로 없어요. 선택 표시는 고른 칸으로 미끄러져요(200ms). 못 쓰는 선택지는 이유를 알려줘요.</a:t>
            </a:r>
          </a:p>
          <a:p/>
          <a:p>
            <a:r>
              <a:t>기본</a:t>
            </a:r>
          </a:p>
          <a:p>
            <a:r>
              <a:t>지도</a:t>
            </a:r>
          </a:p>
          <a:p>
            <a:r>
              <a:t>목록</a:t>
            </a:r>
          </a:p>
          <a:p>
            <a:r>
              <a:t>비활성</a:t>
            </a:r>
          </a:p>
          <a:p>
            <a:r>
              <a:t>시장 전체</a:t>
            </a:r>
          </a:p>
          <a:p>
            <a:r>
              <a:t>내 종목</a:t>
            </a:r>
          </a:p>
          <a:p/>
          <a:p>
            <a:r>
              <a:t>코드:</a:t>
            </a:r>
          </a:p>
          <a:p>
            <a:r>
              <a:t>&lt;Segmented aria-label="보기 방식" value={view} onValueChange={setView} options={[…]} /&gt;</a:t>
            </a:r>
          </a:p>
          <a:p/>
          <a:p>
            <a:r>
              <a:t>Tabs</a:t>
            </a:r>
          </a:p>
          <a:p/>
          <a:p>
            <a:r>
              <a:t>같은 대상의 다른 내용을 나눠 보여줘요. 최대 4개, 폭을 똑같이 나눠요. 밑줄은 고른 탭으로 미끄러지고, 좌우 방향키로 옮겨요.</a:t>
            </a:r>
          </a:p>
          <a:p/>
          <a:p>
            <a:r>
              <a:t>관련 사건</a:t>
            </a:r>
          </a:p>
          <a:p>
            <a:r>
              <a:t>연결</a:t>
            </a:r>
          </a:p>
          <a:p>
            <a:r>
              <a:t>AI에게 묻기</a:t>
            </a:r>
          </a:p>
          <a:p>
            <a:r>
              <a:t>예시전자와 연결된 사건 3건이 여기에 보여요.</a:t>
            </a:r>
          </a:p>
          <a:p/>
          <a:p>
            <a:r>
              <a:t>코드:</a:t>
            </a:r>
          </a:p>
          <a:p>
            <a:r>
              <a:t>&lt;Tabs defaultValue="events"&gt;&lt;TabsList&gt;…&lt;/TabsList&gt;&lt;TabsContent value="events"&gt;…&lt;/TabsContent&gt;&lt;/Tabs&gt;</a:t>
            </a:r>
          </a:p>
          <a:p/>
          <a:p>
            <a:r>
              <a:t>Dialog · Sheet · BottomSheet</a:t>
            </a:r>
          </a:p>
          <a:p/>
          <a:p>
            <a:r>
              <a:t>Dialog는 짧은 확인, Sheet는 근거처럼 긴 내용이에요. Sheet는 데스크톱에서 오른쪽 패널, 모바일에서 자동으로 BottomSheet가 돼요. Esc나 [닫기]로 닫고, 닫으면 연 버튼으로 포커스가 돌아와요.</a:t>
            </a:r>
          </a:p>
          <a:p/>
          <a:p>
            <a:r>
              <a:t>Dialog 열기</a:t>
            </a:r>
          </a:p>
          <a:p>
            <a:r>
              <a:t>Sheet 열기</a:t>
            </a:r>
          </a:p>
          <a:p>
            <a:r>
              <a:t>BottomSheet 열기</a:t>
            </a:r>
          </a:p>
          <a:p/>
          <a:p>
            <a:r>
              <a:t>코드:</a:t>
            </a:r>
          </a:p>
          <a:p>
            <a:r>
              <a:t>&lt;Sheet open={open} onOpenChange={setOpen} title="근거" closeLabel="근거 창 닫기"&gt;…&lt;/Sheet&gt;</a:t>
            </a:r>
          </a:p>
          <a:p/>
          <a:p>
            <a:r>
              <a:t>Popover · Tooltip</a:t>
            </a:r>
          </a:p>
          <a:p/>
          <a:p>
            <a:r>
              <a:t>Popover는 눌러서 여는 짧은 설명이라 터치에서도 돼요. Tooltip은 마우스를 올리거나 포커스할 때만 보여서, 꼭 필요한 정보는 넣지 않아요.</a:t>
            </a:r>
          </a:p>
          <a:p/>
          <a:p>
            <a:r>
              <a:t>사건 공유가 뭔가요?</a:t>
            </a:r>
          </a:p>
          <a:p>
            <a:r>
              <a:t>마우스를 올려 보세요</a:t>
            </a:r>
          </a:p>
          <a:p/>
          <a:p>
            <a:r>
              <a:t>코드:</a:t>
            </a:r>
          </a:p>
          <a:p>
            <a:r>
              <a:t>&lt;Popover label="사건 공유 설명" trigger={&lt;Button variant="link"&gt;사건 공유가 뭔가요?&lt;/Button&gt;}&gt;…&lt;/Popover&gt;</a:t>
            </a:r>
          </a:p>
          <a:p/>
          <a:p>
            <a:r>
              <a:t>Toast</a:t>
            </a:r>
          </a:p>
          <a:p/>
          <a:p>
            <a:r>
              <a:t>결과를 한 문장으로 알려요. 3초 뒤 사라지고, 경고는 5초 보여요. 오류는 Toast 말고 ErrorState로 보여줘요.</a:t>
            </a:r>
          </a:p>
          <a:p/>
          <a:p>
            <a:r>
              <a:t>기본 알림</a:t>
            </a:r>
          </a:p>
          <a:p>
            <a:r>
              <a:t>성공 알림</a:t>
            </a:r>
          </a:p>
          <a:p>
            <a:r>
              <a:t>경고 알림</a:t>
            </a:r>
          </a:p>
          <a:p/>
          <a:p>
            <a:r>
              <a:t>코드:</a:t>
            </a:r>
          </a:p>
          <a:p>
            <a:r>
              <a:t>const toast = useToast(); toast({ title: "관심 종목을 저장했어요", tone: "success" })</a:t>
            </a:r>
          </a:p>
          <a:p/>
          <a:p>
            <a:r>
              <a:t>Skeleton</a:t>
            </a:r>
          </a:p>
          <a:p/>
          <a:p>
            <a:r>
              <a:t>불러오는 동안 실제 내용과 같은 모양의 자리를 먼저 보여줘서 화면이 흔들리지 않게 해요.</a:t>
            </a:r>
          </a:p>
          <a:p/>
          <a:p>
            <a:r>
              <a:t>예시 사건을 불러오는 중이에요</a:t>
            </a:r>
          </a:p>
          <a:p/>
          <a:p>
            <a:r>
              <a:t>예시 글을 불러오는 중이에요</a:t>
            </a:r>
          </a:p>
          <a:p/>
          <a:p>
            <a:r>
              <a:t>코드:</a:t>
            </a:r>
          </a:p>
          <a:p>
            <a:r>
              <a:t>&lt;SkeletonRows count={3} label="사건을 불러오는 중이에요" /&gt;</a:t>
            </a:r>
          </a:p>
          <a:p/>
          <a:p>
            <a:r>
              <a:t>EmptyState</a:t>
            </a:r>
          </a:p>
          <a:p/>
          <a:p>
            <a:r>
              <a:t>오류가 아니라 정말 없을 때 써요. 지금 상태 한 문장과 다음 행동을 함께 줘요.</a:t>
            </a:r>
          </a:p>
          <a:p/>
          <a:p>
            <a:r>
              <a:t>아직 고른 관심 종목이 없어요</a:t>
            </a:r>
          </a:p>
          <a:p/>
          <a:p>
            <a:r>
              <a:t>관심 종목을 고르면 그 기업 주변 사건을 지도로 보여줘요.</a:t>
            </a:r>
          </a:p>
          <a:p/>
          <a:p>
            <a:r>
              <a:t>관심 종목 고르기</a:t>
            </a:r>
          </a:p>
          <a:p/>
          <a:p>
            <a:r>
              <a:t>코드:</a:t>
            </a:r>
          </a:p>
          <a:p>
            <a:r>
              <a:t>&lt;EmptyState title="아직 고른 관심 종목이 없어요" action={&lt;Button …&gt;종목 고르기&lt;/Button&gt;} /&gt;</a:t>
            </a:r>
          </a:p>
          <a:p/>
          <a:p>
            <a:r>
              <a:t>ErrorState</a:t>
            </a:r>
          </a:p>
          <a:p/>
          <a:p>
            <a:r>
              <a:t>불러오기에 실패했을 때 써요. 빈 목록처럼 보여주면 안 돼요. [다시 시도]를 꼭 넣고, 오류 코드는 [자세히] 안에 둬요.</a:t>
            </a:r>
          </a:p>
          <a:p/>
          <a:p>
            <a:r>
              <a:t>정보를 불러오지 못했어요</a:t>
            </a:r>
          </a:p>
          <a:p/>
          <a:p>
            <a:r>
              <a:t>서버에 연결할 수 없어요. 잠시 후 다시 시도해 주세요.</a:t>
            </a:r>
          </a:p>
          <a:p/>
          <a:p>
            <a:r>
              <a:t>자세히</a:t>
            </a:r>
          </a:p>
          <a:p>
            <a:r>
              <a:t>다시 시도</a:t>
            </a:r>
          </a:p>
          <a:p/>
          <a:p>
            <a:r>
              <a:t>좁은 자리(compact)</a:t>
            </a:r>
          </a:p>
          <a:p/>
          <a:p>
            <a:r>
              <a:t>일시적인 서버 문제예요. 잠시 후 다시 시도해 주세요.</a:t>
            </a:r>
          </a:p>
          <a:p/>
          <a:p>
            <a:r>
              <a:t>자세히</a:t>
            </a:r>
          </a:p>
          <a:p>
            <a:r>
              <a:t>다시 시도</a:t>
            </a:r>
          </a:p>
          <a:p/>
          <a:p>
            <a:r>
              <a:t>코드:</a:t>
            </a:r>
          </a:p>
          <a:p>
            <a:r>
              <a:t>&lt;ErrorState error={error} onRetry={refetch} /&gt;</a:t>
            </a:r>
          </a:p>
          <a:p/>
          <a:p>
            <a:r>
              <a:t>Badge</a:t>
            </a:r>
          </a:p>
          <a:p/>
          <a:p>
            <a:r>
              <a:t>누를 수 없는 상태 표시예요. 한 행에 1~2개까지만 달고, 누르는 필터는 Button이나 Segmented로 만들어요.</a:t>
            </a:r>
          </a:p>
          <a:p/>
          <a:p>
            <a:r>
              <a:t>종류</a:t>
            </a:r>
          </a:p>
          <a:p>
            <a:r>
              <a:t>보유</a:t>
            </a:r>
          </a:p>
          <a:p>
            <a:r>
              <a:t>원문 대조 필요</a:t>
            </a:r>
          </a:p>
          <a:p>
            <a:r>
              <a:t>불러오지 못함</a:t>
            </a:r>
          </a:p>
          <a:p/>
          <a:p>
            <a:r>
              <a:t>코드:</a:t>
            </a:r>
          </a:p>
          <a:p>
            <a:r>
              <a:t>&lt;Badge variant="warning"&gt;원문 대조 필요&lt;/Badge&gt;</a:t>
            </a:r>
          </a:p>
          <a:p/>
          <a:p>
            <a:r>
              <a:t>ListRow</a:t>
            </a:r>
          </a:p>
          <a:p/>
          <a:p>
            <a:r>
              <a:t>카드 대신 쓰는 목록 행이에요. 링크면 to, 같은 화면에서 고르면 onClick, 둘 다 없으면 누를 수 없는 행이에요. &lt;li&gt; 안에 넣어요.</a:t>
            </a:r>
          </a:p>
          <a:p/>
          <a:p>
            <a:r>
              <a:t>예</a:t>
            </a:r>
          </a:p>
          <a:p>
            <a:r>
              <a:t>예시전자</a:t>
            </a:r>
          </a:p>
          <a:p>
            <a:r>
              <a:t>관심 종목</a:t>
            </a:r>
          </a:p>
          <a:p>
            <a:r>
              <a:t>예</a:t>
            </a:r>
          </a:p>
          <a:p>
            <a:r>
              <a:t>예시반도체</a:t>
            </a:r>
          </a:p>
          <a:p>
            <a:r>
              <a:t>보유 종목</a:t>
            </a:r>
          </a:p>
          <a:p>
            <a:r>
              <a:t>예시소재</a:t>
            </a:r>
          </a:p>
          <a:p>
            <a:r>
              <a:t>누를 수 없는 행</a:t>
            </a:r>
          </a:p>
          <a:p/>
          <a:p>
            <a:r>
              <a:t>코드:</a:t>
            </a:r>
          </a:p>
          <a:p>
            <a:r>
              <a:t>&lt;li&gt;&lt;ListRow leading={&lt;CompanyMark … /&gt;} title="예시전자" description="관심 종목" selected onClick={select} /&gt;&lt;/li&gt;</a:t>
            </a:r>
          </a:p>
          <a:p/>
          <a:p>
            <a:r>
              <a:t>SectionHeader</a:t>
            </a:r>
          </a:p>
          <a:p/>
          <a:p>
            <a:r>
              <a:t>목록의 머리글이에요. 앞에 종류 아이콘을 두고, 설명은 오른쪽 정보 아이콘 안에 넣어요(제목 밑에 설명문을 늘어놓지 않아요).</a:t>
            </a:r>
          </a:p>
          <a:p/>
          <a:p>
            <a:r>
              <a:t>관련 사건</a:t>
            </a:r>
          </a:p>
          <a:p/>
          <a:p>
            <a:r>
              <a:t>코드:</a:t>
            </a:r>
          </a:p>
          <a:p>
            <a:r>
              <a:t>&lt;SectionHeader icon={Zap} title="관련 사건" action={&lt;IconHint icon={Info} label="직접 관련"&gt;…&lt;/IconHint&gt;} /&gt;</a:t>
            </a:r>
          </a:p>
          <a:p/>
          <a:p>
            <a:r>
              <a:t>AppBar · BottomTabBar</a:t>
            </a:r>
          </a:p>
          <a:p/>
          <a:p>
            <a:r>
              <a:t>모바일(768px 이하) 위아래 고정 바예요. 앱 셸이 이미 쓰고 있어서 화면에서는 따로 넣지 않아요. AI 탭은 화면을 옮기지 않고 AI 질문 창을 열어요. 아래는 390px 폭 예시예요.</a:t>
            </a:r>
          </a:p>
          <a:p/>
          <a:p>
            <a:r>
              <a:t>줍</a:t>
            </a:r>
          </a:p>
          <a:p>
            <a:r>
              <a:t>예시 화면</a:t>
            </a:r>
          </a:p>
          <a:p>
            <a:r>
              <a:t>지도</a:t>
            </a:r>
          </a:p>
          <a:p>
            <a:r>
              <a:t>브리핑</a:t>
            </a:r>
          </a:p>
          <a:p>
            <a:r>
              <a:t>AI</a:t>
            </a:r>
          </a:p>
          <a:p>
            <a:r>
              <a:t>내 종목</a:t>
            </a:r>
          </a:p>
          <a:p/>
          <a:p>
            <a:r>
              <a:t>코드:</a:t>
            </a:r>
          </a:p>
          <a:p>
            <a:r>
              <a:t>&lt;BottomTabBar tabs={[{ to: "/", label: "지도", icon: MapIcon, end: true }, …, { id: "ai", label: "AI", icon: Sparkles, onPress: openScreenChat, open: chatOpen }, …]} /&gt;</a:t>
            </a:r>
          </a:p>
          <a:p/>
          <a:p>
            <a:r>
              <a:t>줍 컴포넌트</a:t>
            </a:r>
          </a:p>
          <a:p/>
          <a:p>
            <a:r>
              <a:t>줍에만 있는 부품이에요. 근거와 출처를 정직하게 보여주고, 없는 값은 지어내지 않아요.</a:t>
            </a:r>
          </a:p>
          <a:p/>
          <a:p>
            <a:r>
              <a:t>SourceIndicator</a:t>
            </a:r>
          </a:p>
          <a:p/>
          <a:p>
            <a:r>
              <a:t>지금 데이터가 실제 기사인지 합성 데이터인지 글자 없이 아이콘 하나로 알려요. 앱 헤더와 근거 창 두 곳에만 둬요. 올리면 툴팁, 누르면 한 문장 설명이 열리고, 스크린리더는 ‘데이터 출처: 합성 데이터’처럼 읽어요.</a:t>
            </a:r>
          </a:p>
          <a:p/>
          <a:p>
            <a:r>
              <a:t>종류</a:t>
            </a:r>
          </a:p>
          <a:p>
            <a:r>
              <a:t>연결 끊김</a:t>
            </a:r>
          </a:p>
          <a:p>
            <a:r>
              <a:t>데이터 출처 라벨과 설명</a:t>
            </a:r>
          </a:p>
          <a:p>
            <a:r>
              <a:t>라벨	툴팁·스크린리더 이름</a:t>
            </a:r>
          </a:p>
          <a:p>
            <a:r>
              <a:t>데이터 출처: 실제 기사	검증 절차를 통과한 기사예요. 사실이나 투자 성과를 보증하지 않아요.</a:t>
            </a:r>
          </a:p>
          <a:p>
            <a:r>
              <a:t>데이터 출처: 실제 기사 · 저장본	검증 절차를 통과한 기사를 저장한 시점 기준으로 보여줘요.</a:t>
            </a:r>
          </a:p>
          <a:p>
            <a:r>
              <a:t>데이터 출처: 합성 데이터	화면 확인용으로 만든 가상의 기사와 기업이에요.</a:t>
            </a:r>
          </a:p>
          <a:p/>
          <a:p>
            <a:r>
              <a:t>코드:</a:t>
            </a:r>
          </a:p>
          <a:p>
            <a:r>
              <a:t>&lt;SourceIndicator kind={health.datasetKind} /&gt;</a:t>
            </a:r>
          </a:p>
          <a:p/>
          <a:p>
            <a:r>
              <a:t>IconHint · IconCount</a:t>
            </a:r>
          </a:p>
          <a:p/>
          <a:p>
            <a:r>
              <a:t>설명문·부제·메타 라벨 대신 아이콘 하나로 보여줘요. 올리면 툴팁(한 줄), 누르면 팝오버(짧은 설명). 개수 메타는 아이콘 + 숫자예요. 아이콘만 있는 컨트롤은 반드시 aria-label과 툴팁을 가져요.</a:t>
            </a:r>
          </a:p>
          <a:p/>
          <a:p>
            <a:r>
              <a:t>힌트</a:t>
            </a:r>
          </a:p>
          <a:p>
            <a:r>
              <a:t>개수</a:t>
            </a:r>
          </a:p>
          <a:p>
            <a:r>
              <a:t>보도 기사</a:t>
            </a:r>
          </a:p>
          <a:p>
            <a:r>
              <a:t>3</a:t>
            </a:r>
          </a:p>
          <a:p>
            <a:r>
              <a:t>근거 문서</a:t>
            </a:r>
          </a:p>
          <a:p>
            <a:r>
              <a:t>2</a:t>
            </a:r>
          </a:p>
          <a:p/>
          <a:p>
            <a:r>
              <a:t>코드:</a:t>
            </a:r>
          </a:p>
          <a:p>
            <a:r>
              <a:t>&lt;IconHint icon={CalendarClock} label="발행 시각 미확정"&gt;&lt;p&gt;예정 시각은 바뀔 수 있어요.&lt;/p&gt;&lt;/IconHint&gt; &lt;IconCount icon={Newspaper} label="보도 기사" count={3} /&gt;</a:t>
            </a:r>
          </a:p>
          <a:p/>
          <a:p>
            <a:r>
              <a:t>PriceChange · SentimentLabel</a:t>
            </a:r>
          </a:p>
          <a:p/>
          <a:p>
            <a:r>
              <a:t>등락은 색, 부호, ▲▼를 함께 써요. 금액과 등락률은 받은 통화 그대로 쓰고, 값이 없으면 아무것도 그리지 않아요. 기사 판정은 중성 글자와 아이콘으로 구분하고 누르면 근거를 열어요. 아래 숫자와 판정은 예시예요.</a:t>
            </a:r>
          </a:p>
          <a:p/>
          <a:p>
            <a:r>
              <a:t>등락률</a:t>
            </a:r>
          </a:p>
          <a:p>
            <a:r>
              <a:t>▲ +2.34%</a:t>
            </a:r>
          </a:p>
          <a:p>
            <a:r>
              <a:t>상승</a:t>
            </a:r>
          </a:p>
          <a:p>
            <a:r>
              <a:t>▼ -1.50%</a:t>
            </a:r>
          </a:p>
          <a:p>
            <a:r>
              <a:t>하락</a:t>
            </a:r>
          </a:p>
          <a:p>
            <a:r>
              <a:t>0.00%</a:t>
            </a:r>
          </a:p>
          <a:p>
            <a:r>
              <a:t>보합</a:t>
            </a:r>
          </a:p>
          <a:p>
            <a:r>
              <a:t>null → (그리지 않음)</a:t>
            </a:r>
          </a:p>
          <a:p>
            <a:r>
              <a:t>금액 + 등락률</a:t>
            </a:r>
          </a:p>
          <a:p>
            <a:r>
              <a:t>▲ +5,250원 (+1.96%)</a:t>
            </a:r>
          </a:p>
          <a:p>
            <a:r>
              <a:t>상승</a:t>
            </a:r>
          </a:p>
          <a:p>
            <a:r>
              <a:t>▼ -$13.61 (-1.84%)</a:t>
            </a:r>
          </a:p>
          <a:p>
            <a:r>
              <a:t>하락</a:t>
            </a:r>
          </a:p>
          <a:p>
            <a:r>
              <a:t>판정 예시</a:t>
            </a:r>
          </a:p>
          <a:p>
            <a:r>
              <a:t>긍정</a:t>
            </a:r>
          </a:p>
          <a:p>
            <a:r>
              <a:t>AI 판정</a:t>
            </a:r>
          </a:p>
          <a:p>
            <a:r>
              <a:t>부정</a:t>
            </a:r>
          </a:p>
          <a:p>
            <a:r>
              <a:t>AI 판정</a:t>
            </a:r>
          </a:p>
          <a:p>
            <a:r>
              <a:t>혼재</a:t>
            </a:r>
          </a:p>
          <a:p>
            <a:r>
              <a:t>AI 판정</a:t>
            </a:r>
          </a:p>
          <a:p>
            <a:r>
              <a:t>판단 보류</a:t>
            </a:r>
          </a:p>
          <a:p>
            <a:r>
              <a:t>AI 판정</a:t>
            </a:r>
          </a:p>
          <a:p/>
          <a:p>
            <a:r>
              <a:t>코드:</a:t>
            </a:r>
          </a:p>
          <a:p>
            <a:r>
              <a:t>&lt;PriceChange change={quote.change} changePercent={quote.changeRate * 100} currency={quote.currency} /&gt;</a:t>
            </a:r>
          </a:p>
          <a:p/>
          <a:p>
            <a:r>
              <a:t>DisclaimerNote</a:t>
            </a:r>
          </a:p>
          <a:p/>
          <a:p>
            <a:r>
              <a:t>투자 권유가 아니라는 고지예요. 브리핑과 기업 상세 맨 아래에 13px 한 줄로 둬요. 이 페이지의 고지도 여기 하나예요.</a:t>
            </a:r>
          </a:p>
          <a:p/>
          <a:p>
            <a:r>
              <a:t>본 정보는 참고용이며 투자 권유가 아니에요.</a:t>
            </a:r>
          </a:p>
          <a:p/>
          <a:p>
            <a:r>
              <a:t>코드:</a:t>
            </a:r>
          </a:p>
          <a:p>
            <a:r>
              <a:t>&lt;DisclaimerNote /&gt;</a:t>
            </a:r>
          </a:p>
          <a:p/>
          <a:p>
            <a:r>
              <a:t>EventRow</a:t>
            </a:r>
          </a:p>
          <a:p/>
          <a:p>
            <a:r>
              <a:t>사건 1건을 카드 없이 한 행으로 보여줘요. 날짜 줄에 아이콘 메타(관계 선 견본·보도 기사 수)를 붙이고, 제목과 근거 버튼이 이어져요.</a:t>
            </a:r>
          </a:p>
          <a:p/>
          <a:p>
            <a:r>
              <a:t>2026-07-10</a:t>
            </a:r>
          </a:p>
          <a:p>
            <a:r>
              <a:t>보도 기사</a:t>
            </a:r>
          </a:p>
          <a:p>
            <a:r>
              <a:t>3</a:t>
            </a:r>
          </a:p>
          <a:p>
            <a:r>
              <a:t>예시: 예시전자 2분기 실적 발표</a:t>
            </a:r>
          </a:p>
          <a:p>
            <a:r>
              <a:t>근거 2건 보기</a:t>
            </a:r>
          </a:p>
          <a:p>
            <a:r>
              <a:t>AI에게 묻기</a:t>
            </a:r>
          </a:p>
          <a:p>
            <a:r>
              <a:t>발생 시각 미상</a:t>
            </a:r>
          </a:p>
          <a:p>
            <a:r>
              <a:t>예시: 시각이 확인되지 않은 사건</a:t>
            </a:r>
          </a:p>
          <a:p>
            <a:r>
              <a:t>근거</a:t>
            </a:r>
          </a:p>
          <a:p>
            <a:r>
              <a:t>0</a:t>
            </a:r>
          </a:p>
          <a:p/>
          <a:p>
            <a:r>
              <a:t>코드:</a:t>
            </a:r>
          </a:p>
          <a:p>
            <a:r>
              <a:t>&lt;EventRow title={event.title} eventTime={event.eventTime} timePrecision="day" evidenceCount={3} onShowEvidence={open} meta={&lt;IconCount icon={Newspaper} label="보도 기사" count={3} /&gt;} /&gt;</a:t>
            </a:r>
          </a:p>
          <a:p/>
          <a:p>
            <a:r>
              <a:t>BriefingCard</a:t>
            </a:r>
          </a:p>
          <a:p/>
          <a:p>
            <a:r>
              <a:t>브리핑 1회분이에요. 바깥 경계는 이것 하나이고, 안은 EventRow로 채워요. 그래서 이 예시는 프레임 없이 보여줘요.</a:t>
            </a:r>
          </a:p>
          <a:p/>
          <a:p>
            <a:r>
              <a:t>출근 브리핑</a:t>
            </a:r>
          </a:p>
          <a:p>
            <a:r>
              <a:t>발행</a:t>
            </a:r>
          </a:p>
          <a:p>
            <a:r>
              <a:t>발행일</a:t>
            </a:r>
          </a:p>
          <a:p>
            <a:r>
              <a:t>2026-09-29</a:t>
            </a:r>
          </a:p>
          <a:p>
            <a:r>
              <a:t>예정</a:t>
            </a:r>
          </a:p>
          <a:p>
            <a:r>
              <a:t>07:40</a:t>
            </a:r>
          </a:p>
          <a:p>
            <a:r>
              <a:t>발행</a:t>
            </a:r>
          </a:p>
          <a:p>
            <a:r>
              <a:t>2026-09-29 07:41 KST</a:t>
            </a:r>
          </a:p>
          <a:p>
            <a:r>
              <a:t>데이터 기준</a:t>
            </a:r>
          </a:p>
          <a:p>
            <a:r>
              <a:t>2026-09-29 07:40 KST</a:t>
            </a:r>
          </a:p>
          <a:p>
            <a:r>
              <a:t>회차 판단</a:t>
            </a:r>
          </a:p>
          <a:p>
            <a:r>
              <a:t>혼재</a:t>
            </a:r>
          </a:p>
          <a:p>
            <a:r>
              <a:t>AI 판정</a:t>
            </a:r>
          </a:p>
          <a:p/>
          <a:p>
            <a:r>
              <a:t>예시: 매출 증가와 비용 부담이 함께 보도됐어요. 이 회차의 기사에는 긍정·부정 요인이 함께 있어요.</a:t>
            </a:r>
          </a:p>
          <a:p/>
          <a:p>
            <a:r>
              <a:t>근거 이슈</a:t>
            </a:r>
          </a:p>
          <a:p>
            <a:r>
              <a:t>1. 예시전자 2분기 실적 발표</a:t>
            </a:r>
          </a:p>
          <a:p/>
          <a:p>
            <a:r>
              <a:t>주가 전망이 아니에요.</a:t>
            </a:r>
          </a:p>
          <a:p/>
          <a:p>
            <a:r>
              <a:t>핵심 요약</a:t>
            </a:r>
          </a:p>
          <a:p>
            <a:r>
              <a:t>관계도</a:t>
            </a:r>
          </a:p>
          <a:p>
            <a:r>
              <a:t>2026-07-10</a:t>
            </a:r>
          </a:p>
          <a:p>
            <a:r>
              <a:t>예시: 예시전자 2분기 실적 발표</a:t>
            </a:r>
          </a:p>
          <a:p>
            <a:r>
              <a:t>근거</a:t>
            </a:r>
          </a:p>
          <a:p>
            <a:r>
              <a:t>2</a:t>
            </a:r>
          </a:p>
          <a:p>
            <a:r>
              <a:t>근거 문서</a:t>
            </a:r>
          </a:p>
          <a:p>
            <a:r>
              <a:t>2</a:t>
            </a:r>
          </a:p>
          <a:p/>
          <a:p>
            <a:r>
              <a:t>코드:</a:t>
            </a:r>
          </a:p>
          <a:p>
            <a:r>
              <a:t>&lt;BriefingCard edition="morning" status="published" date={date} scheduledAt="07:40" publishedAt={…} dataAsOf={…} notice={…} corrections={…} totalEvidence={3} summary={…} relations={…} /&gt;</a:t>
            </a:r>
          </a:p>
          <a:p/>
          <a:p>
            <a:r>
              <a:t>CompanyHeader · CompanyMark</a:t>
            </a:r>
          </a:p>
          <a:p/>
          <a:p>
            <a:r>
              <a:t>기업 상세와 패널 맨 위예요. 지도 노드와 같은 표지(상징색 원 + 로고, 없으면 이니셜)를 앞에 둬요. 시세가 없으면 시세 자리를 두지 않아요.</a:t>
            </a:r>
          </a:p>
          <a:p/>
          <a:p>
            <a:r>
              <a:t>예</a:t>
            </a:r>
          </a:p>
          <a:p>
            <a:r>
              <a:t>예시전자</a:t>
            </a:r>
          </a:p>
          <a:p>
            <a:r>
              <a:t>예시 업종 · 000000</a:t>
            </a:r>
          </a:p>
          <a:p>
            <a:r>
              <a:t>보유</a:t>
            </a:r>
          </a:p>
          <a:p>
            <a:r>
              <a:t>· 원가 비중 40%</a:t>
            </a:r>
          </a:p>
          <a:p>
            <a:r>
              <a:t>관심</a:t>
            </a:r>
          </a:p>
          <a:p>
            <a:r>
              <a:t>표지</a:t>
            </a:r>
          </a:p>
          <a:p>
            <a:r>
              <a:t>NVIDIA · 상징색 + 로고</a:t>
            </a:r>
          </a:p>
          <a:p>
            <a:r>
              <a:t>A</a:t>
            </a:r>
          </a:p>
          <a:p>
            <a:r>
              <a:t>Amazon · 상징색 + 이니셜(로고 없음)</a:t>
            </a:r>
          </a:p>
          <a:p>
            <a:r>
              <a:t>S</a:t>
            </a:r>
          </a:p>
          <a:p>
            <a:r>
              <a:t>SK하이닉스 · 폴백 팔레트 + 이니셜</a:t>
            </a:r>
          </a:p>
          <a:p>
            <a:r>
              <a:t>Apple · 어두운 상징색: 다크 테마에서 윤곽선</a:t>
            </a:r>
          </a:p>
          <a:p/>
          <a:p>
            <a:r>
              <a:t>코드:</a:t>
            </a:r>
          </a:p>
          <a:p>
            <a:r>
              <a:t>&lt;CompanyHeader id={c.id} name={c.name} brandColor={c.brandColor} logoUrl={c.logoUrl} ticker={c.ticker} holding={c.holding} watch={c.watch} /&gt;</a:t>
            </a:r>
          </a:p>
          <a:p/>
          <a:p>
            <a:r>
              <a:t>EvidenceList · VerificationBadge</a:t>
            </a:r>
          </a:p>
          <a:p/>
          <a:p>
            <a:r>
              <a:t>근거가 된 기사 문장을 원문 그대로 인용해요. 출처와 시각을 함께 적고, 원문과 대조하지 못한 인용은 경고로 알려요.</a:t>
            </a:r>
          </a:p>
          <a:p/>
          <a:p>
            <a:r>
              <a:t>확인 상태</a:t>
            </a:r>
          </a:p>
          <a:p>
            <a:r>
              <a:t>원문 대조 필요</a:t>
            </a:r>
          </a:p>
          <a:p/>
          <a:p>
            <a:r>
              <a:t>예시일보</a:t>
            </a:r>
          </a:p>
          <a:p>
            <a:r>
              <a:t>·</a:t>
            </a:r>
          </a:p>
          <a:p>
            <a:r>
              <a:t>발행 2026-07-10 09:20 KST</a:t>
            </a:r>
          </a:p>
          <a:p/>
          <a:p>
            <a:r>
              <a:t>예시전자, 2분기 실적 발표</a:t>
            </a:r>
          </a:p>
          <a:p/>
          <a:p>
            <a:r>
              <a:t>“예시전자는 2분기 메모리 실적을 7월 10일 발표했다.”</a:t>
            </a:r>
          </a:p>
          <a:p>
            <a:r>
              <a:t>원문을 제공하지 않는 자료입니다</a:t>
            </a:r>
          </a:p>
          <a:p/>
          <a:p>
            <a:r>
              <a:t>예시경제</a:t>
            </a:r>
          </a:p>
          <a:p>
            <a:r>
              <a:t>·</a:t>
            </a:r>
          </a:p>
          <a:p>
            <a:r>
              <a:t>발행 시각 미상</a:t>
            </a:r>
          </a:p>
          <a:p>
            <a:r>
              <a:t>원문 대조 필요</a:t>
            </a:r>
          </a:p>
          <a:p/>
          <a:p>
            <a:r>
              <a:t>예시공장 가동 중단</a:t>
            </a:r>
          </a:p>
          <a:p/>
          <a:p>
            <a:r>
              <a:t>“예시전자는 4월 11일 예시공장 가동을 중단했다.”</a:t>
            </a:r>
          </a:p>
          <a:p>
            <a:r>
              <a:t>원문을 제공하지 않는 자료입니다</a:t>
            </a:r>
          </a:p>
          <a:p/>
          <a:p>
            <a:r>
              <a:t>코드:</a:t>
            </a:r>
          </a:p>
          <a:p>
            <a:r>
              <a:t>&lt;EvidenceList items={evidence} /&gt;</a:t>
            </a:r>
          </a:p>
          <a:p/>
          <a:p>
            <a:r>
              <a:t>DocumentItem</a:t>
            </a:r>
          </a:p>
          <a:p/>
          <a:p>
            <a:r>
              <a:t>기업 상세의 근거 문서 한 건이에요. 출처·발행 시각, 제목, 사건과의 관계, 저장한 인용, 원문 링크 순서예요. 원문 링크가 없으면 정해진 문구를 써요. 인용과 출처는 저장한 값이라 원문 사이트가 열리지 않아도 남아요.</a:t>
            </a:r>
          </a:p>
          <a:p/>
          <a:p>
            <a:r>
              <a:t>예시 뉴스</a:t>
            </a:r>
          </a:p>
          <a:p>
            <a:r>
              <a:t>·</a:t>
            </a:r>
          </a:p>
          <a:p>
            <a:r>
              <a:t>발행 2026-07-10 09:00 KST</a:t>
            </a:r>
          </a:p>
          <a:p/>
          <a:p>
            <a:r>
              <a:t>예시: 예시전자 2분기 실적 발표</a:t>
            </a:r>
          </a:p>
          <a:p>
            <a:r>
              <a:t>사건을 보도한 기사</a:t>
            </a:r>
          </a:p>
          <a:p>
            <a:r>
              <a:t>“예시전자는 2분기 매출이 늘었다고 밝혔다.”</a:t>
            </a:r>
          </a:p>
          <a:p>
            <a:r>
              <a:t>원문 기사 보기</a:t>
            </a:r>
          </a:p>
          <a:p>
            <a:r>
              <a:t>(새 창에서 열림)</a:t>
            </a:r>
          </a:p>
          <a:p/>
          <a:p>
            <a:r>
              <a:t>예시 공시</a:t>
            </a:r>
          </a:p>
          <a:p>
            <a:r>
              <a:t>·</a:t>
            </a:r>
          </a:p>
          <a:p>
            <a:r>
              <a:t>발행 2026-07-11 18:00 KST</a:t>
            </a:r>
          </a:p>
          <a:p/>
          <a:p>
            <a:r>
              <a:t>예시: 원문 링크가 없는 공시 요약</a:t>
            </a:r>
          </a:p>
          <a:p>
            <a:r>
              <a:t>배경을 설명한 기사</a:t>
            </a:r>
          </a:p>
          <a:p>
            <a:r>
              <a:t>원문을 제공하지 않는 자료입니다</a:t>
            </a:r>
          </a:p>
          <a:p/>
          <a:p>
            <a:r>
              <a:t>코드:</a:t>
            </a:r>
          </a:p>
          <a:p>
            <a:r>
              <a:t>&lt;DocumentItem title={doc.title} publisher={doc.publisher} url={doc.url} publishedAt={doc.publishedAt} relation="사건을 보도한 기사" quotes={quotes} /&gt;</a:t>
            </a:r>
          </a:p>
          <a:p/>
          <a:p>
            <a:r>
              <a:t>AiBadge · AiNotice · AiDisclosure</a:t>
            </a:r>
          </a:p>
          <a:p/>
          <a:p>
            <a:r>
              <a:t>AI가 만든 글이라는 표시를 한 번, 아래에 한 줄 고지를 둬요. 만든 방법은 링크를 눌러 팝오버로 봐요.</a:t>
            </a:r>
          </a:p>
          <a:p/>
          <a:p>
            <a:r>
              <a:t>표시</a:t>
            </a:r>
          </a:p>
          <a:p>
            <a:r>
              <a:t>AI 요약</a:t>
            </a:r>
          </a:p>
          <a:p/>
          <a:p>
            <a:r>
              <a:t>AI가 수집된 기사로 만든 요약이에요. 원문을 대체하지 않아요.</a:t>
            </a:r>
          </a:p>
          <a:p/>
          <a:p>
            <a:r>
              <a:t>이 요약은 어떻게 만들었나요?</a:t>
            </a:r>
          </a:p>
          <a:p/>
          <a:p>
            <a:r>
              <a:t>코드:</a:t>
            </a:r>
          </a:p>
          <a:p>
            <a:r>
              <a:t>&lt;AiBadge /&gt; … &lt;AiNotice /&gt; &lt;AiDisclosure sourceScope="근거 3건" asOf={asOf} /&gt;</a:t>
            </a:r>
          </a:p>
          <a:p/>
          <a:p>
            <a:r>
              <a:t>그래프</a:t>
            </a:r>
          </a:p>
          <a:p/>
          <a:p>
            <a:r>
              <a:t>GraphDB 시각화(Neo4j Browser·Bloom) 관례를 따라요. 모든 노드는 원이고 종류는 색으로 구분해요. 선 가운데에는 관계 요약을 적고, 관계 유형은 선 모양으로 구분해요. 지도에는 항상 같은 내용의 목록이 함께 있어요.</a:t>
            </a:r>
          </a:p>
          <a:p/>
          <a:p>
            <a:r>
              <a:t>GraphLegend</a:t>
            </a:r>
          </a:p>
          <a:p/>
          <a:p>
            <a:r>
              <a:t>Neo4j식 라벨 칩이에요. 지도에 있는 종류만 표지 + 이름 + 개수로 보여줘요. onToggle을 주면 노드 종류·관계 유형 칩이 표시 켜기/끄기 버튼(aria-pressed)이 돼요. 꺼도 개수는 그대로고 칩만 흐려져요. 노드 종류는 하나 이상 켜 둬야 해서 마지막 하나는 끌 수 없어요. 연결 없는 사건 묶음은 '사건'을 따라요. 지도는 다시 배치하지 않아요.</a:t>
            </a:r>
          </a:p>
          <a:p/>
          <a:p>
            <a:r>
              <a:t>보기 전용</a:t>
            </a:r>
          </a:p>
          <a:p>
            <a:r>
              <a:t>기업</a:t>
            </a:r>
          </a:p>
          <a:p>
            <a:r>
              <a:t>3</a:t>
            </a:r>
          </a:p>
          <a:p>
            <a:r>
              <a:t>사건</a:t>
            </a:r>
          </a:p>
          <a:p>
            <a:r>
              <a:t>5</a:t>
            </a:r>
          </a:p>
          <a:p>
            <a:r>
              <a:t>보유</a:t>
            </a:r>
          </a:p>
          <a:p>
            <a:r>
              <a:t>1</a:t>
            </a:r>
          </a:p>
          <a:p>
            <a:r>
              <a:t>관심</a:t>
            </a:r>
          </a:p>
          <a:p>
            <a:r>
              <a:t>1</a:t>
            </a:r>
          </a:p>
          <a:p>
            <a:r>
              <a:t>직접 관련</a:t>
            </a:r>
          </a:p>
          <a:p>
            <a:r>
              <a:t>3</a:t>
            </a:r>
          </a:p>
          <a:p>
            <a:r>
              <a:t>구조적 관련</a:t>
            </a:r>
          </a:p>
          <a:p>
            <a:r>
              <a:t>1</a:t>
            </a:r>
          </a:p>
          <a:p>
            <a:r>
              <a:t>후속 사건</a:t>
            </a:r>
          </a:p>
          <a:p>
            <a:r>
              <a:t>1</a:t>
            </a:r>
          </a:p>
          <a:p>
            <a:r>
              <a:t>사건 공유</a:t>
            </a:r>
          </a:p>
          <a:p>
            <a:r>
              <a:t>1</a:t>
            </a:r>
          </a:p>
          <a:p>
            <a:r>
              <a:t>거르기</a:t>
            </a:r>
          </a:p>
          <a:p>
            <a:r>
              <a:t>기업</a:t>
            </a:r>
          </a:p>
          <a:p>
            <a:r>
              <a:t>3</a:t>
            </a:r>
          </a:p>
          <a:p>
            <a:r>
              <a:t>사건</a:t>
            </a:r>
          </a:p>
          <a:p>
            <a:r>
              <a:t>5</a:t>
            </a:r>
          </a:p>
          <a:p>
            <a:r>
              <a:t>보유</a:t>
            </a:r>
          </a:p>
          <a:p>
            <a:r>
              <a:t>1</a:t>
            </a:r>
          </a:p>
          <a:p>
            <a:r>
              <a:t>관심</a:t>
            </a:r>
          </a:p>
          <a:p>
            <a:r>
              <a:t>1</a:t>
            </a:r>
          </a:p>
          <a:p>
            <a:r>
              <a:t>직접 관련</a:t>
            </a:r>
          </a:p>
          <a:p>
            <a:r>
              <a:t>3</a:t>
            </a:r>
          </a:p>
          <a:p>
            <a:r>
              <a:t>구조적 관련</a:t>
            </a:r>
          </a:p>
          <a:p>
            <a:r>
              <a:t>1</a:t>
            </a:r>
          </a:p>
          <a:p>
            <a:r>
              <a:t>후속 사건</a:t>
            </a:r>
          </a:p>
          <a:p>
            <a:r>
              <a:t>1</a:t>
            </a:r>
          </a:p>
          <a:p>
            <a:r>
              <a:t>사건 공유</a:t>
            </a:r>
          </a:p>
          <a:p>
            <a:r>
              <a:t>1</a:t>
            </a:r>
          </a:p>
          <a:p/>
          <a:p>
            <a:r>
              <a:t>코드:</a:t>
            </a:r>
          </a:p>
          <a:p>
            <a:r>
              <a:t>&lt;GraphLegend nodes={graph.nodes} edges={graph.edges} hidden={hidden} onToggle={toggle} /&gt;</a:t>
            </a:r>
          </a:p>
          <a:p/>
          <a:p>
            <a:r>
              <a:t>노드</a:t>
            </a:r>
          </a:p>
          <a:p>
            <a:r>
              <a:t>기업: 상징색 원(기본 모델 크기 데스크톱 64px, 모바일 72px, 중심 기업 +12px) 안에 흰색 또는 거의 검정(대비가 큰 쪽) 로고. 화면 최소 지름은 넓게 볼수록 줄어요(배율 0.6배 이상 44px → 0.25배 이하 28px, WCAG 2.2 최소 대상 24px 이상). 로고가 없으면 이니셜, 상징색이 없으면 폴백 팔레트 8색 중 company_id 해시로 고른 색(항상 같은 색).</a:t>
            </a:r>
          </a:p>
          <a:p>
            <a:r>
              <a:t>사건: 범주색 원 하나(graph-node-issue) + 번개 아이콘. 캡션은 원문 대상이나 제목을 최대 두 줄로 줄여요(한글 포함 시 줄당 12자, 그 외 24자). 전체 제목은 상세에서 읽을 수 있어요.</a:t>
            </a:r>
          </a:p>
          <a:p>
            <a:r>
              <a:t>근거 수 배지: 사건 노드 오른쪽 위에 그 사건의 근거 수(그래프 응답 evidenceCount, 사건 상세 근거 수와 같음)를 채운 원으로 붙여요. 숫자는 text-primary 바탕에 surface-base 글자라 두 테마 모두 대비 4.5:1을 넘고, 바깥 바탕색 테두리로 노드와 떨어져 보여요. 숫자가 13px 아래로 작아지지 않게 배율에 반비례해 키우고, 사건 캡션과 같은 0.55배부터 보여요. 캡션 정리로는 숨기지 않아요.</a:t>
            </a:r>
          </a:p>
          <a:p>
            <a:r>
              <a:t>연결 없는 사건 묶음: 그래프에서 선이 하나도 없는 사건(후속 사건 선만 있어도 연결된 것)은 묶음 노드 하나로 모아 지도 가장자리(가로로 긴 화면은 오른쪽, 세로로 긴 화면은 아래)에 둬요. 범주색 원 + 개수 + 이중 테두리, 캡션은 “연결 없는 사건 N”. 기업처럼 축소해도 화면에서 48px을 지켜 개수가 읽혀요. 누르면 상세에 묶인 사건이 최신순으로 나와요. 캔버스 위 투명 버튼으로 키보드·스크린리더(“연결 없는 사건 N건 보기”)도 고를 수 있어요. 목록 보기는 모든 사건을 그대로 보여줘요.</a:t>
            </a:r>
          </a:p>
          <a:p>
            <a:r>
              <a:t>보유·관심: 3px 바깥 테두리(모양 신호). 선택: 3px 브랜드 외곽선(글로우 없음). 배경 대비 3:1이 안 되는 상징색은 얇은 윤곽선.</a:t>
            </a:r>
          </a:p>
          <a:p>
            <a:r>
              <a:t>캡션은 노드 아래, 선 요약은 선을 따라 회전하고 바탕색 배경을 깔아요. 화면 글자는 최소 13px이에요. 사건 캡션은 0.55배, 선 요약은 0.95배 미만에서 숨겨요. 선 160개 초과 시 강조된 선의 요약만 보여요.</a:t>
            </a:r>
          </a:p>
          <a:p>
            <a:r>
              <a:t>캡션 정리: 화면이 멈춘 뒤(140ms) 캡션끼리 또는 캡션과 다른 기업 원이 겹치면 우선순위가 낮은 쪽 캡션만 숨겨요. 순서는 선택·경로·포커스 중심(항상 보임) &gt; 선택의 이웃 기업 &gt; 보유·관심 기업 &gt; 연결 수가 많은 기업 &gt; 묶음 &gt; 사건이에요. 원·배지·선은 그대로이고, 확대하거나 올리거나 고르면 캡션이 다시 보여요.</a:t>
            </a:r>
          </a:p>
          <a:p>
            <a:r>
              <a:t>배치 고정: fcose 난수 씨앗을 고정하고 앱 실행 중에는 데이터별 좌표를 기억해, 새로고침이나 지도 복귀 뒤에도 같은 자리에 그려요. 배치 계산 때 기업은 이름 자리까지 포함한 크기(140)로 셈해요.</a:t>
            </a:r>
          </a:p>
          <a:p>
            <a:r>
              <a:t>선 요약은 12자를 넘으면 말줄임해요. 노드를 고르거나 올리면 연결된 사건이 최신인 선 6개에만 요약이 보이고, 나머지 선은 그 선에 올리거나 눌렀을 때 전체 요약이 보여요. 같은 두 노드 사이의 여러 선은 곡선 간격을 넓혀 요약이 겹치지 않게 해요.</a:t>
            </a:r>
          </a:p>
          <a:p>
            <a:r>
              <a:t>누를 수 있는 선(명세 D03·FS022): 사건 공유(기업 사이)와 후속 사건(사건 사이) 선만 연결선 상세를 열어요. 사건–기업 선(직접 관련·구조적 관련)은 올리면 요약만 보이고 눌러도 아무것도 고르지 않아요. 기업과 사건의 관계는 기업 상세의 [직접 이슈]에서 사건을 눌러 영향 경로로 봐요.</a:t>
            </a:r>
          </a:p>
          <a:p>
            <a:r>
              <a:t>선 4종</a:t>
            </a:r>
          </a:p>
          <a:p/>
          <a:p>
            <a:r>
              <a:t>위 세 가지는 검증된 관계예요(화살표 = 방향). 사건 공유는 같은 사건 보도에 두 기업이 함께 나왔다는 뜻일 뿐이라, 방향 없이 가장 흐린 점선으로 그려요. 직접 관계가 아니라는 설명은 연결선 상세에서만 해요.</a:t>
            </a:r>
          </a:p>
          <a:p/>
          <a:p>
            <a:r>
              <a:t>그래프 선 종류별 모양과 뜻</a:t>
            </a:r>
          </a:p>
          <a:p>
            <a:r>
              <a:t>선	모양	뜻	구분</a:t>
            </a:r>
          </a:p>
          <a:p/>
          <a:p>
            <a:r>
              <a:t>직접 관련</a:t>
            </a:r>
          </a:p>
          <a:p>
            <a:r>
              <a:t>	2px 실선 + 화살표	사건 기사에 이 기업이 직접 등장해요.	승인 관계</a:t>
            </a:r>
          </a:p>
          <a:p/>
          <a:p>
            <a:r>
              <a:t>구조적 관련</a:t>
            </a:r>
          </a:p>
          <a:p>
            <a:r>
              <a:t>	2px 파선 + 화살표	기존에 등록된 협력/공급 기준 관계를 바탕으로 연결된 흐름이에요.	승인 관계</a:t>
            </a:r>
          </a:p>
          <a:p/>
          <a:p>
            <a:r>
              <a:t>후속 사건</a:t>
            </a:r>
          </a:p>
          <a:p>
            <a:r>
              <a:t>	1.5px 실선 + 화살표	앞선 사건 뒤에 이어서 보도된 사건이에요.	승인 관계</a:t>
            </a:r>
          </a:p>
          <a:p/>
          <a:p>
            <a:r>
              <a:t>사건 공유</a:t>
            </a:r>
          </a:p>
          <a:p>
            <a:r>
              <a:t>	1.5px 점선, 방향 없음, 낮은 대비	두 기업 사이에 직접적인 계약이 체결된 것은 아니에요. 같은 이슈에서 함께 다뤄진 관계예요.	파생 경로</a:t>
            </a:r>
          </a:p>
          <a:p>
            <a:r>
              <a:t>FocusBar</a:t>
            </a:r>
          </a:p>
          <a:p/>
          <a:p>
            <a:r>
              <a:t>포커스 모드예요. 기업·사건 상세의 [이 노드 중심으로 보기]로 들어가면 그 노드의 1단계(바로 이어진 노드) 또는 2단계(이웃의 이웃) 이웃만 남기고, 포커스 노드를 제자리에 둔 방사형(1단계는 첫 링, 2단계는 둘째 링)으로 옮겨 사건 캡션과 근거 배지가 읽히는 배율로 맞춰요. 링 안 순서는 원래 지도의 방향을 따르고, 나오면 원래 위치로 돌아가요. 기본은 1단계예요. 들어가기·범위 바꾸기·전체 보기는 주소(?focus=&amp;hops=)에 쌓여 뒤로 가기로 돌아올 수 있어요. 좁은 화면에서는 [전체 보기]가 아이콘이 돼 한 줄을 지켜요.</a:t>
            </a:r>
          </a:p>
          <a:p/>
          <a:p>
            <a:r>
              <a:t>넓은 화면</a:t>
            </a:r>
          </a:p>
          <a:p>
            <a:r>
              <a:t>예</a:t>
            </a:r>
          </a:p>
          <a:p/>
          <a:p>
            <a:r>
              <a:t>예시전자 중심</a:t>
            </a:r>
          </a:p>
          <a:p/>
          <a:p>
            <a:r>
              <a:t>1단계</a:t>
            </a:r>
          </a:p>
          <a:p>
            <a:r>
              <a:t>2단계</a:t>
            </a:r>
          </a:p>
          <a:p>
            <a:r>
              <a:t>전체 보기</a:t>
            </a:r>
          </a:p>
          <a:p>
            <a:r>
              <a:t>좁은 화면</a:t>
            </a:r>
          </a:p>
          <a:p>
            <a:r>
              <a:t>예</a:t>
            </a:r>
          </a:p>
          <a:p/>
          <a:p>
            <a:r>
              <a:t>예시전자 중심</a:t>
            </a:r>
          </a:p>
          <a:p/>
          <a:p>
            <a:r>
              <a:t>1단계</a:t>
            </a:r>
          </a:p>
          <a:p>
            <a:r>
              <a:t>2단계</a:t>
            </a:r>
          </a:p>
          <a:p/>
          <a:p>
            <a:r>
              <a:t>코드:</a:t>
            </a:r>
          </a:p>
          <a:p>
            <a:r>
              <a:t>&lt;FocusBar node={node} hops={1} onHopsChange={setHops} onExit={exit} /&gt;</a:t>
            </a:r>
          </a:p>
          <a:p/>
          <a:p>
            <a:r>
              <a:t>PathBar</a:t>
            </a:r>
          </a:p>
          <a:p/>
          <a:p>
            <a:r>
              <a:t>두 기업 사이 경로예요. 기업 상세의 [다른 기업과의 연결 보기]에서 지도의 다른 기업을 고르면, 승인된 관계 선만 따라(방향 무시, 사건 공유 파생 선 제외) 가장 적은 단계로 잇는 경로를 강조해요. 나머지는 흐리게 두고 경로 선 요약은 항상 보이며, 상세에는 기업 → 선 요약 → 사건 → … 단계 목록이 나와요. 이어지지 않으면 막대 없이 상세에 '아직 두 기업을 잇는 사건이 없어요.'만 보여요. 주소(?path=A,B)에 쌓여 뒤로 가기로 돌아오고, 포커스와 함께 두지 않아요. 좁은 화면에서는 [경로 단계 보기]로 단계 시트를 열어요. 카메라는 경로(영향 경로 포함)에 맞추되, 넓은 화면에서 미니맵이 있으면 그 위까지만, 좁은 화면에서 상세 시트가 열려 있으면 시트 위 영역에 맞춰요. 아래 지도(작은 예시)에 적용돼요.</a:t>
            </a:r>
          </a:p>
          <a:p/>
          <a:p>
            <a:r>
              <a:t>예시전자 ↔ 예시소재 경로 보기</a:t>
            </a:r>
          </a:p>
          <a:p/>
          <a:p>
            <a:r>
              <a:t>코드:</a:t>
            </a:r>
          </a:p>
          <a:p>
            <a:r>
              <a:t>&lt;PathBar from={a} to={b} steps={path.edgeIds.length} onExit={exit} /&gt;</a:t>
            </a:r>
          </a:p>
          <a:p/>
          <a:p>
            <a:r>
              <a:t>GraphModeSwitch · 보유/관심 표시</a:t>
            </a:r>
          </a:p>
          <a:p/>
          <a:p>
            <a:r>
              <a:t>전체(시장 전체)와 개인화(내 종목: 보유 + 관심) 지도를 바꿔요. 고른 칸이 지금 모드예요. 주소가 없으면 보유·관심이 있는 회원은 개인화로, 아니면 전체로 열려요. 비회원이 개인화를 누르면 자물쇠와 로그인 안내가 나와요. 지도에서 보유는 실선 테두리, 관심은 점선 테두리, 둘 다면 이중 테두리이고 이름 아래에 글자로도 적어요(색만으로 구별하지 않아요). 보유·관심이 모두 없으면 관심 종목 고르기를 안내해요.</a:t>
            </a:r>
          </a:p>
          <a:p/>
          <a:p>
            <a:r>
              <a:t>회원</a:t>
            </a:r>
          </a:p>
          <a:p>
            <a:r>
              <a:t>시장 전체</a:t>
            </a:r>
          </a:p>
          <a:p>
            <a:r>
              <a:t>내 종목</a:t>
            </a:r>
          </a:p>
          <a:p>
            <a:r>
              <a:t>비회원</a:t>
            </a:r>
          </a:p>
          <a:p>
            <a:r>
              <a:t>시장 전체</a:t>
            </a:r>
          </a:p>
          <a:p>
            <a:r>
              <a:t>내 종목</a:t>
            </a:r>
          </a:p>
          <a:p>
            <a:r>
              <a:t>표시</a:t>
            </a:r>
          </a:p>
          <a:p>
            <a:r>
              <a:t>보유</a:t>
            </a:r>
          </a:p>
          <a:p>
            <a:r>
              <a:t>관심</a:t>
            </a:r>
          </a:p>
          <a:p>
            <a:r>
              <a:t>빈 개인화</a:t>
            </a:r>
          </a:p>
          <a:p/>
          <a:p>
            <a:r>
              <a:t>아직 보유·관심 종목이 없어요</a:t>
            </a:r>
          </a:p>
          <a:p/>
          <a:p>
            <a:r>
              <a:t>관심 종목을 고르거나 가상 계좌를 연결하면 내 종목 지도를 보여드려요.</a:t>
            </a:r>
          </a:p>
          <a:p/>
          <a:p>
            <a:r>
              <a:t>관심 종목 고르기</a:t>
            </a:r>
          </a:p>
          <a:p>
            <a:r>
              <a:t>시장 전체 지도 보기</a:t>
            </a:r>
          </a:p>
          <a:p/>
          <a:p>
            <a:r>
              <a:t>코드:</a:t>
            </a:r>
          </a:p>
          <a:p>
            <a:r>
              <a:t>&lt;GraphModeSwitch value={mode} onValueChange={setMode} lockedModes={isGuest ? ["personal"] : []} /&gt;</a:t>
            </a:r>
          </a:p>
          <a:p/>
          <a:p>
            <a:r>
              <a:t>GraphTutorialPanel · GraphTutorialSheetBar · 튜토리얼 대상 표시</a:t>
            </a:r>
          </a:p>
          <a:p/>
          <a:p>
            <a:r>
              <a:t>메인 지도 튜토리얼 5단계(지도 움직이기 → 기업·사건 고르기 → 영향 경로 보기(기업 상세의 [직접 이슈]에서 사건, 또는 기업 사이 선) → 근거 확인 → AI에게 묻기)예요. 사건–기업 선은 누를 수 없으므로 누르라고 하지 않아요(FS022). 비회원의 5단계는 AI 질문이 회원 기능이라는 것과 [로그인]만 안내해요. 패널은 데스크톱에서 왼쪽 목록 자리, 모바일에서 지도 위 흐름 안에 놓여요. 모바일 상세 시트가 열리면 같은 단계의 짧은 안내(번호·한 줄 지시·[다음]/[건너뛰기])가 시트 머리글 아래로 옮겨 가고, 지도에서 해야 하는 단계는 [창 닫기]를 함께 줘요. 단계 알림은 보이는 쪽 하나만 읽어요. 가리킬 대상에는 .tutorial-target(브랜드 점선 테두리)을 붙이고, 키보드 포커스는 실선으로 따로 보여요.</a:t>
            </a:r>
          </a:p>
          <a:p/>
          <a:p>
            <a:r>
              <a:t>대상 표시</a:t>
            </a:r>
          </a:p>
          <a:p>
            <a:r>
              <a:t>근거 2건 보기</a:t>
            </a:r>
          </a:p>
          <a:p>
            <a:r>
              <a:t>AI에게 묻기</a:t>
            </a:r>
          </a:p>
          <a:p/>
          <a:p>
            <a:r>
              <a:t>코드:</a:t>
            </a:r>
          </a:p>
          <a:p>
            <a:r>
              <a:t>const t = useGraphTutorial(active, onClose); &lt;GraphTutorialPanel tutorial={t} live={!sheetOpen} /&gt; &lt;GraphExplorer sheetTop={&lt;GraphTutorialSheetBar tutorial={t} onCloseSheet={…} /&gt;} /&gt;</a:t>
            </a:r>
          </a:p>
          <a:p/>
          <a:p>
            <a:r>
              <a:t>GraphCanvas · RelationList</a:t>
            </a:r>
          </a:p>
          <a:p/>
          <a:p>
            <a:r>
              <a:t>force-directed(fcose) 배치예요. 노드를 끌어 옮기고, 올리면 이웃만 선명해지고, 누르면 선택(카메라가 부드럽게 따라감), 두 번 누르면 이웃으로 확대해요. 큰 지도(150개)로 바꿔 라벨이 배율에 따라 줄어드는 모습을 볼 수 있어요. 넓은 화면에서 보이는 노드가 60개를 넘으면 오른쪽 아래에 미니맵(전체 조망 + 보이는 영역 사각형, 끌면 화면이 따라감)이 생겨요. 포인터 전용이라 스크린리더에는 숨기고, 키보드는 확대·축소·화면에 맞추기를 써요. 함께 둔 목록(RelationList)으로 같은 내용을 키보드와 스크린리더로 볼 수 있어요. 아래 인용의 [지도에서 보기]를 누르면 그 근거 id(evidenceIds)를 가진 선과 양 끝 노드만 강조돼요(해당 선이 없으면 그 사건 노드). 근거 창을 닫으면 강조가 풀려요. 위 범례·포커스·경로 예시의 상태가 이 지도에도 적용돼요.</a:t>
            </a:r>
          </a:p>
          <a:p/>
          <a:p>
            <a:r>
              <a:t>작은 예시(6개)</a:t>
            </a:r>
          </a:p>
          <a:p>
            <a:r>
              <a:t>큰 예시(150개)</a:t>
            </a:r>
          </a:p>
          <a:p>
            <a:r>
              <a:t>기업</a:t>
            </a:r>
          </a:p>
          <a:p>
            <a:r>
              <a:t>3</a:t>
            </a:r>
          </a:p>
          <a:p>
            <a:r>
              <a:t>사건</a:t>
            </a:r>
          </a:p>
          <a:p>
            <a:r>
              <a:t>5</a:t>
            </a:r>
          </a:p>
          <a:p>
            <a:r>
              <a:t>보유</a:t>
            </a:r>
          </a:p>
          <a:p>
            <a:r>
              <a:t>1</a:t>
            </a:r>
          </a:p>
          <a:p>
            <a:r>
              <a:t>관심</a:t>
            </a:r>
          </a:p>
          <a:p>
            <a:r>
              <a:t>1</a:t>
            </a:r>
          </a:p>
          <a:p>
            <a:r>
              <a:t>직접 관련</a:t>
            </a:r>
          </a:p>
          <a:p>
            <a:r>
              <a:t>3</a:t>
            </a:r>
          </a:p>
          <a:p>
            <a:r>
              <a:t>구조적 관련</a:t>
            </a:r>
          </a:p>
          <a:p>
            <a:r>
              <a:t>1</a:t>
            </a:r>
          </a:p>
          <a:p>
            <a:r>
              <a:t>후속 사건</a:t>
            </a:r>
          </a:p>
          <a:p>
            <a:r>
              <a:t>1</a:t>
            </a:r>
          </a:p>
          <a:p>
            <a:r>
              <a:t>사건 공유</a:t>
            </a:r>
          </a:p>
          <a:p>
            <a:r>
              <a:t>1</a:t>
            </a:r>
          </a:p>
          <a:p/>
          <a:p>
            <a:r>
              <a:t>예시전자 선택됨</a:t>
            </a:r>
          </a:p>
          <a:p/>
          <a:p>
            <a:r>
              <a:t>기업 3곳</a:t>
            </a:r>
          </a:p>
          <a:p>
            <a:r>
              <a:t>예</a:t>
            </a:r>
          </a:p>
          <a:p>
            <a:r>
              <a:t>예시전자</a:t>
            </a:r>
          </a:p>
          <a:p>
            <a:r>
              <a:t>관심</a:t>
            </a:r>
          </a:p>
          <a:p>
            <a:r>
              <a:t>사건</a:t>
            </a:r>
          </a:p>
          <a:p>
            <a:r>
              <a:t>2</a:t>
            </a:r>
          </a:p>
          <a:p>
            <a:r>
              <a:t>예</a:t>
            </a:r>
          </a:p>
          <a:p>
            <a:r>
              <a:t>예시반도체</a:t>
            </a:r>
          </a:p>
          <a:p>
            <a:r>
              <a:t>보유</a:t>
            </a:r>
          </a:p>
          <a:p>
            <a:r>
              <a:t>사건</a:t>
            </a:r>
          </a:p>
          <a:p>
            <a:r>
              <a:t>1</a:t>
            </a:r>
          </a:p>
          <a:p>
            <a:r>
              <a:t>예</a:t>
            </a:r>
          </a:p>
          <a:p>
            <a:r>
              <a:t>예시소재</a:t>
            </a:r>
          </a:p>
          <a:p>
            <a:r>
              <a:t>사건</a:t>
            </a:r>
          </a:p>
          <a:p>
            <a:r>
              <a:t>1</a:t>
            </a:r>
          </a:p>
          <a:p>
            <a:r>
              <a:t>사건 5건</a:t>
            </a:r>
          </a:p>
          <a:p>
            <a:r>
              <a:t>2026-07-10</a:t>
            </a:r>
          </a:p>
          <a:p>
            <a:r>
              <a:t>예시: 2분기 실적 발표</a:t>
            </a:r>
          </a:p>
          <a:p/>
          <a:p>
            <a:r>
              <a:t>관련 기업:</a:t>
            </a:r>
          </a:p>
          <a:p>
            <a:r>
              <a:t>예시전자, 예시반도체</a:t>
            </a:r>
          </a:p>
          <a:p/>
          <a:p>
            <a:r>
              <a:t>발생 시각 미상</a:t>
            </a:r>
          </a:p>
          <a:p>
            <a:r>
              <a:t>예시: 공장 가동 중단</a:t>
            </a:r>
          </a:p>
          <a:p/>
          <a:p>
            <a:r>
              <a:t>관련 기업:</a:t>
            </a:r>
          </a:p>
          <a:p>
            <a:r>
              <a:t>예시소재</a:t>
            </a:r>
          </a:p>
          <a:p/>
          <a:p>
            <a:r>
              <a:t>발생 시각 미상</a:t>
            </a:r>
          </a:p>
          <a:p>
            <a:r>
              <a:t>예시: 가동 재개 보도</a:t>
            </a:r>
          </a:p>
          <a:p/>
          <a:p>
            <a:r>
              <a:t>관련 기업:</a:t>
            </a:r>
          </a:p>
          <a:p>
            <a:r>
              <a:t>예시전자</a:t>
            </a:r>
          </a:p>
          <a:p/>
          <a:p>
            <a:r>
              <a:t>발생 시각 미상</a:t>
            </a:r>
          </a:p>
          <a:p>
            <a:r>
              <a:t>예시: 신제품 공개</a:t>
            </a:r>
          </a:p>
          <a:p>
            <a:r>
              <a:t>발생 시각 미상</a:t>
            </a:r>
          </a:p>
          <a:p>
            <a:r>
              <a:t>예시: 인사 발표</a:t>
            </a:r>
          </a:p>
          <a:p/>
          <a:p>
            <a:r>
              <a:t>예시일보</a:t>
            </a:r>
          </a:p>
          <a:p>
            <a:r>
              <a:t>·</a:t>
            </a:r>
          </a:p>
          <a:p>
            <a:r>
              <a:t>발행 2026-07-10 09:20 KST</a:t>
            </a:r>
          </a:p>
          <a:p/>
          <a:p>
            <a:r>
              <a:t>예시전자, 2분기 실적 발표</a:t>
            </a:r>
          </a:p>
          <a:p/>
          <a:p>
            <a:r>
              <a:t>“예시전자는 2분기 메모리 실적을 7월 10일 발표했다.”</a:t>
            </a:r>
          </a:p>
          <a:p>
            <a:r>
              <a:t>원문을 제공하지 않는 자료입니다</a:t>
            </a:r>
          </a:p>
          <a:p>
            <a:r>
              <a:t>지도에서 보기</a:t>
            </a:r>
          </a:p>
          <a:p/>
          <a:p>
            <a:r>
              <a:t>예시경제</a:t>
            </a:r>
          </a:p>
          <a:p>
            <a:r>
              <a:t>·</a:t>
            </a:r>
          </a:p>
          <a:p>
            <a:r>
              <a:t>발행 시각 미상</a:t>
            </a:r>
          </a:p>
          <a:p>
            <a:r>
              <a:t>원문 대조 필요</a:t>
            </a:r>
          </a:p>
          <a:p/>
          <a:p>
            <a:r>
              <a:t>예시공장 가동 중단</a:t>
            </a:r>
          </a:p>
          <a:p/>
          <a:p>
            <a:r>
              <a:t>“예시전자는 4월 11일 예시공장 가동을 중단했다.”</a:t>
            </a:r>
          </a:p>
          <a:p>
            <a:r>
              <a:t>원문을 제공하지 않는 자료입니다</a:t>
            </a:r>
          </a:p>
          <a:p>
            <a:r>
              <a:t>지도에서 보기</a:t>
            </a:r>
          </a:p>
          <a:p/>
          <a:p>
            <a:r>
              <a:t>코드:</a:t>
            </a:r>
          </a:p>
          <a:p>
            <a:r>
              <a:t>&lt;GraphCanvas nodes={nodes} edges={edges} selection={sel} onSelect={setSel} ariaLabel="…" groupIsolated focus={focus} hidden={hidden} evidence={highlight} path={path} /&gt;</a:t>
            </a:r>
          </a:p>
          <a:p/>
          <a:p>
            <a:r>
              <a:t>모션</a:t>
            </a:r>
          </a:p>
          <a:p/>
          <a:p>
            <a:r>
              <a:t>당근 SEED의 모션 값(seed-design.io/foundations/motion)을 그대로 옮겼어요. 200ms 이하는 마이크로, 넘으면 매크로예요. transform과 opacity만 움직이고 튀는 오버슈트는 쓰지 않아요. 동작 줄이기를 켜면 모두 즉시 바뀌어요.</a:t>
            </a:r>
          </a:p>
          <a:p/>
          <a:p>
            <a:r>
              <a:t>모션 토큰 값과 쓰는 곳</a:t>
            </a:r>
          </a:p>
          <a:p>
            <a:r>
              <a:t>토큰	값	쓰는 곳</a:t>
            </a:r>
          </a:p>
          <a:p>
            <a:r>
              <a:t>duration.d4	200ms	세그먼트 선택 표시가 미끄러질 때</a:t>
            </a:r>
          </a:p>
          <a:p>
            <a:r>
              <a:t>duration.fast	150ms	호버·눌림 색 전환, 눌림 축소, 팝오버·툴팁 등장</a:t>
            </a:r>
          </a:p>
          <a:p>
            <a:r>
              <a:t>duration.exit	200ms	시트·다이얼로그·토스트 퇴장</a:t>
            </a:r>
          </a:p>
          <a:p>
            <a:r>
              <a:t>duration.normal	250ms	화면 전환, 시트·다이얼로그·토스트 진입, 탭 밑줄 이동, 목록 첫 표시</a:t>
            </a:r>
          </a:p>
          <a:p>
            <a:r>
              <a:t>duration.slow	300ms	데스크톱 오른쪽 시트 진입, 그래프 선택 시 카메라 이동</a:t>
            </a:r>
          </a:p>
          <a:p>
            <a:r>
              <a:t>duration.graph-layout	600ms	그래프 초기 배치·모드 전환 재배치</a:t>
            </a:r>
          </a:p>
          <a:p>
            <a:r>
              <a:t>duration.stagger	30ms	목록 행 사이 지연(8행까지)</a:t>
            </a:r>
          </a:p>
          <a:p>
            <a:r>
              <a:t>easing.standard	cubic-bezier(0.35, 0, 0.35, 1)	제자리 이동(세그먼트·탭 표시, 그래프 카메라), 색 전환</a:t>
            </a:r>
          </a:p>
          <a:p>
            <a:r>
              <a:t>easing.enter	cubic-bezier(0, 0, 0.15, 1)	나타날 때, 눌림 축소</a:t>
            </a:r>
          </a:p>
          <a:p>
            <a:r>
              <a:t>easing.exit	cubic-bezier(0.35, 0, 1, 1)	사라질 때</a:t>
            </a:r>
          </a:p>
          <a:p>
            <a:r>
              <a:t>easing.enter-expressive	cubic-bezier(0.03, 0.4, 0.1, 1)	그래프 노드가 퍼져 나오는 첫 배치</a:t>
            </a:r>
          </a:p>
          <a:p>
            <a:r>
              <a:t>눌림 축소 · 목록 첫 표시</a:t>
            </a:r>
          </a:p>
          <a:p/>
          <a:p>
            <a:r>
              <a:t>누를 수 있는 것은 눌리는 동안 세로로 2px 줄어요(SEED Feedback/Scale, pressable). 목록은 처음 보일 때 행이 30ms 간격으로 떠올라요(stagger). 시트·다이얼로그의 진입·퇴장은 위 ‘Dialog · Sheet · BottomSheet’에서 열고 닫아 보세요.</a:t>
            </a:r>
          </a:p>
          <a:p/>
          <a:p>
            <a:r>
              <a:t>눌림</a:t>
            </a:r>
          </a:p>
          <a:p>
            <a:r>
              <a:t>주 행동</a:t>
            </a:r>
          </a:p>
          <a:p>
            <a:r>
              <a:t>보조 행동</a:t>
            </a:r>
          </a:p>
          <a:p>
            <a:r>
              <a:t>목록 다시 보이기</a:t>
            </a:r>
          </a:p>
          <a:p>
            <a:r>
              <a:t>예</a:t>
            </a:r>
          </a:p>
          <a:p>
            <a:r>
              <a:t>예시전자</a:t>
            </a:r>
          </a:p>
          <a:p>
            <a:r>
              <a:t>예</a:t>
            </a:r>
          </a:p>
          <a:p>
            <a:r>
              <a:t>예시반도체</a:t>
            </a:r>
          </a:p>
          <a:p>
            <a:r>
              <a:t>예</a:t>
            </a:r>
          </a:p>
          <a:p>
            <a:r>
              <a:t>예시소재</a:t>
            </a:r>
          </a:p>
          <a:p>
            <a:r>
              <a:t>예</a:t>
            </a:r>
          </a:p>
          <a:p>
            <a:r>
              <a:t>예시화학</a:t>
            </a:r>
          </a:p>
          <a:p/>
          <a:p>
            <a:r>
              <a:t>코드:</a:t>
            </a:r>
          </a:p>
          <a:p>
            <a:r>
              <a:t>&lt;button className="pressable"&gt;…&lt;/button&gt; &lt;ul className="stagger"&gt;…&lt;/ul&gt;</a:t>
            </a:r>
          </a:p>
          <a:p/>
          <a:p>
            <a:r>
              <a:t>아이콘</a:t>
            </a:r>
          </a:p>
          <a:p/>
          <a:p>
            <a:r>
              <a:t>lucide 아이콘을 글자 옆에 그대로 둬요(상자에 가두지 않아요). 같은 뜻에는 앱 전체에서 같은 아이콘을 써요. 아이콘만 있는 컨트롤은 aria-label과 툴팁이 필수예요.</a:t>
            </a:r>
          </a:p>
          <a:p/>
          <a:p>
            <a:r>
              <a:t>아이콘과 뜻</a:t>
            </a:r>
          </a:p>
          <a:p>
            <a:r>
              <a:t>아이콘	뜻</a:t>
            </a:r>
          </a:p>
          <a:p/>
          <a:p>
            <a:r>
              <a:t>Map</a:t>
            </a:r>
          </a:p>
          <a:p>
            <a:r>
              <a:t>	지도 탭</a:t>
            </a:r>
          </a:p>
          <a:p/>
          <a:p>
            <a:r>
              <a:t>Newspaper</a:t>
            </a:r>
          </a:p>
          <a:p>
            <a:r>
              <a:t>	브리핑 탭, 보도 기사 수</a:t>
            </a:r>
          </a:p>
          <a:p/>
          <a:p>
            <a:r>
              <a:t>Bookmark</a:t>
            </a:r>
          </a:p>
          <a:p>
            <a:r>
              <a:t>	내 종목 탭</a:t>
            </a:r>
          </a:p>
          <a:p/>
          <a:p>
            <a:r>
              <a:t>Globe</a:t>
            </a:r>
          </a:p>
          <a:p>
            <a:r>
              <a:t>	시장 전체 모드</a:t>
            </a:r>
          </a:p>
          <a:p/>
          <a:p>
            <a:r>
              <a:t>Star</a:t>
            </a:r>
          </a:p>
          <a:p>
            <a:r>
              <a:t>	관심 종목(모드·배지·섹션)</a:t>
            </a:r>
          </a:p>
          <a:p/>
          <a:p>
            <a:r>
              <a:t>Wallet</a:t>
            </a:r>
          </a:p>
          <a:p>
            <a:r>
              <a:t>	내 자산·보유 종목</a:t>
            </a:r>
          </a:p>
          <a:p/>
          <a:p>
            <a:r>
              <a:t>Building2</a:t>
            </a:r>
          </a:p>
          <a:p>
            <a:r>
              <a:t>	기업(범례·섹션)</a:t>
            </a:r>
          </a:p>
          <a:p/>
          <a:p>
            <a:r>
              <a:t>Zap</a:t>
            </a:r>
          </a:p>
          <a:p>
            <a:r>
              <a:t>	사건(노드·범례·섹션). 앱 전체에서 사건은 번개</a:t>
            </a:r>
          </a:p>
          <a:p/>
          <a:p>
            <a:r>
              <a:t>Link2</a:t>
            </a:r>
          </a:p>
          <a:p>
            <a:r>
              <a:t>	지도의 연결·연결된 두 대상</a:t>
            </a:r>
          </a:p>
          <a:p/>
          <a:p>
            <a:r>
              <a:t>FileText</a:t>
            </a:r>
          </a:p>
          <a:p>
            <a:r>
              <a:t>	근거 문서</a:t>
            </a:r>
          </a:p>
          <a:p/>
          <a:p>
            <a:r>
              <a:t>ShieldCheck</a:t>
            </a:r>
          </a:p>
          <a:p>
            <a:r>
              <a:t>	데이터 출처: 실제 기사(검증 통과)</a:t>
            </a:r>
          </a:p>
          <a:p/>
          <a:p>
            <a:r>
              <a:t>FlaskConical</a:t>
            </a:r>
          </a:p>
          <a:p>
            <a:r>
              <a:t>	데이터 출처: 합성 데이터</a:t>
            </a:r>
          </a:p>
          <a:p/>
          <a:p>
            <a:r>
              <a:t>Sparkles</a:t>
            </a:r>
          </a:p>
          <a:p>
            <a:r>
              <a:t>	AI가 만든 글</a:t>
            </a:r>
          </a:p>
          <a:p/>
          <a:p>
            <a:r>
              <a:t>MessageCircleQuestion</a:t>
            </a:r>
          </a:p>
          <a:p>
            <a:r>
              <a:t>	AI에게 묻기, 추천 질문</a:t>
            </a:r>
          </a:p>
          <a:p/>
          <a:p>
            <a:r>
              <a:t>CalendarClock</a:t>
            </a:r>
          </a:p>
          <a:p>
            <a:r>
              <a:t>	발행 시각 미확정</a:t>
            </a:r>
          </a:p>
          <a:p/>
          <a:p>
            <a:r>
              <a:t>Clock</a:t>
            </a:r>
          </a:p>
          <a:p>
            <a:r>
              <a:t>	기준 시각</a:t>
            </a:r>
          </a:p>
          <a:p/>
          <a:p>
            <a:r>
              <a:t>Info</a:t>
            </a:r>
          </a:p>
          <a:p>
            <a:r>
              <a:t>	관계 유형·편성 기준 설명(누르면 팝오버)</a:t>
            </a:r>
          </a:p>
          <a:p/>
          <a:p>
            <a:r>
              <a:t>ArrowUpRight</a:t>
            </a:r>
          </a:p>
          <a:p>
            <a:r>
              <a:t>	기업 상세로 이동</a:t>
            </a:r>
          </a:p>
          <a:p>
            <a:r>
              <a:t>UX 라이팅</a:t>
            </a:r>
          </a:p>
          <a:p/>
          <a:p>
            <a:r>
              <a:t>금융을 잘 몰라도 부담 없이 읽히게 써요. 투자를 권하거나 원인을 단정하지 않아요.</a:t>
            </a:r>
          </a:p>
          <a:p/>
          <a:p>
            <a:r>
              <a:t>라이팅 규칙과 고친 예</a:t>
            </a:r>
          </a:p>
          <a:p>
            <a:r>
              <a:t>규칙	이렇게 쓰지 않아요	이렇게 써요</a:t>
            </a:r>
          </a:p>
          <a:p>
            <a:r>
              <a:t>해요체로 써요	확인되었습니다	확인했어요</a:t>
            </a:r>
          </a:p>
          <a:p>
            <a:r>
              <a:t>해야 할 일을 긍정형으로	기업이 선택되지 않았습니다	기업을 골라 주세요</a:t>
            </a:r>
          </a:p>
          <a:p>
            <a:r>
              <a:t>없어도 뜻이 통하는 말은 빼요	해당 기능을 이용하시려면 로그인을 진행해 주시기 바랍니다	로그인하면 쓸 수 있어요</a:t>
            </a:r>
          </a:p>
          <a:p>
            <a:r>
              <a:t>기술 사정은 설명하지 않아요	브라우저 저장소를 초기화해요	(문장을 쓰지 않아요)</a:t>
            </a:r>
          </a:p>
          <a:p>
            <a:r>
              <a:t>버튼에는 누른 뒤 결과를 적어요	확인	내 종목 지도 보기</a:t>
            </a:r>
          </a:p>
          <a:p>
            <a:r>
              <a:t>오류는 상황 + 이유 + 해결책	오류가 발생했습니다	네트워크 연결이 불안정해요. 잠시 후 다시 시도해 주세요.</a:t>
            </a:r>
          </a:p>
          <a:p>
            <a:r>
              <a:t>창을 닫는 버튼은 [닫기]	취소	닫기</a:t>
            </a:r>
          </a:p>
          <a:p>
            <a:r>
              <a:t>금지어</a:t>
            </a:r>
          </a:p>
          <a:p>
            <a:r>
              <a:t>쓰지 않는 표현과 대신 쓰는 표현</a:t>
            </a:r>
          </a:p>
          <a:p>
            <a:r>
              <a:t>쓰지 않는 말	이유	대신</a:t>
            </a:r>
          </a:p>
          <a:p>
            <a:r>
              <a:t>무조건 상승, 급등 예상	이익을 보장하는 것처럼 읽혀요	관련 사건이 보도됐어요</a:t>
            </a:r>
          </a:p>
          <a:p>
            <a:r>
              <a:t>지금이 매수 타이밍	매매를 권하는 말이에요	관련 보도를 확인해 보세요</a:t>
            </a:r>
          </a:p>
          <a:p>
            <a:r>
              <a:t>목표가, 상승 확률 85%	없는 수치를 지어낸 거예요	(값이 없으면 그 자리를 그리지 않아요)</a:t>
            </a:r>
          </a:p>
          <a:p>
            <a:r>
              <a:t>~때문에 주가가 올랐다	원인을 단정해요	~ 이후 함께 보도됐어요</a:t>
            </a:r>
          </a:p>
          <a:p>
            <a:r>
              <a:t>국내 1위, 최고의 종목	근거 없는 최상급이에요	기준을 함께 적어요 (예: 시가총액 기준)</a:t>
            </a:r>
          </a:p>
          <a:p>
            <a:r>
              <a:t>BFF, PoC, Mock	개발 내부 용어예요	화면에 쓰지 않아요</a:t>
            </a:r>
          </a:p>
          <a:p>
            <a:r>
              <a:t>announced	내부 상태값이에요	보도 언급</a:t>
            </a:r>
          </a:p>
          <a:p>
            <a:r>
              <a:t>Node, Edge	개발 용어예요	기업·사건, 연결</a:t>
            </a:r>
          </a:p>
          <a:p>
            <a:r>
              <a:t>슬롭 금지 체크리스트</a:t>
            </a:r>
          </a:p>
          <a:p/>
          <a:p>
            <a:r>
              <a:t>화면을 만들거나 리뷰할 때 14가지를 확인해요. 하나라도 걸리면 고쳐요.</a:t>
            </a:r>
          </a:p>
          <a:p/>
          <a:p>
            <a:r>
              <a:t>카드 안에 카드를 넣지 않았나요? 행과 구분선으로 펼쳐요.</a:t>
            </a:r>
          </a:p>
          <a:p>
            <a:r>
              <a:t>한 요소에 테두리와 그림자를 같이 주지 않았나요?</a:t>
            </a:r>
          </a:p>
          <a:p>
            <a:r>
              <a:t>카드·패널 왼쪽에 두꺼운 색 줄을 긋지 않았나요?</a:t>
            </a:r>
          </a:p>
          <a:p>
            <a:r>
              <a:t>아이콘을 둥근 상자 안에 가두지 않았나요? 아이콘은 글자 옆에 그대로 둬요.</a:t>
            </a:r>
          </a:p>
          <a:p>
            <a:r>
              <a:t>지도나 배경에 뜻 없는 점·격자 무늬를 깔지 않았나요?</a:t>
            </a:r>
          </a:p>
          <a:p>
            <a:r>
              <a:t>다크 테마 노드·버튼 주위에 번지는 빛(글로우)을 넣지 않았나요?</a:t>
            </a:r>
          </a:p>
          <a:p>
            <a:r>
              <a:t>제목 위에 '방식 1' 같은 알약 라벨을 달지 않았나요?</a:t>
            </a:r>
          </a:p>
          <a:p>
            <a:r>
              <a:t>390px 화면에서 가로 스크롤이 생기지 않나요? (scrollWidth ≤ 390)</a:t>
            </a:r>
          </a:p>
          <a:p>
            <a:r>
              <a:t>아이콘만 있는 컨트롤에 aria-label과 툴팁이 있나요?</a:t>
            </a:r>
          </a:p>
          <a:p>
            <a:r>
              <a:t>‘준비 중’, ‘합성 데이터’ 같은 메타 문구를 글자로 늘어놓지 않았나요? 없는 값은 자리를 빼고, 출처는 아이콘으로.</a:t>
            </a:r>
          </a:p>
          <a:p>
            <a:r>
              <a:t>개발 내부 용어가 화면에 보이지 않나요?</a:t>
            </a:r>
          </a:p>
          <a:p>
            <a:r>
              <a:t>데이터에 없는 시세, 상승 확률, 감성 점수를 지어내지 않았나요?</a:t>
            </a:r>
          </a:p>
          <a:p>
            <a:r>
              <a:t>튜토리얼이 대상을 덮지 않나요? 패널은 목록 자리·지도 위 흐름에 두고, 대상은 점선 테두리로만 가리켜요. 직접 해 보면 넘어가고 [다음]·[건너뛰기]는 늘 있어요.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A-ADM-05c.png</a:t>
            </a:r>
          </a:p>
          <a:p>
            <a:r>
              <a:t>좌표·클릭 후 실제 화면: A-ADM-05c.json</a:t>
            </a:r>
          </a:p>
          <a:p>
            <a:r>
              <a:t>줍 관리자</a:t>
            </a:r>
          </a:p>
          <a:p>
            <a:r>
              <a:t>관리자 이메일</a:t>
            </a:r>
          </a:p>
          <a:p>
            <a:r>
              <a:t>비밀번호</a:t>
            </a:r>
          </a:p>
          <a:p>
            <a:r>
              <a:t>관리자 로그인</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A-ADM-01.png</a:t>
            </a:r>
          </a:p>
          <a:p>
            <a:r>
              <a:t>좌표·클릭 후 실제 화면: A-ADM-01.json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대시보드</a:t>
            </a:r>
          </a:p>
          <a:p/>
          <a:p>
            <a:r>
              <a:t>갱신 2026-10-06 12:43:56</a:t>
            </a:r>
          </a:p>
          <a:p/>
          <a:p>
            <a:r>
              <a:t>검수 대기</a:t>
            </a:r>
          </a:p>
          <a:p>
            <a:r>
              <a:t>260건</a:t>
            </a:r>
          </a:p>
          <a:p>
            <a:r>
              <a:t>통과 102 · 보류 304 · 폐기 1</a:t>
            </a:r>
          </a:p>
          <a:p>
            <a:r>
              <a:t>사용자에게 보이는 그래프</a:t>
            </a:r>
          </a:p>
          <a:p>
            <a:r>
              <a:t>v1</a:t>
            </a:r>
          </a:p>
          <a:p>
            <a:r>
              <a:t>2026-10-01 20:27 게시 · 검수 11건 반영</a:t>
            </a:r>
          </a:p>
          <a:p>
            <a:r>
              <a:t>자동 검수 규칙 R1@2 켜짐 · 게시 사건 43건</a:t>
            </a:r>
          </a:p>
          <a:p>
            <a:r>
              <a:t>GraphDB 반영</a:t>
            </a:r>
          </a:p>
          <a:p>
            <a:r>
              <a:t>반영됨</a:t>
            </a:r>
          </a:p>
          <a:p>
            <a:r>
              <a:t>대기 작업 0건</a:t>
            </a:r>
          </a:p>
          <a:p>
            <a:r>
              <a:t>작업</a:t>
            </a:r>
          </a:p>
          <a:p>
            <a:r>
              <a:t>실행 0 · 대기 0</a:t>
            </a:r>
          </a:p>
          <a:p>
            <a:r>
              <a:t>24시간 실패 0건</a:t>
            </a:r>
          </a:p>
          <a:p>
            <a:r>
              <a:t>AI 요청(7일)</a:t>
            </a:r>
          </a:p>
          <a:p>
            <a:r>
              <a:t>28건</a:t>
            </a:r>
          </a:p>
          <a:p>
            <a:r>
              <a:t>성공 28 · 실패 0</a:t>
            </a:r>
          </a:p>
          <a:p>
            <a:r>
              <a:t>최근 브리핑 회차</a:t>
            </a:r>
          </a:p>
          <a:p>
            <a:r>
              <a:t>브리핑 운영</a:t>
            </a:r>
          </a:p>
          <a:p>
            <a:r>
              <a:t>브리핑 회차 목록</a:t>
            </a:r>
          </a:p>
          <a:p>
            <a:r>
              <a:t>회차	상태	데이터 기준 시점</a:t>
            </a:r>
          </a:p>
          <a:p>
            <a:r>
              <a:t>2026-10-06 출근	</a:t>
            </a:r>
          </a:p>
          <a:p>
            <a:r>
              <a:t>발행됨	2026-10-06 07:40</a:t>
            </a:r>
          </a:p>
          <a:p>
            <a:r>
              <a:t>2026-10-05 퇴근	</a:t>
            </a:r>
          </a:p>
          <a:p>
            <a:r>
              <a:t>발행됨	2026-10-05 18:10</a:t>
            </a:r>
          </a:p>
          <a:p>
            <a:r>
              <a:t>2026-10-05 출근	</a:t>
            </a:r>
          </a:p>
          <a:p>
            <a:r>
              <a:t>발행됨	2026-10-05 07:40</a:t>
            </a:r>
          </a:p>
          <a:p>
            <a:r>
              <a:t>2026-10-04 퇴근	</a:t>
            </a:r>
          </a:p>
          <a:p>
            <a:r>
              <a:t>발행됨	2026-10-04 18:10</a:t>
            </a:r>
          </a:p>
          <a:p>
            <a:r>
              <a:t>최근 작업</a:t>
            </a:r>
          </a:p>
          <a:p>
            <a:r>
              <a:t>작업 관제</a:t>
            </a:r>
          </a:p>
          <a:p/>
          <a:p>
            <a:r>
              <a:t>아직 실행한 작업이 없어요.</a:t>
            </a:r>
          </a:p>
          <a:p/>
          <a:p>
            <a:r>
              <a:t>AI 기능별 요청(7일)</a:t>
            </a:r>
          </a:p>
          <a:p>
            <a:r>
              <a:t>AI 운영</a:t>
            </a:r>
          </a:p>
          <a:p>
            <a:r>
              <a:t>AI 기능별 요청</a:t>
            </a:r>
          </a:p>
          <a:p>
            <a:r>
              <a:t>기능	요청	실패</a:t>
            </a:r>
          </a:p>
          <a:p>
            <a:r>
              <a:t>AI 챗봇	2	0</a:t>
            </a:r>
          </a:p>
          <a:p>
            <a:r>
              <a:t>뉴스 분석(PoC 파이프라인)	0	0</a:t>
            </a:r>
          </a:p>
          <a:p>
            <a:r>
              <a:t>출퇴근 브리핑	26	0</a:t>
            </a:r>
          </a:p>
          <a:p>
            <a:r>
              <a:t>기업별 문서 판정	0	0</a:t>
            </a:r>
          </a:p>
          <a:p>
            <a:r>
              <a:t>브리핑 회차 판정	0	0</a:t>
            </a:r>
          </a:p>
          <a:p>
            <a:r>
              <a:t>이용 현황</a:t>
            </a:r>
          </a:p>
          <a:p>
            <a:r>
              <a:t>감사 로그</a:t>
            </a:r>
          </a:p>
          <a:p>
            <a:r>
              <a:t>등록 회원</a:t>
            </a:r>
          </a:p>
          <a:p>
            <a:r>
              <a:t>3</a:t>
            </a:r>
          </a:p>
          <a:p>
            <a:r>
              <a:t>회원 접속 세션</a:t>
            </a:r>
          </a:p>
          <a:p>
            <a:r>
              <a:t>8</a:t>
            </a:r>
          </a:p>
          <a:p>
            <a:r>
              <a:t>비회원 0</a:t>
            </a:r>
          </a:p>
          <a:p>
            <a:r>
              <a:t>감사 기록(24시간)</a:t>
            </a:r>
          </a:p>
          <a:p>
            <a:r>
              <a:t>3</a:t>
            </a:r>
          </a:p>
          <a:p>
            <a:r>
              <a:t>이용·선호도(7일)</a:t>
            </a:r>
          </a:p>
          <a:p>
            <a:r>
              <a:t>이용 통계</a:t>
            </a:r>
          </a:p>
          <a:p>
            <a:r>
              <a:t>선호도</a:t>
            </a:r>
          </a:p>
          <a:p>
            <a:r>
              <a:t>회원 관리</a:t>
            </a:r>
          </a:p>
          <a:p>
            <a:r>
              <a:t>활성 사용자</a:t>
            </a:r>
          </a:p>
          <a:p>
            <a:r>
              <a:t>4명</a:t>
            </a:r>
          </a:p>
          <a:p>
            <a:r>
              <a:t>노드 클릭률</a:t>
            </a:r>
          </a:p>
          <a:p>
            <a:r>
              <a:t>40.5%</a:t>
            </a:r>
          </a:p>
          <a:p>
            <a:r>
              <a:t>15 / 37노출</a:t>
            </a:r>
          </a:p>
          <a:p>
            <a:r>
              <a:t>브리핑 조회율</a:t>
            </a:r>
          </a:p>
          <a:p>
            <a:r>
              <a:t>표본 부족</a:t>
            </a:r>
          </a:p>
          <a:p>
            <a:r>
              <a:t>0 / 4명(분모 5 미만이라 비율 숨김)</a:t>
            </a:r>
          </a:p>
          <a:p>
            <a:r>
              <a:t>AI 질문 이용률</a:t>
            </a:r>
          </a:p>
          <a:p>
            <a:r>
              <a:t>표본 부족</a:t>
            </a:r>
          </a:p>
          <a:p>
            <a:r>
              <a:t>1 / 4명(분모 5 미만이라 비율 숨김)</a:t>
            </a:r>
          </a:p>
          <a:p>
            <a:r>
              <a:t>AI 좋아요 비율</a:t>
            </a:r>
          </a:p>
          <a:p>
            <a:r>
              <a:t>표본 부족</a:t>
            </a:r>
          </a:p>
          <a:p>
            <a:r>
              <a:t>좋아요 0 · 싫어요 0</a:t>
            </a:r>
          </a:p>
          <a:p>
            <a:r>
              <a:t>등록 회원</a:t>
            </a:r>
          </a:p>
          <a:p>
            <a:r>
              <a:t>3명</a:t>
            </a:r>
          </a:p>
          <a:p>
            <a:r>
              <a:t>차단 0명</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A-ADM-02.png</a:t>
            </a:r>
          </a:p>
          <a:p>
            <a:r>
              <a:t>좌표·클릭 후 실제 화면: A-ADM-02.json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이용 통계</a:t>
            </a:r>
          </a:p>
          <a:p>
            <a:r>
              <a:t>7일</a:t>
            </a:r>
          </a:p>
          <a:p>
            <a:r>
              <a:t>30일</a:t>
            </a:r>
          </a:p>
          <a:p>
            <a:r>
              <a:t>전체</a:t>
            </a:r>
          </a:p>
          <a:p>
            <a:r>
              <a:t>요약</a:t>
            </a:r>
          </a:p>
          <a:p>
            <a:r>
              <a:t>종목 순위</a:t>
            </a:r>
          </a:p>
          <a:p/>
          <a:p>
            <a:r>
              <a:t>집계 시각 2026-10-06 12:44:13 · 비율은 분모가 5 미만이면 숨기고 건수만 보여 줘요 · 온보딩은 가입일이 기간 안에 있는 회원 기준이에요.</a:t>
            </a:r>
          </a:p>
          <a:p/>
          <a:p>
            <a:r>
              <a:t>서비스 이용</a:t>
            </a:r>
          </a:p>
          <a:p>
            <a:r>
              <a:t>서비스 이용 지표</a:t>
            </a:r>
          </a:p>
          <a:p>
            <a:r>
              <a:t>지표	값	산식	정의</a:t>
            </a:r>
          </a:p>
          <a:p>
            <a:r>
              <a:t>활성 사용자	4명	–	기간 안에 화면을 열었거나 AI에 질문했거나 평가를 남긴 사용자 수(회원 1명·비회원 세션 1개를 각각 1명으로 셉니다).</a:t>
            </a:r>
          </a:p>
          <a:p>
            <a:r>
              <a:t>활성 회원	3명	–	활성 사용자 중 로그인한 회원.</a:t>
            </a:r>
          </a:p>
          <a:p>
            <a:r>
              <a:t>활성 비회원	1명	–	활성 사용자 중 비회원 세션.</a:t>
            </a:r>
          </a:p>
          <a:p>
            <a:r>
              <a:t>온보딩 완료율	</a:t>
            </a:r>
          </a:p>
          <a:p>
            <a:r>
              <a:t>표본 부족	3 / 3명(분모 5 미만이라 비율 숨김)	기간 안에 가입한 회원 중 초기 설정을 마친 회원의 비율(서버에 저장된 회원 설정 기준).</a:t>
            </a:r>
          </a:p>
          <a:p>
            <a:r>
              <a:t>메인 노출	37회	–	메인 화면이 열린 횟수.</a:t>
            </a:r>
          </a:p>
          <a:p>
            <a:r>
              <a:t>노드 클릭률	40.5%	15 / 37노출	메인 노출 중 기업·사건 노드를 한 번이라도 선택한 노출의 비율.</a:t>
            </a:r>
          </a:p>
          <a:p>
            <a:r>
              <a:t>노드 선택	39회	–	기업·사건 노드를 선택한 총 횟수.</a:t>
            </a:r>
          </a:p>
          <a:p>
            <a:r>
              <a:t>간선 클릭률	5.4%	2 / 37노출	메인 노출 중 연결선을 한 번이라도 선택한 노출의 비율.</a:t>
            </a:r>
          </a:p>
          <a:p>
            <a:r>
              <a:t>간선 선택	2회	–	연결선을 선택한 총 횟수.</a:t>
            </a:r>
          </a:p>
          <a:p>
            <a:r>
              <a:t>브리핑 관심도</a:t>
            </a:r>
          </a:p>
          <a:p>
            <a:r>
              <a:t>브리핑 관심도 지표</a:t>
            </a:r>
          </a:p>
          <a:p>
            <a:r>
              <a:t>지표	값	산식	정의</a:t>
            </a:r>
          </a:p>
          <a:p>
            <a:r>
              <a:t>브리핑 조회율	</a:t>
            </a:r>
          </a:p>
          <a:p>
            <a:r>
              <a:t>표본 부족	0 / 4명(분모 5 미만이라 비율 숨김)	활성 사용자 중 브리핑 회차를 한 번이라도 연 사용자의 비율.</a:t>
            </a:r>
          </a:p>
          <a:p>
            <a:r>
              <a:t>브리핑 조회	0회	–	브리핑 회차를 연 총 횟수.</a:t>
            </a:r>
          </a:p>
          <a:p>
            <a:r>
              <a:t>이슈 열기율	</a:t>
            </a:r>
          </a:p>
          <a:p>
            <a:r>
              <a:t>표본 부족	0 / 0조회(분모 5 미만이라 비율 숨김)	브리핑 조회 중 핵심 이슈를 한 번이라도 연 조회의 비율.</a:t>
            </a:r>
          </a:p>
          <a:p>
            <a:r>
              <a:t>이슈 열기	0회	–	브리핑에서 핵심 이슈를 연 총 횟수.</a:t>
            </a:r>
          </a:p>
          <a:p>
            <a:r>
              <a:t>브리핑 좋아요 비율	</a:t>
            </a:r>
          </a:p>
          <a:p>
            <a:r>
              <a:t>표본 부족	0 / 0표(분모 5 미만이라 비율 숨김)	브리핑 회차와 핵심 이슈에 남긴 표 중 좋아요의 비율.</a:t>
            </a:r>
          </a:p>
          <a:p>
            <a:r>
              <a:t>AI 질문</a:t>
            </a:r>
          </a:p>
          <a:p>
            <a:r>
              <a:t>AI 질문 지표</a:t>
            </a:r>
          </a:p>
          <a:p>
            <a:r>
              <a:t>지표	값	산식	정의</a:t>
            </a:r>
          </a:p>
          <a:p>
            <a:r>
              <a:t>AI 질문 이용률	</a:t>
            </a:r>
          </a:p>
          <a:p>
            <a:r>
              <a:t>표본 부족	1 / 4명(분모 5 미만이라 비율 숨김)	활성 사용자 중 AI에 질문을 한 번이라도 한 사용자의 비율(서버의 대화 기록 기준).</a:t>
            </a:r>
          </a:p>
          <a:p>
            <a:r>
              <a:t>AI 질문	2회	–	AI에 보낸 질문의 총 횟수.</a:t>
            </a:r>
          </a:p>
          <a:p>
            <a:r>
              <a:t>일별 추이</a:t>
            </a:r>
          </a:p>
          <a:p>
            <a:r>
              <a:t>일별 이용 추이</a:t>
            </a:r>
          </a:p>
          <a:p>
            <a:r>
              <a:t>날짜(KST)	활성 사용자	노드 선택	간선 선택	브리핑 조회	AI 질문</a:t>
            </a:r>
          </a:p>
          <a:p>
            <a:r>
              <a:t>2026-10-06	</a:t>
            </a:r>
          </a:p>
          <a:p>
            <a:r>
              <a:t>2</a:t>
            </a:r>
          </a:p>
          <a:p>
            <a:r>
              <a:t>	</a:t>
            </a:r>
          </a:p>
          <a:p>
            <a:r>
              <a:t>8</a:t>
            </a:r>
          </a:p>
          <a:p>
            <a:r>
              <a:t>	</a:t>
            </a:r>
          </a:p>
          <a:p>
            <a:r>
              <a:t>1</a:t>
            </a:r>
          </a:p>
          <a:p>
            <a:r>
              <a:t>	</a:t>
            </a:r>
          </a:p>
          <a:p>
            <a:r>
              <a:t>0</a:t>
            </a:r>
          </a:p>
          <a:p>
            <a:r>
              <a:t>	</a:t>
            </a:r>
          </a:p>
          <a:p>
            <a:r>
              <a:t>1</a:t>
            </a:r>
          </a:p>
          <a:p/>
          <a:p>
            <a:r>
              <a:t>2026-10-05	</a:t>
            </a:r>
          </a:p>
          <a:p>
            <a:r>
              <a:t>0</a:t>
            </a:r>
          </a:p>
          <a:p>
            <a:r>
              <a:t>	</a:t>
            </a:r>
          </a:p>
          <a:p>
            <a:r>
              <a:t>0</a:t>
            </a:r>
          </a:p>
          <a:p>
            <a:r>
              <a:t>	</a:t>
            </a:r>
          </a:p>
          <a:p>
            <a:r>
              <a:t>0</a:t>
            </a:r>
          </a:p>
          <a:p>
            <a:r>
              <a:t>	</a:t>
            </a:r>
          </a:p>
          <a:p>
            <a:r>
              <a:t>0</a:t>
            </a:r>
          </a:p>
          <a:p>
            <a:r>
              <a:t>	</a:t>
            </a:r>
          </a:p>
          <a:p>
            <a:r>
              <a:t>0</a:t>
            </a:r>
          </a:p>
          <a:p/>
          <a:p>
            <a:r>
              <a:t>2026-10-04	</a:t>
            </a:r>
          </a:p>
          <a:p>
            <a:r>
              <a:t>0</a:t>
            </a:r>
          </a:p>
          <a:p>
            <a:r>
              <a:t>	</a:t>
            </a:r>
          </a:p>
          <a:p>
            <a:r>
              <a:t>0</a:t>
            </a:r>
          </a:p>
          <a:p>
            <a:r>
              <a:t>	</a:t>
            </a:r>
          </a:p>
          <a:p>
            <a:r>
              <a:t>0</a:t>
            </a:r>
          </a:p>
          <a:p>
            <a:r>
              <a:t>	</a:t>
            </a:r>
          </a:p>
          <a:p>
            <a:r>
              <a:t>0</a:t>
            </a:r>
          </a:p>
          <a:p>
            <a:r>
              <a:t>	</a:t>
            </a:r>
          </a:p>
          <a:p>
            <a:r>
              <a:t>0</a:t>
            </a:r>
          </a:p>
          <a:p/>
          <a:p>
            <a:r>
              <a:t>2026-10-03	</a:t>
            </a:r>
          </a:p>
          <a:p>
            <a:r>
              <a:t>2</a:t>
            </a:r>
          </a:p>
          <a:p>
            <a:r>
              <a:t>	</a:t>
            </a:r>
          </a:p>
          <a:p>
            <a:r>
              <a:t>0</a:t>
            </a:r>
          </a:p>
          <a:p>
            <a:r>
              <a:t>	</a:t>
            </a:r>
          </a:p>
          <a:p>
            <a:r>
              <a:t>0</a:t>
            </a:r>
          </a:p>
          <a:p>
            <a:r>
              <a:t>	</a:t>
            </a:r>
          </a:p>
          <a:p>
            <a:r>
              <a:t>0</a:t>
            </a:r>
          </a:p>
          <a:p>
            <a:r>
              <a:t>	</a:t>
            </a:r>
          </a:p>
          <a:p>
            <a:r>
              <a:t>0</a:t>
            </a:r>
          </a:p>
          <a:p/>
          <a:p>
            <a:r>
              <a:t>2026-10-02	</a:t>
            </a:r>
          </a:p>
          <a:p>
            <a:r>
              <a:t>1</a:t>
            </a:r>
          </a:p>
          <a:p>
            <a:r>
              <a:t>	</a:t>
            </a:r>
          </a:p>
          <a:p>
            <a:r>
              <a:t>21</a:t>
            </a:r>
          </a:p>
          <a:p>
            <a:r>
              <a:t>	</a:t>
            </a:r>
          </a:p>
          <a:p>
            <a:r>
              <a:t>1</a:t>
            </a:r>
          </a:p>
          <a:p>
            <a:r>
              <a:t>	</a:t>
            </a:r>
          </a:p>
          <a:p>
            <a:r>
              <a:t>0</a:t>
            </a:r>
          </a:p>
          <a:p>
            <a:r>
              <a:t>	</a:t>
            </a:r>
          </a:p>
          <a:p>
            <a:r>
              <a:t>1</a:t>
            </a:r>
          </a:p>
          <a:p/>
          <a:p>
            <a:r>
              <a:t>2026-10-01	</a:t>
            </a:r>
          </a:p>
          <a:p>
            <a:r>
              <a:t>2</a:t>
            </a:r>
          </a:p>
          <a:p>
            <a:r>
              <a:t>	</a:t>
            </a:r>
          </a:p>
          <a:p>
            <a:r>
              <a:t>10</a:t>
            </a:r>
          </a:p>
          <a:p>
            <a:r>
              <a:t>	</a:t>
            </a:r>
          </a:p>
          <a:p>
            <a:r>
              <a:t>0</a:t>
            </a:r>
          </a:p>
          <a:p>
            <a:r>
              <a:t>	</a:t>
            </a:r>
          </a:p>
          <a:p>
            <a:r>
              <a:t>0</a:t>
            </a:r>
          </a:p>
          <a:p>
            <a:r>
              <a:t>	</a:t>
            </a:r>
          </a:p>
          <a:p>
            <a:r>
              <a:t>0</a:t>
            </a:r>
          </a:p>
          <a:p/>
          <a:p>
            <a:r>
              <a:t>2026-09-30	</a:t>
            </a:r>
          </a:p>
          <a:p>
            <a:r>
              <a:t>0</a:t>
            </a:r>
          </a:p>
          <a:p>
            <a:r>
              <a:t>	</a:t>
            </a:r>
          </a:p>
          <a:p>
            <a:r>
              <a:t>0</a:t>
            </a:r>
          </a:p>
          <a:p>
            <a:r>
              <a:t>	</a:t>
            </a:r>
          </a:p>
          <a:p>
            <a:r>
              <a:t>0</a:t>
            </a:r>
          </a:p>
          <a:p>
            <a:r>
              <a:t>	</a:t>
            </a:r>
          </a:p>
          <a:p>
            <a:r>
              <a:t>0</a:t>
            </a:r>
          </a:p>
          <a:p>
            <a:r>
              <a:t>	</a:t>
            </a:r>
          </a:p>
          <a:p>
            <a:r>
              <a:t>0</a:t>
            </a:r>
          </a:p>
          <a:p>
            <a:r>
              <a:t>브리핑 회차별 조회</a:t>
            </a:r>
          </a:p>
          <a:p/>
          <a:p>
            <a:r>
              <a:t>이 기간에 브리핑을 조회하거나 평가한 기록이 없어요.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A-ADM-02b.png</a:t>
            </a:r>
          </a:p>
          <a:p>
            <a:r>
              <a:t>좌표·클릭 후 실제 화면: A-ADM-02b.json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선호도</a:t>
            </a:r>
          </a:p>
          <a:p>
            <a:r>
              <a:t>7일</a:t>
            </a:r>
          </a:p>
          <a:p>
            <a:r>
              <a:t>30일</a:t>
            </a:r>
          </a:p>
          <a:p>
            <a:r>
              <a:t>전체</a:t>
            </a:r>
          </a:p>
          <a:p>
            <a:r>
              <a:t>요약</a:t>
            </a:r>
          </a:p>
          <a:p>
            <a:r>
              <a:t>싫어요 사유</a:t>
            </a:r>
          </a:p>
          <a:p>
            <a:r>
              <a:t>AI 대화록</a:t>
            </a:r>
          </a:p>
          <a:p>
            <a:r>
              <a:t>시작일(KST)</a:t>
            </a:r>
          </a:p>
          <a:p>
            <a:r>
              <a:t>종료일(KST)</a:t>
            </a:r>
          </a:p>
          <a:p>
            <a:r>
              <a:t>기간 적용</a:t>
            </a:r>
          </a:p>
          <a:p/>
          <a:p>
            <a:r>
              <a:t>기간 전체 보관 기간(평가를 마지막으로 바꾼 한국 시간 기준) · 집계 시각 2026-10-06 12:44:24</a:t>
            </a:r>
          </a:p>
          <a:p/>
          <a:p>
            <a:r>
              <a:t>현재 유효한 평가만 셉니다. 취소한 평가는 빠지고, 한 사람이 같은 대상에 남길 수 있는 평가는 1개입니다. 기간은 평가를 마지막으로 바꾼 시각(한국 시간)으로 나눕니다. 표본이 적은 비율은 숨기고 건수만 보여 줍니다. (기준 표 5개)</a:t>
            </a:r>
          </a:p>
          <a:p/>
          <a:p>
            <a:r>
              <a:t>기능별 좋아요 비율</a:t>
            </a:r>
          </a:p>
          <a:p>
            <a:r>
              <a:t>AI 기능별 좋아요·싫어요</a:t>
            </a:r>
          </a:p>
          <a:p>
            <a:r>
              <a:t>기능	좋아요	싫어요	표 합계	좋아요 비율</a:t>
            </a:r>
          </a:p>
          <a:p>
            <a:r>
              <a:t>AI 챗봇 답변	0	0	0	</a:t>
            </a:r>
          </a:p>
          <a:p>
            <a:r>
              <a:t>평가 없음</a:t>
            </a:r>
          </a:p>
          <a:p>
            <a:r>
              <a:t>브리핑 회차	0	0	0	</a:t>
            </a:r>
          </a:p>
          <a:p>
            <a:r>
              <a:t>평가 없음</a:t>
            </a:r>
          </a:p>
          <a:p>
            <a:r>
              <a:t>브리핑 핵심 이슈	0	0	0	</a:t>
            </a:r>
          </a:p>
          <a:p>
            <a:r>
              <a:t>평가 없음</a:t>
            </a:r>
          </a:p>
          <a:p/>
          <a:p>
            <a:r>
              <a:t>뉴스 요약: 뉴스 요약을 만드는 기능이 아직 없어 평가할 대상이 없습니다.</a:t>
            </a:r>
          </a:p>
          <a:p/>
          <a:p>
            <a:r>
              <a:t>일별 추이</a:t>
            </a:r>
          </a:p>
          <a:p>
            <a:r>
              <a:t>일별 좋아요·싫어요</a:t>
            </a:r>
          </a:p>
          <a:p>
            <a:r>
              <a:t>날짜(KST)	AI 챗봇 답변</a:t>
            </a:r>
          </a:p>
          <a:p>
            <a:r>
              <a:t>좋아요 / 싫어요(비율)</a:t>
            </a:r>
          </a:p>
          <a:p>
            <a:r>
              <a:t>	브리핑 회차</a:t>
            </a:r>
          </a:p>
          <a:p>
            <a:r>
              <a:t>좋아요 / 싫어요(비율)</a:t>
            </a:r>
          </a:p>
          <a:p>
            <a:r>
              <a:t>	브리핑 핵심 이슈</a:t>
            </a:r>
          </a:p>
          <a:p>
            <a:r>
              <a:t>좋아요 / 싫어요(비율)</a:t>
            </a:r>
          </a:p>
          <a:p/>
          <a:p>
            <a:r>
              <a:t>2026-10-06	0 / 0	0 / 0	0 / 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A-ADM-03.png</a:t>
            </a:r>
          </a:p>
          <a:p>
            <a:r>
              <a:t>좌표·클릭 후 실제 화면: A-ADM-03.json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이슈 관제</a:t>
            </a:r>
          </a:p>
          <a:p>
            <a:r>
              <a:t>후보 판정</a:t>
            </a:r>
          </a:p>
          <a:p>
            <a:r>
              <a:t>407건</a:t>
            </a:r>
          </a:p>
          <a:p>
            <a:r>
              <a:t>통과 102 · 보류 304 · 폐기 1</a:t>
            </a:r>
          </a:p>
          <a:p>
            <a:r>
              <a:t>검수 대기(보류)</a:t>
            </a:r>
          </a:p>
          <a:p>
            <a:r>
              <a:t>260건</a:t>
            </a:r>
          </a:p>
          <a:p>
            <a:r>
              <a:t>규칙 게시 사건 43건 · 검수 결정 11건</a:t>
            </a:r>
          </a:p>
          <a:p>
            <a:r>
              <a:t>사용자에게 보이는 버전</a:t>
            </a:r>
          </a:p>
          <a:p>
            <a:r>
              <a:t>v1</a:t>
            </a:r>
          </a:p>
          <a:p>
            <a:r>
              <a:t>원장에만 있는 이슈 0건</a:t>
            </a:r>
          </a:p>
          <a:p>
            <a:r>
              <a:t>GraphDB 반영</a:t>
            </a:r>
          </a:p>
          <a:p>
            <a:r>
              <a:t>반영됨</a:t>
            </a:r>
          </a:p>
          <a:p>
            <a:r>
              <a:t>반영 95/95 · 대기 작업 0</a:t>
            </a:r>
          </a:p>
          <a:p>
            <a:r>
              <a:t>원장 확인</a:t>
            </a:r>
          </a:p>
          <a:p>
            <a:r>
              <a:t>2026-10-06 12:44:38</a:t>
            </a:r>
          </a:p>
          <a:p>
            <a:r>
              <a:t>이슈 95 · 관계 190 · 기사 39</a:t>
            </a:r>
          </a:p>
          <a:p>
            <a:r>
              <a:t>분석 작업</a:t>
            </a:r>
          </a:p>
          <a:p>
            <a:r>
              <a:t>실행 중 0 · 대기 0 · 24시간 실패 0건</a:t>
            </a:r>
          </a:p>
          <a:p>
            <a:r>
              <a:t>작업 로그 보기</a:t>
            </a:r>
          </a:p>
          <a:p>
            <a:r>
              <a:t>자동 검수 규칙</a:t>
            </a:r>
          </a:p>
          <a:p/>
          <a:p>
            <a:r>
              <a:t>역할 문구 미확인은 역할만 빼고 게시</a:t>
            </a:r>
          </a:p>
          <a:p>
            <a:r>
              <a:t>R1@2</a:t>
            </a:r>
          </a:p>
          <a:p>
            <a:r>
              <a:t>켜짐</a:t>
            </a:r>
          </a:p>
          <a:p/>
          <a:p>
            <a:r>
              <a:t>보류 사유가 참여자·관계의 역할 문구 검사뿐이고 거부 판정이 없으며 원문 인용이 모두 있는 후보를 사건으로 게시합니다. 확인되지 않은 역할 문구는 비워 두고 다른 값으로 채우지 않습니다. 이미 일어난 사건(발생)이 아니면 앞선 사건의 후속(FOLLOWS)으로 잇지 않습니다.</a:t>
            </a:r>
          </a:p>
          <a:p/>
          <a:p>
            <a:r>
              <a:t>다루는 보류 후보 44건</a:t>
            </a:r>
          </a:p>
          <a:p>
            <a:r>
              <a:t>사용자 그래프에 사건 43건 (후보 44건)</a:t>
            </a:r>
          </a:p>
          <a:p>
            <a:r>
              <a:t>기본값(켜짐) 그대로예요</a:t>
            </a:r>
          </a:p>
          <a:p/>
          <a:p>
            <a:r>
              <a:t>규칙 끄기</a:t>
            </a:r>
          </a:p>
          <a:p>
            <a:r>
              <a:t>후보</a:t>
            </a:r>
          </a:p>
          <a:p>
            <a:r>
              <a:t>그래프 버전</a:t>
            </a:r>
          </a:p>
          <a:p>
            <a:r>
              <a:t>작업</a:t>
            </a:r>
          </a:p>
          <a:p>
            <a:r>
              <a:t>보류 304</a:t>
            </a:r>
          </a:p>
          <a:p>
            <a:r>
              <a:t>통과 102</a:t>
            </a:r>
          </a:p>
          <a:p>
            <a:r>
              <a:t>폐기 1</a:t>
            </a:r>
          </a:p>
          <a:p>
            <a:r>
              <a:t>전체</a:t>
            </a:r>
          </a:p>
          <a:p>
            <a:r>
              <a:t>모든 후보</a:t>
            </a:r>
          </a:p>
          <a:p>
            <a:r>
              <a:t>규칙 대상만</a:t>
            </a:r>
          </a:p>
          <a:p>
            <a:r>
              <a:t>후보 검색</a:t>
            </a:r>
          </a:p>
          <a:p>
            <a:r>
              <a:t>후보 목록</a:t>
            </a:r>
          </a:p>
          <a:p>
            <a:r>
              <a:t>판정	이슈	관련 기업	근거	사용자 그래프	검수</a:t>
            </a:r>
          </a:p>
          <a:p/>
          <a:p>
            <a:r>
              <a:t>보류	</a:t>
            </a:r>
          </a:p>
          <a:p>
            <a:r>
              <a:t>As AI Increases Demands on Memory, Storage Steps Up</a:t>
            </a:r>
          </a:p>
          <a:p>
            <a:r>
              <a:t>	NVIDIA	1	</a:t>
            </a:r>
          </a:p>
          <a:p>
            <a:r>
              <a:t>표시 안 함</a:t>
            </a:r>
          </a:p>
          <a:p>
            <a:r>
              <a:t>	–</a:t>
            </a:r>
          </a:p>
          <a:p/>
          <a:p>
            <a:r>
              <a:t>보류	</a:t>
            </a:r>
          </a:p>
          <a:p>
            <a:r>
              <a:t>삼성 6개사, 美 AI 인프라 기업 ‘헬릭스’에 10억 달러 투자</a:t>
            </a:r>
          </a:p>
          <a:p>
            <a:r>
              <a:t>	삼성전자, 플랙트그룹	1	</a:t>
            </a:r>
          </a:p>
          <a:p>
            <a:r>
              <a:t>표시 안 함</a:t>
            </a:r>
          </a:p>
          <a:p>
            <a:r>
              <a:t>	–</a:t>
            </a:r>
          </a:p>
          <a:p/>
          <a:p>
            <a:r>
              <a:t>보류	</a:t>
            </a:r>
          </a:p>
          <a:p>
            <a:r>
              <a:t>타법인주식및출자증권처분결정</a:t>
            </a:r>
          </a:p>
          <a:p>
            <a:r>
              <a:t>	당사, 포스코인터내셔널	3	</a:t>
            </a:r>
          </a:p>
          <a:p>
            <a:r>
              <a:t>표시 안 함</a:t>
            </a:r>
          </a:p>
          <a:p>
            <a:r>
              <a:t>	–</a:t>
            </a:r>
          </a:p>
          <a:p/>
          <a:p>
            <a:r>
              <a:t>보류	</a:t>
            </a:r>
          </a:p>
          <a:p>
            <a:r>
              <a:t>동일인등출자계열회사와의상품ㆍ용역거래변경</a:t>
            </a:r>
          </a:p>
          <a:p>
            <a:r>
              <a:t>	삼성전자주식회사, 삼성물산(주)	2	</a:t>
            </a:r>
          </a:p>
          <a:p>
            <a:r>
              <a:t>표시 안 함</a:t>
            </a:r>
          </a:p>
          <a:p>
            <a:r>
              <a:t>	–</a:t>
            </a:r>
          </a:p>
          <a:p/>
          <a:p>
            <a:r>
              <a:t>보류	</a:t>
            </a:r>
          </a:p>
          <a:p>
            <a:r>
              <a:t>Added and trained Earth-2 StormCast for air pollution forecasting</a:t>
            </a:r>
          </a:p>
          <a:p>
            <a:r>
              <a:t>	University of Manchester, Hao Zhang, NVIDIA, Isambard-AI	2	</a:t>
            </a:r>
          </a:p>
          <a:p>
            <a:r>
              <a:t>표시 안 함</a:t>
            </a:r>
          </a:p>
          <a:p>
            <a:r>
              <a:t>	–</a:t>
            </a:r>
          </a:p>
          <a:p/>
          <a:p>
            <a:r>
              <a:t>보류	</a:t>
            </a:r>
          </a:p>
          <a:p>
            <a:r>
              <a:t>Clarification Regarding Recent Media Reports on Solidigm</a:t>
            </a:r>
          </a:p>
          <a:p>
            <a:r>
              <a:t>	SK hynix, Intel, Solidigm	1	</a:t>
            </a:r>
          </a:p>
          <a:p>
            <a:r>
              <a:t>표시 안 함</a:t>
            </a:r>
          </a:p>
          <a:p>
            <a:r>
              <a:t>	–</a:t>
            </a:r>
          </a:p>
          <a:p/>
          <a:p>
            <a:r>
              <a:t>보류	</a:t>
            </a:r>
          </a:p>
          <a:p>
            <a:r>
              <a:t>Clarification Regarding Recent Media Reports on Solidigm</a:t>
            </a:r>
          </a:p>
          <a:p>
            <a:r>
              <a:t>	SK hynix	1	</a:t>
            </a:r>
          </a:p>
          <a:p>
            <a:r>
              <a:t>표시 안 함</a:t>
            </a:r>
          </a:p>
          <a:p>
            <a:r>
              <a:t>	–</a:t>
            </a:r>
          </a:p>
          <a:p/>
          <a:p>
            <a:r>
              <a:t>보류	</a:t>
            </a:r>
          </a:p>
          <a:p>
            <a:r>
              <a:t>Seoul Purpose: How NVIDIA and South Korea Are Building the Future of AI</a:t>
            </a:r>
          </a:p>
          <a:p>
            <a:r>
              <a:t>	NVIDIA, Jensen Huang	1	</a:t>
            </a:r>
          </a:p>
          <a:p>
            <a:r>
              <a:t>표시 안 함</a:t>
            </a:r>
          </a:p>
          <a:p>
            <a:r>
              <a:t>	–</a:t>
            </a:r>
          </a:p>
          <a:p/>
          <a:p>
            <a:r>
              <a:t>보류	</a:t>
            </a:r>
          </a:p>
          <a:p>
            <a:r>
              <a:t>Seoul Purpose: How NVIDIA and South Korea Are Building the Future of AI</a:t>
            </a:r>
          </a:p>
          <a:p>
            <a:r>
              <a:t>	NVIDIA, Jensen Huang	1	</a:t>
            </a:r>
          </a:p>
          <a:p>
            <a:r>
              <a:t>표시 안 함</a:t>
            </a:r>
          </a:p>
          <a:p>
            <a:r>
              <a:t>	–</a:t>
            </a:r>
          </a:p>
          <a:p/>
          <a:p>
            <a:r>
              <a:t>보류	</a:t>
            </a:r>
          </a:p>
          <a:p>
            <a:r>
              <a:t>Seoul Purpose: How NVIDIA and South Korea Are Building the Future of AI</a:t>
            </a:r>
          </a:p>
          <a:p>
            <a:r>
              <a:t>	NVIDIA, Jensen Huang, SK Group, Chey Tae-won, LG Group, Koo Kwang-mo, NAVER, Lee Hae-jin	1	</a:t>
            </a:r>
          </a:p>
          <a:p>
            <a:r>
              <a:t>표시 안 함</a:t>
            </a:r>
          </a:p>
          <a:p>
            <a:r>
              <a:t>	–</a:t>
            </a:r>
          </a:p>
          <a:p/>
          <a:p>
            <a:r>
              <a:t>보류	</a:t>
            </a:r>
          </a:p>
          <a:p>
            <a:r>
              <a:t>Seoul Purpose: How NVIDIA and South Korea Are Building the Future of AI</a:t>
            </a:r>
          </a:p>
          <a:p>
            <a:r>
              <a:t>	NVIDIA, Jensen Huang, KRAFTON, NC	2	</a:t>
            </a:r>
          </a:p>
          <a:p>
            <a:r>
              <a:t>표시 안 함</a:t>
            </a:r>
          </a:p>
          <a:p>
            <a:r>
              <a:t>	–</a:t>
            </a:r>
          </a:p>
          <a:p/>
          <a:p>
            <a:r>
              <a:t>보류	</a:t>
            </a:r>
          </a:p>
          <a:p>
            <a:r>
              <a:t>Seoul Purpose: How NVIDIA and South Korea Are Building the Future of AI</a:t>
            </a:r>
          </a:p>
          <a:p>
            <a:r>
              <a:t>	NVIDIA, Jensen Huang, T1, Lee “Faker” Sang-hyeok	1	</a:t>
            </a:r>
          </a:p>
          <a:p>
            <a:r>
              <a:t>표시 안 함</a:t>
            </a:r>
          </a:p>
          <a:p>
            <a:r>
              <a:t>	–</a:t>
            </a:r>
          </a:p>
          <a:p/>
          <a:p>
            <a:r>
              <a:t>보류	</a:t>
            </a:r>
          </a:p>
          <a:p>
            <a:r>
              <a:t>Seoul Purpose: How NVIDIA and South Korea Are Building the Future of AI</a:t>
            </a:r>
          </a:p>
          <a:p>
            <a:r>
              <a:t>	NVIDIA, Jensen Huang, Doosan Group, Park Jeong-won	1	</a:t>
            </a:r>
          </a:p>
          <a:p>
            <a:r>
              <a:t>표시 안 함</a:t>
            </a:r>
          </a:p>
          <a:p>
            <a:r>
              <a:t>	–</a:t>
            </a:r>
          </a:p>
          <a:p/>
          <a:p>
            <a:r>
              <a:t>보류	</a:t>
            </a:r>
          </a:p>
          <a:p>
            <a:r>
              <a:t>Seoul Purpose: How NVIDIA and South Korea Are Building the Future of AI</a:t>
            </a:r>
          </a:p>
          <a:p>
            <a:r>
              <a:t>	SK Telecom, NVIDIA	1	</a:t>
            </a:r>
          </a:p>
          <a:p>
            <a:r>
              <a:t>표시 안 함</a:t>
            </a:r>
          </a:p>
          <a:p>
            <a:r>
              <a:t>	–</a:t>
            </a:r>
          </a:p>
          <a:p/>
          <a:p>
            <a:r>
              <a:t>보류	</a:t>
            </a:r>
          </a:p>
          <a:p>
            <a:r>
              <a:t>Seoul Purpose: How NVIDIA and South Korea Are Building the Future of AI</a:t>
            </a:r>
          </a:p>
          <a:p>
            <a:r>
              <a:t>	NVIDIA, SK Group	1	</a:t>
            </a:r>
          </a:p>
          <a:p>
            <a:r>
              <a:t>표시 안 함</a:t>
            </a:r>
          </a:p>
          <a:p>
            <a:r>
              <a:t>	–</a:t>
            </a:r>
          </a:p>
          <a:p/>
          <a:p>
            <a:r>
              <a:t>보류	</a:t>
            </a:r>
          </a:p>
          <a:p>
            <a:r>
              <a:t>Seoul Purpose: How NVIDIA and South Korea Are Building the Future of AI</a:t>
            </a:r>
          </a:p>
          <a:p>
            <a:r>
              <a:t>	NVIDIA, Jensen Huang, SK Group, Chey Tae-won	1	</a:t>
            </a:r>
          </a:p>
          <a:p>
            <a:r>
              <a:t>표시 안 함</a:t>
            </a:r>
          </a:p>
          <a:p>
            <a:r>
              <a:t>	–</a:t>
            </a:r>
          </a:p>
          <a:p/>
          <a:p>
            <a:r>
              <a:t>보류	</a:t>
            </a:r>
          </a:p>
          <a:p>
            <a:r>
              <a:t>Seoul Purpose: How NVIDIA and South Korea Are Building the Future of AI</a:t>
            </a:r>
          </a:p>
          <a:p>
            <a:r>
              <a:t>	NVIDIA, Jensen Huang, LG Group, Koo Kwang-mo	1	</a:t>
            </a:r>
          </a:p>
          <a:p>
            <a:r>
              <a:t>표시 안 함</a:t>
            </a:r>
          </a:p>
          <a:p>
            <a:r>
              <a:t>	–</a:t>
            </a:r>
          </a:p>
          <a:p/>
          <a:p>
            <a:r>
              <a:t>보류	</a:t>
            </a:r>
          </a:p>
          <a:p>
            <a:r>
              <a:t>Seoul Purpose: How NVIDIA and South Korea Are Building the Future of AI</a:t>
            </a:r>
          </a:p>
          <a:p>
            <a:r>
              <a:t>	NVIDIA, LG Group	1	</a:t>
            </a:r>
          </a:p>
          <a:p>
            <a:r>
              <a:t>표시 안 함</a:t>
            </a:r>
          </a:p>
          <a:p>
            <a:r>
              <a:t>	–</a:t>
            </a:r>
          </a:p>
          <a:p/>
          <a:p>
            <a:r>
              <a:t>보류	</a:t>
            </a:r>
          </a:p>
          <a:p>
            <a:r>
              <a:t>Seoul Purpose: How NVIDIA and South Korea Are Building the Future of AI</a:t>
            </a:r>
          </a:p>
          <a:p>
            <a:r>
              <a:t>	NVIDIA, Jensen Huang, Seoul National University	1	</a:t>
            </a:r>
          </a:p>
          <a:p>
            <a:r>
              <a:t>표시 안 함</a:t>
            </a:r>
          </a:p>
          <a:p>
            <a:r>
              <a:t>	–</a:t>
            </a:r>
          </a:p>
          <a:p/>
          <a:p>
            <a:r>
              <a:t>보류	</a:t>
            </a:r>
          </a:p>
          <a:p>
            <a:r>
              <a:t>Seoul Purpose: How NVIDIA and South Korea Are Building the Future of AI</a:t>
            </a:r>
          </a:p>
          <a:p>
            <a:r>
              <a:t>	NVIDIA, Jensen Huang, Hyundai Motor Group	1	</a:t>
            </a:r>
          </a:p>
          <a:p>
            <a:r>
              <a:t>표시 안 함</a:t>
            </a:r>
          </a:p>
          <a:p>
            <a:r>
              <a:t>	–</a:t>
            </a:r>
          </a:p>
          <a:p/>
          <a:p>
            <a:r>
              <a:t>보류	</a:t>
            </a:r>
          </a:p>
          <a:p>
            <a:r>
              <a:t>Seoul Purpose: How NVIDIA and South Korea Are Building the Future of AI</a:t>
            </a:r>
          </a:p>
          <a:p>
            <a:r>
              <a:t>	NAVER, NVIDIA	1	</a:t>
            </a:r>
          </a:p>
          <a:p>
            <a:r>
              <a:t>표시 안 함</a:t>
            </a:r>
          </a:p>
          <a:p>
            <a:r>
              <a:t>	–</a:t>
            </a:r>
          </a:p>
          <a:p/>
          <a:p>
            <a:r>
              <a:t>보류	</a:t>
            </a:r>
          </a:p>
          <a:p>
            <a:r>
              <a:t>Seoul Purpose: How NVIDIA and South Korea Are Building the Future of AI</a:t>
            </a:r>
          </a:p>
          <a:p>
            <a:r>
              <a:t>	NAVER, NVIDIA	1	</a:t>
            </a:r>
          </a:p>
          <a:p>
            <a:r>
              <a:t>표시 안 함</a:t>
            </a:r>
          </a:p>
          <a:p>
            <a:r>
              <a:t>	–</a:t>
            </a:r>
          </a:p>
          <a:p/>
          <a:p>
            <a:r>
              <a:t>보류	</a:t>
            </a:r>
          </a:p>
          <a:p>
            <a:r>
              <a:t>Seoul Purpose: How NVIDIA and South Korea Are Building the Future of AI</a:t>
            </a:r>
          </a:p>
          <a:p>
            <a:r>
              <a:t>	NAVER	1	</a:t>
            </a:r>
          </a:p>
          <a:p>
            <a:r>
              <a:t>표시 안 함</a:t>
            </a:r>
          </a:p>
          <a:p>
            <a:r>
              <a:t>	–</a:t>
            </a:r>
          </a:p>
          <a:p/>
          <a:p>
            <a:r>
              <a:t>보류	</a:t>
            </a:r>
          </a:p>
          <a:p>
            <a:r>
              <a:t>Seoul Purpose: How NVIDIA and South Korea Are Building the Future of AI</a:t>
            </a:r>
          </a:p>
          <a:p>
            <a:r>
              <a:t>	NAVER, NVIDIA	2	</a:t>
            </a:r>
          </a:p>
          <a:p>
            <a:r>
              <a:t>표시 안 함</a:t>
            </a:r>
          </a:p>
          <a:p>
            <a:r>
              <a:t>	–</a:t>
            </a:r>
          </a:p>
          <a:p/>
          <a:p>
            <a:r>
              <a:t>보류	</a:t>
            </a:r>
          </a:p>
          <a:p>
            <a:r>
              <a:t>Seoul Purpose: How NVIDIA and South Korea Are Building the Future of AI</a:t>
            </a:r>
          </a:p>
          <a:p>
            <a:r>
              <a:t>	NVIDIA, Jensen Huang, NAVER, Haejin Lee	1	</a:t>
            </a:r>
          </a:p>
          <a:p>
            <a:r>
              <a:t>표시 안 함</a:t>
            </a:r>
          </a:p>
          <a:p>
            <a:r>
              <a:t>	–</a:t>
            </a:r>
          </a:p>
          <a:p/>
          <a:p>
            <a:r>
              <a:t>보류	</a:t>
            </a:r>
          </a:p>
          <a:p>
            <a:r>
              <a:t>Seoul Purpose: How NVIDIA and South Korea Are Building the Future of AI</a:t>
            </a:r>
          </a:p>
          <a:p>
            <a:r>
              <a:t>	NVIDIA, Jensen Huang	2	</a:t>
            </a:r>
          </a:p>
          <a:p>
            <a:r>
              <a:t>표시 안 함</a:t>
            </a:r>
          </a:p>
          <a:p>
            <a:r>
              <a:t>	–</a:t>
            </a:r>
          </a:p>
          <a:p/>
          <a:p>
            <a:r>
              <a:t>보류	</a:t>
            </a:r>
          </a:p>
          <a:p>
            <a:r>
              <a:t>Seoul Purpose: How NVIDIA and South Korea Are Building the Future of AI</a:t>
            </a:r>
          </a:p>
          <a:p>
            <a:r>
              <a:t>	NVIDIA, Jensen Huang	1	</a:t>
            </a:r>
          </a:p>
          <a:p>
            <a:r>
              <a:t>표시 안 함</a:t>
            </a:r>
          </a:p>
          <a:p>
            <a:r>
              <a:t>	–</a:t>
            </a:r>
          </a:p>
          <a:p/>
          <a:p>
            <a:r>
              <a:t>보류	</a:t>
            </a:r>
          </a:p>
          <a:p>
            <a:r>
              <a:t>NVIDIA Brings Trusted, 24/7 AI Agents to Telecom Operations</a:t>
            </a:r>
          </a:p>
          <a:p>
            <a:r>
              <a:t>	KDDI, KDDI Research, NVIDIA, Keysight, Samsung Research America	1	</a:t>
            </a:r>
          </a:p>
          <a:p>
            <a:r>
              <a:t>표시 안 함</a:t>
            </a:r>
          </a:p>
          <a:p>
            <a:r>
              <a:t>	–</a:t>
            </a:r>
          </a:p>
          <a:p/>
          <a:p>
            <a:r>
              <a:t>보류	</a:t>
            </a:r>
          </a:p>
          <a:p>
            <a:r>
              <a:t>NVIDIA Brings Trusted, 24/7 AI Agents to Telecom Operations</a:t>
            </a:r>
          </a:p>
          <a:p>
            <a:r>
              <a:t>	VIAVI Solutions	1	</a:t>
            </a:r>
          </a:p>
          <a:p>
            <a:r>
              <a:t>표시 안 함</a:t>
            </a:r>
          </a:p>
          <a:p>
            <a:r>
              <a:t>	–</a:t>
            </a:r>
          </a:p>
          <a:p/>
          <a:p>
            <a:r>
              <a:t>보류	</a:t>
            </a:r>
          </a:p>
          <a:p>
            <a:r>
              <a:t>NVIDIA Brings Trusted, 24/7 AI Agents to Telecom Operations</a:t>
            </a:r>
          </a:p>
          <a:p>
            <a:r>
              <a:t>	VIAVI Solutions, NVIDIA	1	</a:t>
            </a:r>
          </a:p>
          <a:p>
            <a:r>
              <a:t>표시 안 함</a:t>
            </a:r>
          </a:p>
          <a:p>
            <a:r>
              <a:t>	–</a:t>
            </a:r>
          </a:p>
          <a:p/>
          <a:p>
            <a:r>
              <a:t>보류	</a:t>
            </a:r>
          </a:p>
          <a:p>
            <a:r>
              <a:t>NVIDIA Brings Trusted, 24/7 AI Agents to Telecom Operations</a:t>
            </a:r>
          </a:p>
          <a:p>
            <a:r>
              <a:t>	Forsk, NVIDIA	1	</a:t>
            </a:r>
          </a:p>
          <a:p>
            <a:r>
              <a:t>표시 안 함</a:t>
            </a:r>
          </a:p>
          <a:p>
            <a:r>
              <a:t>	–</a:t>
            </a:r>
          </a:p>
          <a:p/>
          <a:p>
            <a:r>
              <a:t>보류	</a:t>
            </a:r>
          </a:p>
          <a:p>
            <a:r>
              <a:t>NVIDIA Brings Trusted, 24/7 AI Agents to Telecom Operations</a:t>
            </a:r>
          </a:p>
          <a:p>
            <a:r>
              <a:t>	Tata Consultancy Services (TCS), NVIDIA	1	</a:t>
            </a:r>
          </a:p>
          <a:p>
            <a:r>
              <a:t>표시 안 함</a:t>
            </a:r>
          </a:p>
          <a:p>
            <a:r>
              <a:t>	–</a:t>
            </a:r>
          </a:p>
          <a:p/>
          <a:p>
            <a:r>
              <a:t>보류	</a:t>
            </a:r>
          </a:p>
          <a:p>
            <a:r>
              <a:t>NVIDIA Brings Trusted, 24/7 AI Agents to Telecom Operations</a:t>
            </a:r>
          </a:p>
          <a:p>
            <a:r>
              <a:t>	NTT DATA, NVIDIA	1	</a:t>
            </a:r>
          </a:p>
          <a:p>
            <a:r>
              <a:t>표시 안 함</a:t>
            </a:r>
          </a:p>
          <a:p>
            <a:r>
              <a:t>	–</a:t>
            </a:r>
          </a:p>
          <a:p/>
          <a:p>
            <a:r>
              <a:t>보류	</a:t>
            </a:r>
          </a:p>
          <a:p>
            <a:r>
              <a:t>NVIDIA Brings Trusted, 24/7 AI Agents to Telecom Operations</a:t>
            </a:r>
          </a:p>
          <a:p>
            <a:r>
              <a:t>	Amdocs, NVIDIA	1	</a:t>
            </a:r>
          </a:p>
          <a:p>
            <a:r>
              <a:t>표시 안 함</a:t>
            </a:r>
          </a:p>
          <a:p>
            <a:r>
              <a:t>	–</a:t>
            </a:r>
          </a:p>
          <a:p/>
          <a:p>
            <a:r>
              <a:t>보류	</a:t>
            </a:r>
          </a:p>
          <a:p>
            <a:r>
              <a:t>NVIDIA Brings Trusted, 24/7 AI Agents to Telecom Operations</a:t>
            </a:r>
          </a:p>
          <a:p>
            <a:r>
              <a:t>	Amdocs, NVIDIA	1	</a:t>
            </a:r>
          </a:p>
          <a:p>
            <a:r>
              <a:t>표시 안 함</a:t>
            </a:r>
          </a:p>
          <a:p>
            <a:r>
              <a:t>	–</a:t>
            </a:r>
          </a:p>
          <a:p/>
          <a:p>
            <a:r>
              <a:t>보류	</a:t>
            </a:r>
          </a:p>
          <a:p>
            <a:r>
              <a:t>NVIDIA Brings Trusted, 24/7 AI Agents to Telecom Operations</a:t>
            </a:r>
          </a:p>
          <a:p>
            <a:r>
              <a:t>	AdaptKey, operators, NVIDIA	1	</a:t>
            </a:r>
          </a:p>
          <a:p>
            <a:r>
              <a:t>표시 안 함</a:t>
            </a:r>
          </a:p>
          <a:p>
            <a:r>
              <a:t>	–</a:t>
            </a:r>
          </a:p>
          <a:p/>
          <a:p>
            <a:r>
              <a:t>보류	</a:t>
            </a:r>
          </a:p>
          <a:p>
            <a:r>
              <a:t>NVIDIA Brings Trusted, 24/7 AI Agents to Telecom Operations</a:t>
            </a:r>
          </a:p>
          <a:p>
            <a:r>
              <a:t>	SoftBank Corp., NVIDIA	2	</a:t>
            </a:r>
          </a:p>
          <a:p>
            <a:r>
              <a:t>표시 안 함</a:t>
            </a:r>
          </a:p>
          <a:p>
            <a:r>
              <a:t>	–</a:t>
            </a:r>
          </a:p>
          <a:p/>
          <a:p>
            <a:r>
              <a:t>보류	</a:t>
            </a:r>
          </a:p>
          <a:p>
            <a:r>
              <a:t>NVIDIA Brings Trusted, 24/7 AI Agents to Telecom Operations</a:t>
            </a:r>
          </a:p>
          <a:p>
            <a:r>
              <a:t>	NVIDIA, partners, TM Forum	1	</a:t>
            </a:r>
          </a:p>
          <a:p>
            <a:r>
              <a:t>표시 안 함</a:t>
            </a:r>
          </a:p>
          <a:p>
            <a:r>
              <a:t>	–</a:t>
            </a:r>
          </a:p>
          <a:p/>
          <a:p>
            <a:r>
              <a:t>보류	</a:t>
            </a:r>
          </a:p>
          <a:p>
            <a:r>
              <a:t>Addition of Cassava in Africa and Claro in South America to NVIDIA AI Clouds</a:t>
            </a:r>
          </a:p>
          <a:p>
            <a:r>
              <a:t>	Cassava, Claro, NVIDIA	1	</a:t>
            </a:r>
          </a:p>
          <a:p>
            <a:r>
              <a:t>표시 중</a:t>
            </a:r>
          </a:p>
          <a:p>
            <a:r>
              <a:t>규칙 R1@2</a:t>
            </a:r>
          </a:p>
          <a:p>
            <a:r>
              <a:t>	–</a:t>
            </a:r>
          </a:p>
          <a:p/>
          <a:p>
            <a:r>
              <a:t>보류	</a:t>
            </a:r>
          </a:p>
          <a:p>
            <a:r>
              <a:t>Six NVIDIA Cloud Partners achieved Exemplar Cloud status</a:t>
            </a:r>
          </a:p>
          <a:p>
            <a:r>
              <a:t>	CoreWeave, Crusoe, Lambda, Nebius, Vultr, YTL	1	</a:t>
            </a:r>
          </a:p>
          <a:p>
            <a:r>
              <a:t>표시 안 함</a:t>
            </a:r>
          </a:p>
          <a:p>
            <a:r>
              <a:t>	–</a:t>
            </a:r>
          </a:p>
          <a:p/>
          <a:p>
            <a:r>
              <a:t>보류	</a:t>
            </a:r>
          </a:p>
          <a:p>
            <a:r>
              <a:t>Nebius adopted NVIDIA Vera Rubin</a:t>
            </a:r>
          </a:p>
          <a:p>
            <a:r>
              <a:t>	Nebius	1	</a:t>
            </a:r>
          </a:p>
          <a:p>
            <a:r>
              <a:t>표시 안 함</a:t>
            </a:r>
          </a:p>
          <a:p>
            <a:r>
              <a:t>	–</a:t>
            </a:r>
          </a:p>
          <a:p/>
          <a:p>
            <a:r>
              <a:t>보류	</a:t>
            </a:r>
          </a:p>
          <a:p>
            <a:r>
              <a:t>CoreWeave among first to adopt NVIDIA Spectrum-X Ethernet Photonics</a:t>
            </a:r>
          </a:p>
          <a:p>
            <a:r>
              <a:t>	CoreWeave	1	</a:t>
            </a:r>
          </a:p>
          <a:p>
            <a:r>
              <a:t>표시 안 함</a:t>
            </a:r>
          </a:p>
          <a:p>
            <a:r>
              <a:t>	–</a:t>
            </a:r>
          </a:p>
          <a:p/>
          <a:p>
            <a:r>
              <a:t>보류	</a:t>
            </a:r>
          </a:p>
          <a:p>
            <a:r>
              <a:t>CoreWeave adopted NVIDIA Vera Rubin and Vera CPU</a:t>
            </a:r>
          </a:p>
          <a:p>
            <a:r>
              <a:t>	CoreWeave	1	</a:t>
            </a:r>
          </a:p>
          <a:p>
            <a:r>
              <a:t>표시 안 함</a:t>
            </a:r>
          </a:p>
          <a:p>
            <a:r>
              <a:t>	–</a:t>
            </a:r>
          </a:p>
          <a:p/>
          <a:p>
            <a:r>
              <a:t>보류	</a:t>
            </a:r>
          </a:p>
          <a:p>
            <a:r>
              <a:t>Firmus deployed AI infrastructure in Singapore</a:t>
            </a:r>
          </a:p>
          <a:p>
            <a:r>
              <a:t>	Firmus Technologies, ST Telemedia Global Data Centres	1	</a:t>
            </a:r>
          </a:p>
          <a:p>
            <a:r>
              <a:t>표시 중</a:t>
            </a:r>
          </a:p>
          <a:p>
            <a:r>
              <a:t>규칙 R1@2</a:t>
            </a:r>
          </a:p>
          <a:p>
            <a:r>
              <a:t>	–</a:t>
            </a:r>
          </a:p>
          <a:p/>
          <a:p>
            <a:r>
              <a:t>보류	</a:t>
            </a:r>
          </a:p>
          <a:p>
            <a:r>
              <a:t>삼성 6개사, 美 AI 인프라 기업 ‘헬릭스’에 10억 달러 투자</a:t>
            </a:r>
          </a:p>
          <a:p>
            <a:r>
              <a:t>	헬릭스 디지털 인프라스트럭처(Helix Digital Infrastructure)	1	</a:t>
            </a:r>
          </a:p>
          <a:p>
            <a:r>
              <a:t>표시 안 함</a:t>
            </a:r>
          </a:p>
          <a:p>
            <a:r>
              <a:t>	–</a:t>
            </a:r>
          </a:p>
          <a:p/>
          <a:p>
            <a:r>
              <a:t>보류	</a:t>
            </a:r>
          </a:p>
          <a:p>
            <a:r>
              <a:t>삼성 6개사, 美 AI 인프라 기업 ‘헬릭스’에 10억 달러 투자</a:t>
            </a:r>
          </a:p>
          <a:p>
            <a:r>
              <a:t>	KKR	1	</a:t>
            </a:r>
          </a:p>
          <a:p>
            <a:r>
              <a:t>표시 안 함</a:t>
            </a:r>
          </a:p>
          <a:p>
            <a:r>
              <a:t>	–</a:t>
            </a:r>
          </a:p>
          <a:p/>
          <a:p>
            <a:r>
              <a:t>보류	</a:t>
            </a:r>
          </a:p>
          <a:p>
            <a:r>
              <a:t>삼성 6개사, 美 AI 인프라 기업 ‘헬릭스’에 10억 달러 투자</a:t>
            </a:r>
          </a:p>
          <a:p>
            <a:r>
              <a:t>	삼성전자, 삼성물산, 삼성SDS, 삼성SDI, 삼성생명, 삼성화재, KKR, 엔비디아(Nvidia), 비스트라(Vistra), 쿠웨이트투자청(KIA)	2	</a:t>
            </a:r>
          </a:p>
          <a:p>
            <a:r>
              <a:t>표시 중</a:t>
            </a:r>
          </a:p>
          <a:p>
            <a:r>
              <a:t>규칙 R1@2</a:t>
            </a:r>
          </a:p>
          <a:p>
            <a:r>
              <a:t>	–</a:t>
            </a:r>
          </a:p>
          <a:p/>
          <a:p>
            <a:r>
              <a:t>보류	</a:t>
            </a:r>
          </a:p>
          <a:p>
            <a:r>
              <a:t>Samsung, SK Telecom, and Hana Financial Group Build Korea’s First Private 5G Smart Office in the Financial Sector</a:t>
            </a:r>
          </a:p>
          <a:p>
            <a:r>
              <a:t>	Hana Financial Group, Samsung Electronics, SK Telecom	1	</a:t>
            </a:r>
          </a:p>
          <a:p>
            <a:r>
              <a:t>표시 안 함</a:t>
            </a:r>
          </a:p>
          <a:p>
            <a:r>
              <a:t>	–</a:t>
            </a:r>
          </a:p>
          <a:p/>
          <a:p>
            <a:r>
              <a:t>보류	</a:t>
            </a:r>
          </a:p>
          <a:p>
            <a:r>
              <a:t>Samsung, SK Telecom, and Hana Financial Group Build Korea’s First Private 5G Smart Office in the Financial Sector</a:t>
            </a:r>
          </a:p>
          <a:p>
            <a:r>
              <a:t>	Samsung Electronics, Hana Financial Group	1	</a:t>
            </a:r>
          </a:p>
          <a:p>
            <a:r>
              <a:t>표시 중</a:t>
            </a:r>
          </a:p>
          <a:p>
            <a:r>
              <a:t>규칙 R1@2</a:t>
            </a:r>
          </a:p>
          <a:p>
            <a:r>
              <a:t>	–</a:t>
            </a:r>
          </a:p>
          <a:p/>
          <a:p>
            <a:r>
              <a:t>보류	</a:t>
            </a:r>
          </a:p>
          <a:p>
            <a:r>
              <a:t>Samsung, SK Telecom, and Hana Financial Group Build Korea’s First Private 5G Smart Office in the Financial Sector</a:t>
            </a:r>
          </a:p>
          <a:p>
            <a:r>
              <a:t>	Hana Financial Group, SK Telecom, Samsung Electronics	1	</a:t>
            </a:r>
          </a:p>
          <a:p>
            <a:r>
              <a:t>표시 중</a:t>
            </a:r>
          </a:p>
          <a:p>
            <a:r>
              <a:t>규칙 R1@2</a:t>
            </a:r>
          </a:p>
          <a:p>
            <a:r>
              <a:t>	–</a:t>
            </a:r>
          </a:p>
          <a:p>
            <a:r>
              <a:t>후보 더 보기</a:t>
            </a:r>
          </a:p>
          <a:p/>
          <a:p>
            <a:r>
              <a:t>후보를 골라 주세요</a:t>
            </a:r>
          </a:p>
          <a:p/>
          <a:p>
            <a:r>
              <a:t>왼쪽 목록에서 후보를 고르면 원문 인용과 판정 근거를 보여 줘요.</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A-ADM-04.png</a:t>
            </a:r>
          </a:p>
          <a:p>
            <a:r>
              <a:t>좌표·클릭 후 실제 화면: A-ADM-04.json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브리핑 운영</a:t>
            </a:r>
          </a:p>
          <a:p/>
          <a:p>
            <a:r>
              <a:t>예정 출근 07:40 · 퇴근 18:10 (KST)</a:t>
            </a:r>
          </a:p>
          <a:p/>
          <a:p>
            <a:r>
              <a:t>브리핑 회차</a:t>
            </a:r>
          </a:p>
          <a:p>
            <a:r>
              <a:t>회차	상태	데이터 기준 시점	실패 사유	정정</a:t>
            </a:r>
          </a:p>
          <a:p>
            <a:r>
              <a:t>2026-10-06 퇴근	</a:t>
            </a:r>
          </a:p>
          <a:p>
            <a:r>
              <a:t>예정</a:t>
            </a:r>
          </a:p>
          <a:p>
            <a:r>
              <a:t>	2026-10-06 18:10	–	–</a:t>
            </a:r>
          </a:p>
          <a:p>
            <a:r>
              <a:t>2026-10-06 출근	</a:t>
            </a:r>
          </a:p>
          <a:p>
            <a:r>
              <a:t>발행됨</a:t>
            </a:r>
          </a:p>
          <a:p>
            <a:r>
              <a:t>	2026-10-06 07:40	–	–</a:t>
            </a:r>
          </a:p>
          <a:p>
            <a:r>
              <a:t>2026-10-05 퇴근	</a:t>
            </a:r>
          </a:p>
          <a:p>
            <a:r>
              <a:t>발행됨</a:t>
            </a:r>
          </a:p>
          <a:p>
            <a:r>
              <a:t>	2026-10-05 18:10	–	–</a:t>
            </a:r>
          </a:p>
          <a:p>
            <a:r>
              <a:t>2026-10-05 출근	</a:t>
            </a:r>
          </a:p>
          <a:p>
            <a:r>
              <a:t>발행됨</a:t>
            </a:r>
          </a:p>
          <a:p>
            <a:r>
              <a:t>	2026-10-05 07:40	–	–</a:t>
            </a:r>
          </a:p>
          <a:p>
            <a:r>
              <a:t>2026-10-04 퇴근	</a:t>
            </a:r>
          </a:p>
          <a:p>
            <a:r>
              <a:t>발행됨</a:t>
            </a:r>
          </a:p>
          <a:p>
            <a:r>
              <a:t>	2026-10-04 18:10	–	–</a:t>
            </a:r>
          </a:p>
          <a:p>
            <a:r>
              <a:t>2026-10-04 출근	</a:t>
            </a:r>
          </a:p>
          <a:p>
            <a:r>
              <a:t>발행됨</a:t>
            </a:r>
          </a:p>
          <a:p>
            <a:r>
              <a:t>	2026-10-04 07:40	–	–</a:t>
            </a:r>
          </a:p>
          <a:p>
            <a:r>
              <a:t>2026-10-03 퇴근	</a:t>
            </a:r>
          </a:p>
          <a:p>
            <a:r>
              <a:t>발행됨</a:t>
            </a:r>
          </a:p>
          <a:p>
            <a:r>
              <a:t>	2026-10-03 18:10	–	–</a:t>
            </a:r>
          </a:p>
          <a:p>
            <a:r>
              <a:t>2026-10-03 출근	</a:t>
            </a:r>
          </a:p>
          <a:p>
            <a:r>
              <a:t>발행됨</a:t>
            </a:r>
          </a:p>
          <a:p>
            <a:r>
              <a:t>	2026-10-03 07:40	–	–</a:t>
            </a:r>
          </a:p>
          <a:p>
            <a:r>
              <a:t>2026-10-02 퇴근	</a:t>
            </a:r>
          </a:p>
          <a:p>
            <a:r>
              <a:t>발행됨</a:t>
            </a:r>
          </a:p>
          <a:p>
            <a:r>
              <a:t>	2026-10-02 18:10	–	–</a:t>
            </a:r>
          </a:p>
          <a:p>
            <a:r>
              <a:t>2026-10-02 출근	</a:t>
            </a:r>
          </a:p>
          <a:p>
            <a:r>
              <a:t>발행됨</a:t>
            </a:r>
          </a:p>
          <a:p>
            <a:r>
              <a:t>	2026-10-02 07:40	–	–</a:t>
            </a:r>
          </a:p>
          <a:p>
            <a:r>
              <a:t>2026-10-01 퇴근	</a:t>
            </a:r>
          </a:p>
          <a:p>
            <a:r>
              <a:t>발행됨</a:t>
            </a:r>
          </a:p>
          <a:p>
            <a:r>
              <a:t>	2026-10-01 18:10	–	–</a:t>
            </a:r>
          </a:p>
          <a:p>
            <a:r>
              <a:t>2026-10-01 출근	</a:t>
            </a:r>
          </a:p>
          <a:p>
            <a:r>
              <a:t>발행됨</a:t>
            </a:r>
          </a:p>
          <a:p>
            <a:r>
              <a:t>	2026-10-01 07:40	–	–</a:t>
            </a:r>
          </a:p>
          <a:p>
            <a:r>
              <a:t>2026-09-30 퇴근	</a:t>
            </a:r>
          </a:p>
          <a:p>
            <a:r>
              <a:t>발행됨</a:t>
            </a:r>
          </a:p>
          <a:p>
            <a:r>
              <a:t>	2026-09-30 18:10	–	–</a:t>
            </a:r>
          </a:p>
          <a:p>
            <a:r>
              <a:t>2026-09-30 출근	</a:t>
            </a:r>
          </a:p>
          <a:p>
            <a:r>
              <a:t>발행됨</a:t>
            </a:r>
          </a:p>
          <a:p>
            <a:r>
              <a:t>	2026-09-30 07:40	–	–</a:t>
            </a:r>
          </a:p>
          <a:p>
            <a:r>
              <a:t>2026-09-29 퇴근	</a:t>
            </a:r>
          </a:p>
          <a:p>
            <a:r>
              <a:t>발행됨</a:t>
            </a:r>
          </a:p>
          <a:p>
            <a:r>
              <a:t>	2026-09-29 18:10	–	–</a:t>
            </a:r>
          </a:p>
          <a:p>
            <a:r>
              <a:t>2026-09-29 출근	</a:t>
            </a:r>
          </a:p>
          <a:p>
            <a:r>
              <a:t>발행됨</a:t>
            </a:r>
          </a:p>
          <a:p>
            <a:r>
              <a:t>	2026-09-29 07:40	–	–</a:t>
            </a:r>
          </a:p>
          <a:p>
            <a:r>
              <a:t>2026-09-28 퇴근	</a:t>
            </a:r>
          </a:p>
          <a:p>
            <a:r>
              <a:t>발행됨</a:t>
            </a:r>
          </a:p>
          <a:p>
            <a:r>
              <a:t>	2026-09-28 18:10	–	–</a:t>
            </a:r>
          </a:p>
          <a:p>
            <a:r>
              <a:t>2026-09-28 출근	</a:t>
            </a:r>
          </a:p>
          <a:p>
            <a:r>
              <a:t>발행됨</a:t>
            </a:r>
          </a:p>
          <a:p>
            <a:r>
              <a:t>	2026-09-28 07:40	–	–</a:t>
            </a:r>
          </a:p>
          <a:p>
            <a:r>
              <a:t>2026-09-27 퇴근	</a:t>
            </a:r>
          </a:p>
          <a:p>
            <a:r>
              <a:t>발행됨</a:t>
            </a:r>
          </a:p>
          <a:p>
            <a:r>
              <a:t>	2026-09-27 18:10	–	–</a:t>
            </a:r>
          </a:p>
          <a:p>
            <a:r>
              <a:t>2026-09-27 출근	</a:t>
            </a:r>
          </a:p>
          <a:p>
            <a:r>
              <a:t>발행됨</a:t>
            </a:r>
          </a:p>
          <a:p>
            <a:r>
              <a:t>	2026-09-27 07:40	–	–</a:t>
            </a:r>
          </a:p>
          <a:p>
            <a:r>
              <a:t>2026-09-26 퇴근	</a:t>
            </a:r>
          </a:p>
          <a:p>
            <a:r>
              <a:t>발행됨</a:t>
            </a:r>
          </a:p>
          <a:p>
            <a:r>
              <a:t>	2026-09-26 18:10	–	–</a:t>
            </a:r>
          </a:p>
          <a:p>
            <a:r>
              <a:t>2026-09-26 출근	</a:t>
            </a:r>
          </a:p>
          <a:p>
            <a:r>
              <a:t>발행됨</a:t>
            </a:r>
          </a:p>
          <a:p>
            <a:r>
              <a:t>	2026-09-26 07:40	–	–</a:t>
            </a:r>
          </a:p>
          <a:p>
            <a:r>
              <a:t>2026-09-25 퇴근	</a:t>
            </a:r>
          </a:p>
          <a:p>
            <a:r>
              <a:t>발행됨</a:t>
            </a:r>
          </a:p>
          <a:p>
            <a:r>
              <a:t>	2026-09-25 18:10	–	–</a:t>
            </a:r>
          </a:p>
          <a:p>
            <a:r>
              <a:t>2026-09-25 출근	</a:t>
            </a:r>
          </a:p>
          <a:p>
            <a:r>
              <a:t>발행됨</a:t>
            </a:r>
          </a:p>
          <a:p>
            <a:r>
              <a:t>	2026-09-25 07:40	–	–</a:t>
            </a:r>
          </a:p>
          <a:p>
            <a:r>
              <a:t>2026-09-24 퇴근	</a:t>
            </a:r>
          </a:p>
          <a:p>
            <a:r>
              <a:t>발행됨</a:t>
            </a:r>
          </a:p>
          <a:p>
            <a:r>
              <a:t>	2026-09-24 18:10	–	–</a:t>
            </a:r>
          </a:p>
          <a:p>
            <a:r>
              <a:t>2026-09-24 출근	</a:t>
            </a:r>
          </a:p>
          <a:p>
            <a:r>
              <a:t>발행됨</a:t>
            </a:r>
          </a:p>
          <a:p>
            <a:r>
              <a:t>	2026-09-24 07:40	–	–</a:t>
            </a:r>
          </a:p>
          <a:p>
            <a:r>
              <a:t>2026-09-23 퇴근	</a:t>
            </a:r>
          </a:p>
          <a:p>
            <a:r>
              <a:t>발행됨</a:t>
            </a:r>
          </a:p>
          <a:p>
            <a:r>
              <a:t>	2026-09-23 18:10	–	–</a:t>
            </a:r>
          </a:p>
          <a:p>
            <a:r>
              <a:t>2026-09-23 출근	</a:t>
            </a:r>
          </a:p>
          <a:p>
            <a:r>
              <a:t>발행됨</a:t>
            </a:r>
          </a:p>
          <a:p>
            <a:r>
              <a:t>	2026-09-23 07:40	–	–</a:t>
            </a:r>
          </a:p>
          <a:p/>
          <a:p>
            <a:r>
              <a:t>회차를 골라 주세요</a:t>
            </a:r>
          </a:p>
          <a:p/>
          <a:p>
            <a:r>
              <a:t>발행 원문과 정정, 처리 기록을 보여 줘요.</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A-ADM-04b.png</a:t>
            </a:r>
          </a:p>
          <a:p>
            <a:r>
              <a:t>좌표·클릭 후 실제 화면: A-ADM-04b.json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AI 운영</a:t>
            </a:r>
          </a:p>
          <a:p>
            <a:r>
              <a:t>24시간</a:t>
            </a:r>
          </a:p>
          <a:p>
            <a:r>
              <a:t>7일</a:t>
            </a:r>
          </a:p>
          <a:p>
            <a:r>
              <a:t>30일</a:t>
            </a:r>
          </a:p>
          <a:p>
            <a:r>
              <a:t>전체</a:t>
            </a:r>
          </a:p>
          <a:p/>
          <a:p>
            <a:r>
              <a:t>집계 시각 2026-10-06 12:45:01 · 비용 미제공(PoC가 보고한 estimated_cost가 없고 단가 기준도 정해지지 않아 실제·추정 비용을 제공하지 않습니다.)</a:t>
            </a:r>
          </a:p>
          <a:p/>
          <a:p>
            <a:r>
              <a:t>기능별 사용량</a:t>
            </a:r>
          </a:p>
          <a:p>
            <a:r>
              <a:t>AI 기능별 사용량</a:t>
            </a:r>
          </a:p>
          <a:p>
            <a:r>
              <a:t>기능	처리 방식	요청	성공	실패	평균 처리	p95	실제 모델 호출	재생(호출 아님)	재시도	입력 토큰	출력 토큰	비용	집계 출처</a:t>
            </a:r>
          </a:p>
          <a:p>
            <a:r>
              <a:t>AI 챗봇</a:t>
            </a:r>
          </a:p>
          <a:p>
            <a:r>
              <a:t>	BFF 규칙 기반 답변 · 모델 호출 없음	2	2	0	14ms	16ms	0	0	0	0	0	미제공</a:t>
            </a:r>
          </a:p>
          <a:p>
            <a:r>
              <a:t>	BFF 실측</a:t>
            </a:r>
          </a:p>
          <a:p>
            <a:r>
              <a:t>뉴스 분석(PoC 파이프라인)</a:t>
            </a:r>
          </a:p>
          <a:p>
            <a:r>
              <a:t>	InvestMate PoC · 모델 호출(유료)	0	0	0	–	–	0	0	0	0	0	미제공</a:t>
            </a:r>
          </a:p>
          <a:p>
            <a:r>
              <a:t>	작업 러너</a:t>
            </a:r>
          </a:p>
          <a:p>
            <a:r>
              <a:t>출퇴근 브리핑</a:t>
            </a:r>
          </a:p>
          <a:p>
            <a:r>
              <a:t>	BFF 규칙 기반 선정 · 모델 호출 없음	26	26	0	251ms	434ms	0	0	0	0	0	미제공</a:t>
            </a:r>
          </a:p>
          <a:p>
            <a:r>
              <a:t>	BFF 실측</a:t>
            </a:r>
          </a:p>
          <a:p>
            <a:r>
              <a:t>기업별 문서 판정</a:t>
            </a:r>
          </a:p>
          <a:p>
            <a:r>
              <a:t>	OpenAI 호환 · 명시적 스크립트 실행만	0	0	0	–	–	0	0	0	0	0	미제공</a:t>
            </a:r>
          </a:p>
          <a:p>
            <a:r>
              <a:t>	BFF 실측</a:t>
            </a:r>
          </a:p>
          <a:p>
            <a:r>
              <a:t>브리핑 회차 판정</a:t>
            </a:r>
          </a:p>
          <a:p>
            <a:r>
              <a:t>	OpenAI 호환 · 명시적 스크립트 실행만	0	0	0	–	–	0	0	0	0	0	미제공</a:t>
            </a:r>
          </a:p>
          <a:p>
            <a:r>
              <a:t>	BFF 실측</a:t>
            </a:r>
          </a:p>
          <a:p>
            <a:r>
              <a:t>최근 오류</a:t>
            </a:r>
          </a:p>
          <a:p/>
          <a:p>
            <a:r>
              <a:t>이 기간에 기록된 오류가 없어요.</a:t>
            </a:r>
          </a:p>
          <a:p/>
          <a:p>
            <a:r>
              <a:t>뉴스 분석 실행 기록</a:t>
            </a:r>
          </a:p>
          <a:p>
            <a:r>
              <a:t>뉴스 분석 실행 기록</a:t>
            </a:r>
          </a:p>
          <a:p>
            <a:r>
              <a:t>실행	정책	처리	승인	보류	거부	오류	모델 호출	입력 토큰	걸린 시간	출처</a:t>
            </a:r>
          </a:p>
          <a:p>
            <a:r>
              <a:t>완화 정책(웹 검증 없음) · 5cb8582b	완화(웹 검증 없음)	46	22	24	0	1	260	1,960,588	30분 45초	원장 DB</a:t>
            </a:r>
          </a:p>
          <a:p>
            <a:r>
              <a:t>완화 정책(웹 검증 없음) · f3cf7ebb	완화(웹 검증 없음)	34	14	20	0	2	170	1,081,478	22분 30초	원장 DB</a:t>
            </a:r>
          </a:p>
          <a:p>
            <a:r>
              <a:t>완화 정책(웹 검증 없음) · 47a71f86	완화(웹 검증 없음)	13	6	6	1	2	61	405,886	9분 41초	원장 DB</a:t>
            </a:r>
          </a:p>
          <a:p>
            <a:r>
              <a:t>완화 정책(웹 검증 없음) · 43365715	완화(웹 검증 없음)	56	3	53	0	1	260	1,950,299	25분 53초	원장 DB</a:t>
            </a:r>
          </a:p>
          <a:p>
            <a:r>
              <a:t>완화 정책(웹 검증 없음) · 2783665a	완화(웹 검증 없음)	41	5	36	0	9	200	1,217,498	28분 12초	원장 DB</a:t>
            </a:r>
          </a:p>
          <a:p>
            <a:r>
              <a:t>완화 정책(웹 검증 없음) · 0eae8419	완화(웹 검증 없음)	59	4	55	0	8	260	1,821,396	31분 47초	원장 DB</a:t>
            </a:r>
          </a:p>
          <a:p>
            <a:r>
              <a:t>완화 정책(웹 검증 없음) · 0095f34b	완화(웹 검증 없음)	53	19	34	0	7	250	1,877,302	48분 20초	원장 DB</a:t>
            </a:r>
          </a:p>
          <a:p>
            <a:r>
              <a:t>완화 정책(웹 검증 없음) · 4cae96ef	완화(웹 검증 없음)	51	19	32	0	15	260	1,893,430	38분 16초	원장 DB</a:t>
            </a:r>
          </a:p>
          <a:p>
            <a:r>
              <a:t>완화 정책(웹 검증 없음) · dbd6ae53	완화(웹 검증 없음)	54	10	44	0	6	250	1,746,260	27분 35초	원장 DB</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A-ADM-05.png</a:t>
            </a:r>
          </a:p>
          <a:p>
            <a:r>
              <a:t>좌표·클릭 후 실제 화면: A-ADM-05.json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회원 관리</a:t>
            </a:r>
          </a:p>
          <a:p>
            <a:r>
              <a:t>전체</a:t>
            </a:r>
          </a:p>
          <a:p>
            <a:r>
              <a:t>정상</a:t>
            </a:r>
          </a:p>
          <a:p>
            <a:r>
              <a:t>차단됨</a:t>
            </a:r>
          </a:p>
          <a:p>
            <a:r>
              <a:t>회원 검색</a:t>
            </a:r>
          </a:p>
          <a:p/>
          <a:p>
            <a:r>
              <a:t>전체 3명 · 정상 3 · 차단 0</a:t>
            </a:r>
          </a:p>
          <a:p/>
          <a:p>
            <a:r>
              <a:t>회원 목록</a:t>
            </a:r>
          </a:p>
          <a:p>
            <a:r>
              <a:t>회원(가명 id)	이메일(가림)	가입 방식	가입	최근 활동	로그인 세션	그래프 선택	AI 질문	브리핑 조회	상태</a:t>
            </a:r>
          </a:p>
          <a:p>
            <a:r>
              <a:t>M-50F4C503	p***@example.test	이메일	2026-10-06 12:38	2026-10-06 12:38	1	0	0	0	</a:t>
            </a:r>
          </a:p>
          <a:p>
            <a:r>
              <a:t>정상</a:t>
            </a:r>
          </a:p>
          <a:p>
            <a:r>
              <a:t>M-A85C3F86	s***@zoop.local	이메일	2026-10-03 17:12	2026-10-03 17:12	1	0	0	0	</a:t>
            </a:r>
          </a:p>
          <a:p>
            <a:r>
              <a:t>정상</a:t>
            </a:r>
          </a:p>
          <a:p>
            <a:r>
              <a:t>M-EBF98301	d***@zoop.local	이메일	2026-10-01 20:27	2026-10-06 12:43	6	41	2	0	</a:t>
            </a:r>
          </a:p>
          <a:p>
            <a:r>
              <a:t>정상</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 출처: A-ADM-05b.png</a:t>
            </a:r>
          </a:p>
          <a:p>
            <a:r>
              <a:t>좌표·클릭 후 실제 화면: A-ADM-05b.json</a:t>
            </a:r>
          </a:p>
          <a:p>
            <a:r>
              <a:t>본문으로 건너뛰기</a:t>
            </a:r>
          </a:p>
          <a:p>
            <a:r>
              <a:t>줍</a:t>
            </a:r>
          </a:p>
          <a:p>
            <a:r>
              <a:t>관리자</a:t>
            </a:r>
          </a:p>
          <a:p>
            <a:r>
              <a:t>대시보드</a:t>
            </a:r>
          </a:p>
          <a:p>
            <a:r>
              <a:t>이슈 관제</a:t>
            </a:r>
          </a:p>
          <a:p>
            <a:r>
              <a:t>AI 운영</a:t>
            </a:r>
          </a:p>
          <a:p>
            <a:r>
              <a:t>브리핑 운영</a:t>
            </a:r>
          </a:p>
          <a:p>
            <a:r>
              <a:t>이용 통계</a:t>
            </a:r>
          </a:p>
          <a:p>
            <a:r>
              <a:t>선호도</a:t>
            </a:r>
          </a:p>
          <a:p>
            <a:r>
              <a:t>회원 관리</a:t>
            </a:r>
          </a:p>
          <a:p>
            <a:r>
              <a:t>감사 로그</a:t>
            </a:r>
          </a:p>
          <a:p/>
          <a:p>
            <a:r>
              <a:t>데모 관리자</a:t>
            </a:r>
          </a:p>
          <a:p/>
          <a:p>
            <a:r>
              <a:t>로그아웃</a:t>
            </a:r>
          </a:p>
          <a:p>
            <a:r>
              <a:t>감사 로그</a:t>
            </a:r>
          </a:p>
          <a:p>
            <a:r>
              <a:t>동작</a:t>
            </a:r>
          </a:p>
          <a:p>
            <a:r>
              <a:t>모든 동작</a:t>
            </a:r>
          </a:p>
          <a:p>
            <a:r>
              <a:t>감사 로그 검색</a:t>
            </a:r>
          </a:p>
          <a:p>
            <a:r>
              <a:t>감사 로그</a:t>
            </a:r>
          </a:p>
          <a:p>
            <a:r>
              <a:t>시각	주체	동작	대상	결과	사유</a:t>
            </a:r>
          </a:p>
          <a:p>
            <a:r>
              <a:t>2026-10-06 12:43:55	admin@zoop.local	로그인	admin-session · admin-demo	</a:t>
            </a:r>
          </a:p>
          <a:p>
            <a:r>
              <a:t>완료	–</a:t>
            </a:r>
          </a:p>
          <a:p>
            <a:r>
              <a:t>2026-10-06 07:41:30	demo-replay@zoop.local	브리핑 생성	briefing-round · brf-2026-10-06-morning	</a:t>
            </a:r>
          </a:p>
          <a:p>
            <a:r>
              <a:t>완료	–</a:t>
            </a:r>
          </a:p>
          <a:p>
            <a:r>
              <a:t>2026-10-05 18:11:30	demo-replay@zoop.local	브리핑 생성	briefing-round · brf-2026-10-05-evening	</a:t>
            </a:r>
          </a:p>
          <a:p>
            <a:r>
              <a:t>완료	–</a:t>
            </a:r>
          </a:p>
          <a:p>
            <a:r>
              <a:t>2026-10-05 07:41:30	demo-replay@zoop.local	브리핑 생성	briefing-round · brf-2026-10-05-morning	</a:t>
            </a:r>
          </a:p>
          <a:p>
            <a:r>
              <a:t>완료	–</a:t>
            </a:r>
          </a:p>
          <a:p>
            <a:r>
              <a:t>2026-10-04 18:11:30	demo-replay@zoop.local	브리핑 생성	briefing-round · brf-2026-10-04-evening	</a:t>
            </a:r>
          </a:p>
          <a:p>
            <a:r>
              <a:t>완료	–</a:t>
            </a:r>
          </a:p>
          <a:p>
            <a:r>
              <a:t>2026-10-04 07:41:30	demo-replay@zoop.local	브리핑 생성	briefing-round · brf-2026-10-04-morning	</a:t>
            </a:r>
          </a:p>
          <a:p>
            <a:r>
              <a:t>완료	–</a:t>
            </a:r>
          </a:p>
          <a:p>
            <a:r>
              <a:t>2026-10-03 18:11:30	demo-replay@zoop.local	브리핑 생성	briefing-round · brf-2026-10-03-evening	</a:t>
            </a:r>
          </a:p>
          <a:p>
            <a:r>
              <a:t>완료	–</a:t>
            </a:r>
          </a:p>
          <a:p>
            <a:r>
              <a:t>2026-10-03 07:41:30	demo-replay@zoop.local	브리핑 생성	briefing-round · brf-2026-10-03-morning	</a:t>
            </a:r>
          </a:p>
          <a:p>
            <a:r>
              <a:t>완료	–</a:t>
            </a:r>
          </a:p>
          <a:p>
            <a:r>
              <a:t>2026-10-02 18:11:30	demo-replay@zoop.local	브리핑 생성	briefing-round · brf-2026-10-02-evening	</a:t>
            </a:r>
          </a:p>
          <a:p>
            <a:r>
              <a:t>완료	–</a:t>
            </a:r>
          </a:p>
          <a:p>
            <a:r>
              <a:t>2026-10-02 07:41:30	demo-replay@zoop.local	브리핑 생성	briefing-round · brf-2026-10-02-morning	</a:t>
            </a:r>
          </a:p>
          <a:p>
            <a:r>
              <a:t>완료	–</a:t>
            </a:r>
          </a:p>
          <a:p>
            <a:r>
              <a:t>2026-10-01 18:11:30	demo-replay@zoop.local	브리핑 생성	briefing-round · brf-2026-10-01-evening	</a:t>
            </a:r>
          </a:p>
          <a:p>
            <a:r>
              <a:t>완료	–</a:t>
            </a:r>
          </a:p>
          <a:p>
            <a:r>
              <a:t>2026-10-01 07:41:30	demo-replay@zoop.local	브리핑 생성	briefing-round · brf-2026-10-01-morning	</a:t>
            </a:r>
          </a:p>
          <a:p>
            <a:r>
              <a:t>완료	–</a:t>
            </a:r>
          </a:p>
          <a:p>
            <a:r>
              <a:t>2026-09-30 18:11:30	demo-replay@zoop.local	브리핑 생성	briefing-round · brf-2026-09-30-evening	</a:t>
            </a:r>
          </a:p>
          <a:p>
            <a:r>
              <a:t>완료	–</a:t>
            </a:r>
          </a:p>
          <a:p>
            <a:r>
              <a:t>2026-09-30 07:41:30	demo-replay@zoop.local	브리핑 생성	briefing-round · brf-2026-09-30-morning	</a:t>
            </a:r>
          </a:p>
          <a:p>
            <a:r>
              <a:t>완료	–</a:t>
            </a:r>
          </a:p>
          <a:p>
            <a:r>
              <a:t>2026-09-29 18:11:30	demo-replay@zoop.local	브리핑 생성	briefing-round · brf-2026-09-29-evening	</a:t>
            </a:r>
          </a:p>
          <a:p>
            <a:r>
              <a:t>완료	–</a:t>
            </a:r>
          </a:p>
          <a:p>
            <a:r>
              <a:t>2026-09-29 07:41:30	demo-replay@zoop.local	브리핑 생성	briefing-round · brf-2026-09-29-morning	</a:t>
            </a:r>
          </a:p>
          <a:p>
            <a:r>
              <a:t>완료	–</a:t>
            </a:r>
          </a:p>
          <a:p>
            <a:r>
              <a:t>2026-09-28 18:11:30	demo-replay@zoop.local	브리핑 생성	briefing-round · brf-2026-09-28-evening	</a:t>
            </a:r>
          </a:p>
          <a:p>
            <a:r>
              <a:t>완료	–</a:t>
            </a:r>
          </a:p>
          <a:p>
            <a:r>
              <a:t>2026-09-28 07:41:30	demo-replay@zoop.local	브리핑 생성	briefing-round · brf-2026-09-28-morning	</a:t>
            </a:r>
          </a:p>
          <a:p>
            <a:r>
              <a:t>완료	–</a:t>
            </a:r>
          </a:p>
          <a:p>
            <a:r>
              <a:t>2026-09-27 18:11:30	demo-replay@zoop.local	브리핑 생성	briefing-round · brf-2026-09-27-evening	</a:t>
            </a:r>
          </a:p>
          <a:p>
            <a:r>
              <a:t>완료	–</a:t>
            </a:r>
          </a:p>
          <a:p>
            <a:r>
              <a:t>2026-09-27 07:41:30	demo-replay@zoop.local	브리핑 생성	briefing-round · brf-2026-09-27-morning	</a:t>
            </a:r>
          </a:p>
          <a:p>
            <a:r>
              <a:t>완료	–</a:t>
            </a:r>
          </a:p>
          <a:p>
            <a:r>
              <a:t>2026-09-26 18:11:30	demo-replay@zoop.local	브리핑 생성	briefing-round · brf-2026-09-26-evening	</a:t>
            </a:r>
          </a:p>
          <a:p>
            <a:r>
              <a:t>완료	–</a:t>
            </a:r>
          </a:p>
          <a:p>
            <a:r>
              <a:t>2026-09-26 07:41:30	demo-replay@zoop.local	브리핑 생성	briefing-round · brf-2026-09-26-morning	</a:t>
            </a:r>
          </a:p>
          <a:p>
            <a:r>
              <a:t>완료	–</a:t>
            </a:r>
          </a:p>
          <a:p>
            <a:r>
              <a:t>2026-09-25 18:11:30	demo-replay@zoop.local	브리핑 생성	briefing-round · brf-2026-09-25-evening	</a:t>
            </a:r>
          </a:p>
          <a:p>
            <a:r>
              <a:t>완료	–</a:t>
            </a:r>
          </a:p>
          <a:p>
            <a:r>
              <a:t>2026-09-25 07:41:30	demo-replay@zoop.local	브리핑 생성	briefing-round · brf-2026-09-25-morning	</a:t>
            </a:r>
          </a:p>
          <a:p>
            <a:r>
              <a:t>완료	–</a:t>
            </a:r>
          </a:p>
          <a:p>
            <a:r>
              <a:t>2026-09-24 18:11:30	demo-replay@zoop.local	브리핑 생성	briefing-round · brf-2026-09-24-evening	</a:t>
            </a:r>
          </a:p>
          <a:p>
            <a:r>
              <a:t>완료	–</a:t>
            </a:r>
          </a:p>
          <a:p>
            <a:r>
              <a:t>2026-09-24 07:41:30	demo-replay@zoop.local	브리핑 생성	briefing-round · brf-2026-09-24-morning	</a:t>
            </a:r>
          </a:p>
          <a:p>
            <a:r>
              <a:t>완료	–</a:t>
            </a:r>
          </a:p>
          <a:p>
            <a:r>
              <a:t>2026-09-23 18:11:30	demo-replay@zoop.local	브리핑 생성	briefing-round · brf-2026-09-23-evening	</a:t>
            </a:r>
          </a:p>
          <a:p>
            <a:r>
              <a:t>완료	–</a:t>
            </a:r>
          </a:p>
          <a:p>
            <a:r>
              <a:t>2026-09-23 07:41:30	demo-replay@zoop.local	브리핑 생성	briefing-round · brf-2026-09-23-morning	</a:t>
            </a:r>
          </a:p>
          <a:p>
            <a:r>
              <a:t>완료	–</a:t>
            </a:r>
          </a:p>
          <a:p>
            <a:r>
              <a:t>2026-09-22 18:11:30	demo-replay@zoop.local	브리핑 생성	briefing-round · brf-2026-09-22-evening	</a:t>
            </a:r>
          </a:p>
          <a:p>
            <a:r>
              <a:t>완료	–</a:t>
            </a:r>
          </a:p>
          <a:p>
            <a:r>
              <a:t>2026-09-22 07:41:30	demo-replay@zoop.local	브리핑 생성	briefing-round · brf-2026-09-22-morning	</a:t>
            </a:r>
          </a:p>
          <a:p>
            <a:r>
              <a:t>완료	–</a:t>
            </a:r>
          </a:p>
          <a:p>
            <a:r>
              <a:t>2026-09-21 18:11:30	demo-replay@zoop.local	브리핑 생성	briefing-round · brf-2026-09-21-evening	</a:t>
            </a:r>
          </a:p>
          <a:p>
            <a:r>
              <a:t>완료	–</a:t>
            </a:r>
          </a:p>
          <a:p>
            <a:r>
              <a:t>2026-09-21 07:41:30	demo-replay@zoop.local	브리핑 생성	briefing-round · brf-2026-09-21-morning	</a:t>
            </a:r>
          </a:p>
          <a:p>
            <a:r>
              <a:t>완료	–</a:t>
            </a:r>
          </a:p>
          <a:p>
            <a:r>
              <a:t>2026-09-20 18:11:30	demo-replay@zoop.local	브리핑 생성	briefing-round · brf-2026-09-20-evening	</a:t>
            </a:r>
          </a:p>
          <a:p>
            <a:r>
              <a:t>완료	–</a:t>
            </a:r>
          </a:p>
          <a:p>
            <a:r>
              <a:t>2026-09-20 07:41:30	demo-replay@zoop.local	브리핑 생성	briefing-round · brf-2026-09-20-morning	</a:t>
            </a:r>
          </a:p>
          <a:p>
            <a:r>
              <a:t>완료	–</a:t>
            </a:r>
          </a:p>
          <a:p>
            <a:r>
              <a:t>2026-09-19 18:11:30	demo-replay@zoop.local	브리핑 생성	briefing-round · brf-2026-09-19-evening	</a:t>
            </a:r>
          </a:p>
          <a:p>
            <a:r>
              <a:t>완료	–</a:t>
            </a:r>
          </a:p>
          <a:p>
            <a:r>
              <a:t>2026-09-19 07:41:30	demo-replay@zoop.local	브리핑 생성	briefing-round · brf-2026-09-19-morning	</a:t>
            </a:r>
          </a:p>
          <a:p>
            <a:r>
              <a:t>완료	–</a:t>
            </a:r>
          </a:p>
          <a:p>
            <a:r>
              <a:t>2026-09-18 18:11:30	demo-replay@zoop.local	브리핑 생성	briefing-round · brf-2026-09-18-evening	</a:t>
            </a:r>
          </a:p>
          <a:p>
            <a:r>
              <a:t>완료	–</a:t>
            </a:r>
          </a:p>
          <a:p>
            <a:r>
              <a:t>2026-09-18 07:41:30	demo-replay@zoop.local	브리핑 생성	briefing-round · brf-2026-09-18-morning	</a:t>
            </a:r>
          </a:p>
          <a:p>
            <a:r>
              <a:t>완료	–</a:t>
            </a:r>
          </a:p>
          <a:p>
            <a:r>
              <a:t>2026-09-17 18:11:30	demo-replay@zoop.local	브리핑 생성	briefing-round · brf-2026-09-17-evening	</a:t>
            </a:r>
          </a:p>
          <a:p>
            <a:r>
              <a:t>완료	–</a:t>
            </a:r>
          </a:p>
          <a:p>
            <a:r>
              <a:t>2026-09-17 07:41:30	demo-replay@zoop.local	브리핑 생성	briefing-round · brf-2026-09-17-morning	</a:t>
            </a:r>
          </a:p>
          <a:p>
            <a:r>
              <a:t>완료	–</a:t>
            </a:r>
          </a:p>
          <a:p>
            <a:r>
              <a:t>2026-09-16 18:11:30	demo-replay@zoop.local	브리핑 생성	briefing-round · brf-2026-09-16-evening	</a:t>
            </a:r>
          </a:p>
          <a:p>
            <a:r>
              <a:t>완료	–</a:t>
            </a:r>
          </a:p>
          <a:p>
            <a:r>
              <a:t>2026-09-16 07:41:30	demo-replay@zoop.local	브리핑 생성	briefing-round · brf-2026-09-16-morning	</a:t>
            </a:r>
          </a:p>
          <a:p>
            <a:r>
              <a:t>완료	–</a:t>
            </a:r>
          </a:p>
          <a:p>
            <a:r>
              <a:t>2026-10-03 18:10:15	시스템	브리핑 생성	briefing-round · brf-2026-10-03-evening	</a:t>
            </a:r>
          </a:p>
          <a:p>
            <a:r>
              <a:t>완료	–</a:t>
            </a:r>
          </a:p>
          <a:p>
            <a:r>
              <a:t>2026-10-03 07:41:30	demo-replay@zoop.local	브리핑 생성	briefing-round · brf-2026-10-03-morning	</a:t>
            </a:r>
          </a:p>
          <a:p>
            <a:r>
              <a:t>완료	–</a:t>
            </a:r>
          </a:p>
          <a:p>
            <a:r>
              <a:t>2026-10-02 18:11:30	demo-replay@zoop.local	브리핑 생성	briefing-round · brf-2026-10-02-evening	</a:t>
            </a:r>
          </a:p>
          <a:p>
            <a:r>
              <a:t>완료	–</a:t>
            </a:r>
          </a:p>
          <a:p>
            <a:r>
              <a:t>2026-10-02 07:41:30	demo-replay@zoop.local	브리핑 생성	briefing-round · brf-2026-10-02-morning	</a:t>
            </a:r>
          </a:p>
          <a:p>
            <a:r>
              <a:t>완료	–</a:t>
            </a:r>
          </a:p>
          <a:p>
            <a:r>
              <a:t>2026-10-01 18:11:30	demo-replay@zoop.local	브리핑 생성	briefing-round · brf-2026-10-01-evening	</a:t>
            </a:r>
          </a:p>
          <a:p>
            <a:r>
              <a:t>완료	–</a:t>
            </a:r>
          </a:p>
          <a:p>
            <a:r>
              <a:t>2026-10-01 07:41:30	demo-replay@zoop.local	브리핑 생성	briefing-round · brf-2026-10-01-morning	</a:t>
            </a:r>
          </a:p>
          <a:p>
            <a:r>
              <a:t>완료	–</a:t>
            </a:r>
          </a:p>
          <a:p>
            <a:r>
              <a:t>2026-09-30 18:11:30	demo-replay@zoop.local	브리핑 생성	briefing-round · brf-2026-09-30-evening	</a:t>
            </a:r>
          </a:p>
          <a:p>
            <a:r>
              <a:t>완료	–</a:t>
            </a:r>
          </a:p>
          <a:p>
            <a:r>
              <a:t>2026-09-30 07:41:30	demo-replay@zoop.local	브리핑 생성	briefing-round · brf-2026-09-30-morning	</a:t>
            </a:r>
          </a:p>
          <a:p>
            <a:r>
              <a:t>완료	–</a:t>
            </a:r>
          </a:p>
          <a:p>
            <a:r>
              <a:t>기록 더 보기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8.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COVER   줍 화면계획서 v2.1</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프로토타입 기준 · 2026-10-06</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01</a:t>
            </a:r>
          </a:p>
        </p:txBody>
      </p:sp>
      <p:sp>
        <p:nvSpPr>
          <p:cNvPr id="7" name="TextBox 6"/>
          <p:cNvSpPr txBox="1"/>
          <p:nvPr/>
        </p:nvSpPr>
        <p:spPr>
          <a:xfrm>
            <a:off x="731520" y="1828800"/>
            <a:ext cx="12527280" cy="1417320"/>
          </a:xfrm>
          <a:prstGeom prst="rect">
            <a:avLst/>
          </a:prstGeom>
          <a:noFill/>
        </p:spPr>
        <p:txBody>
          <a:bodyPr wrap="square" lIns="27432" rIns="27432" tIns="27432" bIns="0">
            <a:spAutoFit/>
          </a:bodyPr>
          <a:lstStyle/>
          <a:p>
            <a:pPr>
              <a:lnSpc>
                <a:spcPct val="112000"/>
              </a:lnSpc>
              <a:spcAft>
                <a:spcPts val="600"/>
              </a:spcAft>
              <a:defRPr sz="4000" b="1">
                <a:solidFill>
                  <a:srgbClr val="0A5C48"/>
                </a:solidFill>
                <a:latin typeface="SUIT"/>
              </a:defRPr>
            </a:pPr>
            <a:r>
              <a:rPr>
                <a:ea typeface="SUIT"/>
              </a:rPr>
              <a:t>실제 화면에서</a:t>
            </a:r>
          </a:p>
          <a:p>
            <a:pPr>
              <a:lnSpc>
                <a:spcPct val="112000"/>
              </a:lnSpc>
              <a:spcAft>
                <a:spcPts val="600"/>
              </a:spcAft>
              <a:defRPr sz="4000" b="1">
                <a:solidFill>
                  <a:srgbClr val="0A5C48"/>
                </a:solidFill>
                <a:latin typeface="SUIT"/>
              </a:defRPr>
            </a:pPr>
            <a:r>
              <a:rPr>
                <a:ea typeface="SUIT"/>
              </a:rPr>
              <a:t>근거 확인까지</a:t>
            </a:r>
          </a:p>
        </p:txBody>
      </p:sp>
      <p:sp>
        <p:nvSpPr>
          <p:cNvPr id="8" name="TextBox 7"/>
          <p:cNvSpPr txBox="1"/>
          <p:nvPr/>
        </p:nvSpPr>
        <p:spPr>
          <a:xfrm>
            <a:off x="731520" y="3931920"/>
            <a:ext cx="12344400" cy="2468880"/>
          </a:xfrm>
          <a:prstGeom prst="rect">
            <a:avLst/>
          </a:prstGeom>
          <a:noFill/>
        </p:spPr>
        <p:txBody>
          <a:bodyPr wrap="square" lIns="27432" rIns="27432" tIns="27432" bIns="0">
            <a:spAutoFit/>
          </a:bodyPr>
          <a:lstStyle/>
          <a:p>
            <a:pPr>
              <a:lnSpc>
                <a:spcPct val="112000"/>
              </a:lnSpc>
              <a:spcAft>
                <a:spcPts val="600"/>
              </a:spcAft>
              <a:defRPr sz="2100" b="0">
                <a:solidFill>
                  <a:srgbClr val="19201D"/>
                </a:solidFill>
                <a:latin typeface="SUIT"/>
              </a:defRPr>
            </a:pPr>
            <a:r>
              <a:rPr>
                <a:ea typeface="SUIT"/>
              </a:rPr>
              <a:t>기능명세·요구사항 10-06 고정본 + 현재 프로토타입</a:t>
            </a:r>
          </a:p>
          <a:p>
            <a:pPr>
              <a:lnSpc>
                <a:spcPct val="112000"/>
              </a:lnSpc>
              <a:spcAft>
                <a:spcPts val="600"/>
              </a:spcAft>
              <a:defRPr sz="2100" b="0">
                <a:solidFill>
                  <a:srgbClr val="19201D"/>
                </a:solidFill>
                <a:latin typeface="SUIT"/>
              </a:defRPr>
            </a:pPr>
            <a:r>
              <a:rPr>
                <a:ea typeface="SUIT"/>
              </a:rPr>
              <a:t>종목 메뉴 · 기업 전환 · 시점 관계 그래프 · 시간 버킷</a:t>
            </a:r>
          </a:p>
          <a:p>
            <a:pPr>
              <a:lnSpc>
                <a:spcPct val="112000"/>
              </a:lnSpc>
              <a:spcAft>
                <a:spcPts val="600"/>
              </a:spcAft>
              <a:defRPr sz="2100" b="0">
                <a:solidFill>
                  <a:srgbClr val="19201D"/>
                </a:solidFill>
                <a:latin typeface="SUIT"/>
              </a:defRPr>
            </a:pPr>
            <a:r>
              <a:rPr>
                <a:ea typeface="SUIT"/>
              </a:rPr>
              <a:t>모의 계좌 + 실제 기사 저장본을 사용한 시연이에요.</a:t>
            </a:r>
          </a:p>
          <a:p>
            <a:pPr>
              <a:lnSpc>
                <a:spcPct val="112000"/>
              </a:lnSpc>
              <a:spcAft>
                <a:spcPts val="600"/>
              </a:spcAft>
              <a:defRPr sz="2100" b="0">
                <a:solidFill>
                  <a:srgbClr val="19201D"/>
                </a:solidFill>
                <a:latin typeface="SUIT"/>
              </a:defRPr>
            </a:pPr>
            <a:r>
              <a:rPr>
                <a:ea typeface="SUIT"/>
              </a:rPr>
              <a:t>긍부정은 디자인시스템 예시만 있으며 데모 판정값은 없어요.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HISTORY   변경 이력·v1.7 대비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작성 명세 §팀 v1.7 판정 · review.md 머리 Main 정정</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02</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채택 6</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장 마감 보드의 회차 비교 → 퇴근 브리핑</a:t>
            </a:r>
          </a:p>
          <a:p>
            <a:pPr>
              <a:lnSpc>
                <a:spcPct val="112000"/>
              </a:lnSpc>
              <a:spcAft>
                <a:spcPts val="600"/>
              </a:spcAft>
              <a:defRPr sz="1800" b="0">
                <a:solidFill>
                  <a:srgbClr val="19201D"/>
                </a:solidFill>
                <a:latin typeface="SUIT"/>
              </a:defRPr>
            </a:pPr>
            <a:r>
              <a:rPr>
                <a:ea typeface="SUIT"/>
              </a:rPr>
              <a:t>2. 모바일 아침 이후 바뀐 내용 → 신규·이어짐·빠짐</a:t>
            </a:r>
          </a:p>
          <a:p>
            <a:pPr>
              <a:lnSpc>
                <a:spcPct val="112000"/>
              </a:lnSpc>
              <a:spcAft>
                <a:spcPts val="600"/>
              </a:spcAft>
              <a:defRPr sz="1800" b="0">
                <a:solidFill>
                  <a:srgbClr val="19201D"/>
                </a:solidFill>
                <a:latin typeface="SUIT"/>
              </a:defRPr>
            </a:pPr>
            <a:r>
              <a:rPr>
                <a:ea typeface="SUIT"/>
              </a:rPr>
              <a:t>3. 근거·원문 접근 상태 → 제공 불가와 실패 분리</a:t>
            </a:r>
          </a:p>
          <a:p>
            <a:pPr>
              <a:lnSpc>
                <a:spcPct val="112000"/>
              </a:lnSpc>
              <a:spcAft>
                <a:spcPts val="600"/>
              </a:spcAft>
              <a:defRPr sz="1800" b="0">
                <a:solidFill>
                  <a:srgbClr val="19201D"/>
                </a:solidFill>
                <a:latin typeface="SUIT"/>
              </a:defRPr>
            </a:pPr>
            <a:r>
              <a:rPr>
                <a:ea typeface="SUIT"/>
              </a:rPr>
              <a:t>4. 차트·사건 시점 겹침 → 인과관계 아님 고지</a:t>
            </a:r>
          </a:p>
          <a:p>
            <a:pPr>
              <a:lnSpc>
                <a:spcPct val="112000"/>
              </a:lnSpc>
              <a:spcAft>
                <a:spcPts val="600"/>
              </a:spcAft>
              <a:defRPr sz="1800" b="0">
                <a:solidFill>
                  <a:srgbClr val="19201D"/>
                </a:solidFill>
                <a:latin typeface="SUIT"/>
              </a:defRPr>
            </a:pPr>
            <a:r>
              <a:rPr>
                <a:ea typeface="SUIT"/>
              </a:rPr>
              <a:t>5. 모바일 AI 탭 → 기존 질문 창 열기</a:t>
            </a:r>
          </a:p>
          <a:p>
            <a:pPr>
              <a:lnSpc>
                <a:spcPct val="112000"/>
              </a:lnSpc>
              <a:spcAft>
                <a:spcPts val="600"/>
              </a:spcAft>
              <a:defRPr sz="1800" b="0">
                <a:solidFill>
                  <a:srgbClr val="19201D"/>
                </a:solidFill>
                <a:latin typeface="SUIT"/>
              </a:defRPr>
            </a:pPr>
            <a:r>
              <a:rPr>
                <a:ea typeface="SUIT"/>
              </a:rPr>
              <a:t>6. 비회원 권한표·관리자 감사 규칙의 형식</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불채택 6</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D-GRP-06 간선 모달 → FS022·D03과 충돌</a:t>
            </a:r>
          </a:p>
          <a:p>
            <a:pPr>
              <a:lnSpc>
                <a:spcPct val="112000"/>
              </a:lnSpc>
              <a:spcAft>
                <a:spcPts val="600"/>
              </a:spcAft>
              <a:defRPr sz="1800" b="0">
                <a:solidFill>
                  <a:srgbClr val="19201D"/>
                </a:solidFill>
                <a:latin typeface="SUIT"/>
              </a:defRPr>
            </a:pPr>
            <a:r>
              <a:rPr>
                <a:ea typeface="SUIT"/>
              </a:rPr>
              <a:t>2. 외부 원인 10종·공급/경쟁 직결선 → 데이터 없음</a:t>
            </a:r>
          </a:p>
          <a:p>
            <a:pPr>
              <a:lnSpc>
                <a:spcPct val="112000"/>
              </a:lnSpc>
              <a:spcAft>
                <a:spcPts val="600"/>
              </a:spcAft>
              <a:defRPr sz="1800" b="0">
                <a:solidFill>
                  <a:srgbClr val="19201D"/>
                </a:solidFill>
                <a:latin typeface="SUIT"/>
              </a:defRPr>
            </a:pPr>
            <a:r>
              <a:rPr>
                <a:ea typeface="SUIT"/>
              </a:rPr>
              <a:t>3. 긍정/부정 가능 배지 → 방향 값 생산자 없음</a:t>
            </a:r>
          </a:p>
          <a:p>
            <a:pPr>
              <a:lnSpc>
                <a:spcPct val="112000"/>
              </a:lnSpc>
              <a:spcAft>
                <a:spcPts val="600"/>
              </a:spcAft>
              <a:defRPr sz="1800" b="0">
                <a:solidFill>
                  <a:srgbClr val="19201D"/>
                </a:solidFill>
                <a:latin typeface="SUIT"/>
              </a:defRPr>
            </a:pPr>
            <a:r>
              <a:rPr>
                <a:ea typeface="SUIT"/>
              </a:rPr>
              <a:t>4. 모듈별 6색·카드 좌측 막대 → 색은 뜻에만</a:t>
            </a:r>
          </a:p>
          <a:p>
            <a:pPr>
              <a:lnSpc>
                <a:spcPct val="112000"/>
              </a:lnSpc>
              <a:spcAft>
                <a:spcPts val="600"/>
              </a:spcAft>
              <a:defRPr sz="1800" b="0">
                <a:solidFill>
                  <a:srgbClr val="19201D"/>
                </a:solidFill>
                <a:latin typeface="SUIT"/>
              </a:defRPr>
            </a:pPr>
            <a:r>
              <a:rPr>
                <a:ea typeface="SUIT"/>
              </a:rPr>
              <a:t>5. 관심 최대 3개 → 무제한·0개 허용</a:t>
            </a:r>
          </a:p>
          <a:p>
            <a:pPr>
              <a:lnSpc>
                <a:spcPct val="112000"/>
              </a:lnSpc>
              <a:spcAft>
                <a:spcPts val="600"/>
              </a:spcAft>
              <a:defRPr sz="1800" b="0">
                <a:solidFill>
                  <a:srgbClr val="19201D"/>
                </a:solidFill>
                <a:latin typeface="SUIT"/>
              </a:defRPr>
            </a:pPr>
            <a:r>
              <a:rPr>
                <a:ea typeface="SUIT"/>
              </a:rPr>
              <a:t>6. 08:00/18:00 → 07:40/18:10 생성 시작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HISTORY-21   변경 이력 · v2.0 → v2.1</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doc-delta-2026-10-06.md §2.2 · design-direction.md §5.3·§5.10</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03</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화면·동작</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지도 목록을 독립 종목 메뉴로 분리</a:t>
            </a:r>
          </a:p>
          <a:p>
            <a:pPr>
              <a:lnSpc>
                <a:spcPct val="112000"/>
              </a:lnSpc>
              <a:spcAft>
                <a:spcPts val="600"/>
              </a:spcAft>
              <a:defRPr sz="1800" b="0">
                <a:solidFill>
                  <a:srgbClr val="19201D"/>
                </a:solidFill>
                <a:latin typeface="SUIT"/>
              </a:defRPr>
            </a:pPr>
            <a:r>
              <a:rPr>
                <a:ea typeface="SUIT"/>
              </a:rPr>
              <a:t>2. 데스크톱 4메뉴·모바일 하단 5탭</a:t>
            </a:r>
          </a:p>
          <a:p>
            <a:pPr>
              <a:lnSpc>
                <a:spcPct val="112000"/>
              </a:lnSpc>
              <a:spcAft>
                <a:spcPts val="600"/>
              </a:spcAft>
              <a:defRPr sz="1800" b="0">
                <a:solidFill>
                  <a:srgbClr val="19201D"/>
                </a:solidFill>
                <a:latin typeface="SUIT"/>
              </a:defRPr>
            </a:pPr>
            <a:r>
              <a:rPr>
                <a:ea typeface="SUIT"/>
              </a:rPr>
              <a:t>3. 기업 패널의 시세·추이·주요 지표</a:t>
            </a:r>
          </a:p>
          <a:p>
            <a:pPr>
              <a:lnSpc>
                <a:spcPct val="112000"/>
              </a:lnSpc>
              <a:spcAft>
                <a:spcPts val="600"/>
              </a:spcAft>
              <a:defRPr sz="1800" b="0">
                <a:solidFill>
                  <a:srgbClr val="19201D"/>
                </a:solidFill>
                <a:latin typeface="SUIT"/>
              </a:defRPr>
            </a:pPr>
            <a:r>
              <a:rPr>
                <a:ea typeface="SUIT"/>
              </a:rPr>
              <a:t>4. 기업 상세의 좌측 전환·관계 그래프</a:t>
            </a:r>
          </a:p>
          <a:p>
            <a:pPr>
              <a:lnSpc>
                <a:spcPct val="112000"/>
              </a:lnSpc>
              <a:spcAft>
                <a:spcPts val="600"/>
              </a:spcAft>
              <a:defRPr sz="1800" b="0">
                <a:solidFill>
                  <a:srgbClr val="19201D"/>
                </a:solidFill>
                <a:latin typeface="SUIT"/>
              </a:defRPr>
            </a:pPr>
            <a:r>
              <a:rPr>
                <a:ea typeface="SUIT"/>
              </a:rPr>
              <a:t>5. 시간 버킷·차트·그래프 선택 연동</a:t>
            </a:r>
          </a:p>
          <a:p>
            <a:pPr>
              <a:lnSpc>
                <a:spcPct val="112000"/>
              </a:lnSpc>
              <a:spcAft>
                <a:spcPts val="600"/>
              </a:spcAft>
              <a:defRPr sz="1800" b="0">
                <a:solidFill>
                  <a:srgbClr val="19201D"/>
                </a:solidFill>
                <a:latin typeface="SUIT"/>
              </a:defRPr>
            </a:pPr>
            <a:r>
              <a:rPr>
                <a:ea typeface="SUIT"/>
              </a:rPr>
              <a:t>6. 차트 시점 선택 → asOf 공개 기준 변경</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근거·문서</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요구사항 10-06의 85개 레코드 번호로 갱신</a:t>
            </a:r>
          </a:p>
          <a:p>
            <a:pPr>
              <a:lnSpc>
                <a:spcPct val="112000"/>
              </a:lnSpc>
              <a:spcAft>
                <a:spcPts val="600"/>
              </a:spcAft>
              <a:defRPr sz="1800" b="0">
                <a:solidFill>
                  <a:srgbClr val="19201D"/>
                </a:solidFill>
                <a:latin typeface="SUIT"/>
              </a:defRPr>
            </a:pPr>
            <a:r>
              <a:rPr>
                <a:ea typeface="SUIT"/>
              </a:rPr>
              <a:t>FS037 종목 메뉴를 데스크톱·모바일에 추가</a:t>
            </a:r>
          </a:p>
          <a:p>
            <a:pPr>
              <a:lnSpc>
                <a:spcPct val="112000"/>
              </a:lnSpc>
              <a:spcAft>
                <a:spcPts val="600"/>
              </a:spcAft>
              <a:defRPr sz="1800" b="0">
                <a:solidFill>
                  <a:srgbClr val="19201D"/>
                </a:solidFill>
                <a:latin typeface="SUIT"/>
              </a:defRPr>
            </a:pPr>
            <a:r>
              <a:rPr>
                <a:ea typeface="SUIT"/>
              </a:rPr>
              <a:t>모바일 기업 전환 시트를 별도 화면으로 기록</a:t>
            </a:r>
          </a:p>
          <a:p>
            <a:pPr>
              <a:lnSpc>
                <a:spcPct val="112000"/>
              </a:lnSpc>
              <a:spcAft>
                <a:spcPts val="600"/>
              </a:spcAft>
              <a:defRPr sz="1800" b="0">
                <a:solidFill>
                  <a:srgbClr val="19201D"/>
                </a:solidFill>
                <a:latin typeface="SUIT"/>
              </a:defRPr>
            </a:pPr>
            <a:r>
              <a:rPr>
                <a:ea typeface="SUIT"/>
              </a:rPr>
              <a:t>긍부정·회차 판단은 디자인시스템 예시 명시</a:t>
            </a:r>
          </a:p>
          <a:p>
            <a:pPr>
              <a:lnSpc>
                <a:spcPct val="112000"/>
              </a:lnSpc>
              <a:spcAft>
                <a:spcPts val="600"/>
              </a:spcAft>
              <a:defRPr sz="1800" b="0">
                <a:solidFill>
                  <a:srgbClr val="19201D"/>
                </a:solidFill>
                <a:latin typeface="SUIT"/>
              </a:defRPr>
            </a:pPr>
            <a:r>
              <a:rPr>
                <a:ea typeface="SUIT"/>
              </a:rPr>
              <a:t>데모에는 실제 모델 호출·판정값이 없어요.</a:t>
            </a:r>
          </a:p>
          <a:p>
            <a:pPr>
              <a:lnSpc>
                <a:spcPct val="112000"/>
              </a:lnSpc>
              <a:spcAft>
                <a:spcPts val="600"/>
              </a:spcAft>
              <a:defRPr sz="1800" b="0">
                <a:solidFill>
                  <a:srgbClr val="19201D"/>
                </a:solidFill>
                <a:latin typeface="SUIT"/>
              </a:defRPr>
            </a:pPr>
            <a:r>
              <a:rPr>
                <a:ea typeface="SUIT"/>
              </a:rPr>
              <a:t>부록 문서 체계와 기능·API·WBS 추적 연결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GUIDE   읽는 법</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captures/*.json clickEvidence · spec-v1.2-gap.md §0.3</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04</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화면·번호</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D: 데스크톱 · M: 모바일 · A: 관리자</a:t>
            </a:r>
          </a:p>
          <a:p>
            <a:pPr>
              <a:lnSpc>
                <a:spcPct val="112000"/>
              </a:lnSpc>
              <a:spcAft>
                <a:spcPts val="600"/>
              </a:spcAft>
              <a:defRPr sz="1800" b="0">
                <a:solidFill>
                  <a:srgbClr val="19201D"/>
                </a:solidFill>
                <a:latin typeface="SUIT"/>
              </a:defRPr>
            </a:pPr>
            <a:r>
              <a:rPr>
                <a:ea typeface="SUIT"/>
              </a:rPr>
              <a:t>AUT 시작 / ONB 설정 / WAT 관심</a:t>
            </a:r>
          </a:p>
          <a:p>
            <a:pPr>
              <a:lnSpc>
                <a:spcPct val="112000"/>
              </a:lnSpc>
              <a:spcAft>
                <a:spcPts val="600"/>
              </a:spcAft>
              <a:defRPr sz="1800" b="0">
                <a:solidFill>
                  <a:srgbClr val="19201D"/>
                </a:solidFill>
                <a:latin typeface="SUIT"/>
              </a:defRPr>
            </a:pPr>
            <a:r>
              <a:rPr>
                <a:ea typeface="SUIT"/>
              </a:rPr>
              <a:t>GRP 지도 / STK 종목 / COM 기업</a:t>
            </a:r>
          </a:p>
          <a:p>
            <a:pPr>
              <a:lnSpc>
                <a:spcPct val="112000"/>
              </a:lnSpc>
              <a:spcAft>
                <a:spcPts val="600"/>
              </a:spcAft>
              <a:defRPr sz="1800" b="0">
                <a:solidFill>
                  <a:srgbClr val="19201D"/>
                </a:solidFill>
                <a:latin typeface="SUIT"/>
              </a:defRPr>
            </a:pPr>
            <a:r>
              <a:rPr>
                <a:ea typeface="SUIT"/>
              </a:rPr>
              <a:t>BRF 브리핑 / AI 질문 / MY 내 종목</a:t>
            </a:r>
          </a:p>
          <a:p>
            <a:pPr>
              <a:lnSpc>
                <a:spcPct val="112000"/>
              </a:lnSpc>
              <a:spcAft>
                <a:spcPts val="600"/>
              </a:spcAft>
              <a:defRPr sz="1800" b="0">
                <a:solidFill>
                  <a:srgbClr val="19201D"/>
                </a:solidFill>
                <a:latin typeface="SUIT"/>
              </a:defRPr>
            </a:pPr>
            <a:r>
              <a:rPr>
                <a:ea typeface="SUIT"/>
              </a:rPr>
              <a:t>ADM 운영 / SEN 디자인시스템 예시</a:t>
            </a:r>
          </a:p>
          <a:p>
            <a:pPr>
              <a:lnSpc>
                <a:spcPct val="112000"/>
              </a:lnSpc>
              <a:spcAft>
                <a:spcPts val="600"/>
              </a:spcAft>
              <a:defRPr sz="1800" b="0">
                <a:solidFill>
                  <a:srgbClr val="19201D"/>
                </a:solidFill>
                <a:latin typeface="SUIT"/>
              </a:defRPr>
            </a:pPr>
            <a:r>
              <a:rPr>
                <a:ea typeface="SUIT"/>
              </a:rPr>
              <a:t>b/c: 추가 상태 · T2~T5: 튜토리얼 단계</a:t>
            </a:r>
          </a:p>
          <a:p>
            <a:pPr>
              <a:lnSpc>
                <a:spcPct val="112000"/>
              </a:lnSpc>
              <a:spcAft>
                <a:spcPts val="600"/>
              </a:spcAft>
              <a:defRPr sz="1800" b="0">
                <a:solidFill>
                  <a:srgbClr val="19201D"/>
                </a:solidFill>
                <a:latin typeface="SUIT"/>
              </a:defRPr>
            </a:pPr>
            <a:r>
              <a:rPr>
                <a:ea typeface="SUIT"/>
              </a:rPr>
              <a:t>상자: 실제 조작 요소 · 원: 32px 번호</a:t>
            </a:r>
          </a:p>
          <a:p>
            <a:pPr>
              <a:lnSpc>
                <a:spcPct val="112000"/>
              </a:lnSpc>
              <a:spcAft>
                <a:spcPts val="600"/>
              </a:spcAft>
              <a:defRPr sz="1800" b="0">
                <a:solidFill>
                  <a:srgbClr val="19201D"/>
                </a:solidFill>
                <a:latin typeface="SUIT"/>
              </a:defRPr>
            </a:pPr>
            <a:r>
              <a:rPr>
                <a:ea typeface="SUIT"/>
              </a:rPr>
              <a:t>한 화면의 주요 조작은 3~6개예요.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상태·근거</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상태 칸: 그 화면에 구현된 상태</a:t>
            </a:r>
          </a:p>
          <a:p>
            <a:pPr>
              <a:lnSpc>
                <a:spcPct val="112000"/>
              </a:lnSpc>
              <a:spcAft>
                <a:spcPts val="600"/>
              </a:spcAft>
              <a:defRPr sz="1800" b="0">
                <a:solidFill>
                  <a:srgbClr val="19201D"/>
                </a:solidFill>
                <a:latin typeface="SUIT"/>
              </a:defRPr>
            </a:pPr>
            <a:r>
              <a:rPr>
                <a:ea typeface="SUIT"/>
              </a:rPr>
              <a:t>기존 상태 캡처는 docs/design/ 파일로 참조</a:t>
            </a:r>
          </a:p>
          <a:p>
            <a:pPr>
              <a:lnSpc>
                <a:spcPct val="112000"/>
              </a:lnSpc>
              <a:spcAft>
                <a:spcPts val="600"/>
              </a:spcAft>
              <a:defRPr sz="1800" b="0">
                <a:solidFill>
                  <a:srgbClr val="19201D"/>
                </a:solidFill>
                <a:latin typeface="SUIT"/>
              </a:defRPr>
            </a:pPr>
            <a:r>
              <a:rPr>
                <a:ea typeface="SUIT"/>
              </a:rPr>
              <a:t>코드 경로는 prototype/web/src/ 기준</a:t>
            </a:r>
          </a:p>
          <a:p>
            <a:pPr>
              <a:lnSpc>
                <a:spcPct val="112000"/>
              </a:lnSpc>
              <a:spcAft>
                <a:spcPts val="600"/>
              </a:spcAft>
              <a:defRPr sz="1800" b="0">
                <a:solidFill>
                  <a:srgbClr val="19201D"/>
                </a:solidFill>
                <a:latin typeface="SUIT"/>
              </a:defRPr>
            </a:pPr>
            <a:r>
              <a:rPr>
                <a:ea typeface="SUIT"/>
              </a:rPr>
              <a:t>번호 행동: 실제 클릭 결과 또는 확인한 이동 참조</a:t>
            </a:r>
          </a:p>
          <a:p>
            <a:pPr>
              <a:lnSpc>
                <a:spcPct val="112000"/>
              </a:lnSpc>
              <a:spcAft>
                <a:spcPts val="600"/>
              </a:spcAft>
              <a:defRPr sz="1800" b="0">
                <a:solidFill>
                  <a:srgbClr val="19201D"/>
                </a:solidFill>
                <a:latin typeface="SUIT"/>
              </a:defRPr>
            </a:pPr>
            <a:r>
              <a:rPr>
                <a:ea typeface="SUIT"/>
              </a:rPr>
              <a:t>모바일: 누르기 전 / 누른 뒤</a:t>
            </a:r>
          </a:p>
          <a:p>
            <a:pPr>
              <a:lnSpc>
                <a:spcPct val="112000"/>
              </a:lnSpc>
              <a:spcAft>
                <a:spcPts val="600"/>
              </a:spcAft>
              <a:defRPr sz="1800" b="0">
                <a:solidFill>
                  <a:srgbClr val="19201D"/>
                </a:solidFill>
                <a:latin typeface="SUIT"/>
              </a:defRPr>
            </a:pPr>
            <a:r>
              <a:rPr>
                <a:ea typeface="SUIT"/>
              </a:rPr>
              <a:t>빈 상태와 요청 실패·권한 제한을 구분해요.</a:t>
            </a:r>
          </a:p>
          <a:p>
            <a:pPr>
              <a:lnSpc>
                <a:spcPct val="112000"/>
              </a:lnSpc>
              <a:spcAft>
                <a:spcPts val="600"/>
              </a:spcAft>
              <a:defRPr sz="1800" b="0">
                <a:solidFill>
                  <a:srgbClr val="19201D"/>
                </a:solidFill>
                <a:latin typeface="SUIT"/>
              </a:defRPr>
            </a:pPr>
            <a:r>
              <a:rPr>
                <a:ea typeface="SUIT"/>
              </a:rPr>
              <a:t>실행에서 못 본 결과는 성공으로 쓰지 않아요.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MAP-01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05</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D-AUT-01</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/login</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UI-01</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FS001 · FS002 · FS005 · FS006</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D-AUT-02</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/signup</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UI-01</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FS003 · FS006</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D-AUT-03</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/mock-idp</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개발용</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FS004 · FS061</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D-ONB-01</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FS008</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D-ONB-02</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FS009 · FS010 · FS062</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D-WAT-01</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FS011-01 · FS011-02 · FS012 · FS013</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D-WAT-01b</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/onboarding</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UI-02</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FS012</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D-GRP-01</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FS018 · FS019</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D-GRP-01b</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FS017 · FS019 · FS026</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MAP-02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06</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D-GRP-T2</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D-GRP-T3</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D-GRP-T4</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D-GRP-T5</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/?mode=…&amp;tour=1</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FS015 · FS016</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D-GRP-02</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UI-04</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FS021 · FS024</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UI-04</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FS020 · FS026 · FS027</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D-GRP-04</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UI-05</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FS023 · FS024</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/?mode=…&amp;impact=…</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UI-09</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FS024</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D-GRP-06</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/?mode=…&amp;impact=…</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UI-03+04</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FS022 · FS024</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D-GRP-07</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/?mode=…&amp;path=…</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FS020 · FS023</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MAP-03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07</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D-GRP-07b</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/?mode=…&amp;select=…</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FS020</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D-STK-01</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/companies?q=%EC%82%BC%EC%84%B1</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FS037</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FS037 · FS027</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D-COM-01</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FS039 · FS040 · FS044</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D-COM-01b</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FS040 · FS041</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D-COM-02</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FS040 · FS041 · FS043</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D-COM-03</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FS044</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D-COM-04</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FS040 · FS044</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D-COM-05</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FS040 · FS041 · FS044</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D-COM-06</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FS040 · FS041 · FS044</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D-MY-01</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/me/stocks</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신규</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FS027 · FS054 · FS062</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MAP-04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08</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D-BRF-01</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/briefing?date=…&amp;edition=…</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UI-08</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FS028 · FS030 · FS031 · FS033 · FS035</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D-BRF-02</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/briefing?date=…&amp;edition=…</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UI-08</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FS029 · FS030 · FS031 · FS033 · FS035</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D-BRF-04</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/?round=…</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FS032 · FS035</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D-AI-01</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FS025 · FS045 · FS047 · FS048</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D-AI-01b</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FS047</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D-AI-02</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FS046 · FS049 · FS051 · FS052-02 · FS053 · NFS003</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D-AI-02b</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/?select=… (AI 질문 창)</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FS053 · NFS003</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M-GRP-01</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/?mode=…</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UI-03+04</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FS018 · FS020</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M-STK-01</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/companies?q=%EC%82%BC%EC%84%B1</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FS037</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FS037 · FS027</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M-BRF-01</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/briefing?date=…&amp;edition=…</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UI-08</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FS029 · FS031 · FS033</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MAP-05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09</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M-AI-01</a:t>
            </a:r>
          </a:p>
        </p:txBody>
      </p:sp>
      <p:sp>
        <p:nvSpPr>
          <p:cNvPr id="12" name="TextBox 11"/>
          <p:cNvSpPr txBox="1"/>
          <p:nvPr/>
        </p:nvSpPr>
        <p:spPr>
          <a:xfrm>
            <a:off x="2697479" y="207568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 (AI 질문 창)</a:t>
            </a:r>
          </a:p>
        </p:txBody>
      </p:sp>
      <p:sp>
        <p:nvSpPr>
          <p:cNvPr id="13" name="TextBox 12"/>
          <p:cNvSpPr txBox="1"/>
          <p:nvPr/>
        </p:nvSpPr>
        <p:spPr>
          <a:xfrm>
            <a:off x="7452360" y="207568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UI-10</a:t>
            </a:r>
          </a:p>
        </p:txBody>
      </p:sp>
      <p:sp>
        <p:nvSpPr>
          <p:cNvPr id="14" name="TextBox 13"/>
          <p:cNvSpPr txBox="1"/>
          <p:nvPr/>
        </p:nvSpPr>
        <p:spPr>
          <a:xfrm>
            <a:off x="9829800" y="207568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FS045 · FS052-02</a:t>
            </a:r>
          </a:p>
        </p:txBody>
      </p:sp>
      <p:cxnSp>
        <p:nvCxnSpPr>
          <p:cNvPr id="15" name="Connector 14"/>
          <p:cNvCxnSpPr/>
          <p:nvPr/>
        </p:nvCxnSpPr>
        <p:spPr>
          <a:xfrm>
            <a:off x="594360" y="257403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59232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M-COM-01</a:t>
            </a:r>
          </a:p>
        </p:txBody>
      </p:sp>
      <p:sp>
        <p:nvSpPr>
          <p:cNvPr id="17" name="TextBox 16"/>
          <p:cNvSpPr txBox="1"/>
          <p:nvPr/>
        </p:nvSpPr>
        <p:spPr>
          <a:xfrm>
            <a:off x="2697479" y="259232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18" name="TextBox 17"/>
          <p:cNvSpPr txBox="1"/>
          <p:nvPr/>
        </p:nvSpPr>
        <p:spPr>
          <a:xfrm>
            <a:off x="7452360" y="259232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19" name="TextBox 18"/>
          <p:cNvSpPr txBox="1"/>
          <p:nvPr/>
        </p:nvSpPr>
        <p:spPr>
          <a:xfrm>
            <a:off x="9829800" y="259232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FS043</a:t>
            </a:r>
          </a:p>
        </p:txBody>
      </p:sp>
      <p:cxnSp>
        <p:nvCxnSpPr>
          <p:cNvPr id="20" name="Connector 19"/>
          <p:cNvCxnSpPr/>
          <p:nvPr/>
        </p:nvCxnSpPr>
        <p:spPr>
          <a:xfrm>
            <a:off x="594360" y="309067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10896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M-COM-02</a:t>
            </a:r>
          </a:p>
        </p:txBody>
      </p:sp>
      <p:sp>
        <p:nvSpPr>
          <p:cNvPr id="22" name="TextBox 21"/>
          <p:cNvSpPr txBox="1"/>
          <p:nvPr/>
        </p:nvSpPr>
        <p:spPr>
          <a:xfrm>
            <a:off x="2697479" y="310896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/companies/:id?period=…&amp;asOf=…&amp;tab=…</a:t>
            </a:r>
          </a:p>
        </p:txBody>
      </p:sp>
      <p:sp>
        <p:nvSpPr>
          <p:cNvPr id="23" name="TextBox 22"/>
          <p:cNvSpPr txBox="1"/>
          <p:nvPr/>
        </p:nvSpPr>
        <p:spPr>
          <a:xfrm>
            <a:off x="7452360" y="310896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UI-06/07</a:t>
            </a:r>
          </a:p>
        </p:txBody>
      </p:sp>
      <p:sp>
        <p:nvSpPr>
          <p:cNvPr id="24" name="TextBox 23"/>
          <p:cNvSpPr txBox="1"/>
          <p:nvPr/>
        </p:nvSpPr>
        <p:spPr>
          <a:xfrm>
            <a:off x="9829800" y="310896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FS038 · FS044</a:t>
            </a:r>
          </a:p>
        </p:txBody>
      </p:sp>
      <p:cxnSp>
        <p:nvCxnSpPr>
          <p:cNvPr id="25" name="Connector 24"/>
          <p:cNvCxnSpPr/>
          <p:nvPr/>
        </p:nvCxnSpPr>
        <p:spPr>
          <a:xfrm>
            <a:off x="594360" y="360730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362559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D-SEN-01</a:t>
            </a:r>
          </a:p>
        </p:txBody>
      </p:sp>
      <p:sp>
        <p:nvSpPr>
          <p:cNvPr id="27" name="TextBox 26"/>
          <p:cNvSpPr txBox="1"/>
          <p:nvPr/>
        </p:nvSpPr>
        <p:spPr>
          <a:xfrm>
            <a:off x="2697479" y="362559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/design-system#c-price</a:t>
            </a:r>
          </a:p>
        </p:txBody>
      </p:sp>
      <p:sp>
        <p:nvSpPr>
          <p:cNvPr id="28" name="TextBox 27"/>
          <p:cNvSpPr txBox="1"/>
          <p:nvPr/>
        </p:nvSpPr>
        <p:spPr>
          <a:xfrm>
            <a:off x="7452360" y="362559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예시 전용</a:t>
            </a:r>
          </a:p>
        </p:txBody>
      </p:sp>
      <p:sp>
        <p:nvSpPr>
          <p:cNvPr id="29" name="TextBox 28"/>
          <p:cNvSpPr txBox="1"/>
          <p:nvPr/>
        </p:nvSpPr>
        <p:spPr>
          <a:xfrm>
            <a:off x="9829800" y="362559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FS021</a:t>
            </a:r>
          </a:p>
        </p:txBody>
      </p:sp>
      <p:cxnSp>
        <p:nvCxnSpPr>
          <p:cNvPr id="30" name="Connector 29"/>
          <p:cNvCxnSpPr/>
          <p:nvPr/>
        </p:nvCxnSpPr>
        <p:spPr>
          <a:xfrm>
            <a:off x="594360" y="412394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14223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D-SEN-02</a:t>
            </a:r>
          </a:p>
        </p:txBody>
      </p:sp>
      <p:sp>
        <p:nvSpPr>
          <p:cNvPr id="32" name="TextBox 31"/>
          <p:cNvSpPr txBox="1"/>
          <p:nvPr/>
        </p:nvSpPr>
        <p:spPr>
          <a:xfrm>
            <a:off x="2697479" y="414223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/design-system#c-briefing</a:t>
            </a:r>
          </a:p>
        </p:txBody>
      </p:sp>
      <p:sp>
        <p:nvSpPr>
          <p:cNvPr id="33" name="TextBox 32"/>
          <p:cNvSpPr txBox="1"/>
          <p:nvPr/>
        </p:nvSpPr>
        <p:spPr>
          <a:xfrm>
            <a:off x="7452360" y="414223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예시 전용</a:t>
            </a:r>
          </a:p>
        </p:txBody>
      </p:sp>
      <p:sp>
        <p:nvSpPr>
          <p:cNvPr id="34" name="TextBox 33"/>
          <p:cNvSpPr txBox="1"/>
          <p:nvPr/>
        </p:nvSpPr>
        <p:spPr>
          <a:xfrm>
            <a:off x="9829800" y="414223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FS028 · FS029 · FS030</a:t>
            </a:r>
          </a:p>
        </p:txBody>
      </p:sp>
      <p:cxnSp>
        <p:nvCxnSpPr>
          <p:cNvPr id="35" name="Connector 3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4658868"/>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A-ADM-05c</a:t>
            </a:r>
          </a:p>
        </p:txBody>
      </p:sp>
      <p:sp>
        <p:nvSpPr>
          <p:cNvPr id="37" name="TextBox 36"/>
          <p:cNvSpPr txBox="1"/>
          <p:nvPr/>
        </p:nvSpPr>
        <p:spPr>
          <a:xfrm>
            <a:off x="2697479" y="4658868"/>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/admin/login</a:t>
            </a:r>
          </a:p>
        </p:txBody>
      </p:sp>
      <p:sp>
        <p:nvSpPr>
          <p:cNvPr id="38" name="TextBox 37"/>
          <p:cNvSpPr txBox="1"/>
          <p:nvPr/>
        </p:nvSpPr>
        <p:spPr>
          <a:xfrm>
            <a:off x="7452360" y="4658868"/>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39" name="TextBox 38"/>
          <p:cNvSpPr txBox="1"/>
          <p:nvPr/>
        </p:nvSpPr>
        <p:spPr>
          <a:xfrm>
            <a:off x="9829800" y="4658868"/>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FS073 · NFS001</a:t>
            </a:r>
          </a:p>
        </p:txBody>
      </p:sp>
      <p:cxnSp>
        <p:nvCxnSpPr>
          <p:cNvPr id="40" name="Connector 39"/>
          <p:cNvCxnSpPr/>
          <p:nvPr/>
        </p:nvCxnSpPr>
        <p:spPr>
          <a:xfrm>
            <a:off x="594360" y="515721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5175504"/>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A-ADM-01</a:t>
            </a:r>
          </a:p>
        </p:txBody>
      </p:sp>
      <p:sp>
        <p:nvSpPr>
          <p:cNvPr id="42" name="TextBox 41"/>
          <p:cNvSpPr txBox="1"/>
          <p:nvPr/>
        </p:nvSpPr>
        <p:spPr>
          <a:xfrm>
            <a:off x="2697479" y="5175504"/>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a:t>
            </a:r>
          </a:p>
        </p:txBody>
      </p:sp>
      <p:sp>
        <p:nvSpPr>
          <p:cNvPr id="43" name="TextBox 42"/>
          <p:cNvSpPr txBox="1"/>
          <p:nvPr/>
        </p:nvSpPr>
        <p:spPr>
          <a:xfrm>
            <a:off x="7452360" y="5175504"/>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44" name="TextBox 43"/>
          <p:cNvSpPr txBox="1"/>
          <p:nvPr/>
        </p:nvSpPr>
        <p:spPr>
          <a:xfrm>
            <a:off x="9829800" y="5175504"/>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FS072</a:t>
            </a:r>
          </a:p>
        </p:txBody>
      </p:sp>
      <p:cxnSp>
        <p:nvCxnSpPr>
          <p:cNvPr id="45" name="Connector 44"/>
          <p:cNvCxnSpPr/>
          <p:nvPr/>
        </p:nvCxnSpPr>
        <p:spPr>
          <a:xfrm>
            <a:off x="594360" y="56738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94360" y="5692140"/>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A-ADM-02</a:t>
            </a:r>
          </a:p>
        </p:txBody>
      </p:sp>
      <p:sp>
        <p:nvSpPr>
          <p:cNvPr id="47" name="TextBox 46"/>
          <p:cNvSpPr txBox="1"/>
          <p:nvPr/>
        </p:nvSpPr>
        <p:spPr>
          <a:xfrm>
            <a:off x="2697479" y="5692140"/>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/admin/stats</a:t>
            </a:r>
          </a:p>
        </p:txBody>
      </p:sp>
      <p:sp>
        <p:nvSpPr>
          <p:cNvPr id="48" name="TextBox 47"/>
          <p:cNvSpPr txBox="1"/>
          <p:nvPr/>
        </p:nvSpPr>
        <p:spPr>
          <a:xfrm>
            <a:off x="7452360" y="5692140"/>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49" name="TextBox 48"/>
          <p:cNvSpPr txBox="1"/>
          <p:nvPr/>
        </p:nvSpPr>
        <p:spPr>
          <a:xfrm>
            <a:off x="9829800" y="5692140"/>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FS065</a:t>
            </a:r>
          </a:p>
        </p:txBody>
      </p:sp>
      <p:cxnSp>
        <p:nvCxnSpPr>
          <p:cNvPr id="50" name="Connector 49"/>
          <p:cNvCxnSpPr/>
          <p:nvPr/>
        </p:nvCxnSpPr>
        <p:spPr>
          <a:xfrm>
            <a:off x="594360" y="6190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94360" y="6208776"/>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A-ADM-02b</a:t>
            </a:r>
          </a:p>
        </p:txBody>
      </p:sp>
      <p:sp>
        <p:nvSpPr>
          <p:cNvPr id="52" name="TextBox 51"/>
          <p:cNvSpPr txBox="1"/>
          <p:nvPr/>
        </p:nvSpPr>
        <p:spPr>
          <a:xfrm>
            <a:off x="2697479" y="6208776"/>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/admin/feedback</a:t>
            </a:r>
          </a:p>
        </p:txBody>
      </p:sp>
      <p:sp>
        <p:nvSpPr>
          <p:cNvPr id="53" name="TextBox 52"/>
          <p:cNvSpPr txBox="1"/>
          <p:nvPr/>
        </p:nvSpPr>
        <p:spPr>
          <a:xfrm>
            <a:off x="7452360" y="6208776"/>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54" name="TextBox 53"/>
          <p:cNvSpPr txBox="1"/>
          <p:nvPr/>
        </p:nvSpPr>
        <p:spPr>
          <a:xfrm>
            <a:off x="9829800" y="6208776"/>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FS066-02 · FS066-03</a:t>
            </a:r>
          </a:p>
        </p:txBody>
      </p:sp>
      <p:cxnSp>
        <p:nvCxnSpPr>
          <p:cNvPr id="55" name="Connector 54"/>
          <p:cNvCxnSpPr/>
          <p:nvPr/>
        </p:nvCxnSpPr>
        <p:spPr>
          <a:xfrm>
            <a:off x="594360" y="670712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6725412"/>
            <a:ext cx="196596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A-ADM-03</a:t>
            </a:r>
          </a:p>
        </p:txBody>
      </p:sp>
      <p:sp>
        <p:nvSpPr>
          <p:cNvPr id="57" name="TextBox 56"/>
          <p:cNvSpPr txBox="1"/>
          <p:nvPr/>
        </p:nvSpPr>
        <p:spPr>
          <a:xfrm>
            <a:off x="2697479" y="6725412"/>
            <a:ext cx="461772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/admin/pipeline</a:t>
            </a:r>
          </a:p>
        </p:txBody>
      </p:sp>
      <p:sp>
        <p:nvSpPr>
          <p:cNvPr id="58" name="TextBox 57"/>
          <p:cNvSpPr txBox="1"/>
          <p:nvPr/>
        </p:nvSpPr>
        <p:spPr>
          <a:xfrm>
            <a:off x="7452360" y="6725412"/>
            <a:ext cx="2240280"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59" name="TextBox 58"/>
          <p:cNvSpPr txBox="1"/>
          <p:nvPr/>
        </p:nvSpPr>
        <p:spPr>
          <a:xfrm>
            <a:off x="9829800" y="6725412"/>
            <a:ext cx="4023359" cy="516636"/>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FS067-01 · FS067-02 · FS067-03</a:t>
            </a:r>
          </a:p>
        </p:txBody>
      </p:sp>
      <p:cxnSp>
        <p:nvCxnSpPr>
          <p:cNvPr id="60" name="Connector 59"/>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MAP-06   화면 목록·라우트·명세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App.tsx · design-direction.md §5·§6.3 · spec-v1.2-gap.md</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10</a:t>
            </a:r>
          </a:p>
        </p:txBody>
      </p:sp>
      <p:sp>
        <p:nvSpPr>
          <p:cNvPr id="7" name="TextBox 6"/>
          <p:cNvSpPr txBox="1"/>
          <p:nvPr/>
        </p:nvSpPr>
        <p:spPr>
          <a:xfrm>
            <a:off x="594360" y="1508760"/>
            <a:ext cx="21031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ID</a:t>
            </a:r>
          </a:p>
        </p:txBody>
      </p:sp>
      <p:sp>
        <p:nvSpPr>
          <p:cNvPr id="8" name="TextBox 7"/>
          <p:cNvSpPr txBox="1"/>
          <p:nvPr/>
        </p:nvSpPr>
        <p:spPr>
          <a:xfrm>
            <a:off x="2697479"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라우트(실제 진입 표면)</a:t>
            </a:r>
          </a:p>
        </p:txBody>
      </p:sp>
      <p:sp>
        <p:nvSpPr>
          <p:cNvPr id="9" name="TextBox 8"/>
          <p:cNvSpPr txBox="1"/>
          <p:nvPr/>
        </p:nvSpPr>
        <p:spPr>
          <a:xfrm>
            <a:off x="7452360" y="1508760"/>
            <a:ext cx="2377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기존 문서 ID</a:t>
            </a:r>
          </a:p>
        </p:txBody>
      </p:sp>
      <p:sp>
        <p:nvSpPr>
          <p:cNvPr id="10" name="TextBox 9"/>
          <p:cNvSpPr txBox="1"/>
          <p:nvPr/>
        </p:nvSpPr>
        <p:spPr>
          <a:xfrm>
            <a:off x="9829800" y="1508760"/>
            <a:ext cx="41605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명세</a:t>
            </a:r>
          </a:p>
        </p:txBody>
      </p:sp>
      <p:sp>
        <p:nvSpPr>
          <p:cNvPr id="11" name="TextBox 10"/>
          <p:cNvSpPr txBox="1"/>
          <p:nvPr/>
        </p:nvSpPr>
        <p:spPr>
          <a:xfrm>
            <a:off x="594360" y="2075688"/>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A-ADM-04</a:t>
            </a:r>
          </a:p>
        </p:txBody>
      </p:sp>
      <p:sp>
        <p:nvSpPr>
          <p:cNvPr id="12" name="TextBox 11"/>
          <p:cNvSpPr txBox="1"/>
          <p:nvPr/>
        </p:nvSpPr>
        <p:spPr>
          <a:xfrm>
            <a:off x="2697479" y="2075688"/>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/admin/briefings</a:t>
            </a:r>
          </a:p>
        </p:txBody>
      </p:sp>
      <p:sp>
        <p:nvSpPr>
          <p:cNvPr id="13" name="TextBox 12"/>
          <p:cNvSpPr txBox="1"/>
          <p:nvPr/>
        </p:nvSpPr>
        <p:spPr>
          <a:xfrm>
            <a:off x="7452360" y="2075688"/>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14" name="TextBox 13"/>
          <p:cNvSpPr txBox="1"/>
          <p:nvPr/>
        </p:nvSpPr>
        <p:spPr>
          <a:xfrm>
            <a:off x="9829800" y="2075688"/>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FS070-01 · FS070-02 · FS071-01 · FS071-02</a:t>
            </a:r>
          </a:p>
        </p:txBody>
      </p:sp>
      <p:cxnSp>
        <p:nvCxnSpPr>
          <p:cNvPr id="15" name="Connector 14"/>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79776"/>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A-ADM-04b</a:t>
            </a:r>
          </a:p>
        </p:txBody>
      </p:sp>
      <p:sp>
        <p:nvSpPr>
          <p:cNvPr id="17" name="TextBox 16"/>
          <p:cNvSpPr txBox="1"/>
          <p:nvPr/>
        </p:nvSpPr>
        <p:spPr>
          <a:xfrm>
            <a:off x="2697479" y="2779776"/>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/admin/ai</a:t>
            </a:r>
          </a:p>
        </p:txBody>
      </p:sp>
      <p:sp>
        <p:nvSpPr>
          <p:cNvPr id="18" name="TextBox 17"/>
          <p:cNvSpPr txBox="1"/>
          <p:nvPr/>
        </p:nvSpPr>
        <p:spPr>
          <a:xfrm>
            <a:off x="7452360" y="2779776"/>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19" name="TextBox 18"/>
          <p:cNvSpPr txBox="1"/>
          <p:nvPr/>
        </p:nvSpPr>
        <p:spPr>
          <a:xfrm>
            <a:off x="9829800" y="2779776"/>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FS068</a:t>
            </a:r>
          </a:p>
        </p:txBody>
      </p:sp>
      <p:cxnSp>
        <p:nvCxnSpPr>
          <p:cNvPr id="20" name="Connector 19"/>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483864"/>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A-ADM-05</a:t>
            </a:r>
          </a:p>
        </p:txBody>
      </p:sp>
      <p:sp>
        <p:nvSpPr>
          <p:cNvPr id="22" name="TextBox 21"/>
          <p:cNvSpPr txBox="1"/>
          <p:nvPr/>
        </p:nvSpPr>
        <p:spPr>
          <a:xfrm>
            <a:off x="2697479" y="3483864"/>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/admin/members</a:t>
            </a:r>
          </a:p>
        </p:txBody>
      </p:sp>
      <p:sp>
        <p:nvSpPr>
          <p:cNvPr id="23" name="TextBox 22"/>
          <p:cNvSpPr txBox="1"/>
          <p:nvPr/>
        </p:nvSpPr>
        <p:spPr>
          <a:xfrm>
            <a:off x="7452360" y="3483864"/>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24" name="TextBox 23"/>
          <p:cNvSpPr txBox="1"/>
          <p:nvPr/>
        </p:nvSpPr>
        <p:spPr>
          <a:xfrm>
            <a:off x="9829800" y="3483864"/>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FS069-01 · FS069-02 · FS073</a:t>
            </a:r>
          </a:p>
        </p:txBody>
      </p:sp>
      <p:cxnSp>
        <p:nvCxnSpPr>
          <p:cNvPr id="25" name="Connector 24"/>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187952"/>
            <a:ext cx="19659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A-ADM-05b</a:t>
            </a:r>
          </a:p>
        </p:txBody>
      </p:sp>
      <p:sp>
        <p:nvSpPr>
          <p:cNvPr id="27" name="TextBox 26"/>
          <p:cNvSpPr txBox="1"/>
          <p:nvPr/>
        </p:nvSpPr>
        <p:spPr>
          <a:xfrm>
            <a:off x="2697479" y="4187952"/>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/admin/audit</a:t>
            </a:r>
          </a:p>
        </p:txBody>
      </p:sp>
      <p:sp>
        <p:nvSpPr>
          <p:cNvPr id="28" name="TextBox 27"/>
          <p:cNvSpPr txBox="1"/>
          <p:nvPr/>
        </p:nvSpPr>
        <p:spPr>
          <a:xfrm>
            <a:off x="7452360" y="4187952"/>
            <a:ext cx="224028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전용</a:t>
            </a:r>
          </a:p>
        </p:txBody>
      </p:sp>
      <p:sp>
        <p:nvSpPr>
          <p:cNvPr id="29" name="TextBox 28"/>
          <p:cNvSpPr txBox="1"/>
          <p:nvPr/>
        </p:nvSpPr>
        <p:spPr>
          <a:xfrm>
            <a:off x="9829800" y="4187952"/>
            <a:ext cx="402335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NFS008</a:t>
            </a:r>
          </a:p>
        </p:txBody>
      </p:sp>
      <p:cxnSp>
        <p:nvCxnSpPr>
          <p:cNvPr id="30" name="Connector 29"/>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FLOW   첫 진입 → 첫 근거 확인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현재 그래프 기본 보기 기준. 과거 문서의 2클릭 수치를 그대로 승계하지 않아요.</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design-direction.md §5.2·§6.1·§6.4</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11</a:t>
            </a:r>
          </a:p>
        </p:txBody>
      </p:sp>
      <p:sp>
        <p:nvSpPr>
          <p:cNvPr id="7" name="Rounded Rectangle 6"/>
          <p:cNvSpPr/>
          <p:nvPr/>
        </p:nvSpPr>
        <p:spPr>
          <a:xfrm>
            <a:off x="731520" y="1645920"/>
            <a:ext cx="256032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55648"/>
            <a:ext cx="2340863"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시작 /login</a:t>
            </a:r>
          </a:p>
        </p:txBody>
      </p:sp>
      <p:sp>
        <p:nvSpPr>
          <p:cNvPr id="9" name="Rounded Rectangle 8"/>
          <p:cNvSpPr/>
          <p:nvPr/>
        </p:nvSpPr>
        <p:spPr>
          <a:xfrm>
            <a:off x="4023360" y="164592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33088" y="175564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비회원 체험 → 시장 전체</a:t>
            </a:r>
          </a:p>
        </p:txBody>
      </p:sp>
      <p:sp>
        <p:nvSpPr>
          <p:cNvPr id="11" name="Rounded Rectangle 10"/>
          <p:cNvSpPr/>
          <p:nvPr/>
        </p:nvSpPr>
        <p:spPr>
          <a:xfrm>
            <a:off x="4023360" y="297180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33088" y="308152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회원 → 설정 완료 확인</a:t>
            </a:r>
          </a:p>
        </p:txBody>
      </p:sp>
      <p:sp>
        <p:nvSpPr>
          <p:cNvPr id="13" name="Rounded Rectangle 12"/>
          <p:cNvSpPr/>
          <p:nvPr/>
        </p:nvSpPr>
        <p:spPr>
          <a:xfrm>
            <a:off x="7863840" y="297180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73567" y="308152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미완료 → 투자·계좌·관심</a:t>
            </a:r>
          </a:p>
        </p:txBody>
      </p:sp>
      <p:sp>
        <p:nvSpPr>
          <p:cNvPr id="15" name="Rounded Rectangle 14"/>
          <p:cNvSpPr/>
          <p:nvPr/>
        </p:nvSpPr>
        <p:spPr>
          <a:xfrm>
            <a:off x="7863840" y="164592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3567" y="175564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기업 또는 사건 선택</a:t>
            </a:r>
          </a:p>
        </p:txBody>
      </p:sp>
      <p:sp>
        <p:nvSpPr>
          <p:cNvPr id="17" name="Rounded Rectangle 16"/>
          <p:cNvSpPr/>
          <p:nvPr/>
        </p:nvSpPr>
        <p:spPr>
          <a:xfrm>
            <a:off x="7863840" y="4572000"/>
            <a:ext cx="310896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73567" y="4681728"/>
            <a:ext cx="2889504"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실제 지도 튜토리얼 5단계</a:t>
            </a:r>
          </a:p>
        </p:txBody>
      </p:sp>
      <p:sp>
        <p:nvSpPr>
          <p:cNvPr id="19" name="Rounded Rectangle 18"/>
          <p:cNvSpPr/>
          <p:nvPr/>
        </p:nvSpPr>
        <p:spPr>
          <a:xfrm>
            <a:off x="11521440" y="1645920"/>
            <a:ext cx="2286000" cy="777240"/>
          </a:xfrm>
          <a:prstGeom prst="roundRect">
            <a:avLst/>
          </a:prstGeom>
          <a:solidFill>
            <a:srgbClr val="FFFFFF"/>
          </a:solidFill>
          <a:ln>
            <a:solidFill>
              <a:srgbClr val="C2C9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31167" y="1755648"/>
            <a:ext cx="2066543" cy="530352"/>
          </a:xfrm>
          <a:prstGeom prst="rect">
            <a:avLst/>
          </a:prstGeom>
          <a:noFill/>
        </p:spPr>
        <p:txBody>
          <a:bodyPr wrap="square" lIns="27432" rIns="27432" tIns="27432" bIns="0">
            <a:spAutoFit/>
          </a:bodyPr>
          <a:lstStyle/>
          <a:p>
            <a:pPr>
              <a:lnSpc>
                <a:spcPct val="112000"/>
              </a:lnSpc>
              <a:spcAft>
                <a:spcPts val="600"/>
              </a:spcAft>
              <a:defRPr sz="1600" b="1">
                <a:solidFill>
                  <a:srgbClr val="19201D"/>
                </a:solidFill>
                <a:latin typeface="SUIT"/>
              </a:defRPr>
            </a:pPr>
            <a:r>
              <a:rPr>
                <a:ea typeface="SUIT"/>
              </a:rPr>
              <a:t>근거 창 확인</a:t>
            </a:r>
          </a:p>
        </p:txBody>
      </p:sp>
      <p:cxnSp>
        <p:nvCxnSpPr>
          <p:cNvPr id="21" name="Connector 20"/>
          <p:cNvCxnSpPr/>
          <p:nvPr/>
        </p:nvCxnSpPr>
        <p:spPr>
          <a:xfrm>
            <a:off x="3291840" y="2011680"/>
            <a:ext cx="73152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011680" y="2423160"/>
            <a:ext cx="2011680" cy="96012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32320" y="2011680"/>
            <a:ext cx="73152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132320" y="3383280"/>
            <a:ext cx="73152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418320" y="3749039"/>
            <a:ext cx="0" cy="822961"/>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972800" y="2011680"/>
            <a:ext cx="54864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858000" y="2286000"/>
            <a:ext cx="1005840" cy="68580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03720" y="2587752"/>
            <a:ext cx="914400" cy="256032"/>
          </a:xfrm>
          <a:prstGeom prst="rect">
            <a:avLst/>
          </a:prstGeom>
          <a:noFill/>
        </p:spPr>
        <p:txBody>
          <a:bodyPr wrap="square" lIns="27432" rIns="27432" tIns="27432" bIns="0">
            <a:spAutoFit/>
          </a:bodyPr>
          <a:lstStyle/>
          <a:p>
            <a:pPr>
              <a:lnSpc>
                <a:spcPct val="112000"/>
              </a:lnSpc>
              <a:spcAft>
                <a:spcPts val="600"/>
              </a:spcAft>
              <a:defRPr sz="1100" b="0">
                <a:solidFill>
                  <a:srgbClr val="0A5C48"/>
                </a:solidFill>
                <a:latin typeface="SUIT"/>
              </a:defRPr>
            </a:pPr>
            <a:r>
              <a:rPr>
                <a:ea typeface="SUIT"/>
              </a:rPr>
              <a:t>완료</a:t>
            </a:r>
          </a:p>
        </p:txBody>
      </p:sp>
      <p:cxnSp>
        <p:nvCxnSpPr>
          <p:cNvPr id="29" name="Connector 28"/>
          <p:cNvCxnSpPr/>
          <p:nvPr/>
        </p:nvCxnSpPr>
        <p:spPr>
          <a:xfrm>
            <a:off x="10972800" y="4937760"/>
            <a:ext cx="22860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1201400" y="2423160"/>
            <a:ext cx="0" cy="251460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0835640" y="2423160"/>
            <a:ext cx="365760" cy="0"/>
          </a:xfrm>
          <a:prstGeom prst="line">
            <a:avLst/>
          </a:prstGeom>
          <a:ln w="25400">
            <a:solidFill>
              <a:srgbClr val="0A5C48"/>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6172200"/>
            <a:ext cx="12984480" cy="960120"/>
          </a:xfrm>
          <a:prstGeom prst="rect">
            <a:avLst/>
          </a:prstGeom>
          <a:noFill/>
        </p:spPr>
        <p:txBody>
          <a:bodyPr wrap="square" lIns="27432" rIns="27432" tIns="27432" bIns="0">
            <a:spAutoFit/>
          </a:bodyPr>
          <a:lstStyle/>
          <a:p>
            <a:pPr>
              <a:lnSpc>
                <a:spcPct val="112000"/>
              </a:lnSpc>
              <a:spcAft>
                <a:spcPts val="600"/>
              </a:spcAft>
              <a:defRPr sz="1900" b="0">
                <a:solidFill>
                  <a:srgbClr val="19201D"/>
                </a:solidFill>
                <a:latin typeface="SUIT"/>
              </a:defRPr>
            </a:pPr>
            <a:r>
              <a:rPr>
                <a:ea typeface="SUIT"/>
              </a:rPr>
              <a:t>기업 패널의 직접 이슈 → 영향 경로 → 근거 · 사건 패널 → 근거</a:t>
            </a:r>
          </a:p>
          <a:p>
            <a:pPr>
              <a:lnSpc>
                <a:spcPct val="112000"/>
              </a:lnSpc>
              <a:spcAft>
                <a:spcPts val="600"/>
              </a:spcAft>
              <a:defRPr sz="1900" b="0">
                <a:solidFill>
                  <a:srgbClr val="19201D"/>
                </a:solidFill>
                <a:latin typeface="SUIT"/>
              </a:defRPr>
            </a:pPr>
            <a:r>
              <a:rPr>
                <a:ea typeface="SUIT"/>
              </a:rPr>
              <a:t>근거 창 닫기 → 원래 선택 유지 · 기업 상세의 그래프로 복귀 → 지도 상태 복원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SEMANTICS   색과 아이콘의 뜻</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tokens.json v3.0.0 · design-direction.md §4.6</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12</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색은 의미를 구분해요</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브랜드: 주 행동·선택·포커스</a:t>
            </a:r>
          </a:p>
          <a:p>
            <a:pPr>
              <a:lnSpc>
                <a:spcPct val="112000"/>
              </a:lnSpc>
              <a:spcAft>
                <a:spcPts val="600"/>
              </a:spcAft>
              <a:defRPr sz="1800" b="0">
                <a:solidFill>
                  <a:srgbClr val="19201D"/>
                </a:solidFill>
                <a:latin typeface="SUIT"/>
              </a:defRPr>
            </a:pPr>
            <a:r>
              <a:rPr>
                <a:ea typeface="SUIT"/>
              </a:rPr>
              <a:t>중성 회색: 내용·구분선·보조 정보</a:t>
            </a:r>
          </a:p>
          <a:p>
            <a:pPr>
              <a:lnSpc>
                <a:spcPct val="112000"/>
              </a:lnSpc>
              <a:spcAft>
                <a:spcPts val="600"/>
              </a:spcAft>
              <a:defRPr sz="1800" b="0">
                <a:solidFill>
                  <a:srgbClr val="19201D"/>
                </a:solidFill>
                <a:latin typeface="SUIT"/>
              </a:defRPr>
            </a:pPr>
            <a:r>
              <a:rPr>
                <a:ea typeface="SUIT"/>
              </a:rPr>
              <a:t>상승/하락: 부호·▲/▼·수치와 함께</a:t>
            </a:r>
          </a:p>
          <a:p>
            <a:pPr>
              <a:lnSpc>
                <a:spcPct val="112000"/>
              </a:lnSpc>
              <a:spcAft>
                <a:spcPts val="600"/>
              </a:spcAft>
              <a:defRPr sz="1800" b="0">
                <a:solidFill>
                  <a:srgbClr val="19201D"/>
                </a:solidFill>
                <a:latin typeface="SUIT"/>
              </a:defRPr>
            </a:pPr>
            <a:r>
              <a:rPr>
                <a:ea typeface="SUIT"/>
              </a:rPr>
              <a:t>경고/오류: 문구·아이콘과 함께</a:t>
            </a:r>
          </a:p>
          <a:p>
            <a:pPr>
              <a:lnSpc>
                <a:spcPct val="112000"/>
              </a:lnSpc>
              <a:spcAft>
                <a:spcPts val="600"/>
              </a:spcAft>
              <a:defRPr sz="1800" b="0">
                <a:solidFill>
                  <a:srgbClr val="19201D"/>
                </a:solidFill>
                <a:latin typeface="SUIT"/>
              </a:defRPr>
            </a:pPr>
            <a:r>
              <a:rPr>
                <a:ea typeface="SUIT"/>
              </a:rPr>
              <a:t>모듈은 색이 아니라 ID·아이콘으로 구분해요.</a:t>
            </a:r>
          </a:p>
          <a:p>
            <a:pPr>
              <a:lnSpc>
                <a:spcPct val="112000"/>
              </a:lnSpc>
              <a:spcAft>
                <a:spcPts val="600"/>
              </a:spcAft>
              <a:defRPr sz="1800" b="0">
                <a:solidFill>
                  <a:srgbClr val="19201D"/>
                </a:solidFill>
                <a:latin typeface="SUIT"/>
              </a:defRPr>
            </a:pPr>
            <a:r>
              <a:rPr>
                <a:ea typeface="SUIT"/>
              </a:rPr>
              <a:t>캡처 안 기업 상징색은 기업 구별용이에요.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같은 뜻에 같은 아이콘</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Map 지도 · Globe 시장 전체</a:t>
            </a:r>
          </a:p>
          <a:p>
            <a:pPr>
              <a:lnSpc>
                <a:spcPct val="112000"/>
              </a:lnSpc>
              <a:spcAft>
                <a:spcPts val="600"/>
              </a:spcAft>
              <a:defRPr sz="1800" b="0">
                <a:solidFill>
                  <a:srgbClr val="19201D"/>
                </a:solidFill>
                <a:latin typeface="SUIT"/>
              </a:defRPr>
            </a:pPr>
            <a:r>
              <a:rPr>
                <a:ea typeface="SUIT"/>
              </a:rPr>
              <a:t>Bookmark 내 종목 · Star 관심 · Wallet 보유</a:t>
            </a:r>
          </a:p>
          <a:p>
            <a:pPr>
              <a:lnSpc>
                <a:spcPct val="112000"/>
              </a:lnSpc>
              <a:spcAft>
                <a:spcPts val="600"/>
              </a:spcAft>
              <a:defRPr sz="1800" b="0">
                <a:solidFill>
                  <a:srgbClr val="19201D"/>
                </a:solidFill>
                <a:latin typeface="SUIT"/>
              </a:defRPr>
            </a:pPr>
            <a:r>
              <a:rPr>
                <a:ea typeface="SUIT"/>
              </a:rPr>
              <a:t>Building2 기업 · Zap 사건</a:t>
            </a:r>
          </a:p>
          <a:p>
            <a:pPr>
              <a:lnSpc>
                <a:spcPct val="112000"/>
              </a:lnSpc>
              <a:spcAft>
                <a:spcPts val="600"/>
              </a:spcAft>
              <a:defRPr sz="1800" b="0">
                <a:solidFill>
                  <a:srgbClr val="19201D"/>
                </a:solidFill>
                <a:latin typeface="SUIT"/>
              </a:defRPr>
            </a:pPr>
            <a:r>
              <a:rPr>
                <a:ea typeface="SUIT"/>
              </a:rPr>
              <a:t>GitFork 간접 이슈 · Link2 연결</a:t>
            </a:r>
          </a:p>
          <a:p>
            <a:pPr>
              <a:lnSpc>
                <a:spcPct val="112000"/>
              </a:lnSpc>
              <a:spcAft>
                <a:spcPts val="600"/>
              </a:spcAft>
              <a:defRPr sz="1800" b="0">
                <a:solidFill>
                  <a:srgbClr val="19201D"/>
                </a:solidFill>
                <a:latin typeface="SUIT"/>
              </a:defRPr>
            </a:pPr>
            <a:r>
              <a:rPr>
                <a:ea typeface="SUIT"/>
              </a:rPr>
              <a:t>FileText 근거 · Sparkles AI · Info 설명</a:t>
            </a:r>
          </a:p>
          <a:p>
            <a:pPr>
              <a:lnSpc>
                <a:spcPct val="112000"/>
              </a:lnSpc>
              <a:spcAft>
                <a:spcPts val="600"/>
              </a:spcAft>
              <a:defRPr sz="1800" b="0">
                <a:solidFill>
                  <a:srgbClr val="19201D"/>
                </a:solidFill>
                <a:latin typeface="SUIT"/>
              </a:defRPr>
            </a:pPr>
            <a:r>
              <a:rPr>
                <a:ea typeface="SUIT"/>
              </a:rPr>
              <a:t>색만으로 상태나 관계를 전달하지 않아요.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STATE-01   공통 상태 규칙</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spec-v1.2-gap.md §0.2·§0.3 · design-direction.md §5.5</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13</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조회·자료</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로딩: 조회 중 표시, 다른 영역은 유지</a:t>
            </a:r>
          </a:p>
          <a:p>
            <a:pPr>
              <a:lnSpc>
                <a:spcPct val="112000"/>
              </a:lnSpc>
              <a:spcAft>
                <a:spcPts val="600"/>
              </a:spcAft>
              <a:defRPr sz="1800" b="0">
                <a:solidFill>
                  <a:srgbClr val="19201D"/>
                </a:solidFill>
                <a:latin typeface="SUIT"/>
              </a:defRPr>
            </a:pPr>
            <a:r>
              <a:rPr>
                <a:ea typeface="SUIT"/>
              </a:rPr>
              <a:t>빈: 자료 없음 + 가능한 다음 행동</a:t>
            </a:r>
          </a:p>
          <a:p>
            <a:pPr>
              <a:lnSpc>
                <a:spcPct val="112000"/>
              </a:lnSpc>
              <a:spcAft>
                <a:spcPts val="600"/>
              </a:spcAft>
              <a:defRPr sz="1800" b="0">
                <a:solidFill>
                  <a:srgbClr val="19201D"/>
                </a:solidFill>
                <a:latin typeface="SUIT"/>
              </a:defRPr>
            </a:pPr>
            <a:r>
              <a:rPr>
                <a:ea typeface="SUIT"/>
              </a:rPr>
              <a:t>부분 실패: 받은 자료 유지, 실패만 재조회</a:t>
            </a:r>
          </a:p>
          <a:p>
            <a:pPr>
              <a:lnSpc>
                <a:spcPct val="112000"/>
              </a:lnSpc>
              <a:spcAft>
                <a:spcPts val="600"/>
              </a:spcAft>
              <a:defRPr sz="1800" b="0">
                <a:solidFill>
                  <a:srgbClr val="19201D"/>
                </a:solidFill>
                <a:latin typeface="SUIT"/>
              </a:defRPr>
            </a:pPr>
            <a:r>
              <a:rPr>
                <a:ea typeface="SUIT"/>
              </a:rPr>
              <a:t>오류: 사유와 해당 조회의 다시 시도</a:t>
            </a:r>
          </a:p>
          <a:p>
            <a:pPr>
              <a:lnSpc>
                <a:spcPct val="112000"/>
              </a:lnSpc>
              <a:spcAft>
                <a:spcPts val="600"/>
              </a:spcAft>
              <a:defRPr sz="1800" b="0">
                <a:solidFill>
                  <a:srgbClr val="19201D"/>
                </a:solidFill>
                <a:latin typeface="SUIT"/>
              </a:defRPr>
            </a:pPr>
            <a:r>
              <a:rPr>
                <a:ea typeface="SUIT"/>
              </a:rPr>
              <a:t>자료 삭제·비공개·권한 없음: 제공 불가</a:t>
            </a:r>
          </a:p>
          <a:p>
            <a:pPr>
              <a:lnSpc>
                <a:spcPct val="112000"/>
              </a:lnSpc>
              <a:spcAft>
                <a:spcPts val="600"/>
              </a:spcAft>
              <a:defRPr sz="1800" b="0">
                <a:solidFill>
                  <a:srgbClr val="19201D"/>
                </a:solidFill>
                <a:latin typeface="SUIT"/>
              </a:defRPr>
            </a:pPr>
            <a:r>
              <a:rPr>
                <a:ea typeface="SUIT"/>
              </a:rPr>
              <a:t>404·403 근거를 일시 장애로 재시도하지 않아요.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권한·작업</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비회원: 시장 전체·근거 확인 가능</a:t>
            </a:r>
          </a:p>
          <a:p>
            <a:pPr>
              <a:lnSpc>
                <a:spcPct val="112000"/>
              </a:lnSpc>
              <a:spcAft>
                <a:spcPts val="600"/>
              </a:spcAft>
              <a:defRPr sz="1800" b="0">
                <a:solidFill>
                  <a:srgbClr val="19201D"/>
                </a:solidFill>
                <a:latin typeface="SUIT"/>
              </a:defRPr>
            </a:pPr>
            <a:r>
              <a:rPr>
                <a:ea typeface="SUIT"/>
              </a:rPr>
              <a:t>내 종목·AI 전송: 로그인 안내</a:t>
            </a:r>
          </a:p>
          <a:p>
            <a:pPr>
              <a:lnSpc>
                <a:spcPct val="112000"/>
              </a:lnSpc>
              <a:spcAft>
                <a:spcPts val="600"/>
              </a:spcAft>
              <a:defRPr sz="1800" b="0">
                <a:solidFill>
                  <a:srgbClr val="19201D"/>
                </a:solidFill>
                <a:latin typeface="SUIT"/>
              </a:defRPr>
            </a:pPr>
            <a:r>
              <a:rPr>
                <a:ea typeface="SUIT"/>
              </a:rPr>
              <a:t>AI: 결과 회수와 새 작업 실행은 별개</a:t>
            </a:r>
          </a:p>
          <a:p>
            <a:pPr>
              <a:lnSpc>
                <a:spcPct val="112000"/>
              </a:lnSpc>
              <a:spcAft>
                <a:spcPts val="600"/>
              </a:spcAft>
              <a:defRPr sz="1800" b="0">
                <a:solidFill>
                  <a:srgbClr val="19201D"/>
                </a:solidFill>
                <a:latin typeface="SUIT"/>
              </a:defRPr>
            </a:pPr>
            <a:r>
              <a:rPr>
                <a:ea typeface="SUIT"/>
              </a:rPr>
              <a:t>발행 브리핑: 지표 한 개 실패도 본문은 유지</a:t>
            </a:r>
          </a:p>
          <a:p>
            <a:pPr>
              <a:lnSpc>
                <a:spcPct val="112000"/>
              </a:lnSpc>
              <a:spcAft>
                <a:spcPts val="600"/>
              </a:spcAft>
              <a:defRPr sz="1800" b="0">
                <a:solidFill>
                  <a:srgbClr val="19201D"/>
                </a:solidFill>
                <a:latin typeface="SUIT"/>
              </a:defRPr>
            </a:pPr>
            <a:r>
              <a:rPr>
                <a:ea typeface="SUIT"/>
              </a:rPr>
              <a:t>지표 미제공과 실패를 글자로 구분해요.</a:t>
            </a:r>
          </a:p>
          <a:p>
            <a:pPr>
              <a:lnSpc>
                <a:spcPct val="112000"/>
              </a:lnSpc>
              <a:spcAft>
                <a:spcPts val="600"/>
              </a:spcAft>
              <a:defRPr sz="1800" b="0">
                <a:solidFill>
                  <a:srgbClr val="19201D"/>
                </a:solidFill>
                <a:latin typeface="SUIT"/>
              </a:defRPr>
            </a:pPr>
            <a:r>
              <a:rPr>
                <a:ea typeface="SUIT"/>
              </a:rPr>
              <a:t>이 슬라이드는 소스 규칙이며 전 상태 캡처는 아니에요.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M-RULE-01   모바일 전환 규칙</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design-direction.md §4.8·§5.3·§5.10 · M-* 캡처</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14</a:t>
            </a:r>
          </a:p>
        </p:txBody>
      </p:sp>
      <p:sp>
        <p:nvSpPr>
          <p:cNvPr id="7" name="TextBox 6"/>
          <p:cNvSpPr txBox="1"/>
          <p:nvPr/>
        </p:nvSpPr>
        <p:spPr>
          <a:xfrm>
            <a:off x="594360" y="1508760"/>
            <a:ext cx="3749039"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PC 요소</a:t>
            </a:r>
          </a:p>
        </p:txBody>
      </p:sp>
      <p:sp>
        <p:nvSpPr>
          <p:cNvPr id="8" name="TextBox 7"/>
          <p:cNvSpPr txBox="1"/>
          <p:nvPr/>
        </p:nvSpPr>
        <p:spPr>
          <a:xfrm>
            <a:off x="4343400" y="1508760"/>
            <a:ext cx="39319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모바일 표면</a:t>
            </a:r>
          </a:p>
        </p:txBody>
      </p:sp>
      <p:sp>
        <p:nvSpPr>
          <p:cNvPr id="9" name="TextBox 8"/>
          <p:cNvSpPr txBox="1"/>
          <p:nvPr/>
        </p:nvSpPr>
        <p:spPr>
          <a:xfrm>
            <a:off x="8275320" y="1508760"/>
            <a:ext cx="57150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동작</a:t>
            </a:r>
          </a:p>
        </p:txBody>
      </p:sp>
      <p:sp>
        <p:nvSpPr>
          <p:cNvPr id="10" name="TextBox 9"/>
          <p:cNvSpPr txBox="1"/>
          <p:nvPr/>
        </p:nvSpPr>
        <p:spPr>
          <a:xfrm>
            <a:off x="594360" y="2075688"/>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헤더 메뉴</a:t>
            </a:r>
          </a:p>
        </p:txBody>
      </p:sp>
      <p:sp>
        <p:nvSpPr>
          <p:cNvPr id="11" name="TextBox 10"/>
          <p:cNvSpPr txBox="1"/>
          <p:nvPr/>
        </p:nvSpPr>
        <p:spPr>
          <a:xfrm>
            <a:off x="4343400" y="2075688"/>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하단 5탭</a:t>
            </a:r>
          </a:p>
        </p:txBody>
      </p:sp>
      <p:sp>
        <p:nvSpPr>
          <p:cNvPr id="12" name="TextBox 11"/>
          <p:cNvSpPr txBox="1"/>
          <p:nvPr/>
        </p:nvSpPr>
        <p:spPr>
          <a:xfrm>
            <a:off x="8275320" y="2075688"/>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지도 · 종목 · 브리핑 · AI · 내 종목</a:t>
            </a:r>
          </a:p>
        </p:txBody>
      </p:sp>
      <p:cxnSp>
        <p:nvCxnSpPr>
          <p:cNvPr id="13" name="Connector 12"/>
          <p:cNvCxnSpPr/>
          <p:nvPr/>
        </p:nvCxnSpPr>
        <p:spPr>
          <a:xfrm>
            <a:off x="594360" y="270319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21483"/>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기업·사건 오른쪽 패널</a:t>
            </a:r>
          </a:p>
        </p:txBody>
      </p:sp>
      <p:sp>
        <p:nvSpPr>
          <p:cNvPr id="15" name="TextBox 14"/>
          <p:cNvSpPr txBox="1"/>
          <p:nvPr/>
        </p:nvSpPr>
        <p:spPr>
          <a:xfrm>
            <a:off x="4343400" y="2721483"/>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바텀시트</a:t>
            </a:r>
          </a:p>
        </p:txBody>
      </p:sp>
      <p:sp>
        <p:nvSpPr>
          <p:cNvPr id="16" name="TextBox 15"/>
          <p:cNvSpPr txBox="1"/>
          <p:nvPr/>
        </p:nvSpPr>
        <p:spPr>
          <a:xfrm>
            <a:off x="8275320" y="2721483"/>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절반/확장, 닫기 제공</a:t>
            </a:r>
          </a:p>
        </p:txBody>
      </p:sp>
      <p:cxnSp>
        <p:nvCxnSpPr>
          <p:cNvPr id="17" name="Connector 16"/>
          <p:cNvCxnSpPr/>
          <p:nvPr/>
        </p:nvCxnSpPr>
        <p:spPr>
          <a:xfrm>
            <a:off x="594360" y="334899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367278"/>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모드 옆 범위 필터</a:t>
            </a:r>
          </a:p>
        </p:txBody>
      </p:sp>
      <p:sp>
        <p:nvSpPr>
          <p:cNvPr id="19" name="TextBox 18"/>
          <p:cNvSpPr txBox="1"/>
          <p:nvPr/>
        </p:nvSpPr>
        <p:spPr>
          <a:xfrm>
            <a:off x="4343400" y="3367278"/>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모드 아래 전체 폭</a:t>
            </a:r>
          </a:p>
        </p:txBody>
      </p:sp>
      <p:sp>
        <p:nvSpPr>
          <p:cNvPr id="20" name="TextBox 19"/>
          <p:cNvSpPr txBox="1"/>
          <p:nvPr/>
        </p:nvSpPr>
        <p:spPr>
          <a:xfrm>
            <a:off x="8275320" y="3367278"/>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전체 · 보유 · 관심</a:t>
            </a:r>
          </a:p>
        </p:txBody>
      </p:sp>
      <p:cxnSp>
        <p:nvCxnSpPr>
          <p:cNvPr id="21" name="Connector 20"/>
          <p:cNvCxnSpPr/>
          <p:nvPr/>
        </p:nvCxnSpPr>
        <p:spPr>
          <a:xfrm>
            <a:off x="594360" y="399478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013073"/>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지도 도구 가로 줄</a:t>
            </a:r>
          </a:p>
        </p:txBody>
      </p:sp>
      <p:sp>
        <p:nvSpPr>
          <p:cNvPr id="23" name="TextBox 22"/>
          <p:cNvSpPr txBox="1"/>
          <p:nvPr/>
        </p:nvSpPr>
        <p:spPr>
          <a:xfrm>
            <a:off x="4343400" y="4013073"/>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오른쪽 아래 세로 버튼</a:t>
            </a:r>
          </a:p>
        </p:txBody>
      </p:sp>
      <p:sp>
        <p:nvSpPr>
          <p:cNvPr id="24" name="TextBox 23"/>
          <p:cNvSpPr txBox="1"/>
          <p:nvPr/>
        </p:nvSpPr>
        <p:spPr>
          <a:xfrm>
            <a:off x="8275320" y="4013073"/>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탭바 위 44px 조작 영역</a:t>
            </a:r>
          </a:p>
        </p:txBody>
      </p:sp>
      <p:cxnSp>
        <p:nvCxnSpPr>
          <p:cNvPr id="25" name="Connector 24"/>
          <p:cNvCxnSpPr/>
          <p:nvPr/>
        </p:nvCxnSpPr>
        <p:spPr>
          <a:xfrm>
            <a:off x="594360" y="46405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658868"/>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시장 지표 3열</a:t>
            </a:r>
          </a:p>
        </p:txBody>
      </p:sp>
      <p:sp>
        <p:nvSpPr>
          <p:cNvPr id="27" name="TextBox 26"/>
          <p:cNvSpPr txBox="1"/>
          <p:nvPr/>
        </p:nvSpPr>
        <p:spPr>
          <a:xfrm>
            <a:off x="4343400" y="4658868"/>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시장 지표 3행</a:t>
            </a:r>
          </a:p>
        </p:txBody>
      </p:sp>
      <p:sp>
        <p:nvSpPr>
          <p:cNvPr id="28" name="TextBox 27"/>
          <p:cNvSpPr txBox="1"/>
          <p:nvPr/>
        </p:nvSpPr>
        <p:spPr>
          <a:xfrm>
            <a:off x="8275320" y="4658868"/>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관측 시각·출처·상태 유지</a:t>
            </a:r>
          </a:p>
        </p:txBody>
      </p:sp>
      <p:cxnSp>
        <p:nvCxnSpPr>
          <p:cNvPr id="29" name="Connector 28"/>
          <p:cNvCxnSpPr/>
          <p:nvPr/>
        </p:nvCxnSpPr>
        <p:spPr>
          <a:xfrm>
            <a:off x="594360" y="528637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304663"/>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상세 좌측 전환</a:t>
            </a:r>
          </a:p>
        </p:txBody>
      </p:sp>
      <p:sp>
        <p:nvSpPr>
          <p:cNvPr id="31" name="TextBox 30"/>
          <p:cNvSpPr txBox="1"/>
          <p:nvPr/>
        </p:nvSpPr>
        <p:spPr>
          <a:xfrm>
            <a:off x="4343400" y="5304663"/>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전환 시트</a:t>
            </a:r>
          </a:p>
        </p:txBody>
      </p:sp>
      <p:sp>
        <p:nvSpPr>
          <p:cNvPr id="32" name="TextBox 31"/>
          <p:cNvSpPr txBox="1"/>
          <p:nvPr/>
        </p:nvSpPr>
        <p:spPr>
          <a:xfrm>
            <a:off x="8275320" y="5304663"/>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검색·보유·관심·최근·연결 기업</a:t>
            </a:r>
          </a:p>
        </p:txBody>
      </p:sp>
      <p:cxnSp>
        <p:nvCxnSpPr>
          <p:cNvPr id="33" name="Connector 32"/>
          <p:cNvCxnSpPr/>
          <p:nvPr/>
        </p:nvCxnSpPr>
        <p:spPr>
          <a:xfrm>
            <a:off x="594360" y="593217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5950457"/>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상세 오른쪽 관계</a:t>
            </a:r>
          </a:p>
        </p:txBody>
      </p:sp>
      <p:sp>
        <p:nvSpPr>
          <p:cNvPr id="35" name="TextBox 34"/>
          <p:cNvSpPr txBox="1"/>
          <p:nvPr/>
        </p:nvSpPr>
        <p:spPr>
          <a:xfrm>
            <a:off x="4343400" y="5950457"/>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본문 아래 관계 그래프</a:t>
            </a:r>
          </a:p>
        </p:txBody>
      </p:sp>
      <p:sp>
        <p:nvSpPr>
          <p:cNvPr id="36" name="TextBox 35"/>
          <p:cNvSpPr txBox="1"/>
          <p:nvPr/>
        </p:nvSpPr>
        <p:spPr>
          <a:xfrm>
            <a:off x="8275320" y="5950457"/>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같은 기준 시점·선택 사건 유지</a:t>
            </a:r>
          </a:p>
        </p:txBody>
      </p:sp>
      <p:cxnSp>
        <p:nvCxnSpPr>
          <p:cNvPr id="37" name="Connector 36"/>
          <p:cNvCxnSpPr/>
          <p:nvPr/>
        </p:nvCxnSpPr>
        <p:spPr>
          <a:xfrm>
            <a:off x="594360" y="657796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596252"/>
            <a:ext cx="361187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AI에게 묻기</a:t>
            </a:r>
          </a:p>
        </p:txBody>
      </p:sp>
      <p:sp>
        <p:nvSpPr>
          <p:cNvPr id="39" name="TextBox 38"/>
          <p:cNvSpPr txBox="1"/>
          <p:nvPr/>
        </p:nvSpPr>
        <p:spPr>
          <a:xfrm>
            <a:off x="4343400" y="6596252"/>
            <a:ext cx="3794759"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AI 하단 탭</a:t>
            </a:r>
          </a:p>
        </p:txBody>
      </p:sp>
      <p:sp>
        <p:nvSpPr>
          <p:cNvPr id="40" name="TextBox 39"/>
          <p:cNvSpPr txBox="1"/>
          <p:nvPr/>
        </p:nvSpPr>
        <p:spPr>
          <a:xfrm>
            <a:off x="8275320" y="6596252"/>
            <a:ext cx="5577840" cy="645795"/>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화면 이동 없이 질문 창 열기</a:t>
            </a:r>
          </a:p>
        </p:txBody>
      </p:sp>
      <p:cxnSp>
        <p:nvCxnSpPr>
          <p:cNvPr id="41" name="Connector 40"/>
          <p:cNvCxnSpPr/>
          <p:nvPr/>
        </p:nvCxnSpPr>
        <p:spPr>
          <a:xfrm>
            <a:off x="594360" y="7223759"/>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AUTHORITY   비회원·회원·관리자 권한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접근 가드·spec-v1.2-gap.md FS045·FS066-01. 실제 권한 smoke는 captures/auth-proof.json</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15</a:t>
            </a:r>
          </a:p>
        </p:txBody>
      </p:sp>
      <p:sp>
        <p:nvSpPr>
          <p:cNvPr id="7" name="TextBox 6"/>
          <p:cNvSpPr txBox="1"/>
          <p:nvPr/>
        </p:nvSpPr>
        <p:spPr>
          <a:xfrm>
            <a:off x="594360" y="1508760"/>
            <a:ext cx="46634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행동</a:t>
            </a:r>
          </a:p>
        </p:txBody>
      </p:sp>
      <p:sp>
        <p:nvSpPr>
          <p:cNvPr id="8" name="TextBox 7"/>
          <p:cNvSpPr txBox="1"/>
          <p:nvPr/>
        </p:nvSpPr>
        <p:spPr>
          <a:xfrm>
            <a:off x="5257800" y="1508760"/>
            <a:ext cx="27889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비회원</a:t>
            </a:r>
          </a:p>
        </p:txBody>
      </p:sp>
      <p:sp>
        <p:nvSpPr>
          <p:cNvPr id="9" name="TextBox 8"/>
          <p:cNvSpPr txBox="1"/>
          <p:nvPr/>
        </p:nvSpPr>
        <p:spPr>
          <a:xfrm>
            <a:off x="8046720" y="1508760"/>
            <a:ext cx="27889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회원</a:t>
            </a:r>
          </a:p>
        </p:txBody>
      </p:sp>
      <p:sp>
        <p:nvSpPr>
          <p:cNvPr id="10" name="TextBox 9"/>
          <p:cNvSpPr txBox="1"/>
          <p:nvPr/>
        </p:nvSpPr>
        <p:spPr>
          <a:xfrm>
            <a:off x="10835640" y="1508760"/>
            <a:ext cx="31546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관리자 세션</a:t>
            </a:r>
          </a:p>
        </p:txBody>
      </p:sp>
      <p:sp>
        <p:nvSpPr>
          <p:cNvPr id="11" name="TextBox 10"/>
          <p:cNvSpPr txBox="1"/>
          <p:nvPr/>
        </p:nvSpPr>
        <p:spPr>
          <a:xfrm>
            <a:off x="594360" y="2075688"/>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시장 전체·기업·근거 조회</a:t>
            </a:r>
          </a:p>
        </p:txBody>
      </p:sp>
      <p:sp>
        <p:nvSpPr>
          <p:cNvPr id="12" name="TextBox 11"/>
          <p:cNvSpPr txBox="1"/>
          <p:nvPr/>
        </p:nvSpPr>
        <p:spPr>
          <a:xfrm>
            <a:off x="5257800" y="2075688"/>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13" name="TextBox 12"/>
          <p:cNvSpPr txBox="1"/>
          <p:nvPr/>
        </p:nvSpPr>
        <p:spPr>
          <a:xfrm>
            <a:off x="8046720" y="2075688"/>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14" name="TextBox 13"/>
          <p:cNvSpPr txBox="1"/>
          <p:nvPr/>
        </p:nvSpPr>
        <p:spPr>
          <a:xfrm>
            <a:off x="10835640" y="2075688"/>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15" name="Connector 14"/>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2779776"/>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내 종목 지도·관심 저장</a:t>
            </a:r>
          </a:p>
        </p:txBody>
      </p:sp>
      <p:sp>
        <p:nvSpPr>
          <p:cNvPr id="17" name="TextBox 16"/>
          <p:cNvSpPr txBox="1"/>
          <p:nvPr/>
        </p:nvSpPr>
        <p:spPr>
          <a:xfrm>
            <a:off x="5257800" y="2779776"/>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로그인 안내</a:t>
            </a:r>
          </a:p>
        </p:txBody>
      </p:sp>
      <p:sp>
        <p:nvSpPr>
          <p:cNvPr id="18" name="TextBox 17"/>
          <p:cNvSpPr txBox="1"/>
          <p:nvPr/>
        </p:nvSpPr>
        <p:spPr>
          <a:xfrm>
            <a:off x="8046720" y="2779776"/>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19" name="TextBox 18"/>
          <p:cNvSpPr txBox="1"/>
          <p:nvPr/>
        </p:nvSpPr>
        <p:spPr>
          <a:xfrm>
            <a:off x="10835640" y="2779776"/>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20" name="Connector 19"/>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3483864"/>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모의 계좌 연결</a:t>
            </a:r>
          </a:p>
        </p:txBody>
      </p:sp>
      <p:sp>
        <p:nvSpPr>
          <p:cNvPr id="22" name="TextBox 21"/>
          <p:cNvSpPr txBox="1"/>
          <p:nvPr/>
        </p:nvSpPr>
        <p:spPr>
          <a:xfrm>
            <a:off x="5257800" y="3483864"/>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로그인 안내</a:t>
            </a:r>
          </a:p>
        </p:txBody>
      </p:sp>
      <p:sp>
        <p:nvSpPr>
          <p:cNvPr id="23" name="TextBox 22"/>
          <p:cNvSpPr txBox="1"/>
          <p:nvPr/>
        </p:nvSpPr>
        <p:spPr>
          <a:xfrm>
            <a:off x="8046720" y="3483864"/>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24" name="TextBox 23"/>
          <p:cNvSpPr txBox="1"/>
          <p:nvPr/>
        </p:nvSpPr>
        <p:spPr>
          <a:xfrm>
            <a:off x="10835640" y="3483864"/>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25" name="Connector 24"/>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187952"/>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발행된 공통 브리핑 조회</a:t>
            </a:r>
          </a:p>
        </p:txBody>
      </p:sp>
      <p:sp>
        <p:nvSpPr>
          <p:cNvPr id="27" name="TextBox 26"/>
          <p:cNvSpPr txBox="1"/>
          <p:nvPr/>
        </p:nvSpPr>
        <p:spPr>
          <a:xfrm>
            <a:off x="5257800" y="4187952"/>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28" name="TextBox 27"/>
          <p:cNvSpPr txBox="1"/>
          <p:nvPr/>
        </p:nvSpPr>
        <p:spPr>
          <a:xfrm>
            <a:off x="8046720" y="4187952"/>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29" name="TextBox 28"/>
          <p:cNvSpPr txBox="1"/>
          <p:nvPr/>
        </p:nvSpPr>
        <p:spPr>
          <a:xfrm>
            <a:off x="10835640" y="4187952"/>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운영은 별도 세션</a:t>
            </a:r>
          </a:p>
        </p:txBody>
      </p:sp>
      <p:cxnSp>
        <p:nvCxnSpPr>
          <p:cNvPr id="30" name="Connector 29"/>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 y="4892040"/>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AI 창 열기 / 질문 전송</a:t>
            </a:r>
          </a:p>
        </p:txBody>
      </p:sp>
      <p:sp>
        <p:nvSpPr>
          <p:cNvPr id="32" name="TextBox 31"/>
          <p:cNvSpPr txBox="1"/>
          <p:nvPr/>
        </p:nvSpPr>
        <p:spPr>
          <a:xfrm>
            <a:off x="5257800" y="4892040"/>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안내 / 불가</a:t>
            </a:r>
          </a:p>
        </p:txBody>
      </p:sp>
      <p:sp>
        <p:nvSpPr>
          <p:cNvPr id="33" name="TextBox 32"/>
          <p:cNvSpPr txBox="1"/>
          <p:nvPr/>
        </p:nvSpPr>
        <p:spPr>
          <a:xfrm>
            <a:off x="8046720" y="4892040"/>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 / 가능</a:t>
            </a:r>
          </a:p>
        </p:txBody>
      </p:sp>
      <p:sp>
        <p:nvSpPr>
          <p:cNvPr id="34" name="TextBox 33"/>
          <p:cNvSpPr txBox="1"/>
          <p:nvPr/>
        </p:nvSpPr>
        <p:spPr>
          <a:xfrm>
            <a:off x="10835640" y="4892040"/>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회원 세션과 분리</a:t>
            </a:r>
          </a:p>
        </p:txBody>
      </p:sp>
      <p:cxnSp>
        <p:nvCxnSpPr>
          <p:cNvPr id="35" name="Connector 34"/>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5596127"/>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평가 등록</a:t>
            </a:r>
          </a:p>
        </p:txBody>
      </p:sp>
      <p:sp>
        <p:nvSpPr>
          <p:cNvPr id="37" name="TextBox 36"/>
          <p:cNvSpPr txBox="1"/>
          <p:nvPr/>
        </p:nvSpPr>
        <p:spPr>
          <a:xfrm>
            <a:off x="5257800" y="5596127"/>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불가</a:t>
            </a:r>
          </a:p>
        </p:txBody>
      </p:sp>
      <p:sp>
        <p:nvSpPr>
          <p:cNvPr id="38" name="TextBox 37"/>
          <p:cNvSpPr txBox="1"/>
          <p:nvPr/>
        </p:nvSpPr>
        <p:spPr>
          <a:xfrm>
            <a:off x="8046720" y="5596127"/>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sp>
        <p:nvSpPr>
          <p:cNvPr id="39" name="TextBox 38"/>
          <p:cNvSpPr txBox="1"/>
          <p:nvPr/>
        </p:nvSpPr>
        <p:spPr>
          <a:xfrm>
            <a:off x="10835640" y="5596127"/>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운영 집계 조회</a:t>
            </a:r>
          </a:p>
        </p:txBody>
      </p:sp>
      <p:cxnSp>
        <p:nvCxnSpPr>
          <p:cNvPr id="40" name="Connector 39"/>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4360" y="6300215"/>
            <a:ext cx="452627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라우트</a:t>
            </a:r>
          </a:p>
        </p:txBody>
      </p:sp>
      <p:sp>
        <p:nvSpPr>
          <p:cNvPr id="42" name="TextBox 41"/>
          <p:cNvSpPr txBox="1"/>
          <p:nvPr/>
        </p:nvSpPr>
        <p:spPr>
          <a:xfrm>
            <a:off x="5257800" y="6300215"/>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로그인</a:t>
            </a:r>
          </a:p>
        </p:txBody>
      </p:sp>
      <p:sp>
        <p:nvSpPr>
          <p:cNvPr id="43" name="TextBox 42"/>
          <p:cNvSpPr txBox="1"/>
          <p:nvPr/>
        </p:nvSpPr>
        <p:spPr>
          <a:xfrm>
            <a:off x="8046720" y="6300215"/>
            <a:ext cx="265176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로그인</a:t>
            </a:r>
          </a:p>
        </p:txBody>
      </p:sp>
      <p:sp>
        <p:nvSpPr>
          <p:cNvPr id="44" name="TextBox 43"/>
          <p:cNvSpPr txBox="1"/>
          <p:nvPr/>
        </p:nvSpPr>
        <p:spPr>
          <a:xfrm>
            <a:off x="10835640" y="6300215"/>
            <a:ext cx="3017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가능</a:t>
            </a:r>
          </a:p>
        </p:txBody>
      </p:sp>
      <p:cxnSp>
        <p:nvCxnSpPr>
          <p:cNvPr id="45" name="Connector 44"/>
          <p:cNvCxnSpPr/>
          <p:nvPr/>
        </p:nvCxnSpPr>
        <p:spPr>
          <a:xfrm>
            <a:off x="594360" y="698601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D-AUT-01   시작·이메일 로그인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/login</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16</a:t>
            </a:r>
          </a:p>
        </p:txBody>
      </p:sp>
      <p:pic>
        <p:nvPicPr>
          <p:cNvPr id="7" name="Picture 6" descr="D-AUT-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96512" y="5341239"/>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59352" y="52040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9624" y="50943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096512" y="4576572"/>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959352" y="443941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9624" y="43296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96512" y="5752719"/>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59352" y="561555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49624" y="550583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096512" y="6325362"/>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3959352" y="618820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49624" y="607847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Rectangle 19"/>
          <p:cNvSpPr/>
          <p:nvPr/>
        </p:nvSpPr>
        <p:spPr>
          <a:xfrm>
            <a:off x="4096512" y="3403854"/>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3959352" y="32666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49624" y="31569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5</a:t>
            </a:r>
          </a:p>
        </p:txBody>
      </p:sp>
      <p:sp>
        <p:nvSpPr>
          <p:cNvPr id="23" name="TextBox 22"/>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4" name="TextBox 23"/>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세션 없는 시작 화면</a:t>
            </a:r>
          </a:p>
        </p:txBody>
      </p:sp>
      <p:sp>
        <p:nvSpPr>
          <p:cNvPr id="25" name="TextBox 24"/>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6" name="TextBox 25"/>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이메일 가입 폼을 열어요. → D-AUT-02</a:t>
            </a:r>
          </a:p>
          <a:p>
            <a:pPr>
              <a:lnSpc>
                <a:spcPts val="1625"/>
              </a:lnSpc>
              <a:spcAft>
                <a:spcPts val="0"/>
              </a:spcAft>
              <a:defRPr sz="1250" b="0">
                <a:solidFill>
                  <a:srgbClr val="19201D"/>
                </a:solidFill>
                <a:latin typeface="SUIT"/>
              </a:defRPr>
            </a:pPr>
            <a:r>
              <a:rPr>
                <a:ea typeface="SUIT"/>
              </a:rPr>
              <a:t>2  설정 상태에 따라 지도·초기 설정으로 이동 → D-GRP-01b</a:t>
            </a:r>
          </a:p>
          <a:p>
            <a:pPr>
              <a:lnSpc>
                <a:spcPts val="1625"/>
              </a:lnSpc>
              <a:spcAft>
                <a:spcPts val="0"/>
              </a:spcAft>
              <a:defRPr sz="1250" b="0">
                <a:solidFill>
                  <a:srgbClr val="19201D"/>
                </a:solidFill>
                <a:latin typeface="SUIT"/>
              </a:defRPr>
            </a:pPr>
            <a:r>
              <a:rPr>
                <a:ea typeface="SUIT"/>
              </a:rPr>
              <a:t>3  모의 제공자 동의 화면을 열어요 → D-AUT-03</a:t>
            </a:r>
          </a:p>
          <a:p>
            <a:pPr>
              <a:lnSpc>
                <a:spcPts val="1625"/>
              </a:lnSpc>
              <a:spcAft>
                <a:spcPts val="0"/>
              </a:spcAft>
              <a:defRPr sz="1250" b="0">
                <a:solidFill>
                  <a:srgbClr val="19201D"/>
                </a:solidFill>
                <a:latin typeface="SUIT"/>
              </a:defRPr>
            </a:pPr>
            <a:r>
              <a:rPr>
                <a:ea typeface="SUIT"/>
              </a:rPr>
              <a:t>4  비회원 권한 확인창을 열어요 → D-AUT-01</a:t>
            </a:r>
          </a:p>
          <a:p>
            <a:pPr>
              <a:lnSpc>
                <a:spcPts val="1625"/>
              </a:lnSpc>
              <a:spcAft>
                <a:spcPts val="0"/>
              </a:spcAft>
              <a:defRPr sz="1250" b="0">
                <a:solidFill>
                  <a:srgbClr val="19201D"/>
                </a:solidFill>
                <a:latin typeface="SUIT"/>
              </a:defRPr>
            </a:pPr>
            <a:r>
              <a:rPr>
                <a:ea typeface="SUIT"/>
              </a:rPr>
              <a:t>5  이메일을 입력·수정해요 → D-AUT-01</a:t>
            </a:r>
          </a:p>
        </p:txBody>
      </p:sp>
      <p:sp>
        <p:nvSpPr>
          <p:cNvPr id="27" name="TextBox 26"/>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8" name="TextBox 27"/>
          <p:cNvSpPr txBox="1"/>
          <p:nvPr/>
        </p:nvSpPr>
        <p:spPr>
          <a:xfrm>
            <a:off x="10561320" y="378548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입력 전 · 누락·형식 오류 · 인증 실패 · 시작 실패</a:t>
            </a:r>
          </a:p>
          <a:p>
            <a:pPr>
              <a:lnSpc>
                <a:spcPts val="1495"/>
              </a:lnSpc>
              <a:spcAft>
                <a:spcPts val="0"/>
              </a:spcAft>
              <a:defRPr sz="1150" b="0">
                <a:solidFill>
                  <a:srgbClr val="19201D"/>
                </a:solidFill>
                <a:latin typeface="SUIT"/>
              </a:defRPr>
            </a:pPr>
            <a:r>
              <a:rPr>
                <a:ea typeface="SUIT"/>
              </a:rPr>
              <a:t>코드 근거: pages/login-page.tsx · features/app-shell.tsx</a:t>
            </a:r>
          </a:p>
          <a:p>
            <a:pPr>
              <a:lnSpc>
                <a:spcPts val="1495"/>
              </a:lnSpc>
              <a:spcAft>
                <a:spcPts val="0"/>
              </a:spcAft>
              <a:defRPr sz="1150" b="0">
                <a:solidFill>
                  <a:srgbClr val="19201D"/>
                </a:solidFill>
                <a:latin typeface="SUIT"/>
              </a:defRPr>
            </a:pPr>
            <a:r>
              <a:rPr>
                <a:ea typeface="SUIT"/>
              </a:rPr>
              <a:t>기존 캡처: docs/design/v5/signup-error-390-dark.png</a:t>
            </a:r>
          </a:p>
        </p:txBody>
      </p:sp>
      <p:sp>
        <p:nvSpPr>
          <p:cNvPr id="29" name="TextBox 28"/>
          <p:cNvSpPr txBox="1"/>
          <p:nvPr/>
        </p:nvSpPr>
        <p:spPr>
          <a:xfrm>
            <a:off x="10561320" y="46821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0" name="TextBox 29"/>
          <p:cNvSpPr txBox="1"/>
          <p:nvPr/>
        </p:nvSpPr>
        <p:spPr>
          <a:xfrm>
            <a:off x="10561320" y="49289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FS001 · FS002 · FS005 · FS006 / 요구 1·2·5·6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D-AUT-02   이메일 회원가입</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/signup</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17</a:t>
            </a:r>
          </a:p>
        </p:txBody>
      </p:sp>
      <p:pic>
        <p:nvPicPr>
          <p:cNvPr id="7" name="Picture 6" descr="D-AUT-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96512" y="2937510"/>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59352" y="280035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9624" y="269062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096512" y="3523869"/>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959352" y="338670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9624" y="327698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96512" y="5111496"/>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59352" y="497433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49624" y="486460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096512" y="6894576"/>
            <a:ext cx="2414016"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3959352" y="675741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49624" y="664768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Rectangle 19"/>
          <p:cNvSpPr/>
          <p:nvPr/>
        </p:nvSpPr>
        <p:spPr>
          <a:xfrm>
            <a:off x="4096512" y="1991106"/>
            <a:ext cx="727698" cy="15430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3959352" y="185394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849624" y="174421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5</a:t>
            </a:r>
          </a:p>
        </p:txBody>
      </p:sp>
      <p:sp>
        <p:nvSpPr>
          <p:cNvPr id="23" name="TextBox 22"/>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4" name="TextBox 23"/>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시작 화면 → 이메일로 회원가입</a:t>
            </a:r>
          </a:p>
        </p:txBody>
      </p:sp>
      <p:sp>
        <p:nvSpPr>
          <p:cNvPr id="25" name="TextBox 24"/>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6" name="TextBox 25"/>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가입 이메일을 입력해요 → D-AUT-02</a:t>
            </a:r>
          </a:p>
          <a:p>
            <a:pPr>
              <a:lnSpc>
                <a:spcPts val="1625"/>
              </a:lnSpc>
              <a:spcAft>
                <a:spcPts val="0"/>
              </a:spcAft>
              <a:defRPr sz="1250" b="0">
                <a:solidFill>
                  <a:srgbClr val="19201D"/>
                </a:solidFill>
                <a:latin typeface="SUIT"/>
              </a:defRPr>
            </a:pPr>
            <a:r>
              <a:rPr>
                <a:ea typeface="SUIT"/>
              </a:rPr>
              <a:t>2  비밀번호를 가려 입력해요 → D-AUT-02</a:t>
            </a:r>
          </a:p>
          <a:p>
            <a:pPr>
              <a:lnSpc>
                <a:spcPts val="1625"/>
              </a:lnSpc>
              <a:spcAft>
                <a:spcPts val="0"/>
              </a:spcAft>
              <a:defRPr sz="1250" b="0">
                <a:solidFill>
                  <a:srgbClr val="19201D"/>
                </a:solidFill>
                <a:latin typeface="SUIT"/>
              </a:defRPr>
            </a:pPr>
            <a:r>
              <a:rPr>
                <a:ea typeface="SUIT"/>
              </a:rPr>
              <a:t>3  필수 약관을 함께 선택·해제해요 → D-AUT-02</a:t>
            </a:r>
          </a:p>
          <a:p>
            <a:pPr>
              <a:lnSpc>
                <a:spcPts val="1625"/>
              </a:lnSpc>
              <a:spcAft>
                <a:spcPts val="0"/>
              </a:spcAft>
              <a:defRPr sz="1250" b="0">
                <a:solidFill>
                  <a:srgbClr val="19201D"/>
                </a:solidFill>
                <a:latin typeface="SUIT"/>
              </a:defRPr>
            </a:pPr>
            <a:r>
              <a:rPr>
                <a:ea typeface="SUIT"/>
              </a:rPr>
              <a:t>4  필수 입력 누락을 안내해요 → D-AUT-02</a:t>
            </a:r>
          </a:p>
          <a:p>
            <a:pPr>
              <a:lnSpc>
                <a:spcPts val="1625"/>
              </a:lnSpc>
              <a:spcAft>
                <a:spcPts val="0"/>
              </a:spcAft>
              <a:defRPr sz="1250" b="0">
                <a:solidFill>
                  <a:srgbClr val="19201D"/>
                </a:solidFill>
                <a:latin typeface="SUIT"/>
              </a:defRPr>
            </a:pPr>
            <a:r>
              <a:rPr>
                <a:ea typeface="SUIT"/>
              </a:rPr>
              <a:t>5  시작 화면으로 돌아가요 → D-AUT-01</a:t>
            </a:r>
          </a:p>
        </p:txBody>
      </p:sp>
      <p:sp>
        <p:nvSpPr>
          <p:cNvPr id="27" name="TextBox 26"/>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8" name="TextBox 27"/>
          <p:cNvSpPr txBox="1"/>
          <p:nvPr/>
        </p:nvSpPr>
        <p:spPr>
          <a:xfrm>
            <a:off x="10561320" y="3579114"/>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 · 필수 약관 본문 미제공</a:t>
            </a:r>
          </a:p>
          <a:p>
            <a:pPr>
              <a:lnSpc>
                <a:spcPts val="1495"/>
              </a:lnSpc>
              <a:spcAft>
                <a:spcPts val="0"/>
              </a:spcAft>
              <a:defRPr sz="1150" b="0">
                <a:solidFill>
                  <a:srgbClr val="19201D"/>
                </a:solidFill>
                <a:latin typeface="SUIT"/>
              </a:defRPr>
            </a:pPr>
            <a:r>
              <a:rPr>
                <a:ea typeface="SUIT"/>
              </a:rPr>
              <a:t>구현 상태: 필수 입력·약관 선택 · 형식·중복 오류 · 가입 실패</a:t>
            </a:r>
          </a:p>
          <a:p>
            <a:pPr>
              <a:lnSpc>
                <a:spcPts val="1495"/>
              </a:lnSpc>
              <a:spcAft>
                <a:spcPts val="0"/>
              </a:spcAft>
              <a:defRPr sz="1150" b="0">
                <a:solidFill>
                  <a:srgbClr val="19201D"/>
                </a:solidFill>
                <a:latin typeface="SUIT"/>
              </a:defRPr>
            </a:pPr>
            <a:r>
              <a:rPr>
                <a:ea typeface="SUIT"/>
              </a:rPr>
              <a:t>코드 근거: pages/signup-page.tsx</a:t>
            </a:r>
          </a:p>
          <a:p>
            <a:pPr>
              <a:lnSpc>
                <a:spcPts val="1495"/>
              </a:lnSpc>
              <a:spcAft>
                <a:spcPts val="0"/>
              </a:spcAft>
              <a:defRPr sz="1150" b="0">
                <a:solidFill>
                  <a:srgbClr val="19201D"/>
                </a:solidFill>
                <a:latin typeface="SUIT"/>
              </a:defRPr>
            </a:pPr>
            <a:r>
              <a:rPr>
                <a:ea typeface="SUIT"/>
              </a:rPr>
              <a:t>기존 캡처: docs/design/v5/signup-error-390-dark.png</a:t>
            </a:r>
          </a:p>
        </p:txBody>
      </p:sp>
      <p:sp>
        <p:nvSpPr>
          <p:cNvPr id="29" name="TextBox 28"/>
          <p:cNvSpPr txBox="1"/>
          <p:nvPr/>
        </p:nvSpPr>
        <p:spPr>
          <a:xfrm>
            <a:off x="10561320" y="447573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0" name="TextBox 29"/>
          <p:cNvSpPr txBox="1"/>
          <p:nvPr/>
        </p:nvSpPr>
        <p:spPr>
          <a:xfrm>
            <a:off x="10561320" y="472262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FS003 · FS006 / 요구 3·6</a:t>
            </a:r>
          </a:p>
        </p:txBody>
      </p:sp>
      <p:sp>
        <p:nvSpPr>
          <p:cNvPr id="31" name="TextBox 30"/>
          <p:cNvSpPr txBox="1"/>
          <p:nvPr/>
        </p:nvSpPr>
        <p:spPr>
          <a:xfrm>
            <a:off x="10561320" y="5066157"/>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32" name="TextBox 31"/>
          <p:cNvSpPr txBox="1"/>
          <p:nvPr/>
        </p:nvSpPr>
        <p:spPr>
          <a:xfrm>
            <a:off x="10561320" y="5313045"/>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가입 필드와 약관 본문을 확정해야 해요.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D-AUT-03   개발용 모의 소셜 제공자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/mock-idp</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18</a:t>
            </a:r>
          </a:p>
        </p:txBody>
      </p:sp>
      <p:pic>
        <p:nvPicPr>
          <p:cNvPr id="7" name="Picture 6" descr="D-AUT-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96512" y="5642991"/>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59352" y="550583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49624" y="539610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096512" y="4031361"/>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959352" y="389420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9624" y="378447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96512" y="4617720"/>
            <a:ext cx="241401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59352" y="4480559"/>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49624" y="437083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096512" y="5204079"/>
            <a:ext cx="2414016"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3959352" y="50669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49624" y="49571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시작 → 개발용 모의 로그인으로 계속</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동의를 취소하고 시작 화면에 취소 안내를 보여줘요. → D-AUT-01</a:t>
            </a:r>
          </a:p>
          <a:p>
            <a:pPr>
              <a:lnSpc>
                <a:spcPts val="1625"/>
              </a:lnSpc>
              <a:spcAft>
                <a:spcPts val="0"/>
              </a:spcAft>
              <a:defRPr sz="1250" b="0">
                <a:solidFill>
                  <a:srgbClr val="19201D"/>
                </a:solidFill>
                <a:latin typeface="SUIT"/>
              </a:defRPr>
            </a:pPr>
            <a:r>
              <a:rPr>
                <a:ea typeface="SUIT"/>
              </a:rPr>
              <a:t>2  모의 계정 이메일을 입력해요 → D-AUT-03</a:t>
            </a:r>
          </a:p>
          <a:p>
            <a:pPr>
              <a:lnSpc>
                <a:spcPts val="1625"/>
              </a:lnSpc>
              <a:spcAft>
                <a:spcPts val="0"/>
              </a:spcAft>
              <a:defRPr sz="1250" b="0">
                <a:solidFill>
                  <a:srgbClr val="19201D"/>
                </a:solidFill>
                <a:latin typeface="SUIT"/>
              </a:defRPr>
            </a:pPr>
            <a:r>
              <a:rPr>
                <a:ea typeface="SUIT"/>
              </a:rPr>
              <a:t>3  제공할 표시 이름을 입력해요 → D-AUT-03</a:t>
            </a:r>
          </a:p>
          <a:p>
            <a:pPr>
              <a:lnSpc>
                <a:spcPts val="1625"/>
              </a:lnSpc>
              <a:spcAft>
                <a:spcPts val="0"/>
              </a:spcAft>
              <a:defRPr sz="1250" b="0">
                <a:solidFill>
                  <a:srgbClr val="19201D"/>
                </a:solidFill>
                <a:latin typeface="SUIT"/>
              </a:defRPr>
            </a:pPr>
            <a:r>
              <a:rPr>
                <a:ea typeface="SUIT"/>
              </a:rPr>
              <a:t>4  이메일 없이 보내면 입력 오류를 안내해요 → D-AUT-03</a:t>
            </a:r>
          </a:p>
        </p:txBody>
      </p:sp>
      <p:sp>
        <p:nvSpPr>
          <p:cNvPr id="24" name="TextBox 23"/>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78548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동의 입력 · 취소 · 요청·동의 처리 오류</a:t>
            </a:r>
          </a:p>
          <a:p>
            <a:pPr>
              <a:lnSpc>
                <a:spcPts val="1495"/>
              </a:lnSpc>
              <a:spcAft>
                <a:spcPts val="0"/>
              </a:spcAft>
              <a:defRPr sz="1150" b="0">
                <a:solidFill>
                  <a:srgbClr val="19201D"/>
                </a:solidFill>
                <a:latin typeface="SUIT"/>
              </a:defRPr>
            </a:pPr>
            <a:r>
              <a:rPr>
                <a:ea typeface="SUIT"/>
              </a:rPr>
              <a:t>코드 근거: pages/mock-idp-page.tsx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6821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9289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FS004 · FS061 / 요구 4·73</a:t>
            </a:r>
          </a:p>
        </p:txBody>
      </p:sp>
      <p:sp>
        <p:nvSpPr>
          <p:cNvPr id="28" name="TextBox 27"/>
          <p:cNvSpPr txBox="1"/>
          <p:nvPr/>
        </p:nvSpPr>
        <p:spPr>
          <a:xfrm>
            <a:off x="10561320" y="527253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51942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실제 제공자와 계정 연결 정책을 확정해야 해요.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D-ONB-01   투자 여부 선택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19</a:t>
            </a:r>
          </a:p>
        </p:txBody>
      </p:sp>
      <p:pic>
        <p:nvPicPr>
          <p:cNvPr id="7" name="Picture 6" descr="D-ONB-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2334006"/>
            <a:ext cx="3730752" cy="54863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219684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208711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2964942"/>
            <a:ext cx="3730752" cy="54864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282778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271805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523136" y="1367028"/>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8385976" y="1367028"/>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76248" y="140817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가입 성공 후 초기 설정</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가상 계좌 선택 단계로 가요. → D-ONB-02</a:t>
            </a:r>
          </a:p>
          <a:p>
            <a:pPr>
              <a:lnSpc>
                <a:spcPts val="1625"/>
              </a:lnSpc>
              <a:spcAft>
                <a:spcPts val="0"/>
              </a:spcAft>
              <a:defRPr sz="1250" b="0">
                <a:solidFill>
                  <a:srgbClr val="19201D"/>
                </a:solidFill>
                <a:latin typeface="SUIT"/>
              </a:defRPr>
            </a:pPr>
            <a:r>
              <a:rPr>
                <a:ea typeface="SUIT"/>
              </a:rPr>
              <a:t>2  관심 종목 선택으로 가요 → D-WAT-01</a:t>
            </a:r>
          </a:p>
          <a:p>
            <a:pPr>
              <a:lnSpc>
                <a:spcPts val="1625"/>
              </a:lnSpc>
              <a:spcAft>
                <a:spcPts val="0"/>
              </a:spcAft>
              <a:defRPr sz="1250" b="0">
                <a:solidFill>
                  <a:srgbClr val="19201D"/>
                </a:solidFill>
                <a:latin typeface="SUIT"/>
              </a:defRPr>
            </a:pPr>
            <a:r>
              <a:rPr>
                <a:ea typeface="SUIT"/>
              </a:rPr>
              <a:t>3  기사 저장본 출처 안내를 열어요 → D-ONB-01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선택 전 · 저장 중 · 저장 실패·재시도</a:t>
            </a:r>
          </a:p>
          <a:p>
            <a:pPr>
              <a:lnSpc>
                <a:spcPts val="1495"/>
              </a:lnSpc>
              <a:spcAft>
                <a:spcPts val="0"/>
              </a:spcAft>
              <a:defRPr sz="1150" b="0">
                <a:solidFill>
                  <a:srgbClr val="19201D"/>
                </a:solidFill>
                <a:latin typeface="SUIT"/>
              </a:defRPr>
            </a:pPr>
            <a:r>
              <a:rPr>
                <a:ea typeface="SUIT"/>
              </a:rPr>
              <a:t>코드 근거: pages/onboarding-page.tsx</a:t>
            </a:r>
          </a:p>
          <a:p>
            <a:pPr>
              <a:lnSpc>
                <a:spcPts val="1495"/>
              </a:lnSpc>
              <a:spcAft>
                <a:spcPts val="0"/>
              </a:spcAft>
              <a:defRPr sz="1150" b="0">
                <a:solidFill>
                  <a:srgbClr val="19201D"/>
                </a:solidFill>
                <a:latin typeface="SUIT"/>
              </a:defRPr>
            </a:pPr>
            <a:r>
              <a:rPr>
                <a:ea typeface="SUIT"/>
              </a:rPr>
              <a:t>기존 캡처: docs/design/v5/onboarding-investor-390-light.png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FS008 / 요구 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D-ONB-02   가상 계좌 연결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20</a:t>
            </a:r>
          </a:p>
        </p:txBody>
      </p:sp>
      <p:pic>
        <p:nvPicPr>
          <p:cNvPr id="7" name="Picture 6" descr="D-ONB-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6702552"/>
            <a:ext cx="3730752"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656539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645566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1881378"/>
            <a:ext cx="547889" cy="15430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174421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16344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438144" y="7086600"/>
            <a:ext cx="3730752"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300984" y="6949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191256" y="6839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투자 중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모의 보유 종목을 표시해요. → D-ONB-02</a:t>
            </a:r>
          </a:p>
          <a:p>
            <a:pPr>
              <a:lnSpc>
                <a:spcPts val="1625"/>
              </a:lnSpc>
              <a:spcAft>
                <a:spcPts val="0"/>
              </a:spcAft>
              <a:defRPr sz="1250" b="0">
                <a:solidFill>
                  <a:srgbClr val="19201D"/>
                </a:solidFill>
                <a:latin typeface="SUIT"/>
              </a:defRPr>
            </a:pPr>
            <a:r>
              <a:rPr>
                <a:ea typeface="SUIT"/>
              </a:rPr>
              <a:t>2  투자 여부 선택으로 돌아가요 → D-ONB-01</a:t>
            </a:r>
          </a:p>
          <a:p>
            <a:pPr>
              <a:lnSpc>
                <a:spcPts val="1625"/>
              </a:lnSpc>
              <a:spcAft>
                <a:spcPts val="0"/>
              </a:spcAft>
              <a:defRPr sz="1250" b="0">
                <a:solidFill>
                  <a:srgbClr val="19201D"/>
                </a:solidFill>
                <a:latin typeface="SUIT"/>
              </a:defRPr>
            </a:pPr>
            <a:r>
              <a:rPr>
                <a:ea typeface="SUIT"/>
              </a:rPr>
              <a:t>3  계좌 연결 없이 관심 선택으로 가요 → D-WAT-01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 · 모의 데이터</a:t>
            </a:r>
          </a:p>
          <a:p>
            <a:pPr>
              <a:lnSpc>
                <a:spcPts val="1495"/>
              </a:lnSpc>
              <a:spcAft>
                <a:spcPts val="0"/>
              </a:spcAft>
              <a:defRPr sz="1150" b="0">
                <a:solidFill>
                  <a:srgbClr val="19201D"/>
                </a:solidFill>
                <a:latin typeface="SUIT"/>
              </a:defRPr>
            </a:pPr>
            <a:r>
              <a:rPr>
                <a:ea typeface="SUIT"/>
              </a:rPr>
              <a:t>구현 상태: 미연결·선택 · 연결 중·연결됨 · 연결 실패·건너뛰기</a:t>
            </a:r>
          </a:p>
          <a:p>
            <a:pPr>
              <a:lnSpc>
                <a:spcPts val="1495"/>
              </a:lnSpc>
              <a:spcAft>
                <a:spcPts val="0"/>
              </a:spcAft>
              <a:defRPr sz="1150" b="0">
                <a:solidFill>
                  <a:srgbClr val="19201D"/>
                </a:solidFill>
                <a:latin typeface="SUIT"/>
              </a:defRPr>
            </a:pPr>
            <a:r>
              <a:rPr>
                <a:ea typeface="SUIT"/>
              </a:rPr>
              <a:t>코드 근거: pages/onboarding-page.tsx</a:t>
            </a:r>
          </a:p>
          <a:p>
            <a:pPr>
              <a:lnSpc>
                <a:spcPts val="1495"/>
              </a:lnSpc>
              <a:spcAft>
                <a:spcPts val="0"/>
              </a:spcAft>
              <a:defRPr sz="1150" b="0">
                <a:solidFill>
                  <a:srgbClr val="19201D"/>
                </a:solidFill>
                <a:latin typeface="SUIT"/>
              </a:defRPr>
            </a:pPr>
            <a:r>
              <a:rPr>
                <a:ea typeface="SUIT"/>
              </a:rPr>
              <a:t>기존 캡처: docs/design/v5/onboarding-account-390-light.png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FS009 · FS010 · FS062 / 요구 9·10·74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D-WAT-01   관심 종목 선택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21</a:t>
            </a:r>
          </a:p>
        </p:txBody>
      </p:sp>
      <p:pic>
        <p:nvPicPr>
          <p:cNvPr id="7" name="Picture 6" descr="D-WAT-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7086600"/>
            <a:ext cx="3730752" cy="32918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6949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6839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328416" y="3448431"/>
            <a:ext cx="3950208" cy="45348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191256" y="331127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81528" y="320154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328416" y="3901916"/>
            <a:ext cx="3950208" cy="45348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191256" y="37647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081528" y="36550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계좌 연결 후 관심 종목도 고르기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관심 0개를 저장하고, 연결한 모의 보유 기준 내 종목 지도를 열어요. → D-GRP-01b</a:t>
            </a:r>
          </a:p>
          <a:p>
            <a:pPr>
              <a:lnSpc>
                <a:spcPts val="1625"/>
              </a:lnSpc>
              <a:spcAft>
                <a:spcPts val="0"/>
              </a:spcAft>
              <a:defRPr sz="1250" b="0">
                <a:solidFill>
                  <a:srgbClr val="19201D"/>
                </a:solidFill>
                <a:latin typeface="SUIT"/>
              </a:defRPr>
            </a:pPr>
            <a:r>
              <a:rPr>
                <a:ea typeface="SUIT"/>
              </a:rPr>
              <a:t>2  추천 첫 기업을 선택·해제해요 → D-WAT-01</a:t>
            </a:r>
          </a:p>
          <a:p>
            <a:pPr>
              <a:lnSpc>
                <a:spcPts val="1625"/>
              </a:lnSpc>
              <a:spcAft>
                <a:spcPts val="0"/>
              </a:spcAft>
              <a:defRPr sz="1250" b="0">
                <a:solidFill>
                  <a:srgbClr val="19201D"/>
                </a:solidFill>
                <a:latin typeface="SUIT"/>
              </a:defRPr>
            </a:pPr>
            <a:r>
              <a:rPr>
                <a:ea typeface="SUIT"/>
              </a:rPr>
              <a:t>3  추천 둘째 기업을 선택·해제해요 → D-WAT-01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선택 0개 · 추천 목록</a:t>
            </a:r>
          </a:p>
          <a:p>
            <a:pPr>
              <a:lnSpc>
                <a:spcPts val="1495"/>
              </a:lnSpc>
              <a:spcAft>
                <a:spcPts val="0"/>
              </a:spcAft>
              <a:defRPr sz="1150" b="0">
                <a:solidFill>
                  <a:srgbClr val="19201D"/>
                </a:solidFill>
                <a:latin typeface="SUIT"/>
              </a:defRPr>
            </a:pPr>
            <a:r>
              <a:rPr>
                <a:ea typeface="SUIT"/>
              </a:rPr>
              <a:t>구현 상태: 0개 · 선택·해제 · 검색·결과 없음 · 저장 실패</a:t>
            </a:r>
          </a:p>
          <a:p>
            <a:pPr>
              <a:lnSpc>
                <a:spcPts val="1495"/>
              </a:lnSpc>
              <a:spcAft>
                <a:spcPts val="0"/>
              </a:spcAft>
              <a:defRPr sz="1150" b="0">
                <a:solidFill>
                  <a:srgbClr val="19201D"/>
                </a:solidFill>
                <a:latin typeface="SUIT"/>
              </a:defRPr>
            </a:pPr>
            <a:r>
              <a:rPr>
                <a:ea typeface="SUIT"/>
              </a:rPr>
              <a:t>코드 근거: pages/onboarding-page.tsx · components/domain/company-search.tsx</a:t>
            </a:r>
          </a:p>
          <a:p>
            <a:pPr>
              <a:lnSpc>
                <a:spcPts val="1495"/>
              </a:lnSpc>
              <a:spcAft>
                <a:spcPts val="0"/>
              </a:spcAft>
              <a:defRPr sz="1150" b="0">
                <a:solidFill>
                  <a:srgbClr val="19201D"/>
                </a:solidFill>
                <a:latin typeface="SUIT"/>
              </a:defRPr>
            </a:pPr>
            <a:r>
              <a:rPr>
                <a:ea typeface="SUIT"/>
              </a:rPr>
              <a:t>기존 캡처: docs/design/v6/search-explicit-390-light.png</a:t>
            </a:r>
          </a:p>
        </p:txBody>
      </p:sp>
      <p:sp>
        <p:nvSpPr>
          <p:cNvPr id="23" name="TextBox 22"/>
          <p:cNvSpPr txBox="1"/>
          <p:nvPr/>
        </p:nvSpPr>
        <p:spPr>
          <a:xfrm>
            <a:off x="10561320" y="464908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95977"/>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FS011-01 · FS011-02 · FS012 · FS013 / 요구 11·12·13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D-WAT-01b   관심 종목 4개 선택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/onboarding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22</a:t>
            </a:r>
          </a:p>
        </p:txBody>
      </p:sp>
      <p:pic>
        <p:nvPicPr>
          <p:cNvPr id="7" name="Picture 6" descr="D-WAT-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922008" y="2836354"/>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784848" y="26991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675120" y="25894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6922008" y="3165538"/>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784848" y="302837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675120" y="291865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922008" y="3494722"/>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6784848" y="335756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675120" y="324783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추천 기업을 네 번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선택 목록에서 NVIDIA를 빼고 3개로 바꿔요. → D-WAT-01</a:t>
            </a:r>
          </a:p>
          <a:p>
            <a:pPr>
              <a:lnSpc>
                <a:spcPts val="1625"/>
              </a:lnSpc>
              <a:spcAft>
                <a:spcPts val="0"/>
              </a:spcAft>
              <a:defRPr sz="1250" b="0">
                <a:solidFill>
                  <a:srgbClr val="19201D"/>
                </a:solidFill>
                <a:latin typeface="SUIT"/>
              </a:defRPr>
            </a:pPr>
            <a:r>
              <a:rPr>
                <a:ea typeface="SUIT"/>
              </a:rPr>
              <a:t>2  삼성전자를 선택 목록에서 빼요 → D-WAT-01</a:t>
            </a:r>
          </a:p>
          <a:p>
            <a:pPr>
              <a:lnSpc>
                <a:spcPts val="1625"/>
              </a:lnSpc>
              <a:spcAft>
                <a:spcPts val="0"/>
              </a:spcAft>
              <a:defRPr sz="1250" b="0">
                <a:solidFill>
                  <a:srgbClr val="19201D"/>
                </a:solidFill>
                <a:latin typeface="SUIT"/>
              </a:defRPr>
            </a:pPr>
            <a:r>
              <a:rPr>
                <a:ea typeface="SUIT"/>
              </a:rPr>
              <a:t>3  SK텔레콤을 선택 목록에서 빼요 → D-WAT-01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4개 선택</a:t>
            </a:r>
          </a:p>
          <a:p>
            <a:pPr>
              <a:lnSpc>
                <a:spcPts val="1495"/>
              </a:lnSpc>
              <a:spcAft>
                <a:spcPts val="0"/>
              </a:spcAft>
              <a:defRPr sz="1150" b="0">
                <a:solidFill>
                  <a:srgbClr val="19201D"/>
                </a:solidFill>
                <a:latin typeface="SUIT"/>
              </a:defRPr>
            </a:pPr>
            <a:r>
              <a:rPr>
                <a:ea typeface="SUIT"/>
              </a:rPr>
              <a:t>구현 상태: 0개 · 선택·해제 · 검색·결과 없음 · 저장 실패</a:t>
            </a:r>
          </a:p>
          <a:p>
            <a:pPr>
              <a:lnSpc>
                <a:spcPts val="1495"/>
              </a:lnSpc>
              <a:spcAft>
                <a:spcPts val="0"/>
              </a:spcAft>
              <a:defRPr sz="1150" b="0">
                <a:solidFill>
                  <a:srgbClr val="19201D"/>
                </a:solidFill>
                <a:latin typeface="SUIT"/>
              </a:defRPr>
            </a:pPr>
            <a:r>
              <a:rPr>
                <a:ea typeface="SUIT"/>
              </a:rPr>
              <a:t>코드 근거: pages/onboarding-page.tsx · components/domain/company-search.tsx</a:t>
            </a:r>
          </a:p>
          <a:p>
            <a:pPr>
              <a:lnSpc>
                <a:spcPts val="1495"/>
              </a:lnSpc>
              <a:spcAft>
                <a:spcPts val="0"/>
              </a:spcAft>
              <a:defRPr sz="1150" b="0">
                <a:solidFill>
                  <a:srgbClr val="19201D"/>
                </a:solidFill>
                <a:latin typeface="SUIT"/>
              </a:defRPr>
            </a:pPr>
            <a:r>
              <a:rPr>
                <a:ea typeface="SUIT"/>
              </a:rPr>
              <a:t>기존 캡처: docs/design/v6/search-explicit-390-light.png</a:t>
            </a:r>
          </a:p>
        </p:txBody>
      </p:sp>
      <p:sp>
        <p:nvSpPr>
          <p:cNvPr id="23" name="TextBox 22"/>
          <p:cNvSpPr txBox="1"/>
          <p:nvPr/>
        </p:nvSpPr>
        <p:spPr>
          <a:xfrm>
            <a:off x="10561320" y="464908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9597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FS012 / 요구 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D-GRP-01   시장 전체 지도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23</a:t>
            </a:r>
          </a:p>
        </p:txBody>
      </p:sp>
      <p:pic>
        <p:nvPicPr>
          <p:cNvPr id="7" name="Picture 6" descr="D-GRP-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500616" y="1895093"/>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9363456" y="175793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253728" y="164820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843873" y="1853945"/>
            <a:ext cx="569749"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flipH="1">
            <a:off x="1843873" y="1716785"/>
            <a:ext cx="70691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441055"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1604807" y="1325880"/>
            <a:ext cx="536531" cy="38404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1467647" y="1325880"/>
            <a:ext cx="137160" cy="192024"/>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357919" y="140817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633222" y="6983730"/>
            <a:ext cx="301751"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496062" y="684657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6334" y="673684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회원 또는 비회원의 전체 지도</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크기·거리는 인과·중요도가 아니라는 설명을 열어요. → D-GRP-01</a:t>
            </a:r>
          </a:p>
          <a:p>
            <a:pPr>
              <a:lnSpc>
                <a:spcPts val="1625"/>
              </a:lnSpc>
              <a:spcAft>
                <a:spcPts val="0"/>
              </a:spcAft>
              <a:defRPr sz="1250" b="0">
                <a:solidFill>
                  <a:srgbClr val="19201D"/>
                </a:solidFill>
                <a:latin typeface="SUIT"/>
              </a:defRPr>
            </a:pPr>
            <a:r>
              <a:rPr>
                <a:ea typeface="SUIT"/>
              </a:rPr>
              <a:t>2  회원의 개인화 지도로 바꿔요 → D-GRP-01b</a:t>
            </a:r>
          </a:p>
          <a:p>
            <a:pPr>
              <a:lnSpc>
                <a:spcPts val="1625"/>
              </a:lnSpc>
              <a:spcAft>
                <a:spcPts val="0"/>
              </a:spcAft>
              <a:defRPr sz="1250" b="0">
                <a:solidFill>
                  <a:srgbClr val="19201D"/>
                </a:solidFill>
                <a:latin typeface="SUIT"/>
              </a:defRPr>
            </a:pPr>
            <a:r>
              <a:rPr>
                <a:ea typeface="SUIT"/>
              </a:rPr>
              <a:t>3  독립 종목 목록으로 이동해요 → D-STK-01</a:t>
            </a:r>
          </a:p>
          <a:p>
            <a:pPr>
              <a:lnSpc>
                <a:spcPts val="1625"/>
              </a:lnSpc>
              <a:spcAft>
                <a:spcPts val="0"/>
              </a:spcAft>
              <a:defRPr sz="1250" b="0">
                <a:solidFill>
                  <a:srgbClr val="19201D"/>
                </a:solidFill>
                <a:latin typeface="SUIT"/>
              </a:defRPr>
            </a:pPr>
            <a:r>
              <a:rPr>
                <a:ea typeface="SUIT"/>
              </a:rPr>
              <a:t>4  지도를 확대해요 → D-GRP-01</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전체·개인화 · 대상 선택 · 조회 중 · 빈 지도·조회 실패</a:t>
            </a:r>
          </a:p>
          <a:p>
            <a:pPr>
              <a:lnSpc>
                <a:spcPts val="1495"/>
              </a:lnSpc>
              <a:spcAft>
                <a:spcPts val="0"/>
              </a:spcAft>
              <a:defRPr sz="1150" b="0">
                <a:solidFill>
                  <a:srgbClr val="19201D"/>
                </a:solidFill>
                <a:latin typeface="SUIT"/>
              </a:defRPr>
            </a:pPr>
            <a:r>
              <a:rPr>
                <a:ea typeface="SUIT"/>
              </a:rPr>
              <a:t>코드 근거: pages/main-page.tsx · features/graph-explorer.tsx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6" name="TextBox 25"/>
          <p:cNvSpPr txBox="1"/>
          <p:nvPr/>
        </p:nvSpPr>
        <p:spPr>
          <a:xfrm>
            <a:off x="10561320" y="504532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29221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FS018 · FS019 / 요구 18·19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D-GRP-01b   내 종목 지도·범위 필터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/?mode=personal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24</a:t>
            </a:r>
          </a:p>
        </p:txBody>
      </p:sp>
      <p:pic>
        <p:nvPicPr>
          <p:cNvPr id="7" name="Picture 6" descr="D-GRP-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898719" y="1853945"/>
            <a:ext cx="553997"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761559"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651831"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80149" y="1853945"/>
            <a:ext cx="553997"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42989"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233261"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1168681" y="1853945"/>
            <a:ext cx="647759"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031521" y="171678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21793" y="160705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회원 → 내 종목 모드</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보유 기준 기업과 연결 사건 범위로 좁혀요. → D-GRP-01b</a:t>
            </a:r>
          </a:p>
          <a:p>
            <a:pPr>
              <a:lnSpc>
                <a:spcPts val="1625"/>
              </a:lnSpc>
              <a:spcAft>
                <a:spcPts val="0"/>
              </a:spcAft>
              <a:defRPr sz="1250" b="0">
                <a:solidFill>
                  <a:srgbClr val="19201D"/>
                </a:solidFill>
                <a:latin typeface="SUIT"/>
              </a:defRPr>
            </a:pPr>
            <a:r>
              <a:rPr>
                <a:ea typeface="SUIT"/>
              </a:rPr>
              <a:t>2  관심 기준으로 지도를 거릅니다 → D-GRP-01b</a:t>
            </a:r>
          </a:p>
          <a:p>
            <a:pPr>
              <a:lnSpc>
                <a:spcPts val="1625"/>
              </a:lnSpc>
              <a:spcAft>
                <a:spcPts val="0"/>
              </a:spcAft>
              <a:defRPr sz="1250" b="0">
                <a:solidFill>
                  <a:srgbClr val="19201D"/>
                </a:solidFill>
                <a:latin typeface="SUIT"/>
              </a:defRPr>
            </a:pPr>
            <a:r>
              <a:rPr>
                <a:ea typeface="SUIT"/>
              </a:rPr>
              <a:t>3  개인화 필터 없이 전체 지도로 전환 → D-GRP-01</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61036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전체·보유·관심 범위 · 기준 종목 0개 · 관계 0건 · 조회 실패</a:t>
            </a:r>
          </a:p>
          <a:p>
            <a:pPr>
              <a:lnSpc>
                <a:spcPts val="1495"/>
              </a:lnSpc>
              <a:spcAft>
                <a:spcPts val="0"/>
              </a:spcAft>
              <a:defRPr sz="1150" b="0">
                <a:solidFill>
                  <a:srgbClr val="19201D"/>
                </a:solidFill>
                <a:latin typeface="SUIT"/>
              </a:defRPr>
            </a:pPr>
            <a:r>
              <a:rPr>
                <a:ea typeface="SUIT"/>
              </a:rPr>
              <a:t>코드 근거: pages/main-page.tsx · features/graph-explorer.tsx</a:t>
            </a:r>
          </a:p>
          <a:p>
            <a:pPr>
              <a:lnSpc>
                <a:spcPts val="1495"/>
              </a:lnSpc>
              <a:spcAft>
                <a:spcPts val="0"/>
              </a:spcAft>
              <a:defRPr sz="1150" b="0">
                <a:solidFill>
                  <a:srgbClr val="19201D"/>
                </a:solidFill>
                <a:latin typeface="SUIT"/>
              </a:defRPr>
            </a:pPr>
            <a:r>
              <a:rPr>
                <a:ea typeface="SUIT"/>
              </a:rPr>
              <a:t>기존 캡처: docs/design/v7/graph-filter-1440-light.png</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3" name="TextBox 22"/>
          <p:cNvSpPr txBox="1"/>
          <p:nvPr/>
        </p:nvSpPr>
        <p:spPr>
          <a:xfrm>
            <a:off x="10561320" y="502881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27570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FS017 · FS019 · FS026 / 요구 17·19·26</a:t>
            </a:r>
          </a:p>
        </p:txBody>
      </p:sp>
      <p:sp>
        <p:nvSpPr>
          <p:cNvPr id="25" name="TextBox 24"/>
          <p:cNvSpPr txBox="1"/>
          <p:nvPr/>
        </p:nvSpPr>
        <p:spPr>
          <a:xfrm>
            <a:off x="10561320" y="561924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6" name="TextBox 25"/>
          <p:cNvSpPr txBox="1"/>
          <p:nvPr/>
        </p:nvSpPr>
        <p:spPr>
          <a:xfrm>
            <a:off x="10561320" y="586613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필터 깊이 1단계는 프로토타입 가정이에요.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   지도 튜토리얼 1/5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25</a:t>
            </a:r>
          </a:p>
        </p:txBody>
      </p:sp>
      <p:pic>
        <p:nvPicPr>
          <p:cNvPr id="7" name="Picture 6" descr="D-GRP-T.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46938" y="3402139"/>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09778"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00050"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402139"/>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2718054" y="6983730"/>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2580894" y="684657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471166" y="673684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지도 조작을 해 보고 다음 단계로 가요 → D-GRP-T2</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D-GRP-T2   지도 튜토리얼 2/5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26</a:t>
            </a:r>
          </a:p>
        </p:txBody>
      </p:sp>
      <p:pic>
        <p:nvPicPr>
          <p:cNvPr id="7" name="Picture 6" descr="D-GRP-T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247834"/>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247834"/>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247834"/>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D-GRP-T3   지도 튜토리얼 3/5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27</a:t>
            </a:r>
          </a:p>
        </p:txBody>
      </p:sp>
      <p:pic>
        <p:nvPicPr>
          <p:cNvPr id="7" name="Picture 6" descr="D-GRP-T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844480"/>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7073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5975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844480"/>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7073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5975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844480"/>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7073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5975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D-GRP-T4   지도 튜토리얼 4/5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28</a:t>
            </a:r>
          </a:p>
        </p:txBody>
      </p:sp>
      <p:pic>
        <p:nvPicPr>
          <p:cNvPr id="7" name="Picture 6" descr="D-GRP-T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247834"/>
            <a:ext cx="320504"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247834"/>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247834"/>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11067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00094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단계로 가요. → D-GRP-T</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D-GRP-T5   지도 튜토리얼 5/5</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/?mode=all&amp;tour=1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29</a:t>
            </a:r>
          </a:p>
        </p:txBody>
      </p:sp>
      <p:pic>
        <p:nvPicPr>
          <p:cNvPr id="7" name="Picture 6" descr="D-GRP-T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036022" y="3402139"/>
            <a:ext cx="398406"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898862"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89134"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580376" y="3402139"/>
            <a:ext cx="80849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443216"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333488"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46938" y="3402139"/>
            <a:ext cx="33422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9778" y="326497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00050" y="315525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지도에서 튜토리얼 다시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완료를 저장하고 튜토리얼을 닫아요. → D-GRP-01</a:t>
            </a:r>
          </a:p>
          <a:p>
            <a:pPr>
              <a:lnSpc>
                <a:spcPts val="1625"/>
              </a:lnSpc>
              <a:spcAft>
                <a:spcPts val="0"/>
              </a:spcAft>
              <a:defRPr sz="1250" b="0">
                <a:solidFill>
                  <a:srgbClr val="19201D"/>
                </a:solidFill>
                <a:latin typeface="SUIT"/>
              </a:defRPr>
            </a:pPr>
            <a:r>
              <a:rPr>
                <a:ea typeface="SUIT"/>
              </a:rPr>
              <a:t>2  완료를 저장하고 지도를 보여줘요 → D-GRP-01</a:t>
            </a:r>
          </a:p>
          <a:p>
            <a:pPr>
              <a:lnSpc>
                <a:spcPts val="1625"/>
              </a:lnSpc>
              <a:spcAft>
                <a:spcPts val="0"/>
              </a:spcAft>
              <a:defRPr sz="1250" b="0">
                <a:solidFill>
                  <a:srgbClr val="19201D"/>
                </a:solidFill>
                <a:latin typeface="SUIT"/>
              </a:defRPr>
            </a:pPr>
            <a:r>
              <a:rPr>
                <a:ea typeface="SUIT"/>
              </a:rPr>
              <a:t>3  이전 안내 단계로 돌아가요 → D-GRP-T</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1~5단계 · 실습 감지·다음·이전 · 완료 저장 실패</a:t>
            </a:r>
          </a:p>
          <a:p>
            <a:pPr>
              <a:lnSpc>
                <a:spcPts val="1495"/>
              </a:lnSpc>
              <a:spcAft>
                <a:spcPts val="0"/>
              </a:spcAft>
              <a:defRPr sz="1150" b="0">
                <a:solidFill>
                  <a:srgbClr val="19201D"/>
                </a:solidFill>
                <a:latin typeface="SUIT"/>
              </a:defRPr>
            </a:pPr>
            <a:r>
              <a:rPr>
                <a:ea typeface="SUIT"/>
              </a:rPr>
              <a:t>비회원 5단계는 로그인 안내</a:t>
            </a:r>
          </a:p>
          <a:p>
            <a:pPr>
              <a:lnSpc>
                <a:spcPts val="1495"/>
              </a:lnSpc>
              <a:spcAft>
                <a:spcPts val="0"/>
              </a:spcAft>
              <a:defRPr sz="1150" b="0">
                <a:solidFill>
                  <a:srgbClr val="19201D"/>
                </a:solidFill>
                <a:latin typeface="SUIT"/>
              </a:defRPr>
            </a:pPr>
            <a:r>
              <a:rPr>
                <a:ea typeface="SUIT"/>
              </a:rPr>
              <a:t>코드 근거: features/graph-tutorial.tsx</a:t>
            </a:r>
          </a:p>
          <a:p>
            <a:pPr>
              <a:lnSpc>
                <a:spcPts val="1495"/>
              </a:lnSpc>
              <a:spcAft>
                <a:spcPts val="0"/>
              </a:spcAft>
              <a:defRPr sz="1150" b="0">
                <a:solidFill>
                  <a:srgbClr val="19201D"/>
                </a:solidFill>
                <a:latin typeface="SUIT"/>
              </a:defRPr>
            </a:pPr>
            <a:r>
              <a:rPr>
                <a:ea typeface="SUIT"/>
              </a:rPr>
              <a:t>기존 캡처: docs/design/v5/tutorial-step1-1440-light.png</a:t>
            </a:r>
          </a:p>
          <a:p>
            <a:pPr>
              <a:lnSpc>
                <a:spcPts val="1495"/>
              </a:lnSpc>
              <a:spcAft>
                <a:spcPts val="0"/>
              </a:spcAft>
              <a:defRPr sz="1150" b="0">
                <a:solidFill>
                  <a:srgbClr val="19201D"/>
                </a:solidFill>
                <a:latin typeface="SUIT"/>
              </a:defRPr>
            </a:pPr>
            <a:r>
              <a:rPr>
                <a:ea typeface="SUIT"/>
              </a:rPr>
              <a:t>기존 캡처: docs/design/v6/tutorial-step3-1440.png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FS015 · FS016 / 요구 15·16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D-GRP-02   사건 패널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/?mode=all&amp;select=node%3Aissue-04153e2e4c2a1b58e40a0e57</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30</a:t>
            </a:r>
          </a:p>
        </p:txBody>
      </p:sp>
      <p:pic>
        <p:nvPicPr>
          <p:cNvPr id="7" name="Picture 6" descr="D-GRP-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3060954"/>
            <a:ext cx="95272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29237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28140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580376" y="3417570"/>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443216" y="328041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33488" y="317068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 사건 노드를 직접 누르기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사건에 연결된 인용문을 열어요. → D-GRP-05</a:t>
            </a:r>
          </a:p>
          <a:p>
            <a:pPr>
              <a:lnSpc>
                <a:spcPts val="1625"/>
              </a:lnSpc>
              <a:spcAft>
                <a:spcPts val="0"/>
              </a:spcAft>
              <a:defRPr sz="1250" b="0">
                <a:solidFill>
                  <a:srgbClr val="19201D"/>
                </a:solidFill>
                <a:latin typeface="SUIT"/>
              </a:defRPr>
            </a:pPr>
            <a:r>
              <a:rPr>
                <a:ea typeface="SUIT"/>
              </a:rPr>
              <a:t>2  선택을 풀고 지도만 보여줘요 → D-GRP-01</a:t>
            </a:r>
          </a:p>
          <a:p>
            <a:pPr>
              <a:lnSpc>
                <a:spcPts val="1625"/>
              </a:lnSpc>
              <a:spcAft>
                <a:spcPts val="0"/>
              </a:spcAft>
              <a:defRPr sz="1250" b="0">
                <a:solidFill>
                  <a:srgbClr val="19201D"/>
                </a:solidFill>
                <a:latin typeface="SUIT"/>
              </a:defRPr>
            </a:pPr>
            <a:r>
              <a:rPr>
                <a:ea typeface="SUIT"/>
              </a:rPr>
              <a:t>3  이 사건을 질문 후보로 넘겨요 → D-AI-01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중·조회 실패 · 관련 기업 없음 · 근거 0건</a:t>
            </a:r>
          </a:p>
          <a:p>
            <a:pPr>
              <a:lnSpc>
                <a:spcPts val="1495"/>
              </a:lnSpc>
              <a:spcAft>
                <a:spcPts val="0"/>
              </a:spcAft>
              <a:defRPr sz="1150" b="0">
                <a:solidFill>
                  <a:srgbClr val="19201D"/>
                </a:solidFill>
                <a:latin typeface="SUIT"/>
              </a:defRPr>
            </a:pPr>
            <a:r>
              <a:rPr>
                <a:ea typeface="SUIT"/>
              </a:rPr>
              <a:t>코드 근거: features/node-panel.tsx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FS021 · FS024 / 요구 21·24</a:t>
            </a:r>
          </a:p>
        </p:txBody>
      </p:sp>
      <p:sp>
        <p:nvSpPr>
          <p:cNvPr id="25" name="TextBox 24"/>
          <p:cNvSpPr txBox="1"/>
          <p:nvPr/>
        </p:nvSpPr>
        <p:spPr>
          <a:xfrm>
            <a:off x="10561320" y="484327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6" name="TextBox 25"/>
          <p:cNvSpPr txBox="1"/>
          <p:nvPr/>
        </p:nvSpPr>
        <p:spPr>
          <a:xfrm>
            <a:off x="10561320" y="509016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데모에는 실제 모델 판정값이 없어 표시하지 않아요.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D-GRP-03   기업 패널·시세·1개월 추이</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31</a:t>
            </a:r>
          </a:p>
        </p:txBody>
      </p:sp>
      <p:pic>
        <p:nvPicPr>
          <p:cNvPr id="7" name="Picture 6" descr="D-GRP-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580376" y="3904488"/>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7443216" y="376732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333488" y="365760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936992" y="2999232"/>
            <a:ext cx="602968"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799832" y="28620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690104" y="27523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지도 삼성전자 노드를 직접 누르기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기업 선택을 해제하고 지도를 보여줘요 → D-GRP-01</a:t>
            </a:r>
          </a:p>
          <a:p>
            <a:pPr>
              <a:lnSpc>
                <a:spcPts val="1625"/>
              </a:lnSpc>
              <a:spcAft>
                <a:spcPts val="0"/>
              </a:spcAft>
              <a:defRPr sz="1250" b="0">
                <a:solidFill>
                  <a:srgbClr val="19201D"/>
                </a:solidFill>
                <a:latin typeface="SUIT"/>
              </a:defRPr>
            </a:pPr>
            <a:r>
              <a:rPr>
                <a:ea typeface="SUIT"/>
              </a:rPr>
              <a:t>2  시세 출처와 관측 시각을 확인해요 → D-GRP-03</a:t>
            </a:r>
          </a:p>
          <a:p>
            <a:pPr>
              <a:lnSpc>
                <a:spcPts val="1625"/>
              </a:lnSpc>
              <a:spcAft>
                <a:spcPts val="0"/>
              </a:spcAft>
              <a:defRPr sz="1250" b="0">
                <a:solidFill>
                  <a:srgbClr val="19201D"/>
                </a:solidFill>
                <a:latin typeface="SUIT"/>
              </a:defRPr>
            </a:pPr>
            <a:r>
              <a:rPr>
                <a:ea typeface="SUIT"/>
              </a:rPr>
              <a:t>3  받은 주요 지표를 펼쳐요 → D-GRP-03</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61036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중·조회 실패 · 직접·간접 이슈 없음 · 관심 저장 실패</a:t>
            </a:r>
          </a:p>
          <a:p>
            <a:pPr>
              <a:lnSpc>
                <a:spcPts val="1495"/>
              </a:lnSpc>
              <a:spcAft>
                <a:spcPts val="0"/>
              </a:spcAft>
              <a:defRPr sz="1150" b="0">
                <a:solidFill>
                  <a:srgbClr val="19201D"/>
                </a:solidFill>
                <a:latin typeface="SUIT"/>
              </a:defRPr>
            </a:pPr>
            <a:r>
              <a:rPr>
                <a:ea typeface="SUIT"/>
              </a:rPr>
              <a:t>코드 근거: features/node-panel.tsx · features/company-quote.tsx · features/company-metrics.tsx</a:t>
            </a:r>
          </a:p>
          <a:p>
            <a:pPr>
              <a:lnSpc>
                <a:spcPts val="1495"/>
              </a:lnSpc>
              <a:spcAft>
                <a:spcPts val="0"/>
              </a:spcAft>
              <a:defRPr sz="1150" b="0">
                <a:solidFill>
                  <a:srgbClr val="19201D"/>
                </a:solidFill>
                <a:latin typeface="SUIT"/>
              </a:defRPr>
            </a:pPr>
            <a:r>
              <a:rPr>
                <a:ea typeface="SUIT"/>
              </a:rPr>
              <a:t>기존 캡처: docs/design/v5/graph-company-panel-1440-light.png</a:t>
            </a:r>
          </a:p>
          <a:p>
            <a:pPr>
              <a:lnSpc>
                <a:spcPts val="1495"/>
              </a:lnSpc>
              <a:spcAft>
                <a:spcPts val="0"/>
              </a:spcAft>
              <a:defRPr sz="1150" b="0">
                <a:solidFill>
                  <a:srgbClr val="19201D"/>
                </a:solidFill>
                <a:latin typeface="SUIT"/>
              </a:defRPr>
            </a:pPr>
            <a:r>
              <a:rPr>
                <a:ea typeface="SUIT"/>
              </a:rPr>
              <a:t>기존 캡처: docs/design/v6/watch-toggle-1440-light.png</a:t>
            </a:r>
          </a:p>
        </p:txBody>
      </p:sp>
      <p:sp>
        <p:nvSpPr>
          <p:cNvPr id="23" name="TextBox 22"/>
          <p:cNvSpPr txBox="1"/>
          <p:nvPr/>
        </p:nvSpPr>
        <p:spPr>
          <a:xfrm>
            <a:off x="10561320" y="482244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06933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FS020 · FS026 · FS027 / 요구 20·26·27</a:t>
            </a:r>
          </a:p>
        </p:txBody>
      </p:sp>
      <p:sp>
        <p:nvSpPr>
          <p:cNvPr id="25" name="TextBox 24"/>
          <p:cNvSpPr txBox="1"/>
          <p:nvPr/>
        </p:nvSpPr>
        <p:spPr>
          <a:xfrm>
            <a:off x="10561320" y="541286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6" name="TextBox 25"/>
          <p:cNvSpPr txBox="1"/>
          <p:nvPr/>
        </p:nvSpPr>
        <p:spPr>
          <a:xfrm>
            <a:off x="10561320" y="5659755"/>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아래로 스크롤하면 모의 보유·사건·관련 기업·뉴스를 확인해요. 주요 지표는 기본 접힘이에요.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D-GRP-04   연결선 상세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/?mode=all&amp;select=edge%3Aedge-f53400022fc7c812</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32</a:t>
            </a:r>
          </a:p>
        </p:txBody>
      </p:sp>
      <p:pic>
        <p:nvPicPr>
          <p:cNvPr id="7" name="Picture 6" descr="D-GRP-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3890772"/>
            <a:ext cx="95808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375361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36438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593324" y="3890772"/>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8456164" y="375361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346436" y="36438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패널의 사건 공유 기업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공유 사건의 근거를 한 창에서 보여줘요. → D-GRP-05</a:t>
            </a:r>
          </a:p>
          <a:p>
            <a:pPr>
              <a:lnSpc>
                <a:spcPts val="1625"/>
              </a:lnSpc>
              <a:spcAft>
                <a:spcPts val="0"/>
              </a:spcAft>
              <a:defRPr sz="1250" b="0">
                <a:solidFill>
                  <a:srgbClr val="19201D"/>
                </a:solidFill>
                <a:latin typeface="SUIT"/>
              </a:defRPr>
            </a:pPr>
            <a:r>
              <a:rPr>
                <a:ea typeface="SUIT"/>
              </a:rPr>
              <a:t>2  연결선 선택을 해제해요 → D-GRP-01</a:t>
            </a:r>
          </a:p>
          <a:p>
            <a:pPr>
              <a:lnSpc>
                <a:spcPts val="1625"/>
              </a:lnSpc>
              <a:spcAft>
                <a:spcPts val="0"/>
              </a:spcAft>
              <a:defRPr sz="1250" b="0">
                <a:solidFill>
                  <a:srgbClr val="19201D"/>
                </a:solidFill>
                <a:latin typeface="SUIT"/>
              </a:defRPr>
            </a:pPr>
            <a:r>
              <a:rPr>
                <a:ea typeface="SUIT"/>
              </a:rPr>
              <a:t>3  연결선을 질문 후보로 넘겨요 → D-AI-01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연결선 선택 · 상세 조회 중·실패 · 공유·근거 0건</a:t>
            </a:r>
          </a:p>
          <a:p>
            <a:pPr>
              <a:lnSpc>
                <a:spcPts val="1495"/>
              </a:lnSpc>
              <a:spcAft>
                <a:spcPts val="0"/>
              </a:spcAft>
              <a:defRPr sz="1150" b="0">
                <a:solidFill>
                  <a:srgbClr val="19201D"/>
                </a:solidFill>
                <a:latin typeface="SUIT"/>
              </a:defRPr>
            </a:pPr>
            <a:r>
              <a:rPr>
                <a:ea typeface="SUIT"/>
              </a:rPr>
              <a:t>코드 근거: features/node-panel.tsx</a:t>
            </a:r>
          </a:p>
          <a:p>
            <a:pPr>
              <a:lnSpc>
                <a:spcPts val="1495"/>
              </a:lnSpc>
              <a:spcAft>
                <a:spcPts val="0"/>
              </a:spcAft>
              <a:defRPr sz="1150" b="0">
                <a:solidFill>
                  <a:srgbClr val="19201D"/>
                </a:solidFill>
                <a:latin typeface="SUIT"/>
              </a:defRPr>
            </a:pPr>
            <a:r>
              <a:rPr>
                <a:ea typeface="SUIT"/>
              </a:rPr>
              <a:t>기존 캡처: docs/design/v5/graph-edge-panel-1440-light.png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FS023 · FS024 / 요구 23·24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D-GRP-05   근거 문서 창</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/?mode=all&amp;select=node%3AKRX%3A005930&amp;impact=KRX%3A005930%2Cissue-25ac3f6d1288d2b7ffa5454d</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33</a:t>
            </a:r>
          </a:p>
        </p:txBody>
      </p:sp>
      <p:pic>
        <p:nvPicPr>
          <p:cNvPr id="7" name="Picture 6" descr="D-GRP-0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3846195"/>
            <a:ext cx="645723"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3709034"/>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359930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842051" y="3873627"/>
            <a:ext cx="81728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H="1">
            <a:off x="7842051" y="3736466"/>
            <a:ext cx="954441"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686764" y="362673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8640794" y="2231136"/>
            <a:ext cx="192023" cy="19202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8503634" y="209397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393906" y="198424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사건·관계·영향 경로의 근거 버튼</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근거 창을 닫고 영향 경로를 유지해요. → D-GRP-06</a:t>
            </a:r>
          </a:p>
          <a:p>
            <a:pPr>
              <a:lnSpc>
                <a:spcPts val="1625"/>
              </a:lnSpc>
              <a:spcAft>
                <a:spcPts val="0"/>
              </a:spcAft>
              <a:defRPr sz="1250" b="0">
                <a:solidFill>
                  <a:srgbClr val="19201D"/>
                </a:solidFill>
                <a:latin typeface="SUIT"/>
              </a:defRPr>
            </a:pPr>
            <a:r>
              <a:rPr>
                <a:ea typeface="SUIT"/>
              </a:rPr>
              <a:t>2  원문 링크를 눌렀으나 이 실행에서 새 창 이동은 미관측 → D-GRP-05</a:t>
            </a:r>
          </a:p>
          <a:p>
            <a:pPr>
              <a:lnSpc>
                <a:spcPts val="1625"/>
              </a:lnSpc>
              <a:spcAft>
                <a:spcPts val="0"/>
              </a:spcAft>
              <a:defRPr sz="1250" b="0">
                <a:solidFill>
                  <a:srgbClr val="19201D"/>
                </a:solidFill>
                <a:latin typeface="SUIT"/>
              </a:defRPr>
            </a:pPr>
            <a:r>
              <a:rPr>
                <a:ea typeface="SUIT"/>
              </a:rPr>
              <a:t>3  이 인용의 연결선을 지도에서 강조해요 → D-GRP-05</a:t>
            </a:r>
          </a:p>
          <a:p>
            <a:pPr>
              <a:lnSpc>
                <a:spcPts val="1625"/>
              </a:lnSpc>
              <a:spcAft>
                <a:spcPts val="0"/>
              </a:spcAft>
              <a:defRPr sz="1250" b="0">
                <a:solidFill>
                  <a:srgbClr val="19201D"/>
                </a:solidFill>
                <a:latin typeface="SUIT"/>
              </a:defRPr>
            </a:pPr>
            <a:r>
              <a:rPr>
                <a:ea typeface="SUIT"/>
              </a:rPr>
              <a:t>4  관계 검증 시점과 문서 발행을 구분해요 → D-GRP-05</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근거 0건 · 링크 있음·없음 · 일부 조회 실패</a:t>
            </a:r>
          </a:p>
          <a:p>
            <a:pPr>
              <a:lnSpc>
                <a:spcPts val="1495"/>
              </a:lnSpc>
              <a:spcAft>
                <a:spcPts val="0"/>
              </a:spcAft>
              <a:defRPr sz="1150" b="0">
                <a:solidFill>
                  <a:srgbClr val="19201D"/>
                </a:solidFill>
                <a:latin typeface="SUIT"/>
              </a:defRPr>
            </a:pPr>
            <a:r>
              <a:rPr>
                <a:ea typeface="SUIT"/>
              </a:rPr>
              <a:t>삭제·비공개·권한 없음 → 제공 불가</a:t>
            </a:r>
          </a:p>
          <a:p>
            <a:pPr>
              <a:lnSpc>
                <a:spcPts val="1495"/>
              </a:lnSpc>
              <a:spcAft>
                <a:spcPts val="0"/>
              </a:spcAft>
              <a:defRPr sz="1150" b="0">
                <a:solidFill>
                  <a:srgbClr val="19201D"/>
                </a:solidFill>
                <a:latin typeface="SUIT"/>
              </a:defRPr>
            </a:pPr>
            <a:r>
              <a:rPr>
                <a:ea typeface="SUIT"/>
              </a:rPr>
              <a:t>코드 근거: features/overlays.tsx · components/domain/evidence.tsx</a:t>
            </a:r>
          </a:p>
          <a:p>
            <a:pPr>
              <a:lnSpc>
                <a:spcPts val="1495"/>
              </a:lnSpc>
              <a:spcAft>
                <a:spcPts val="0"/>
              </a:spcAft>
              <a:defRPr sz="1150" b="0">
                <a:solidFill>
                  <a:srgbClr val="19201D"/>
                </a:solidFill>
                <a:latin typeface="SUIT"/>
              </a:defRPr>
            </a:pPr>
            <a:r>
              <a:rPr>
                <a:ea typeface="SUIT"/>
              </a:rPr>
              <a:t>기존 캡처: docs/design/v7/evidence-sheet-gone-390-dark.png</a:t>
            </a:r>
          </a:p>
          <a:p>
            <a:pPr>
              <a:lnSpc>
                <a:spcPts val="1495"/>
              </a:lnSpc>
              <a:spcAft>
                <a:spcPts val="0"/>
              </a:spcAft>
              <a:defRPr sz="1150" b="0">
                <a:solidFill>
                  <a:srgbClr val="19201D"/>
                </a:solidFill>
                <a:latin typeface="SUIT"/>
              </a:defRPr>
            </a:pPr>
            <a:r>
              <a:rPr>
                <a:ea typeface="SUIT"/>
              </a:rPr>
              <a:t>기존 캡처: docs/design/v5/graph-evidence-times-1440-light.png</a:t>
            </a:r>
          </a:p>
        </p:txBody>
      </p:sp>
      <p:sp>
        <p:nvSpPr>
          <p:cNvPr id="26" name="TextBox 25"/>
          <p:cNvSpPr txBox="1"/>
          <p:nvPr/>
        </p:nvSpPr>
        <p:spPr>
          <a:xfrm>
            <a:off x="10561320" y="54250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6719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FS024 / 요구 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D-GRP-06   기업에서 여는 영향 경로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/?mode=all&amp;select=node%3AKRX%3A005930&amp;impact=KRX%3A005930%2Cissue-25ac3f6d1288d2b7ffa5454d</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34</a:t>
            </a:r>
          </a:p>
        </p:txBody>
      </p:sp>
      <p:pic>
        <p:nvPicPr>
          <p:cNvPr id="7" name="Picture 6" descr="D-GRP-06.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580376" y="4872323"/>
            <a:ext cx="650438"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7443216" y="473516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333488" y="462543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580376" y="2872359"/>
            <a:ext cx="8199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7443216" y="273519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333488" y="262547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455199" y="2872359"/>
            <a:ext cx="87385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8318039" y="273519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08311" y="262547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768078" y="3338703"/>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630918" y="320154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521190" y="309181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직접 이슈 제목</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인용문과 출처를 근거 창에서 보여줘요. → D-GRP-05</a:t>
            </a:r>
          </a:p>
          <a:p>
            <a:pPr>
              <a:lnSpc>
                <a:spcPts val="1625"/>
              </a:lnSpc>
              <a:spcAft>
                <a:spcPts val="0"/>
              </a:spcAft>
              <a:defRPr sz="1250" b="0">
                <a:solidFill>
                  <a:srgbClr val="19201D"/>
                </a:solidFill>
                <a:latin typeface="SUIT"/>
              </a:defRPr>
            </a:pPr>
            <a:r>
              <a:rPr>
                <a:ea typeface="SUIT"/>
              </a:rPr>
              <a:t>2  이 사건의 패널을 열어요 → D-GRP-02</a:t>
            </a:r>
          </a:p>
          <a:p>
            <a:pPr>
              <a:lnSpc>
                <a:spcPts val="1625"/>
              </a:lnSpc>
              <a:spcAft>
                <a:spcPts val="0"/>
              </a:spcAft>
              <a:defRPr sz="1250" b="0">
                <a:solidFill>
                  <a:srgbClr val="19201D"/>
                </a:solidFill>
                <a:latin typeface="SUIT"/>
              </a:defRPr>
            </a:pPr>
            <a:r>
              <a:rPr>
                <a:ea typeface="SUIT"/>
              </a:rPr>
              <a:t>3  이 경로의 대상을 AI 창으로 넘겨요 → D-AI-01</a:t>
            </a:r>
          </a:p>
          <a:p>
            <a:pPr>
              <a:lnSpc>
                <a:spcPts val="1625"/>
              </a:lnSpc>
              <a:spcAft>
                <a:spcPts val="0"/>
              </a:spcAft>
              <a:defRPr sz="1250" b="0">
                <a:solidFill>
                  <a:srgbClr val="19201D"/>
                </a:solidFill>
                <a:latin typeface="SUIT"/>
              </a:defRPr>
            </a:pPr>
            <a:r>
              <a:rPr>
                <a:ea typeface="SUIT"/>
              </a:rPr>
              <a:t>4  최소 단계 경로의 계산 규칙을 보여줘요 → D-GRP-06</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직접·중간 연결 · 관계 조회 실패 · 근거 없음</a:t>
            </a:r>
          </a:p>
          <a:p>
            <a:pPr>
              <a:lnSpc>
                <a:spcPts val="1495"/>
              </a:lnSpc>
              <a:spcAft>
                <a:spcPts val="0"/>
              </a:spcAft>
              <a:defRPr sz="1150" b="0">
                <a:solidFill>
                  <a:srgbClr val="19201D"/>
                </a:solidFill>
                <a:latin typeface="SUIT"/>
              </a:defRPr>
            </a:pPr>
            <a:r>
              <a:rPr>
                <a:ea typeface="SUIT"/>
              </a:rPr>
              <a:t>코드 근거: features/impact-panel.tsx</a:t>
            </a:r>
          </a:p>
          <a:p>
            <a:pPr>
              <a:lnSpc>
                <a:spcPts val="1495"/>
              </a:lnSpc>
              <a:spcAft>
                <a:spcPts val="0"/>
              </a:spcAft>
              <a:defRPr sz="1150" b="0">
                <a:solidFill>
                  <a:srgbClr val="19201D"/>
                </a:solidFill>
                <a:latin typeface="SUIT"/>
              </a:defRPr>
            </a:pPr>
            <a:r>
              <a:rPr>
                <a:ea typeface="SUIT"/>
              </a:rPr>
              <a:t>기존 캡처: docs/design/v6/impact-path-1440-light.png</a:t>
            </a:r>
          </a:p>
        </p:txBody>
      </p:sp>
      <p:sp>
        <p:nvSpPr>
          <p:cNvPr id="26" name="TextBox 25"/>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FS022 · FS024 / 요구 22·24</a:t>
            </a:r>
          </a:p>
        </p:txBody>
      </p:sp>
      <p:sp>
        <p:nvSpPr>
          <p:cNvPr id="28" name="TextBox 27"/>
          <p:cNvSpPr txBox="1"/>
          <p:nvPr/>
        </p:nvSpPr>
        <p:spPr>
          <a:xfrm>
            <a:off x="10561320" y="485978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106670"/>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영향 경로라는 이름과 중간 산업·제품 자료를 확인해야 해요.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D-GRP-07   포커스·두 기업 사이 경로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/?mode=all&amp;path=KRX%3A005930%2CNASDAQ%3ANVDA</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35</a:t>
            </a:r>
          </a:p>
        </p:txBody>
      </p:sp>
      <p:pic>
        <p:nvPicPr>
          <p:cNvPr id="7" name="Picture 6" descr="D-GRP-07.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499240" y="2347722"/>
            <a:ext cx="661475"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362080" y="221056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252352" y="210083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580376" y="2656332"/>
            <a:ext cx="106073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7443216" y="25191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333488" y="24094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768078" y="3122676"/>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630918" y="298551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521190" y="287578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다른 기업과의 연결 보기 → NVIDIA</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두 기업 경로를 풀고 전체 지도를 보여줘요. → D-GRP-01</a:t>
            </a:r>
          </a:p>
          <a:p>
            <a:pPr>
              <a:lnSpc>
                <a:spcPts val="1625"/>
              </a:lnSpc>
              <a:spcAft>
                <a:spcPts val="0"/>
              </a:spcAft>
              <a:defRPr sz="1250" b="0">
                <a:solidFill>
                  <a:srgbClr val="19201D"/>
                </a:solidFill>
                <a:latin typeface="SUIT"/>
              </a:defRPr>
            </a:pPr>
            <a:r>
              <a:rPr>
                <a:ea typeface="SUIT"/>
              </a:rPr>
              <a:t>2  두 번째 기업 선택창을 다시 열어요 → D-GRP-07</a:t>
            </a:r>
          </a:p>
          <a:p>
            <a:pPr>
              <a:lnSpc>
                <a:spcPts val="1625"/>
              </a:lnSpc>
              <a:spcAft>
                <a:spcPts val="0"/>
              </a:spcAft>
              <a:defRPr sz="1250" b="0">
                <a:solidFill>
                  <a:srgbClr val="19201D"/>
                </a:solidFill>
                <a:latin typeface="SUIT"/>
              </a:defRPr>
            </a:pPr>
            <a:r>
              <a:rPr>
                <a:ea typeface="SUIT"/>
              </a:rPr>
              <a:t>3  방향을 무시한 최소 단계 규칙을 보여줘요 → D-GRP-07</a:t>
            </a:r>
          </a:p>
          <a:p>
            <a:pPr>
              <a:lnSpc>
                <a:spcPts val="1625"/>
              </a:lnSpc>
              <a:spcAft>
                <a:spcPts val="0"/>
              </a:spcAft>
              <a:defRPr sz="1250" b="0">
                <a:solidFill>
                  <a:srgbClr val="19201D"/>
                </a:solidFill>
                <a:latin typeface="SUIT"/>
              </a:defRPr>
            </a:pPr>
            <a:r>
              <a:rPr>
                <a:ea typeface="SUIT"/>
              </a:rPr>
              <a:t>4  두 기업 경로를 해제해요 → D-GRP-01</a:t>
            </a:r>
          </a:p>
        </p:txBody>
      </p:sp>
      <p:sp>
        <p:nvSpPr>
          <p:cNvPr id="24" name="TextBox 23"/>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78548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연결됨 · 두 기업을 잇는 사건 없음 · 경로 해제</a:t>
            </a:r>
          </a:p>
          <a:p>
            <a:pPr>
              <a:lnSpc>
                <a:spcPts val="1495"/>
              </a:lnSpc>
              <a:spcAft>
                <a:spcPts val="0"/>
              </a:spcAft>
              <a:defRPr sz="1150" b="0">
                <a:solidFill>
                  <a:srgbClr val="19201D"/>
                </a:solidFill>
                <a:latin typeface="SUIT"/>
              </a:defRPr>
            </a:pPr>
            <a:r>
              <a:rPr>
                <a:ea typeface="SUIT"/>
              </a:rPr>
              <a:t>코드 근거: features/path-panel.tsx · features/graph-explorer.tsx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26" name="TextBox 25"/>
          <p:cNvSpPr txBox="1"/>
          <p:nvPr/>
        </p:nvSpPr>
        <p:spPr>
          <a:xfrm>
            <a:off x="10561320" y="506183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30872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FS020 · FS023 / 요구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D-GRP-07b   선택 기업 포커스</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/?mode=all&amp;select=node%3AKRX%3A005930&amp;focus=KRX%3A005930&amp;hops=1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36</a:t>
            </a:r>
          </a:p>
        </p:txBody>
      </p:sp>
      <p:pic>
        <p:nvPicPr>
          <p:cNvPr id="7" name="Picture 6" descr="D-GRP-07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396692" y="2388870"/>
            <a:ext cx="661475"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flipH="1">
            <a:off x="2396692" y="2251710"/>
            <a:ext cx="798635"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085599" y="214198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943635" y="2375154"/>
            <a:ext cx="370760"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806475" y="223799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696747" y="212826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740646" y="2299716"/>
            <a:ext cx="301752"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603486" y="216255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493758" y="205282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이 노드 중심으로 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포커스를 풀고 전체 지도 배치로 돌아가요. → D-GRP-01</a:t>
            </a:r>
          </a:p>
          <a:p>
            <a:pPr>
              <a:lnSpc>
                <a:spcPts val="1625"/>
              </a:lnSpc>
              <a:spcAft>
                <a:spcPts val="0"/>
              </a:spcAft>
              <a:defRPr sz="1250" b="0">
                <a:solidFill>
                  <a:srgbClr val="19201D"/>
                </a:solidFill>
                <a:latin typeface="SUIT"/>
              </a:defRPr>
            </a:pPr>
            <a:r>
              <a:rPr>
                <a:ea typeface="SUIT"/>
              </a:rPr>
              <a:t>2  포커스 연결 범위를 2단계로 넓혀요 → D-GRP-07b</a:t>
            </a:r>
          </a:p>
          <a:p>
            <a:pPr>
              <a:lnSpc>
                <a:spcPts val="1625"/>
              </a:lnSpc>
              <a:spcAft>
                <a:spcPts val="0"/>
              </a:spcAft>
              <a:defRPr sz="1250" b="0">
                <a:solidFill>
                  <a:srgbClr val="19201D"/>
                </a:solidFill>
                <a:latin typeface="SUIT"/>
              </a:defRPr>
            </a:pPr>
            <a:r>
              <a:rPr>
                <a:ea typeface="SUIT"/>
              </a:rPr>
              <a:t>3  기업 패널을 닫아요 → D-GRP-07b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포커스 1·2단계 · 전체 보기 · 선택 해제</a:t>
            </a:r>
          </a:p>
          <a:p>
            <a:pPr>
              <a:lnSpc>
                <a:spcPts val="1495"/>
              </a:lnSpc>
              <a:spcAft>
                <a:spcPts val="0"/>
              </a:spcAft>
              <a:defRPr sz="1150" b="0">
                <a:solidFill>
                  <a:srgbClr val="19201D"/>
                </a:solidFill>
                <a:latin typeface="SUIT"/>
              </a:defRPr>
            </a:pPr>
            <a:r>
              <a:rPr>
                <a:ea typeface="SUIT"/>
              </a:rPr>
              <a:t>코드 근거: features/graph-explorer.tsx</a:t>
            </a:r>
          </a:p>
          <a:p>
            <a:pPr>
              <a:lnSpc>
                <a:spcPts val="1495"/>
              </a:lnSpc>
              <a:spcAft>
                <a:spcPts val="0"/>
              </a:spcAft>
              <a:defRPr sz="1150" b="0">
                <a:solidFill>
                  <a:srgbClr val="19201D"/>
                </a:solidFill>
                <a:latin typeface="SUIT"/>
              </a:defRPr>
            </a:pPr>
            <a:r>
              <a:rPr>
                <a:ea typeface="SUIT"/>
              </a:rPr>
              <a:t>기존 캡처: docs/design/v6/focus-390-light.png</a:t>
            </a: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FS020 / 요구 20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D-STK-01   종목 메뉴·검색·관심</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/companies?q=%EC%82%BC%EC%84%B1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37</a:t>
            </a:r>
          </a:p>
        </p:txBody>
      </p:sp>
      <p:pic>
        <p:nvPicPr>
          <p:cNvPr id="7" name="Picture 6" descr="D-STK-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1956816" y="5690997"/>
            <a:ext cx="5980176" cy="4766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1819656" y="555383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09928" y="54441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1956816" y="2454021"/>
            <a:ext cx="606086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819656" y="231686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709928" y="22071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348472" y="577843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8211312" y="564127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101584" y="553154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헤더 종목 → 삼성 검색</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선택 기업의 상세 화면으로 이동해요. → D-COM-01</a:t>
            </a:r>
          </a:p>
          <a:p>
            <a:pPr>
              <a:lnSpc>
                <a:spcPts val="1625"/>
              </a:lnSpc>
              <a:spcAft>
                <a:spcPts val="0"/>
              </a:spcAft>
              <a:defRPr sz="1250" b="0">
                <a:solidFill>
                  <a:srgbClr val="19201D"/>
                </a:solidFill>
                <a:latin typeface="SUIT"/>
              </a:defRPr>
            </a:pPr>
            <a:r>
              <a:rPr>
                <a:ea typeface="SUIT"/>
              </a:rPr>
              <a:t>2  기업명·티커를 입력해요 → D-STK-01</a:t>
            </a:r>
          </a:p>
          <a:p>
            <a:pPr>
              <a:lnSpc>
                <a:spcPts val="1625"/>
              </a:lnSpc>
              <a:spcAft>
                <a:spcPts val="0"/>
              </a:spcAft>
              <a:defRPr sz="1250" b="0">
                <a:solidFill>
                  <a:srgbClr val="19201D"/>
                </a:solidFill>
                <a:latin typeface="SUIT"/>
              </a:defRPr>
            </a:pPr>
            <a:r>
              <a:rPr>
                <a:ea typeface="SUIT"/>
              </a:rPr>
              <a:t>3  삼성전자 관심을 등록·해제해요 → D-STK-01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전체·내 종목 · 검색·결과 없음 · 관심 변경 · 조회 실패</a:t>
            </a:r>
          </a:p>
          <a:p>
            <a:pPr>
              <a:lnSpc>
                <a:spcPts val="1495"/>
              </a:lnSpc>
              <a:spcAft>
                <a:spcPts val="0"/>
              </a:spcAft>
              <a:defRPr sz="1150" b="0">
                <a:solidFill>
                  <a:srgbClr val="19201D"/>
                </a:solidFill>
                <a:latin typeface="SUIT"/>
              </a:defRPr>
            </a:pPr>
            <a:r>
              <a:rPr>
                <a:ea typeface="SUIT"/>
              </a:rPr>
              <a:t>코드 근거: pages/companies-page.tsx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FS037 · FS027 / 요구 27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D-COM-01   기업 상세·시세·모의 보유</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/companies/KRX%3A005930?asOf=2026-10-06T03%3A41%3A18.068Z</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38</a:t>
            </a:r>
          </a:p>
        </p:txBody>
      </p:sp>
      <p:pic>
        <p:nvPicPr>
          <p:cNvPr id="7" name="Picture 6" descr="D-COM-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38144"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00984"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191256"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315968"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4178808"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069080"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019073" y="2454021"/>
            <a:ext cx="37076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881913" y="231686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772185" y="22071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패널 → 기업 상세</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이 기업 사건의 근거 문서 목록을 보여줘요. → D-COM-02</a:t>
            </a:r>
          </a:p>
          <a:p>
            <a:pPr>
              <a:lnSpc>
                <a:spcPts val="1625"/>
              </a:lnSpc>
              <a:spcAft>
                <a:spcPts val="0"/>
              </a:spcAft>
              <a:defRPr sz="1250" b="0">
                <a:solidFill>
                  <a:srgbClr val="19201D"/>
                </a:solidFill>
                <a:latin typeface="SUIT"/>
              </a:defRPr>
            </a:pPr>
            <a:r>
              <a:rPr>
                <a:ea typeface="SUIT"/>
              </a:rPr>
              <a:t>2  등록된 기업 정보를 보여줘요 → D-COM-02</a:t>
            </a:r>
          </a:p>
          <a:p>
            <a:pPr>
              <a:lnSpc>
                <a:spcPts val="1625"/>
              </a:lnSpc>
              <a:spcAft>
                <a:spcPts val="0"/>
              </a:spcAft>
              <a:defRPr sz="1250" b="0">
                <a:solidFill>
                  <a:srgbClr val="19201D"/>
                </a:solidFill>
                <a:latin typeface="SUIT"/>
              </a:defRPr>
            </a:pPr>
            <a:r>
              <a:rPr>
                <a:ea typeface="SUIT"/>
              </a:rPr>
              <a:t>3  기업 중심 관계를 2단계로 넓혀요 → D-COM-04</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FS039 · FS040 · FS044 / 요구 38·39·40·44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D-COM-01b   차트·시간 버킷·인과관계 고지</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/companies/KRX%3A005930?asOf=2026-10-06T03%3A41%3A18.068Z&amp;tab=events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39</a:t>
            </a:r>
          </a:p>
        </p:txBody>
      </p:sp>
      <p:pic>
        <p:nvPicPr>
          <p:cNvPr id="7" name="Picture 6" descr="D-COM-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048506" y="1953387"/>
            <a:ext cx="459485"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11346" y="1816226"/>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801618" y="17064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074670" y="1953387"/>
            <a:ext cx="459485"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937510" y="1816226"/>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827782" y="17064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5328594" y="1953387"/>
            <a:ext cx="464093"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191434" y="1816226"/>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081706" y="17064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 사건 탭에서 차트 아래까지 스크롤</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차트와 사건을 주 단위 버킷의 1년으로 바꿔요. → D-COM-01b</a:t>
            </a:r>
          </a:p>
          <a:p>
            <a:pPr>
              <a:lnSpc>
                <a:spcPts val="1625"/>
              </a:lnSpc>
              <a:spcAft>
                <a:spcPts val="0"/>
              </a:spcAft>
              <a:defRPr sz="1250" b="0">
                <a:solidFill>
                  <a:srgbClr val="19201D"/>
                </a:solidFill>
                <a:latin typeface="SUIT"/>
              </a:defRPr>
            </a:pPr>
            <a:r>
              <a:rPr>
                <a:ea typeface="SUIT"/>
              </a:rPr>
              <a:t>2  차트와 사건을 1주 범위로 바꿔요 → D-COM-01b</a:t>
            </a:r>
          </a:p>
          <a:p>
            <a:pPr>
              <a:lnSpc>
                <a:spcPts val="1625"/>
              </a:lnSpc>
              <a:spcAft>
                <a:spcPts val="0"/>
              </a:spcAft>
              <a:defRPr sz="1250" b="0">
                <a:solidFill>
                  <a:srgbClr val="19201D"/>
                </a:solidFill>
                <a:latin typeface="SUIT"/>
              </a:defRPr>
            </a:pPr>
            <a:r>
              <a:rPr>
                <a:ea typeface="SUIT"/>
              </a:rPr>
              <a:t>3  직접 관련 사건만 보여줘요 → D-COM-01b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features/company-price-chart.tsx · features/company-timeline.tsx</a:t>
            </a:r>
          </a:p>
          <a:p>
            <a:pPr>
              <a:lnSpc>
                <a:spcPts val="1495"/>
              </a:lnSpc>
              <a:spcAft>
                <a:spcPts val="0"/>
              </a:spcAft>
              <a:defRPr sz="1150" b="0">
                <a:solidFill>
                  <a:srgbClr val="19201D"/>
                </a:solidFill>
                <a:latin typeface="SUIT"/>
              </a:defRPr>
            </a:pPr>
            <a:r>
              <a:rPr>
                <a:ea typeface="SUIT"/>
              </a:rPr>
              <a:t>기존 캡처: docs/design/v7/company-chart-notice-1440-light.png</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83895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08584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FS040 · FS041 / 요구 40·41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D-COM-02   사건 타임라인·문서 탭</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/companies/KRX%3A005930?asOf=2026-10-06T03%3A41%3A18.068Z&amp;tab=documents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40</a:t>
            </a:r>
          </a:p>
        </p:txBody>
      </p:sp>
      <p:pic>
        <p:nvPicPr>
          <p:cNvPr id="7" name="Picture 6" descr="D-COM-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560320"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423160"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313432"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315968" y="6102477"/>
            <a:ext cx="877824"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4178808" y="596531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069080" y="58555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635240" y="2454021"/>
            <a:ext cx="356401"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498080" y="231686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388352" y="22071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상세의 문서 탭</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기간별 사건 타임라인으로 돌아가요. → D-COM-01</a:t>
            </a:r>
          </a:p>
          <a:p>
            <a:pPr>
              <a:lnSpc>
                <a:spcPts val="1625"/>
              </a:lnSpc>
              <a:spcAft>
                <a:spcPts val="0"/>
              </a:spcAft>
              <a:defRPr sz="1250" b="0">
                <a:solidFill>
                  <a:srgbClr val="19201D"/>
                </a:solidFill>
                <a:latin typeface="SUIT"/>
              </a:defRPr>
            </a:pPr>
            <a:r>
              <a:rPr>
                <a:ea typeface="SUIT"/>
              </a:rPr>
              <a:t>2  등록된 기업 정보를 보여줘요 → D-COM-02</a:t>
            </a:r>
          </a:p>
          <a:p>
            <a:pPr>
              <a:lnSpc>
                <a:spcPts val="1625"/>
              </a:lnSpc>
              <a:spcAft>
                <a:spcPts val="0"/>
              </a:spcAft>
              <a:defRPr sz="1250" b="0">
                <a:solidFill>
                  <a:srgbClr val="19201D"/>
                </a:solidFill>
                <a:latin typeface="SUIT"/>
              </a:defRPr>
            </a:pPr>
            <a:r>
              <a:rPr>
                <a:ea typeface="SUIT"/>
              </a:rPr>
              <a:t>3  관계 탐색을 1단계로 좁혀요 → D-COM-04</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features/company-documents.tsx · pages/company-page.tsx</a:t>
            </a:r>
          </a:p>
          <a:p>
            <a:pPr>
              <a:lnSpc>
                <a:spcPts val="1495"/>
              </a:lnSpc>
              <a:spcAft>
                <a:spcPts val="0"/>
              </a:spcAft>
              <a:defRPr sz="1150" b="0">
                <a:solidFill>
                  <a:srgbClr val="19201D"/>
                </a:solidFill>
                <a:latin typeface="SUIT"/>
              </a:defRPr>
            </a:pPr>
            <a:r>
              <a:rPr>
                <a:ea typeface="SUIT"/>
              </a:rPr>
              <a:t>기존 캡처: docs/design/v5/company-documents.png</a:t>
            </a:r>
          </a:p>
          <a:p>
            <a:pPr>
              <a:lnSpc>
                <a:spcPts val="1495"/>
              </a:lnSpc>
              <a:spcAft>
                <a:spcPts val="0"/>
              </a:spcAft>
              <a:defRPr sz="1150" b="0">
                <a:solidFill>
                  <a:srgbClr val="19201D"/>
                </a:solidFill>
                <a:latin typeface="SUIT"/>
              </a:defRPr>
            </a:pPr>
            <a:r>
              <a:rPr>
                <a:ea typeface="SUIT"/>
              </a:rPr>
              <a:t>기존 캡처: docs/design/v7/evidence-gone-390-dark.png</a:t>
            </a:r>
          </a:p>
        </p:txBody>
      </p:sp>
      <p:sp>
        <p:nvSpPr>
          <p:cNvPr id="23" name="TextBox 22"/>
          <p:cNvSpPr txBox="1"/>
          <p:nvPr/>
        </p:nvSpPr>
        <p:spPr>
          <a:xfrm>
            <a:off x="10561320" y="463257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7946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FS040 · FS041 · FS043 / 요구 40·41·43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D-COM-03   기업 상세·좌측 기업 전환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/companies/KRX%3A005930?period=1m&amp;asOf=2026-09-30T23%3A59%3A59%2B09%3A00&amp;tab=events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41</a:t>
            </a:r>
          </a:p>
        </p:txBody>
      </p:sp>
      <p:pic>
        <p:nvPicPr>
          <p:cNvPr id="7" name="Picture 6" descr="D-COM-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530352" y="3426142"/>
            <a:ext cx="1776222" cy="453485"/>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93192" y="328898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83464" y="317925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640080" y="2625471"/>
            <a:ext cx="92422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02920" y="248831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93192" y="23785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1619166" y="2625471"/>
            <a:ext cx="57767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482006" y="248831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372278" y="23785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상세의 기업 전환 사이드바</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기업을 바꾸고 기간·기준 시점·탭은 유지해요. → D-COM-03</a:t>
            </a:r>
          </a:p>
          <a:p>
            <a:pPr>
              <a:lnSpc>
                <a:spcPts val="1625"/>
              </a:lnSpc>
              <a:spcAft>
                <a:spcPts val="0"/>
              </a:spcAft>
              <a:defRPr sz="1250" b="0">
                <a:solidFill>
                  <a:srgbClr val="19201D"/>
                </a:solidFill>
                <a:latin typeface="SUIT"/>
              </a:defRPr>
            </a:pPr>
            <a:r>
              <a:rPr>
                <a:ea typeface="SUIT"/>
              </a:rPr>
              <a:t>2  다른 기업을 검색해요 → D-COM-03</a:t>
            </a:r>
          </a:p>
          <a:p>
            <a:pPr>
              <a:lnSpc>
                <a:spcPts val="1625"/>
              </a:lnSpc>
              <a:spcAft>
                <a:spcPts val="0"/>
              </a:spcAft>
              <a:defRPr sz="1250" b="0">
                <a:solidFill>
                  <a:srgbClr val="19201D"/>
                </a:solidFill>
                <a:latin typeface="SUIT"/>
              </a:defRPr>
            </a:pPr>
            <a:r>
              <a:rPr>
                <a:ea typeface="SUIT"/>
              </a:rPr>
              <a:t>3  입력한 기업명으로 검색해요 → D-COM-03</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FS044 / 요구 38·44</a:t>
            </a:r>
          </a:p>
        </p:txBody>
      </p:sp>
      <p:sp>
        <p:nvSpPr>
          <p:cNvPr id="25" name="TextBox 24"/>
          <p:cNvSpPr txBox="1"/>
          <p:nvPr/>
        </p:nvSpPr>
        <p:spPr>
          <a:xfrm>
            <a:off x="10561320" y="5049647"/>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6" name="TextBox 25"/>
          <p:cNvSpPr txBox="1"/>
          <p:nvPr/>
        </p:nvSpPr>
        <p:spPr>
          <a:xfrm>
            <a:off x="10561320" y="5296535"/>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검색·보유·관심·최근·연결 기업. 기업 전환 시 사건·버킷 선택은 해제해요.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D-COM-04   기업 중심 관계 그래프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/companies/KRX%3A005930?period=1m&amp;asOf=2026-09-30T23%3A59%3A59%2B09%3A00&amp;tab=events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42</a:t>
            </a:r>
          </a:p>
        </p:txBody>
      </p:sp>
      <p:pic>
        <p:nvPicPr>
          <p:cNvPr id="7" name="Picture 6" descr="D-COM-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259407" y="1881378"/>
            <a:ext cx="817280"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9122247" y="174421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012519" y="163448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635240" y="2454021"/>
            <a:ext cx="356401"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7498080" y="231686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388352" y="22071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8019073" y="2454021"/>
            <a:ext cx="37076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881913" y="231686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772185" y="22071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 오른쪽 관계 그래프</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같은 기업·기준 시점의 지도로 이동해요. → D-GRP-01</a:t>
            </a:r>
          </a:p>
          <a:p>
            <a:pPr>
              <a:lnSpc>
                <a:spcPts val="1625"/>
              </a:lnSpc>
              <a:spcAft>
                <a:spcPts val="0"/>
              </a:spcAft>
              <a:defRPr sz="1250" b="0">
                <a:solidFill>
                  <a:srgbClr val="19201D"/>
                </a:solidFill>
                <a:latin typeface="SUIT"/>
              </a:defRPr>
            </a:pPr>
            <a:r>
              <a:rPr>
                <a:ea typeface="SUIT"/>
              </a:rPr>
              <a:t>2  기업 중심의 1단계 관계로 좁혀요 → D-COM-04</a:t>
            </a:r>
          </a:p>
          <a:p>
            <a:pPr>
              <a:lnSpc>
                <a:spcPts val="1625"/>
              </a:lnSpc>
              <a:spcAft>
                <a:spcPts val="0"/>
              </a:spcAft>
              <a:defRPr sz="1250" b="0">
                <a:solidFill>
                  <a:srgbClr val="19201D"/>
                </a:solidFill>
                <a:latin typeface="SUIT"/>
              </a:defRPr>
            </a:pPr>
            <a:r>
              <a:rPr>
                <a:ea typeface="SUIT"/>
              </a:rPr>
              <a:t>3  2단계 관계로 넓혀요 → D-COM-04</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FS040 · FS044 / 요구 38·40·44</a:t>
            </a:r>
          </a:p>
        </p:txBody>
      </p:sp>
      <p:sp>
        <p:nvSpPr>
          <p:cNvPr id="25" name="TextBox 24"/>
          <p:cNvSpPr txBox="1"/>
          <p:nvPr/>
        </p:nvSpPr>
        <p:spPr>
          <a:xfrm>
            <a:off x="10561320" y="484327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6" name="TextBox 25"/>
          <p:cNvSpPr txBox="1"/>
          <p:nvPr/>
        </p:nvSpPr>
        <p:spPr>
          <a:xfrm>
            <a:off x="10561320" y="5090160"/>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공개 기준 asOf 이전의 검증 관계만 보여요. 1단계·2단계를 선택해요.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D-COM-05   타임라인 버킷·차트·그래프 연동</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/companies/KRX%3A005930?period=1m&amp;asOf=2026-09-30T23%3A59%3A59%2B09%3A00&amp;tab=events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43</a:t>
            </a:r>
          </a:p>
        </p:txBody>
      </p:sp>
      <p:pic>
        <p:nvPicPr>
          <p:cNvPr id="7" name="Picture 6" descr="D-COM-0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48130" y="4261104"/>
            <a:ext cx="30175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10970" y="412394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01242" y="401421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561588" y="2097405"/>
            <a:ext cx="459486"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424428" y="196024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314700" y="185051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366510" y="2111121"/>
            <a:ext cx="49688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6229350" y="197396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119622" y="186423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차트의 사건 수 표식 선택</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해당 버킷의 사건을 펼치고 차트·관계 그래프에 강조해요. → D-COM-05</a:t>
            </a:r>
          </a:p>
          <a:p>
            <a:pPr>
              <a:lnSpc>
                <a:spcPts val="1625"/>
              </a:lnSpc>
              <a:spcAft>
                <a:spcPts val="0"/>
              </a:spcAft>
              <a:defRPr sz="1250" b="0">
                <a:solidFill>
                  <a:srgbClr val="19201D"/>
                </a:solidFill>
                <a:latin typeface="SUIT"/>
              </a:defRPr>
            </a:pPr>
            <a:r>
              <a:rPr>
                <a:ea typeface="SUIT"/>
              </a:rPr>
              <a:t>2  일 단위 버킷으로 조회해요 → D-COM-05</a:t>
            </a:r>
          </a:p>
          <a:p>
            <a:pPr>
              <a:lnSpc>
                <a:spcPts val="1625"/>
              </a:lnSpc>
              <a:spcAft>
                <a:spcPts val="0"/>
              </a:spcAft>
              <a:defRPr sz="1250" b="0">
                <a:solidFill>
                  <a:srgbClr val="19201D"/>
                </a:solidFill>
                <a:latin typeface="SUIT"/>
              </a:defRPr>
            </a:pPr>
            <a:r>
              <a:rPr>
                <a:ea typeface="SUIT"/>
              </a:rPr>
              <a:t>3  현재 공개 기준 시점으로 돌아가요 → D-COM-05</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FS040 · FS041 · FS044 / 요구 40·41·44</a:t>
            </a:r>
          </a:p>
        </p:txBody>
      </p:sp>
      <p:sp>
        <p:nvSpPr>
          <p:cNvPr id="25" name="TextBox 24"/>
          <p:cNvSpPr txBox="1"/>
          <p:nvPr/>
        </p:nvSpPr>
        <p:spPr>
          <a:xfrm>
            <a:off x="10561320" y="5049647"/>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6" name="TextBox 25"/>
          <p:cNvSpPr txBox="1"/>
          <p:nvPr/>
        </p:nvSpPr>
        <p:spPr>
          <a:xfrm>
            <a:off x="10561320" y="5296535"/>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복수 사건은 한 사건으로 합치지 않아요. 사건 선택은 issue 주소로 복원해요.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D-COM-06   차트 시점 선택·asOf 변경</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/companies/KRX%3A005930?period=1m&amp;asOf=2026-09-30T23%3A59%3A59%2B09%3A00&amp;tab=events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44</a:t>
            </a:r>
          </a:p>
        </p:txBody>
      </p:sp>
      <p:pic>
        <p:nvPicPr>
          <p:cNvPr id="7" name="Picture 6" descr="D-COM-06.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2560320" y="6181344"/>
            <a:ext cx="4882896" cy="1316736"/>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423160" y="604418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313432" y="593445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561588" y="5361813"/>
            <a:ext cx="459486"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424428" y="522465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314700" y="511492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6366510" y="5375529"/>
            <a:ext cx="49688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6229350" y="523836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119622" y="512864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실제 거래 바를 눌러 공개 기준 시점 변경</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누른 거래 바의 시각으로 asOf를 바꾸고 관계·사건을 다시 조회해요. → D-COM-06</a:t>
            </a:r>
          </a:p>
          <a:p>
            <a:pPr>
              <a:lnSpc>
                <a:spcPts val="1625"/>
              </a:lnSpc>
              <a:spcAft>
                <a:spcPts val="0"/>
              </a:spcAft>
              <a:defRPr sz="1250" b="0">
                <a:solidFill>
                  <a:srgbClr val="19201D"/>
                </a:solidFill>
                <a:latin typeface="SUIT"/>
              </a:defRPr>
            </a:pPr>
            <a:r>
              <a:rPr>
                <a:ea typeface="SUIT"/>
              </a:rPr>
              <a:t>2  1개월 조회를 유지해요 → D-COM-06</a:t>
            </a:r>
          </a:p>
          <a:p>
            <a:pPr>
              <a:lnSpc>
                <a:spcPts val="1625"/>
              </a:lnSpc>
              <a:spcAft>
                <a:spcPts val="0"/>
              </a:spcAft>
              <a:defRPr sz="1250" b="0">
                <a:solidFill>
                  <a:srgbClr val="19201D"/>
                </a:solidFill>
                <a:latin typeface="SUIT"/>
              </a:defRPr>
            </a:pPr>
            <a:r>
              <a:rPr>
                <a:ea typeface="SUIT"/>
              </a:rPr>
              <a:t>3  현재 공개 기준 시점으로 돌아가요 → D-COM-06</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FS040 · FS041 · FS044 / 요구 40·41·44</a:t>
            </a:r>
          </a:p>
        </p:txBody>
      </p:sp>
      <p:sp>
        <p:nvSpPr>
          <p:cNvPr id="25" name="TextBox 24"/>
          <p:cNvSpPr txBox="1"/>
          <p:nvPr/>
        </p:nvSpPr>
        <p:spPr>
          <a:xfrm>
            <a:off x="10561320" y="5049647"/>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6" name="TextBox 25"/>
          <p:cNvSpPr txBox="1"/>
          <p:nvPr/>
        </p:nvSpPr>
        <p:spPr>
          <a:xfrm>
            <a:off x="10561320" y="5296535"/>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주소의 period·asOf·tab·issue로 재진입 상태를 복원해요. 최신 시점으로 돌아갈 수 있어요.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D-MY-01   내 종목 관리</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/me/stocks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45</a:t>
            </a:r>
          </a:p>
        </p:txBody>
      </p:sp>
      <p:pic>
        <p:nvPicPr>
          <p:cNvPr id="7" name="Picture 6" descr="D-MY-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920400" y="5606986"/>
            <a:ext cx="577679"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783240" y="546982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673512" y="53600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108960" y="5606986"/>
            <a:ext cx="375657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971800" y="546982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862072" y="536009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251192" y="3195113"/>
            <a:ext cx="30175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114032" y="305795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004304" y="294822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7001196" y="2334006"/>
            <a:ext cx="496883"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6864036" y="219684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754308" y="208711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회원 → 상단 내 종목</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입력한 이름의 종목 검색 결과를 보여줘요. → D-MY-01</a:t>
            </a:r>
          </a:p>
          <a:p>
            <a:pPr>
              <a:lnSpc>
                <a:spcPts val="1625"/>
              </a:lnSpc>
              <a:spcAft>
                <a:spcPts val="0"/>
              </a:spcAft>
              <a:defRPr sz="1250" b="0">
                <a:solidFill>
                  <a:srgbClr val="19201D"/>
                </a:solidFill>
                <a:latin typeface="SUIT"/>
              </a:defRPr>
            </a:pPr>
            <a:r>
              <a:rPr>
                <a:ea typeface="SUIT"/>
              </a:rPr>
              <a:t>2  검색할 이름·코드를 입력해요 → D-MY-01</a:t>
            </a:r>
          </a:p>
          <a:p>
            <a:pPr>
              <a:lnSpc>
                <a:spcPts val="1625"/>
              </a:lnSpc>
              <a:spcAft>
                <a:spcPts val="0"/>
              </a:spcAft>
              <a:defRPr sz="1250" b="0">
                <a:solidFill>
                  <a:srgbClr val="19201D"/>
                </a:solidFill>
                <a:latin typeface="SUIT"/>
              </a:defRPr>
            </a:pPr>
            <a:r>
              <a:rPr>
                <a:ea typeface="SUIT"/>
              </a:rPr>
              <a:t>3  보유 기업 상세를 열어요 → D-COM-01</a:t>
            </a:r>
          </a:p>
          <a:p>
            <a:pPr>
              <a:lnSpc>
                <a:spcPts val="1625"/>
              </a:lnSpc>
              <a:spcAft>
                <a:spcPts val="0"/>
              </a:spcAft>
              <a:defRPr sz="1250" b="0">
                <a:solidFill>
                  <a:srgbClr val="19201D"/>
                </a:solidFill>
                <a:latin typeface="SUIT"/>
              </a:defRPr>
            </a:pPr>
            <a:r>
              <a:rPr>
                <a:ea typeface="SUIT"/>
              </a:rPr>
              <a:t>4  모의 계좌를 해제하고 보유 표시를 없애요 → D-MY-01</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계좌 미연결·연결됨 · 관심 0개·편집·저장 실패</a:t>
            </a:r>
          </a:p>
          <a:p>
            <a:pPr>
              <a:lnSpc>
                <a:spcPts val="1495"/>
              </a:lnSpc>
              <a:spcAft>
                <a:spcPts val="0"/>
              </a:spcAft>
              <a:defRPr sz="1150" b="0">
                <a:solidFill>
                  <a:srgbClr val="19201D"/>
                </a:solidFill>
                <a:latin typeface="SUIT"/>
              </a:defRPr>
            </a:pPr>
            <a:r>
              <a:rPr>
                <a:ea typeface="SUIT"/>
              </a:rPr>
              <a:t>코드 근거: pages/my-stocks-page.tsx</a:t>
            </a:r>
          </a:p>
          <a:p>
            <a:pPr>
              <a:lnSpc>
                <a:spcPts val="1495"/>
              </a:lnSpc>
              <a:spcAft>
                <a:spcPts val="0"/>
              </a:spcAft>
              <a:defRPr sz="1150" b="0">
                <a:solidFill>
                  <a:srgbClr val="19201D"/>
                </a:solidFill>
                <a:latin typeface="SUIT"/>
              </a:defRPr>
            </a:pPr>
            <a:r>
              <a:rPr>
                <a:ea typeface="SUIT"/>
              </a:rPr>
              <a:t>기존 캡처: docs/design/v6/holding-valuation-1440-light.png</a:t>
            </a:r>
          </a:p>
        </p:txBody>
      </p:sp>
      <p:sp>
        <p:nvSpPr>
          <p:cNvPr id="26" name="TextBox 25"/>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70611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FS027 · FS054 · FS062 / 요구 27·66·74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D-BRF-01   출근 브리핑</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/briefing?date=2026-09-17&amp;edition=morning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46</a:t>
            </a:r>
          </a:p>
        </p:txBody>
      </p:sp>
      <p:pic>
        <p:nvPicPr>
          <p:cNvPr id="7" name="Picture 6" descr="D-BRF-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796028" y="2306574"/>
            <a:ext cx="726947"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4658868"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549140"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834640" y="2306574"/>
            <a:ext cx="109728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697480"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587752"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7463790" y="3400425"/>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7326630" y="326326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216902" y="315353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6629900" y="4898898"/>
            <a:ext cx="1025913"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6492740" y="476173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383012" y="4652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브리핑 → 발행일 → 출근</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같은 발행일 퇴근 회차를 보여줘요. → D-BRF-02</a:t>
            </a:r>
          </a:p>
          <a:p>
            <a:pPr>
              <a:lnSpc>
                <a:spcPts val="1625"/>
              </a:lnSpc>
              <a:spcAft>
                <a:spcPts val="0"/>
              </a:spcAft>
              <a:defRPr sz="1250" b="0">
                <a:solidFill>
                  <a:srgbClr val="19201D"/>
                </a:solidFill>
                <a:latin typeface="SUIT"/>
              </a:defRPr>
            </a:pPr>
            <a:r>
              <a:rPr>
                <a:ea typeface="SUIT"/>
              </a:rPr>
              <a:t>2  발행된 날짜 선택지를 열어요 → D-BRF-01</a:t>
            </a:r>
          </a:p>
          <a:p>
            <a:pPr>
              <a:lnSpc>
                <a:spcPts val="1625"/>
              </a:lnSpc>
              <a:spcAft>
                <a:spcPts val="0"/>
              </a:spcAft>
              <a:defRPr sz="1250" b="0">
                <a:solidFill>
                  <a:srgbClr val="19201D"/>
                </a:solidFill>
                <a:latin typeface="SUIT"/>
              </a:defRPr>
            </a:pPr>
            <a:r>
              <a:rPr>
                <a:ea typeface="SUIT"/>
              </a:rPr>
              <a:t>3  회차 고정·출처·수집 시각을 보여줘요 → D-BRF-01</a:t>
            </a:r>
          </a:p>
          <a:p>
            <a:pPr>
              <a:lnSpc>
                <a:spcPts val="1625"/>
              </a:lnSpc>
              <a:spcAft>
                <a:spcPts val="0"/>
              </a:spcAft>
              <a:defRPr sz="1250" b="0">
                <a:solidFill>
                  <a:srgbClr val="19201D"/>
                </a:solidFill>
                <a:latin typeface="SUIT"/>
              </a:defRPr>
            </a:pPr>
            <a:r>
              <a:rPr>
                <a:ea typeface="SUIT"/>
              </a:rPr>
              <a:t>4  발행 당시 전체 지도를 열어요 → D-BRF-04</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발행 전·생성 중·발행·발행 실패·제공 중단</a:t>
            </a:r>
          </a:p>
          <a:p>
            <a:pPr>
              <a:lnSpc>
                <a:spcPts val="1495"/>
              </a:lnSpc>
              <a:spcAft>
                <a:spcPts val="0"/>
              </a:spcAft>
              <a:defRPr sz="1150" b="0">
                <a:solidFill>
                  <a:srgbClr val="19201D"/>
                </a:solidFill>
                <a:latin typeface="SUIT"/>
              </a:defRPr>
            </a:pPr>
            <a:r>
              <a:rPr>
                <a:ea typeface="SUIT"/>
              </a:rPr>
              <a:t>지표 정상·지연·미제공·실패</a:t>
            </a:r>
          </a:p>
          <a:p>
            <a:pPr>
              <a:lnSpc>
                <a:spcPts val="1495"/>
              </a:lnSpc>
              <a:spcAft>
                <a:spcPts val="0"/>
              </a:spcAft>
              <a:defRPr sz="1150" b="0">
                <a:solidFill>
                  <a:srgbClr val="19201D"/>
                </a:solidFill>
                <a:latin typeface="SUIT"/>
              </a:defRPr>
            </a:pPr>
            <a:r>
              <a:rPr>
                <a:ea typeface="SUIT"/>
              </a:rPr>
              <a:t>코드 근거: pages/briefing-page.tsx · features/briefing-market.tsx</a:t>
            </a:r>
          </a:p>
          <a:p>
            <a:pPr>
              <a:lnSpc>
                <a:spcPts val="1495"/>
              </a:lnSpc>
              <a:spcAft>
                <a:spcPts val="0"/>
              </a:spcAft>
              <a:defRPr sz="1150" b="0">
                <a:solidFill>
                  <a:srgbClr val="19201D"/>
                </a:solidFill>
                <a:latin typeface="SUIT"/>
              </a:defRPr>
            </a:pPr>
            <a:r>
              <a:rPr>
                <a:ea typeface="SUIT"/>
              </a:rPr>
              <a:t>기존 캡처: docs/design/v7/briefing-states-1440-light.png</a:t>
            </a:r>
          </a:p>
        </p:txBody>
      </p:sp>
      <p:sp>
        <p:nvSpPr>
          <p:cNvPr id="26" name="TextBox 25"/>
          <p:cNvSpPr txBox="1"/>
          <p:nvPr/>
        </p:nvSpPr>
        <p:spPr>
          <a:xfrm>
            <a:off x="10561320" y="483895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08584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FS028 · FS030 · FS031 · FS033 · FS035 / 요구 28·30·31·33·35</a:t>
            </a:r>
          </a:p>
        </p:txBody>
      </p:sp>
      <p:sp>
        <p:nvSpPr>
          <p:cNvPr id="28" name="TextBox 27"/>
          <p:cNvSpPr txBox="1"/>
          <p:nvPr/>
        </p:nvSpPr>
        <p:spPr>
          <a:xfrm>
            <a:off x="10561320" y="563575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88264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지연 판정 수치·환율 비교 기준·보존 기간이 미정이에요.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D-BRF-02   퇴근 브리핑·회차 비교</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/briefing?date=2026-09-17&amp;edition=evening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47</a:t>
            </a:r>
          </a:p>
        </p:txBody>
      </p:sp>
      <p:pic>
        <p:nvPicPr>
          <p:cNvPr id="7" name="Picture 6" descr="D-BRF-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6629900" y="4898898"/>
            <a:ext cx="1025913"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492740" y="476173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383012" y="4652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834640" y="2306574"/>
            <a:ext cx="109728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697480"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587752"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041648" y="2306574"/>
            <a:ext cx="726947"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904488" y="21694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794760" y="20596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7463790" y="3400425"/>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7326630" y="326326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216902" y="315353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브리핑 → 발행일 → 퇴근</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발행 당시 관계·근거의 지도를 열어요. → D-BRF-04</a:t>
            </a:r>
          </a:p>
          <a:p>
            <a:pPr>
              <a:lnSpc>
                <a:spcPts val="1625"/>
              </a:lnSpc>
              <a:spcAft>
                <a:spcPts val="0"/>
              </a:spcAft>
              <a:defRPr sz="1250" b="0">
                <a:solidFill>
                  <a:srgbClr val="19201D"/>
                </a:solidFill>
                <a:latin typeface="SUIT"/>
              </a:defRPr>
            </a:pPr>
            <a:r>
              <a:rPr>
                <a:ea typeface="SUIT"/>
              </a:rPr>
              <a:t>2  조회할 발행일 선택지를 열어요 → D-BRF-02</a:t>
            </a:r>
          </a:p>
          <a:p>
            <a:pPr>
              <a:lnSpc>
                <a:spcPts val="1625"/>
              </a:lnSpc>
              <a:spcAft>
                <a:spcPts val="0"/>
              </a:spcAft>
              <a:defRPr sz="1250" b="0">
                <a:solidFill>
                  <a:srgbClr val="19201D"/>
                </a:solidFill>
                <a:latin typeface="SUIT"/>
              </a:defRPr>
            </a:pPr>
            <a:r>
              <a:rPr>
                <a:ea typeface="SUIT"/>
              </a:rPr>
              <a:t>3  같은 날짜의 출근 회차로 바꿔요 → D-BRF-01</a:t>
            </a:r>
          </a:p>
          <a:p>
            <a:pPr>
              <a:lnSpc>
                <a:spcPts val="1625"/>
              </a:lnSpc>
              <a:spcAft>
                <a:spcPts val="0"/>
              </a:spcAft>
              <a:defRPr sz="1250" b="0">
                <a:solidFill>
                  <a:srgbClr val="19201D"/>
                </a:solidFill>
                <a:latin typeface="SUIT"/>
              </a:defRPr>
            </a:pPr>
            <a:r>
              <a:rPr>
                <a:ea typeface="SUIT"/>
              </a:rPr>
              <a:t>4  발행본에 고정된 시장 지표를 설명해요 → D-BRF-02</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발행 전·생성 중·발행·발행 실패·제공 중단</a:t>
            </a:r>
          </a:p>
          <a:p>
            <a:pPr>
              <a:lnSpc>
                <a:spcPts val="1495"/>
              </a:lnSpc>
              <a:spcAft>
                <a:spcPts val="0"/>
              </a:spcAft>
              <a:defRPr sz="1150" b="0">
                <a:solidFill>
                  <a:srgbClr val="19201D"/>
                </a:solidFill>
                <a:latin typeface="SUIT"/>
              </a:defRPr>
            </a:pPr>
            <a:r>
              <a:rPr>
                <a:ea typeface="SUIT"/>
              </a:rPr>
              <a:t>지표 정상·지연·미제공·실패</a:t>
            </a:r>
          </a:p>
          <a:p>
            <a:pPr>
              <a:lnSpc>
                <a:spcPts val="1495"/>
              </a:lnSpc>
              <a:spcAft>
                <a:spcPts val="0"/>
              </a:spcAft>
              <a:defRPr sz="1150" b="0">
                <a:solidFill>
                  <a:srgbClr val="19201D"/>
                </a:solidFill>
                <a:latin typeface="SUIT"/>
              </a:defRPr>
            </a:pPr>
            <a:r>
              <a:rPr>
                <a:ea typeface="SUIT"/>
              </a:rPr>
              <a:t>코드 근거: pages/briefing-page.tsx · features/briefing-market.tsx</a:t>
            </a:r>
          </a:p>
          <a:p>
            <a:pPr>
              <a:lnSpc>
                <a:spcPts val="1495"/>
              </a:lnSpc>
              <a:spcAft>
                <a:spcPts val="0"/>
              </a:spcAft>
              <a:defRPr sz="1150" b="0">
                <a:solidFill>
                  <a:srgbClr val="19201D"/>
                </a:solidFill>
                <a:latin typeface="SUIT"/>
              </a:defRPr>
            </a:pPr>
            <a:r>
              <a:rPr>
                <a:ea typeface="SUIT"/>
              </a:rPr>
              <a:t>기존 캡처: docs/design/v7/briefing-states-1440-light.png</a:t>
            </a:r>
          </a:p>
        </p:txBody>
      </p:sp>
      <p:sp>
        <p:nvSpPr>
          <p:cNvPr id="26" name="TextBox 25"/>
          <p:cNvSpPr txBox="1"/>
          <p:nvPr/>
        </p:nvSpPr>
        <p:spPr>
          <a:xfrm>
            <a:off x="10561320" y="483895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08584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FS029 · FS030 · FS031 · FS033 · FS035 / 요구 29·30·31·33·35</a:t>
            </a:r>
          </a:p>
        </p:txBody>
      </p:sp>
      <p:sp>
        <p:nvSpPr>
          <p:cNvPr id="28" name="TextBox 27"/>
          <p:cNvSpPr txBox="1"/>
          <p:nvPr/>
        </p:nvSpPr>
        <p:spPr>
          <a:xfrm>
            <a:off x="10561320" y="563575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88264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지연 판정 수치·환율 비교 기준·보존 기간이 미정이에요.</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D-BRF-04   회차 기준 지도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/?round=brf-2026-09-17-evening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48</a:t>
            </a:r>
          </a:p>
        </p:txBody>
      </p:sp>
      <p:pic>
        <p:nvPicPr>
          <p:cNvPr id="7" name="Picture 6" descr="D-BRF-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9440179" y="1908810"/>
            <a:ext cx="554212"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9303019" y="1771649"/>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193291" y="166192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8542531" y="1908810"/>
            <a:ext cx="842783"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8405371" y="1771649"/>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95643" y="166192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1604807" y="1325880"/>
            <a:ext cx="536531" cy="38404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1467647" y="1325880"/>
            <a:ext cx="137160" cy="192024"/>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357919" y="140817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브리핑 → 이 회차 전체 관계 그래프</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회차 브리핑으로 돌아가요. → D-BRF-02</a:t>
            </a:r>
          </a:p>
          <a:p>
            <a:pPr>
              <a:lnSpc>
                <a:spcPts val="1625"/>
              </a:lnSpc>
              <a:spcAft>
                <a:spcPts val="0"/>
              </a:spcAft>
              <a:defRPr sz="1250" b="0">
                <a:solidFill>
                  <a:srgbClr val="19201D"/>
                </a:solidFill>
                <a:latin typeface="SUIT"/>
              </a:defRPr>
            </a:pPr>
            <a:r>
              <a:rPr>
                <a:ea typeface="SUIT"/>
              </a:rPr>
              <a:t>2  round를 풀고 현재 지도로 가요 → D-GRP-01</a:t>
            </a:r>
          </a:p>
          <a:p>
            <a:pPr>
              <a:lnSpc>
                <a:spcPts val="1625"/>
              </a:lnSpc>
              <a:spcAft>
                <a:spcPts val="0"/>
              </a:spcAft>
              <a:defRPr sz="1250" b="0">
                <a:solidFill>
                  <a:srgbClr val="19201D"/>
                </a:solidFill>
                <a:latin typeface="SUIT"/>
              </a:defRPr>
            </a:pPr>
            <a:r>
              <a:rPr>
                <a:ea typeface="SUIT"/>
              </a:rPr>
              <a:t>3  회차 지도와 별개인 종목 목록을 열어요 → D-STK-01</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회차 기준 조회 · 제공 중단·자료 없음·조회 실패</a:t>
            </a:r>
          </a:p>
          <a:p>
            <a:pPr>
              <a:lnSpc>
                <a:spcPts val="1495"/>
              </a:lnSpc>
              <a:spcAft>
                <a:spcPts val="0"/>
              </a:spcAft>
              <a:defRPr sz="1150" b="0">
                <a:solidFill>
                  <a:srgbClr val="19201D"/>
                </a:solidFill>
                <a:latin typeface="SUIT"/>
              </a:defRPr>
            </a:pPr>
            <a:r>
              <a:rPr>
                <a:ea typeface="SUIT"/>
              </a:rPr>
              <a:t>코드 근거: pages/main-page.tsx · features/briefing-graph-basis.tsx</a:t>
            </a:r>
          </a:p>
          <a:p>
            <a:pPr>
              <a:lnSpc>
                <a:spcPts val="1495"/>
              </a:lnSpc>
              <a:spcAft>
                <a:spcPts val="0"/>
              </a:spcAft>
              <a:defRPr sz="1150" b="0">
                <a:solidFill>
                  <a:srgbClr val="19201D"/>
                </a:solidFill>
                <a:latin typeface="SUIT"/>
              </a:defRPr>
            </a:pPr>
            <a:r>
              <a:rPr>
                <a:ea typeface="SUIT"/>
              </a:rPr>
              <a:t>기존 캡처: docs/design/v6/briefing-graph-asof-1440-light.png</a:t>
            </a:r>
          </a:p>
        </p:txBody>
      </p:sp>
      <p:sp>
        <p:nvSpPr>
          <p:cNvPr id="23" name="TextBox 22"/>
          <p:cNvSpPr txBox="1"/>
          <p:nvPr/>
        </p:nvSpPr>
        <p:spPr>
          <a:xfrm>
            <a:off x="10561320" y="444271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68960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FS032 · FS035 / 요구 32·35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D-AI-01   AI 질문·대상 연결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49</a:t>
            </a:r>
          </a:p>
        </p:txBody>
      </p:sp>
      <p:pic>
        <p:nvPicPr>
          <p:cNvPr id="7" name="Picture 6" descr="D-AI-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2579179"/>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24420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23322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6870573"/>
            <a:ext cx="2308788"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450252" y="6870573"/>
            <a:ext cx="653867"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313092"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203364"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선택한 기업 → AI에게 묻기 → 새 대화</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삼성전자를 질문 연결 대상에서 빼요. 질문 대상이 없음으로 바뀌어요. → D-AI-01</a:t>
            </a:r>
          </a:p>
          <a:p>
            <a:pPr>
              <a:lnSpc>
                <a:spcPts val="1625"/>
              </a:lnSpc>
              <a:spcAft>
                <a:spcPts val="0"/>
              </a:spcAft>
              <a:defRPr sz="1250" b="0">
                <a:solidFill>
                  <a:srgbClr val="19201D"/>
                </a:solidFill>
                <a:latin typeface="SUIT"/>
              </a:defRPr>
            </a:pPr>
            <a:r>
              <a:rPr>
                <a:ea typeface="SUIT"/>
              </a:rPr>
              <a:t>2  질문을 입력·수정해요 → D-AI-01</a:t>
            </a:r>
          </a:p>
          <a:p>
            <a:pPr>
              <a:lnSpc>
                <a:spcPts val="1625"/>
              </a:lnSpc>
              <a:spcAft>
                <a:spcPts val="0"/>
              </a:spcAft>
              <a:defRPr sz="1250" b="0">
                <a:solidFill>
                  <a:srgbClr val="19201D"/>
                </a:solidFill>
                <a:latin typeface="SUIT"/>
              </a:defRPr>
            </a:pPr>
            <a:r>
              <a:rPr>
                <a:ea typeface="SUIT"/>
              </a:rPr>
              <a:t>3  빈 질문은 전송되지 않아요 → D-AI-01</a:t>
            </a:r>
          </a:p>
          <a:p>
            <a:pPr>
              <a:lnSpc>
                <a:spcPts val="1625"/>
              </a:lnSpc>
              <a:spcAft>
                <a:spcPts val="0"/>
              </a:spcAft>
              <a:defRPr sz="1250" b="0">
                <a:solidFill>
                  <a:srgbClr val="19201D"/>
                </a:solidFill>
                <a:latin typeface="SUIT"/>
              </a:defRPr>
            </a:pPr>
            <a:r>
              <a:rPr>
                <a:ea typeface="SUIT"/>
              </a:rPr>
              <a:t>4  질문 창을 닫고 지도로 돌아가요 → D-GRP-03</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6" name="TextBox 25"/>
          <p:cNvSpPr txBox="1"/>
          <p:nvPr/>
        </p:nvSpPr>
        <p:spPr>
          <a:xfrm>
            <a:off x="10561320" y="54250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671947"/>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FS025 · FS045 · FS047 · FS048 / 요구 25·45·47·48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D-AI-01b   AI 되묻기</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50</a:t>
            </a:r>
          </a:p>
        </p:txBody>
      </p:sp>
      <p:pic>
        <p:nvPicPr>
          <p:cNvPr id="7" name="Picture 6" descr="D-AI-01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2579179"/>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24420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23322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3751897"/>
            <a:ext cx="246888"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361473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3505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불명확한 질문 전송</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질문의 기업 연결을 바꿔요 → D-AI-01b</a:t>
            </a:r>
          </a:p>
          <a:p>
            <a:pPr>
              <a:lnSpc>
                <a:spcPts val="1625"/>
              </a:lnSpc>
              <a:spcAft>
                <a:spcPts val="0"/>
              </a:spcAft>
              <a:defRPr sz="1250" b="0">
                <a:solidFill>
                  <a:srgbClr val="19201D"/>
                </a:solidFill>
                <a:latin typeface="SUIT"/>
              </a:defRPr>
            </a:pPr>
            <a:r>
              <a:rPr>
                <a:ea typeface="SUIT"/>
              </a:rPr>
              <a:t>2  좋아요를 등록·취소해요 → D-AI-01b</a:t>
            </a:r>
          </a:p>
          <a:p>
            <a:pPr>
              <a:lnSpc>
                <a:spcPts val="1625"/>
              </a:lnSpc>
              <a:spcAft>
                <a:spcPts val="0"/>
              </a:spcAft>
              <a:defRPr sz="1250" b="0">
                <a:solidFill>
                  <a:srgbClr val="19201D"/>
                </a:solidFill>
                <a:latin typeface="SUIT"/>
              </a:defRPr>
            </a:pPr>
            <a:r>
              <a:rPr>
                <a:ea typeface="SUIT"/>
              </a:rPr>
              <a:t>3  창을 닫아도 저장한 대화는 유지돼요 → D-GRP-03</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대상·기간 확인</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3" name="TextBox 22"/>
          <p:cNvSpPr txBox="1"/>
          <p:nvPr/>
        </p:nvSpPr>
        <p:spPr>
          <a:xfrm>
            <a:off x="10561320" y="50123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2591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FS047 / 요구 47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D-AI-02   AI 작업 복구·오류 구분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51</a:t>
            </a:r>
          </a:p>
        </p:txBody>
      </p:sp>
      <p:pic>
        <p:nvPicPr>
          <p:cNvPr id="7" name="Picture 6" descr="D-AI-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2579179"/>
            <a:ext cx="137160" cy="13715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244201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233229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3751897"/>
            <a:ext cx="246888"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3614737"/>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350500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884664" y="1408176"/>
            <a:ext cx="30175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9747504" y="1408176"/>
            <a:ext cx="137160" cy="150876"/>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37776" y="144932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질문 전송 후 새로고침 → AI 재열기</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다음 질문의 기업 연결을 바꿔요 → D-AI-02</a:t>
            </a:r>
          </a:p>
          <a:p>
            <a:pPr>
              <a:lnSpc>
                <a:spcPts val="1625"/>
              </a:lnSpc>
              <a:spcAft>
                <a:spcPts val="0"/>
              </a:spcAft>
              <a:defRPr sz="1250" b="0">
                <a:solidFill>
                  <a:srgbClr val="19201D"/>
                </a:solidFill>
                <a:latin typeface="SUIT"/>
              </a:defRPr>
            </a:pPr>
            <a:r>
              <a:rPr>
                <a:ea typeface="SUIT"/>
              </a:rPr>
              <a:t>2  좋아요를 등록·취소해요 → D-AI-02</a:t>
            </a:r>
          </a:p>
          <a:p>
            <a:pPr>
              <a:lnSpc>
                <a:spcPts val="1625"/>
              </a:lnSpc>
              <a:spcAft>
                <a:spcPts val="0"/>
              </a:spcAft>
              <a:defRPr sz="1250" b="0">
                <a:solidFill>
                  <a:srgbClr val="19201D"/>
                </a:solidFill>
                <a:latin typeface="SUIT"/>
              </a:defRPr>
            </a:pPr>
            <a:r>
              <a:rPr>
                <a:ea typeface="SUIT"/>
              </a:rPr>
              <a:t>3  창을 닫아도 저장한 대화는 유지돼요 → D-GRP-03</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저장한 대화·되묻기 회수</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3" name="TextBox 22"/>
          <p:cNvSpPr txBox="1"/>
          <p:nvPr/>
        </p:nvSpPr>
        <p:spPr>
          <a:xfrm>
            <a:off x="10561320" y="50123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259197"/>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FS046 · FS049 · FS051 · FS052-02 · FS053 · NFS003 / 요구 46·49·51·52·53·56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D-AI-02b   AI 대화 조회 오류·다시 확인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/?mode=all&amp;select=node%3AKRX%3A005930</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52</a:t>
            </a:r>
          </a:p>
        </p:txBody>
      </p:sp>
      <p:pic>
        <p:nvPicPr>
          <p:cNvPr id="7" name="Picture 6" descr="D-AI-02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7086600" y="3834193"/>
            <a:ext cx="675191" cy="246887"/>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6949440" y="369703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839712" y="358730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7086600" y="6870573"/>
            <a:ext cx="2308788"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949440"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39712"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450252" y="6870573"/>
            <a:ext cx="653867"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313092" y="6733413"/>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203364" y="6623685"/>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대화 조회 응답을 503으로 재현</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기존 대화를 다시 조회하고 저장한 결과를 회수해요. → D-AI-02</a:t>
            </a:r>
          </a:p>
          <a:p>
            <a:pPr>
              <a:lnSpc>
                <a:spcPts val="1625"/>
              </a:lnSpc>
              <a:spcAft>
                <a:spcPts val="0"/>
              </a:spcAft>
              <a:defRPr sz="1250" b="0">
                <a:solidFill>
                  <a:srgbClr val="19201D"/>
                </a:solidFill>
                <a:latin typeface="SUIT"/>
              </a:defRPr>
            </a:pPr>
            <a:r>
              <a:rPr>
                <a:ea typeface="SUIT"/>
              </a:rPr>
              <a:t>2  대화 확인 중에는 입력할 수 없어요 → D-AI-02b</a:t>
            </a:r>
          </a:p>
          <a:p>
            <a:pPr>
              <a:lnSpc>
                <a:spcPts val="1625"/>
              </a:lnSpc>
              <a:spcAft>
                <a:spcPts val="0"/>
              </a:spcAft>
              <a:defRPr sz="1250" b="0">
                <a:solidFill>
                  <a:srgbClr val="19201D"/>
                </a:solidFill>
                <a:latin typeface="SUIT"/>
              </a:defRPr>
            </a:pPr>
            <a:r>
              <a:rPr>
                <a:ea typeface="SUIT"/>
              </a:rPr>
              <a:t>3  조회 실패 상태에서는 보낼 수 없어요 → D-AI-02b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일시 조회 오류(재현)</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3" name="TextBox 22"/>
          <p:cNvSpPr txBox="1"/>
          <p:nvPr/>
        </p:nvSpPr>
        <p:spPr>
          <a:xfrm>
            <a:off x="10561320" y="521868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546557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FS053 · NFS003 / 요구 53·56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M-GRP-01   지도·바텀시트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53</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GRP-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1736064" y="4370083"/>
            <a:ext cx="200230" cy="20023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594215" y="4228234"/>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79797" y="411381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1289304" y="7024936"/>
            <a:ext cx="557783"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1147454"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33037"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2404872" y="7024936"/>
            <a:ext cx="557784"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2263022"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148605"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GRP-01-after.png"/>
          <p:cNvPicPr>
            <a:picLocks noChangeAspect="1"/>
          </p:cNvPicPr>
          <p:nvPr/>
        </p:nvPicPr>
        <p:blipFill>
          <a:blip r:embed="rId3"/>
          <a:stretch>
            <a:fillRect/>
          </a:stretch>
        </p:blipFill>
        <p:spPr>
          <a:xfrm>
            <a:off x="4937760" y="1389888"/>
            <a:ext cx="2788920" cy="6035040"/>
          </a:xfrm>
          <a:prstGeom prst="rect">
            <a:avLst/>
          </a:prstGeom>
        </p:spPr>
      </p:pic>
      <p:sp>
        <p:nvSpPr>
          <p:cNvPr id="20" name="Rectangle 19"/>
          <p:cNvSpPr/>
          <p:nvPr/>
        </p:nvSpPr>
        <p:spPr>
          <a:xfrm>
            <a:off x="4937760" y="4407687"/>
            <a:ext cx="2788920" cy="171625"/>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4795910" y="4265837"/>
            <a:ext cx="141850"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681493" y="415142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4</a:t>
            </a:r>
          </a:p>
        </p:txBody>
      </p:sp>
      <p:sp>
        <p:nvSpPr>
          <p:cNvPr id="23" name="Rectangle 22"/>
          <p:cNvSpPr/>
          <p:nvPr/>
        </p:nvSpPr>
        <p:spPr>
          <a:xfrm>
            <a:off x="7354824" y="4636521"/>
            <a:ext cx="314647"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flipV="1">
            <a:off x="7212974" y="4636521"/>
            <a:ext cx="141850" cy="157324"/>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098557" y="4679428"/>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5</a:t>
            </a:r>
          </a:p>
        </p:txBody>
      </p:sp>
      <p:sp>
        <p:nvSpPr>
          <p:cNvPr id="26" name="Rectangle 25"/>
          <p:cNvSpPr/>
          <p:nvPr/>
        </p:nvSpPr>
        <p:spPr>
          <a:xfrm>
            <a:off x="5052177" y="6431441"/>
            <a:ext cx="200230" cy="20023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4910328" y="6289592"/>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795910" y="6175175"/>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6</a:t>
            </a:r>
          </a:p>
        </p:txBody>
      </p:sp>
      <p:sp>
        <p:nvSpPr>
          <p:cNvPr id="29" name="TextBox 28"/>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30" name="TextBox 29"/>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시장 전체 지도</a:t>
            </a:r>
          </a:p>
        </p:txBody>
      </p:sp>
      <p:sp>
        <p:nvSpPr>
          <p:cNvPr id="31" name="TextBox 30"/>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32" name="TextBox 31"/>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기업 바텀시트를 열어요. → D-GRP-03</a:t>
            </a:r>
          </a:p>
          <a:p>
            <a:pPr>
              <a:lnSpc>
                <a:spcPts val="1625"/>
              </a:lnSpc>
              <a:spcAft>
                <a:spcPts val="0"/>
              </a:spcAft>
              <a:defRPr sz="1250" b="0">
                <a:solidFill>
                  <a:srgbClr val="19201D"/>
                </a:solidFill>
                <a:latin typeface="SUIT"/>
              </a:defRPr>
            </a:pPr>
            <a:r>
              <a:rPr>
                <a:ea typeface="SUIT"/>
              </a:rPr>
              <a:t>2  독립 종목 메뉴로 이동해요 → M-STK-01</a:t>
            </a:r>
          </a:p>
          <a:p>
            <a:pPr>
              <a:lnSpc>
                <a:spcPts val="1625"/>
              </a:lnSpc>
              <a:spcAft>
                <a:spcPts val="0"/>
              </a:spcAft>
              <a:defRPr sz="1250" b="0">
                <a:solidFill>
                  <a:srgbClr val="19201D"/>
                </a:solidFill>
                <a:latin typeface="SUIT"/>
              </a:defRPr>
            </a:pPr>
            <a:r>
              <a:rPr>
                <a:ea typeface="SUIT"/>
              </a:rPr>
              <a:t>3  AI 창을 열어요 → M-AI-01</a:t>
            </a:r>
          </a:p>
          <a:p>
            <a:pPr>
              <a:lnSpc>
                <a:spcPts val="1625"/>
              </a:lnSpc>
              <a:spcAft>
                <a:spcPts val="0"/>
              </a:spcAft>
              <a:defRPr sz="1250" b="0">
                <a:solidFill>
                  <a:srgbClr val="19201D"/>
                </a:solidFill>
                <a:latin typeface="SUIT"/>
              </a:defRPr>
            </a:pPr>
            <a:r>
              <a:rPr>
                <a:ea typeface="SUIT"/>
              </a:rPr>
              <a:t>4  기업 패널을 화면 위까지 펼쳐요 → M-GRP-01</a:t>
            </a:r>
          </a:p>
          <a:p>
            <a:pPr>
              <a:lnSpc>
                <a:spcPts val="1625"/>
              </a:lnSpc>
              <a:spcAft>
                <a:spcPts val="0"/>
              </a:spcAft>
              <a:defRPr sz="1250" b="0">
                <a:solidFill>
                  <a:srgbClr val="19201D"/>
                </a:solidFill>
                <a:latin typeface="SUIT"/>
              </a:defRPr>
            </a:pPr>
            <a:r>
              <a:rPr>
                <a:ea typeface="SUIT"/>
              </a:rPr>
              <a:t>5  선택을 해제하고 지도만 보여줘요 → M-GRP-01</a:t>
            </a:r>
          </a:p>
          <a:p>
            <a:pPr>
              <a:lnSpc>
                <a:spcPts val="1625"/>
              </a:lnSpc>
              <a:spcAft>
                <a:spcPts val="0"/>
              </a:spcAft>
              <a:defRPr sz="1250" b="0">
                <a:solidFill>
                  <a:srgbClr val="19201D"/>
                </a:solidFill>
                <a:latin typeface="SUIT"/>
              </a:defRPr>
            </a:pPr>
            <a:r>
              <a:rPr>
                <a:ea typeface="SUIT"/>
              </a:rPr>
              <a:t>6  시세 출처와 관측 시각을 확인해요 → M-GRP-01</a:t>
            </a:r>
          </a:p>
        </p:txBody>
      </p:sp>
      <p:sp>
        <p:nvSpPr>
          <p:cNvPr id="33" name="TextBox 32"/>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34" name="TextBox 33"/>
          <p:cNvSpPr txBox="1"/>
          <p:nvPr/>
        </p:nvSpPr>
        <p:spPr>
          <a:xfrm>
            <a:off x="10561320" y="3785489"/>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전체·개인화 · 대상 선택 · 조회 중 · 빈 지도·조회 실패</a:t>
            </a:r>
          </a:p>
          <a:p>
            <a:pPr>
              <a:lnSpc>
                <a:spcPts val="1495"/>
              </a:lnSpc>
              <a:spcAft>
                <a:spcPts val="0"/>
              </a:spcAft>
              <a:defRPr sz="1150" b="0">
                <a:solidFill>
                  <a:srgbClr val="19201D"/>
                </a:solidFill>
                <a:latin typeface="SUIT"/>
              </a:defRPr>
            </a:pPr>
            <a:r>
              <a:rPr>
                <a:ea typeface="SUIT"/>
              </a:rPr>
              <a:t>코드 근거: pages/main-page.tsx · features/graph-explorer.tsx</a:t>
            </a:r>
          </a:p>
          <a:p>
            <a:pPr>
              <a:lnSpc>
                <a:spcPts val="1495"/>
              </a:lnSpc>
              <a:spcAft>
                <a:spcPts val="0"/>
              </a:spcAft>
              <a:defRPr sz="1150" b="0">
                <a:solidFill>
                  <a:srgbClr val="19201D"/>
                </a:solidFill>
                <a:latin typeface="SUIT"/>
              </a:defRPr>
            </a:pPr>
            <a:r>
              <a:rPr>
                <a:ea typeface="SUIT"/>
              </a:rPr>
              <a:t>기존 캡처: docs/design/v5/graph-personal-empty-1440-light.png</a:t>
            </a:r>
          </a:p>
        </p:txBody>
      </p:sp>
      <p:sp>
        <p:nvSpPr>
          <p:cNvPr id="35" name="TextBox 34"/>
          <p:cNvSpPr txBox="1"/>
          <p:nvPr/>
        </p:nvSpPr>
        <p:spPr>
          <a:xfrm>
            <a:off x="10561320" y="525170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6" name="TextBox 35"/>
          <p:cNvSpPr txBox="1"/>
          <p:nvPr/>
        </p:nvSpPr>
        <p:spPr>
          <a:xfrm>
            <a:off x="10561320" y="549859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FS018 · FS020 / 요구 18·20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M-STK-01   종목 메뉴·기업 상세 이동</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/companies?q=%EC%82%BC%EC%84%B1</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54</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STK-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845937" y="6413519"/>
            <a:ext cx="1816373" cy="636445"/>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704088" y="6271670"/>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89670" y="6157253"/>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845937" y="2480427"/>
            <a:ext cx="1900510"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704088" y="2338578"/>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89670" y="222416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3091375" y="6574418"/>
            <a:ext cx="314647"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2949526" y="6432569"/>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835108" y="6318152"/>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STK-01-after.png"/>
          <p:cNvPicPr>
            <a:picLocks noChangeAspect="1"/>
          </p:cNvPicPr>
          <p:nvPr/>
        </p:nvPicPr>
        <p:blipFill>
          <a:blip r:embed="rId3"/>
          <a:stretch>
            <a:fillRect/>
          </a:stretch>
        </p:blipFill>
        <p:spPr>
          <a:xfrm>
            <a:off x="4937760" y="1389888"/>
            <a:ext cx="2788920" cy="6035040"/>
          </a:xfrm>
          <a:prstGeom prst="rect">
            <a:avLst/>
          </a:prstGeom>
        </p:spPr>
      </p:pic>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하단 종목 → 삼성 검색</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선택 기업의 상세로 이동해요. → M-COM-01</a:t>
            </a:r>
          </a:p>
          <a:p>
            <a:pPr>
              <a:lnSpc>
                <a:spcPts val="1625"/>
              </a:lnSpc>
              <a:spcAft>
                <a:spcPts val="0"/>
              </a:spcAft>
              <a:defRPr sz="1250" b="0">
                <a:solidFill>
                  <a:srgbClr val="19201D"/>
                </a:solidFill>
                <a:latin typeface="SUIT"/>
              </a:defRPr>
            </a:pPr>
            <a:r>
              <a:rPr>
                <a:ea typeface="SUIT"/>
              </a:rPr>
              <a:t>2  검색어를 입력해요 → M-STK-01</a:t>
            </a:r>
          </a:p>
          <a:p>
            <a:pPr>
              <a:lnSpc>
                <a:spcPts val="1625"/>
              </a:lnSpc>
              <a:spcAft>
                <a:spcPts val="0"/>
              </a:spcAft>
              <a:defRPr sz="1250" b="0">
                <a:solidFill>
                  <a:srgbClr val="19201D"/>
                </a:solidFill>
                <a:latin typeface="SUIT"/>
              </a:defRPr>
            </a:pPr>
            <a:r>
              <a:rPr>
                <a:ea typeface="SUIT"/>
              </a:rPr>
              <a:t>3  관심 등록·해제를 저장해요 → M-STK-01</a:t>
            </a:r>
          </a:p>
        </p:txBody>
      </p:sp>
      <p:sp>
        <p:nvSpPr>
          <p:cNvPr id="24" name="TextBox 23"/>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전체·내 종목 · 검색·결과 없음 · 관심 변경 · 조회 실패</a:t>
            </a:r>
          </a:p>
          <a:p>
            <a:pPr>
              <a:lnSpc>
                <a:spcPts val="1495"/>
              </a:lnSpc>
              <a:spcAft>
                <a:spcPts val="0"/>
              </a:spcAft>
              <a:defRPr sz="1150" b="0">
                <a:solidFill>
                  <a:srgbClr val="19201D"/>
                </a:solidFill>
                <a:latin typeface="SUIT"/>
              </a:defRPr>
            </a:pPr>
            <a:r>
              <a:rPr>
                <a:ea typeface="SUIT"/>
              </a:rPr>
              <a:t>코드 근거: pages/companies-page.tsx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FS037 · FS027 / 요구 27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M-BRF-01   퇴근 브리핑·아침 이후 변경</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/briefing?date=2026-09-17&amp;edition=morning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55</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BRF-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2140282" y="2755743"/>
            <a:ext cx="1237136" cy="286043"/>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flipV="1">
            <a:off x="1998432" y="2755743"/>
            <a:ext cx="141850" cy="143022"/>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84015" y="2784348"/>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845937" y="2326679"/>
            <a:ext cx="2560085"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704088" y="2184829"/>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89670" y="2070412"/>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3205792" y="4232441"/>
            <a:ext cx="200230" cy="20023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3063943" y="4090591"/>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949526" y="3976174"/>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BRF-01-after.png"/>
          <p:cNvPicPr>
            <a:picLocks noChangeAspect="1"/>
          </p:cNvPicPr>
          <p:nvPr/>
        </p:nvPicPr>
        <p:blipFill>
          <a:blip r:embed="rId3"/>
          <a:stretch>
            <a:fillRect/>
          </a:stretch>
        </p:blipFill>
        <p:spPr>
          <a:xfrm>
            <a:off x="4937760" y="1389888"/>
            <a:ext cx="2788920" cy="6035040"/>
          </a:xfrm>
          <a:prstGeom prst="rect">
            <a:avLst/>
          </a:prstGeom>
        </p:spPr>
      </p:pic>
      <p:sp>
        <p:nvSpPr>
          <p:cNvPr id="20" name="Rectangle 19"/>
          <p:cNvSpPr/>
          <p:nvPr/>
        </p:nvSpPr>
        <p:spPr>
          <a:xfrm>
            <a:off x="7000733" y="4339707"/>
            <a:ext cx="611528" cy="139445"/>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6858884" y="4197858"/>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744467" y="408344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4</a:t>
            </a:r>
          </a:p>
        </p:txBody>
      </p:sp>
      <p:sp>
        <p:nvSpPr>
          <p:cNvPr id="23" name="TextBox 22"/>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4" name="TextBox 23"/>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발행일 → 출근</a:t>
            </a:r>
          </a:p>
        </p:txBody>
      </p:sp>
      <p:sp>
        <p:nvSpPr>
          <p:cNvPr id="25" name="TextBox 24"/>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6" name="TextBox 25"/>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같은 날 퇴근 회차와 아침 이후 변경을 보여줘요. → D-BRF-02</a:t>
            </a:r>
          </a:p>
          <a:p>
            <a:pPr>
              <a:lnSpc>
                <a:spcPts val="1625"/>
              </a:lnSpc>
              <a:spcAft>
                <a:spcPts val="0"/>
              </a:spcAft>
              <a:defRPr sz="1250" b="0">
                <a:solidFill>
                  <a:srgbClr val="19201D"/>
                </a:solidFill>
                <a:latin typeface="SUIT"/>
              </a:defRPr>
            </a:pPr>
            <a:r>
              <a:rPr>
                <a:ea typeface="SUIT"/>
              </a:rPr>
              <a:t>2  발행일 선택지를 열어요 → M-BRF-01</a:t>
            </a:r>
          </a:p>
          <a:p>
            <a:pPr>
              <a:lnSpc>
                <a:spcPts val="1625"/>
              </a:lnSpc>
              <a:spcAft>
                <a:spcPts val="0"/>
              </a:spcAft>
              <a:defRPr sz="1250" b="0">
                <a:solidFill>
                  <a:srgbClr val="19201D"/>
                </a:solidFill>
                <a:latin typeface="SUIT"/>
              </a:defRPr>
            </a:pPr>
            <a:r>
              <a:rPr>
                <a:ea typeface="SUIT"/>
              </a:rPr>
              <a:t>3  회차 고정·출처·수집 시각을 설명해요 → M-BRF-01</a:t>
            </a:r>
          </a:p>
          <a:p>
            <a:pPr>
              <a:lnSpc>
                <a:spcPts val="1625"/>
              </a:lnSpc>
              <a:spcAft>
                <a:spcPts val="0"/>
              </a:spcAft>
              <a:defRPr sz="1250" b="0">
                <a:solidFill>
                  <a:srgbClr val="19201D"/>
                </a:solidFill>
                <a:latin typeface="SUIT"/>
              </a:defRPr>
            </a:pPr>
            <a:r>
              <a:rPr>
                <a:ea typeface="SUIT"/>
              </a:rPr>
              <a:t>4  같은 날 출근 회차로 돌아가요 → D-BRF-01</a:t>
            </a:r>
          </a:p>
        </p:txBody>
      </p:sp>
      <p:sp>
        <p:nvSpPr>
          <p:cNvPr id="27" name="TextBox 26"/>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8" name="TextBox 27"/>
          <p:cNvSpPr txBox="1"/>
          <p:nvPr/>
        </p:nvSpPr>
        <p:spPr>
          <a:xfrm>
            <a:off x="10561320" y="3579114"/>
            <a:ext cx="3703320" cy="142049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발행 전·생성 중·발행·발행 실패·제공 중단</a:t>
            </a:r>
          </a:p>
          <a:p>
            <a:pPr>
              <a:lnSpc>
                <a:spcPts val="1495"/>
              </a:lnSpc>
              <a:spcAft>
                <a:spcPts val="0"/>
              </a:spcAft>
              <a:defRPr sz="1150" b="0">
                <a:solidFill>
                  <a:srgbClr val="19201D"/>
                </a:solidFill>
                <a:latin typeface="SUIT"/>
              </a:defRPr>
            </a:pPr>
            <a:r>
              <a:rPr>
                <a:ea typeface="SUIT"/>
              </a:rPr>
              <a:t>지표 정상·지연·미제공·실패</a:t>
            </a:r>
          </a:p>
          <a:p>
            <a:pPr>
              <a:lnSpc>
                <a:spcPts val="1495"/>
              </a:lnSpc>
              <a:spcAft>
                <a:spcPts val="0"/>
              </a:spcAft>
              <a:defRPr sz="1150" b="0">
                <a:solidFill>
                  <a:srgbClr val="19201D"/>
                </a:solidFill>
                <a:latin typeface="SUIT"/>
              </a:defRPr>
            </a:pPr>
            <a:r>
              <a:rPr>
                <a:ea typeface="SUIT"/>
              </a:rPr>
              <a:t>코드 근거: pages/briefing-page.tsx · features/briefing-market.tsx</a:t>
            </a:r>
          </a:p>
          <a:p>
            <a:pPr>
              <a:lnSpc>
                <a:spcPts val="1495"/>
              </a:lnSpc>
              <a:spcAft>
                <a:spcPts val="0"/>
              </a:spcAft>
              <a:defRPr sz="1150" b="0">
                <a:solidFill>
                  <a:srgbClr val="19201D"/>
                </a:solidFill>
                <a:latin typeface="SUIT"/>
              </a:defRPr>
            </a:pPr>
            <a:r>
              <a:rPr>
                <a:ea typeface="SUIT"/>
              </a:rPr>
              <a:t>기존 캡처: docs/design/v7/briefing-states-1440-light.png</a:t>
            </a:r>
          </a:p>
        </p:txBody>
      </p:sp>
      <p:sp>
        <p:nvSpPr>
          <p:cNvPr id="29" name="TextBox 28"/>
          <p:cNvSpPr txBox="1"/>
          <p:nvPr/>
        </p:nvSpPr>
        <p:spPr>
          <a:xfrm>
            <a:off x="10561320" y="504532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0" name="TextBox 29"/>
          <p:cNvSpPr txBox="1"/>
          <p:nvPr/>
        </p:nvSpPr>
        <p:spPr>
          <a:xfrm>
            <a:off x="10561320" y="529221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FS029 · FS031 · FS033 / 요구 29·31·33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M-AI-01   하단 AI 탭</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/?mode=all</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56</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AI-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2404872" y="7024936"/>
            <a:ext cx="557784"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2263022"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148605"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1847088" y="7024936"/>
            <a:ext cx="557783"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1705238"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590821"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2962656" y="7024936"/>
            <a:ext cx="557784"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2820806"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706389"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AI-01-after.png"/>
          <p:cNvPicPr>
            <a:picLocks noChangeAspect="1"/>
          </p:cNvPicPr>
          <p:nvPr/>
        </p:nvPicPr>
        <p:blipFill>
          <a:blip r:embed="rId3"/>
          <a:stretch>
            <a:fillRect/>
          </a:stretch>
        </p:blipFill>
        <p:spPr>
          <a:xfrm>
            <a:off x="4937760" y="1389888"/>
            <a:ext cx="2788920" cy="6035040"/>
          </a:xfrm>
          <a:prstGeom prst="rect">
            <a:avLst/>
          </a:prstGeom>
        </p:spPr>
      </p:pic>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하단 AI 탭</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AI 질문 창을 열어요. 화면 라우트는 유지해요. → D-AI-01</a:t>
            </a:r>
          </a:p>
          <a:p>
            <a:pPr>
              <a:lnSpc>
                <a:spcPts val="1625"/>
              </a:lnSpc>
              <a:spcAft>
                <a:spcPts val="0"/>
              </a:spcAft>
              <a:defRPr sz="1250" b="0">
                <a:solidFill>
                  <a:srgbClr val="19201D"/>
                </a:solidFill>
                <a:latin typeface="SUIT"/>
              </a:defRPr>
            </a:pPr>
            <a:r>
              <a:rPr>
                <a:ea typeface="SUIT"/>
              </a:rPr>
              <a:t>2  공통 브리핑으로 이동해요 → M-BRF-01</a:t>
            </a:r>
          </a:p>
          <a:p>
            <a:pPr>
              <a:lnSpc>
                <a:spcPts val="1625"/>
              </a:lnSpc>
              <a:spcAft>
                <a:spcPts val="0"/>
              </a:spcAft>
              <a:defRPr sz="1250" b="0">
                <a:solidFill>
                  <a:srgbClr val="19201D"/>
                </a:solidFill>
                <a:latin typeface="SUIT"/>
              </a:defRPr>
            </a:pPr>
            <a:r>
              <a:rPr>
                <a:ea typeface="SUIT"/>
              </a:rPr>
              <a:t>3  내 종목 관리로 이동해요 → D-MY-01</a:t>
            </a:r>
          </a:p>
        </p:txBody>
      </p:sp>
      <p:sp>
        <p:nvSpPr>
          <p:cNvPr id="24" name="TextBox 23"/>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372739"/>
            <a:ext cx="3703320" cy="180022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대상 연결 · 되묻기 · 처리 중·결과 회수 · 조회 오류</a:t>
            </a:r>
          </a:p>
          <a:p>
            <a:pPr>
              <a:lnSpc>
                <a:spcPts val="1495"/>
              </a:lnSpc>
              <a:spcAft>
                <a:spcPts val="0"/>
              </a:spcAft>
              <a:defRPr sz="1150" b="0">
                <a:solidFill>
                  <a:srgbClr val="19201D"/>
                </a:solidFill>
                <a:latin typeface="SUIT"/>
              </a:defRPr>
            </a:pPr>
            <a:r>
              <a:rPr>
                <a:ea typeface="SUIT"/>
              </a:rPr>
              <a:t>조건·근거 부족 · 비회원 로그인 안내</a:t>
            </a:r>
          </a:p>
          <a:p>
            <a:pPr>
              <a:lnSpc>
                <a:spcPts val="1495"/>
              </a:lnSpc>
              <a:spcAft>
                <a:spcPts val="0"/>
              </a:spcAft>
              <a:defRPr sz="1150" b="0">
                <a:solidFill>
                  <a:srgbClr val="19201D"/>
                </a:solidFill>
                <a:latin typeface="SUIT"/>
              </a:defRPr>
            </a:pPr>
            <a:r>
              <a:rPr>
                <a:ea typeface="SUIT"/>
              </a:rPr>
              <a:t>코드 근거: features/chat-drawer.tsx · features/chat-job-view.tsx</a:t>
            </a:r>
          </a:p>
          <a:p>
            <a:pPr>
              <a:lnSpc>
                <a:spcPts val="1495"/>
              </a:lnSpc>
              <a:spcAft>
                <a:spcPts val="0"/>
              </a:spcAft>
              <a:defRPr sz="1150" b="0">
                <a:solidFill>
                  <a:srgbClr val="19201D"/>
                </a:solidFill>
                <a:latin typeface="SUIT"/>
              </a:defRPr>
            </a:pPr>
            <a:r>
              <a:rPr>
                <a:ea typeface="SUIT"/>
              </a:rPr>
              <a:t>기존 캡처: docs/design/v6/chat-job-recovered-1440.png</a:t>
            </a:r>
          </a:p>
          <a:p>
            <a:pPr>
              <a:lnSpc>
                <a:spcPts val="1495"/>
              </a:lnSpc>
              <a:spcAft>
                <a:spcPts val="0"/>
              </a:spcAft>
              <a:defRPr sz="1150" b="0">
                <a:solidFill>
                  <a:srgbClr val="19201D"/>
                </a:solidFill>
                <a:latin typeface="SUIT"/>
              </a:defRPr>
            </a:pPr>
            <a:r>
              <a:rPr>
                <a:ea typeface="SUIT"/>
              </a:rPr>
              <a:t>기존 캡처: docs/design/v7/mobile-ai-tab-guest-390-light.png</a:t>
            </a:r>
          </a:p>
        </p:txBody>
      </p:sp>
      <p:sp>
        <p:nvSpPr>
          <p:cNvPr id="26" name="TextBox 25"/>
          <p:cNvSpPr txBox="1"/>
          <p:nvPr/>
        </p:nvSpPr>
        <p:spPr>
          <a:xfrm>
            <a:off x="10561320" y="521868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46557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FS045 · FS052-02 / 요구 45·52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M-COM-01   기업 상세·문서 전환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/companies/KRX%3A005930?asOf=2026-10-06T03%3A46%3A24.749Z</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57</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COM-01-before.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1699261" y="4246743"/>
            <a:ext cx="853436"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557412" y="4104893"/>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442995" y="399047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2552698" y="4246743"/>
            <a:ext cx="853324"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2410848" y="4104893"/>
            <a:ext cx="141850"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296431" y="399047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845937" y="4246743"/>
            <a:ext cx="853324"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704088" y="4104893"/>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89670" y="3990476"/>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COM-01-after.png"/>
          <p:cNvPicPr>
            <a:picLocks noChangeAspect="1"/>
          </p:cNvPicPr>
          <p:nvPr/>
        </p:nvPicPr>
        <p:blipFill>
          <a:blip r:embed="rId3"/>
          <a:stretch>
            <a:fillRect/>
          </a:stretch>
        </p:blipFill>
        <p:spPr>
          <a:xfrm>
            <a:off x="4937760" y="1389888"/>
            <a:ext cx="2788920" cy="6035040"/>
          </a:xfrm>
          <a:prstGeom prst="rect">
            <a:avLst/>
          </a:prstGeom>
        </p:spPr>
      </p:pic>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모바일 기업 상세</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근거 문서 탭으로 바꿔요. → D-COM-02</a:t>
            </a:r>
          </a:p>
          <a:p>
            <a:pPr>
              <a:lnSpc>
                <a:spcPts val="1625"/>
              </a:lnSpc>
              <a:spcAft>
                <a:spcPts val="0"/>
              </a:spcAft>
              <a:defRPr sz="1250" b="0">
                <a:solidFill>
                  <a:srgbClr val="19201D"/>
                </a:solidFill>
                <a:latin typeface="SUIT"/>
              </a:defRPr>
            </a:pPr>
            <a:r>
              <a:rPr>
                <a:ea typeface="SUIT"/>
              </a:rPr>
              <a:t>2  등록된 기업 정보를 보여줘요 → M-COM-01</a:t>
            </a:r>
          </a:p>
          <a:p>
            <a:pPr>
              <a:lnSpc>
                <a:spcPts val="1625"/>
              </a:lnSpc>
              <a:spcAft>
                <a:spcPts val="0"/>
              </a:spcAft>
              <a:defRPr sz="1250" b="0">
                <a:solidFill>
                  <a:srgbClr val="19201D"/>
                </a:solidFill>
                <a:latin typeface="SUIT"/>
              </a:defRPr>
            </a:pPr>
            <a:r>
              <a:rPr>
                <a:ea typeface="SUIT"/>
              </a:rPr>
              <a:t>3  사건·차트 탭을 유지해요 → M-COM-01</a:t>
            </a:r>
          </a:p>
        </p:txBody>
      </p:sp>
      <p:sp>
        <p:nvSpPr>
          <p:cNvPr id="24" name="TextBox 23"/>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26" name="TextBox 25"/>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FS043 / 요구 38·43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M-COM-02   모바일 기업 전환 시트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/companies/KRX%3A005930?period=1m&amp;asOf=2026-09-30T23%3A59%3A59%2B09%3A00&amp;tab=events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58</a:t>
            </a:r>
          </a:p>
        </p:txBody>
      </p:sp>
      <p:sp>
        <p:nvSpPr>
          <p:cNvPr id="7" name="TextBox 6"/>
          <p:cNvSpPr txBox="1"/>
          <p:nvPr/>
        </p:nvSpPr>
        <p:spPr>
          <a:xfrm>
            <a:off x="73152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누르기 전</a:t>
            </a:r>
          </a:p>
        </p:txBody>
      </p:sp>
      <p:sp>
        <p:nvSpPr>
          <p:cNvPr id="8" name="TextBox 7"/>
          <p:cNvSpPr txBox="1"/>
          <p:nvPr/>
        </p:nvSpPr>
        <p:spPr>
          <a:xfrm>
            <a:off x="4937760" y="1143000"/>
            <a:ext cx="2880360" cy="228600"/>
          </a:xfrm>
          <a:prstGeom prst="rect">
            <a:avLst/>
          </a:prstGeom>
          <a:noFill/>
        </p:spPr>
        <p:txBody>
          <a:bodyPr wrap="square" lIns="27432" rIns="27432" tIns="27432" bIns="0">
            <a:spAutoFit/>
          </a:bodyPr>
          <a:lstStyle/>
          <a:p>
            <a:pPr>
              <a:lnSpc>
                <a:spcPct val="112000"/>
              </a:lnSpc>
              <a:spcAft>
                <a:spcPts val="600"/>
              </a:spcAft>
              <a:defRPr sz="1100" b="1">
                <a:solidFill>
                  <a:srgbClr val="19201D"/>
                </a:solidFill>
                <a:latin typeface="SUIT"/>
              </a:defRPr>
            </a:pPr>
            <a:r>
              <a:rPr>
                <a:ea typeface="SUIT"/>
              </a:rPr>
              <a:t>누른 뒤</a:t>
            </a:r>
          </a:p>
        </p:txBody>
      </p:sp>
      <p:pic>
        <p:nvPicPr>
          <p:cNvPr id="9" name="Picture 8" descr="M-STK-01-after.png"/>
          <p:cNvPicPr>
            <a:picLocks noChangeAspect="1"/>
          </p:cNvPicPr>
          <p:nvPr/>
        </p:nvPicPr>
        <p:blipFill>
          <a:blip r:embed="rId2"/>
          <a:stretch>
            <a:fillRect/>
          </a:stretch>
        </p:blipFill>
        <p:spPr>
          <a:xfrm>
            <a:off x="731520" y="1389888"/>
            <a:ext cx="2788920" cy="6035040"/>
          </a:xfrm>
          <a:prstGeom prst="rect">
            <a:avLst/>
          </a:prstGeom>
        </p:spPr>
      </p:pic>
      <p:sp>
        <p:nvSpPr>
          <p:cNvPr id="10" name="Rectangle 9"/>
          <p:cNvSpPr/>
          <p:nvPr/>
        </p:nvSpPr>
        <p:spPr>
          <a:xfrm>
            <a:off x="845937" y="1854708"/>
            <a:ext cx="2560085"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704088" y="1712858"/>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89670" y="1598441"/>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1</a:t>
            </a:r>
          </a:p>
        </p:txBody>
      </p:sp>
      <p:sp>
        <p:nvSpPr>
          <p:cNvPr id="13" name="Rectangle 12"/>
          <p:cNvSpPr/>
          <p:nvPr/>
        </p:nvSpPr>
        <p:spPr>
          <a:xfrm>
            <a:off x="1289304" y="7024936"/>
            <a:ext cx="557783"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1147454"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33037"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2</a:t>
            </a:r>
          </a:p>
        </p:txBody>
      </p:sp>
      <p:sp>
        <p:nvSpPr>
          <p:cNvPr id="16" name="Rectangle 15"/>
          <p:cNvSpPr/>
          <p:nvPr/>
        </p:nvSpPr>
        <p:spPr>
          <a:xfrm>
            <a:off x="731520" y="7024936"/>
            <a:ext cx="557784" cy="400460"/>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89670" y="6883087"/>
            <a:ext cx="141850"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75253" y="6768670"/>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3</a:t>
            </a:r>
          </a:p>
        </p:txBody>
      </p:sp>
      <p:pic>
        <p:nvPicPr>
          <p:cNvPr id="19" name="Picture 18" descr="M-COM-02-after.png"/>
          <p:cNvPicPr>
            <a:picLocks noChangeAspect="1"/>
          </p:cNvPicPr>
          <p:nvPr/>
        </p:nvPicPr>
        <p:blipFill>
          <a:blip r:embed="rId3"/>
          <a:stretch>
            <a:fillRect/>
          </a:stretch>
        </p:blipFill>
        <p:spPr>
          <a:xfrm>
            <a:off x="4937760" y="1389888"/>
            <a:ext cx="2788920" cy="6035040"/>
          </a:xfrm>
          <a:prstGeom prst="rect">
            <a:avLst/>
          </a:prstGeom>
        </p:spPr>
      </p:pic>
      <p:sp>
        <p:nvSpPr>
          <p:cNvPr id="20" name="Rectangle 19"/>
          <p:cNvSpPr/>
          <p:nvPr/>
        </p:nvSpPr>
        <p:spPr>
          <a:xfrm>
            <a:off x="5052177" y="4297918"/>
            <a:ext cx="2560085" cy="472864"/>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4910328" y="4156068"/>
            <a:ext cx="141849"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4795910" y="4041651"/>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4</a:t>
            </a:r>
          </a:p>
        </p:txBody>
      </p:sp>
      <p:sp>
        <p:nvSpPr>
          <p:cNvPr id="23" name="Rectangle 22"/>
          <p:cNvSpPr/>
          <p:nvPr/>
        </p:nvSpPr>
        <p:spPr>
          <a:xfrm>
            <a:off x="5166594" y="3463029"/>
            <a:ext cx="1671675"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a:off x="5024745" y="3321180"/>
            <a:ext cx="141849" cy="141849"/>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910328" y="3206763"/>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5</a:t>
            </a:r>
          </a:p>
        </p:txBody>
      </p:sp>
      <p:sp>
        <p:nvSpPr>
          <p:cNvPr id="26" name="Rectangle 25"/>
          <p:cNvSpPr/>
          <p:nvPr/>
        </p:nvSpPr>
        <p:spPr>
          <a:xfrm>
            <a:off x="7354824" y="2222318"/>
            <a:ext cx="314647" cy="314647"/>
          </a:xfrm>
          <a:prstGeom prst="rect">
            <a:avLst/>
          </a:prstGeom>
          <a:noFill/>
          <a:ln w="14302">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7212974" y="2080468"/>
            <a:ext cx="141850" cy="14185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098557" y="1966051"/>
            <a:ext cx="228834" cy="228834"/>
          </a:xfrm>
          <a:prstGeom prst="ellipse">
            <a:avLst/>
          </a:prstGeom>
          <a:solidFill>
            <a:srgbClr val="0A5C48"/>
          </a:solidFill>
          <a:ln w="14302">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900">
                <a:solidFill>
                  <a:srgbClr val="FFFFFF"/>
                </a:solidFill>
                <a:latin typeface="SUIT"/>
              </a:defRPr>
            </a:pPr>
            <a:r>
              <a:t>6</a:t>
            </a:r>
          </a:p>
        </p:txBody>
      </p:sp>
      <p:sp>
        <p:nvSpPr>
          <p:cNvPr id="29" name="TextBox 28"/>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30" name="TextBox 29"/>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기업 상세 → 다른 기업 보기</a:t>
            </a:r>
          </a:p>
        </p:txBody>
      </p:sp>
      <p:sp>
        <p:nvSpPr>
          <p:cNvPr id="31" name="TextBox 30"/>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32" name="TextBox 31"/>
          <p:cNvSpPr txBox="1"/>
          <p:nvPr/>
        </p:nvSpPr>
        <p:spPr>
          <a:xfrm>
            <a:off x="10561320" y="2163191"/>
            <a:ext cx="3703320" cy="17424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검색·보유·관심·최근·연결 기업의 전환 시트를 열어요. → M-COM-02</a:t>
            </a:r>
          </a:p>
          <a:p>
            <a:pPr>
              <a:lnSpc>
                <a:spcPts val="1625"/>
              </a:lnSpc>
              <a:spcAft>
                <a:spcPts val="0"/>
              </a:spcAft>
              <a:defRPr sz="1250" b="0">
                <a:solidFill>
                  <a:srgbClr val="19201D"/>
                </a:solidFill>
                <a:latin typeface="SUIT"/>
              </a:defRPr>
            </a:pPr>
            <a:r>
              <a:rPr>
                <a:ea typeface="SUIT"/>
              </a:rPr>
              <a:t>2  종목 목록으로 이동해요 → M-STK-01</a:t>
            </a:r>
          </a:p>
          <a:p>
            <a:pPr>
              <a:lnSpc>
                <a:spcPts val="1625"/>
              </a:lnSpc>
              <a:spcAft>
                <a:spcPts val="0"/>
              </a:spcAft>
              <a:defRPr sz="1250" b="0">
                <a:solidFill>
                  <a:srgbClr val="19201D"/>
                </a:solidFill>
                <a:latin typeface="SUIT"/>
              </a:defRPr>
            </a:pPr>
            <a:r>
              <a:rPr>
                <a:ea typeface="SUIT"/>
              </a:rPr>
              <a:t>3  시장 지도로 이동해요 → M-GRP-01</a:t>
            </a:r>
          </a:p>
          <a:p>
            <a:pPr>
              <a:lnSpc>
                <a:spcPts val="1625"/>
              </a:lnSpc>
              <a:spcAft>
                <a:spcPts val="0"/>
              </a:spcAft>
              <a:defRPr sz="1250" b="0">
                <a:solidFill>
                  <a:srgbClr val="19201D"/>
                </a:solidFill>
                <a:latin typeface="SUIT"/>
              </a:defRPr>
            </a:pPr>
            <a:r>
              <a:rPr>
                <a:ea typeface="SUIT"/>
              </a:rPr>
              <a:t>4  기업을 바꾸고 기간·기준 시점·탭은 유지해요. → M-COM-01</a:t>
            </a:r>
          </a:p>
          <a:p>
            <a:pPr>
              <a:lnSpc>
                <a:spcPts val="1625"/>
              </a:lnSpc>
              <a:spcAft>
                <a:spcPts val="0"/>
              </a:spcAft>
              <a:defRPr sz="1250" b="0">
                <a:solidFill>
                  <a:srgbClr val="19201D"/>
                </a:solidFill>
                <a:latin typeface="SUIT"/>
              </a:defRPr>
            </a:pPr>
            <a:r>
              <a:rPr>
                <a:ea typeface="SUIT"/>
              </a:rPr>
              <a:t>5  전환할 기업을 검색해요 → M-COM-02</a:t>
            </a:r>
          </a:p>
          <a:p>
            <a:pPr>
              <a:lnSpc>
                <a:spcPts val="1625"/>
              </a:lnSpc>
              <a:spcAft>
                <a:spcPts val="0"/>
              </a:spcAft>
              <a:defRPr sz="1250" b="0">
                <a:solidFill>
                  <a:srgbClr val="19201D"/>
                </a:solidFill>
                <a:latin typeface="SUIT"/>
              </a:defRPr>
            </a:pPr>
            <a:r>
              <a:rPr>
                <a:ea typeface="SUIT"/>
              </a:rPr>
              <a:t>6  기업 전환 시트를 닫아요 → M-COM-01</a:t>
            </a:r>
          </a:p>
        </p:txBody>
      </p:sp>
      <p:sp>
        <p:nvSpPr>
          <p:cNvPr id="33" name="TextBox 32"/>
          <p:cNvSpPr txBox="1"/>
          <p:nvPr/>
        </p:nvSpPr>
        <p:spPr>
          <a:xfrm>
            <a:off x="10561320" y="39513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34" name="TextBox 33"/>
          <p:cNvSpPr txBox="1"/>
          <p:nvPr/>
        </p:nvSpPr>
        <p:spPr>
          <a:xfrm>
            <a:off x="10561320" y="41982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영역별 조회 중 · 자료 없음 · 부분 실패·재시도</a:t>
            </a:r>
          </a:p>
          <a:p>
            <a:pPr>
              <a:lnSpc>
                <a:spcPts val="1495"/>
              </a:lnSpc>
              <a:spcAft>
                <a:spcPts val="0"/>
              </a:spcAft>
              <a:defRPr sz="1150" b="0">
                <a:solidFill>
                  <a:srgbClr val="19201D"/>
                </a:solidFill>
                <a:latin typeface="SUIT"/>
              </a:defRPr>
            </a:pPr>
            <a:r>
              <a:rPr>
                <a:ea typeface="SUIT"/>
              </a:rPr>
              <a:t>코드 근거: pages/company-page.tsx · features/company-timeline.tsx</a:t>
            </a:r>
          </a:p>
          <a:p>
            <a:pPr>
              <a:lnSpc>
                <a:spcPts val="1495"/>
              </a:lnSpc>
              <a:spcAft>
                <a:spcPts val="0"/>
              </a:spcAft>
              <a:defRPr sz="1150" b="0">
                <a:solidFill>
                  <a:srgbClr val="19201D"/>
                </a:solidFill>
                <a:latin typeface="SUIT"/>
              </a:defRPr>
            </a:pPr>
            <a:r>
              <a:rPr>
                <a:ea typeface="SUIT"/>
              </a:rPr>
              <a:t>기존 캡처: docs/design/v5/company-events-error.png</a:t>
            </a:r>
          </a:p>
        </p:txBody>
      </p:sp>
      <p:sp>
        <p:nvSpPr>
          <p:cNvPr id="35" name="TextBox 34"/>
          <p:cNvSpPr txBox="1"/>
          <p:nvPr/>
        </p:nvSpPr>
        <p:spPr>
          <a:xfrm>
            <a:off x="10561320" y="52847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36" name="TextBox 35"/>
          <p:cNvSpPr txBox="1"/>
          <p:nvPr/>
        </p:nvSpPr>
        <p:spPr>
          <a:xfrm>
            <a:off x="10561320" y="553161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FS038 · FS044 / 요구 38·44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D-SEN-01   긍부정 표시 규칙·디자인시스템 예시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/design-system#c-price</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59</a:t>
            </a:r>
          </a:p>
        </p:txBody>
      </p:sp>
      <p:pic>
        <p:nvPicPr>
          <p:cNvPr id="7" name="Picture 6" descr="D-SEN-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554730" y="5055774"/>
            <a:ext cx="485096"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17570" y="49186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307842" y="48088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665083" y="5055774"/>
            <a:ext cx="485096"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4527923" y="49186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418195" y="48088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5775436" y="5055774"/>
            <a:ext cx="485096"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638276" y="49186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528548" y="48088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6885789" y="5055774"/>
            <a:ext cx="661475"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6748629" y="491861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38901" y="480888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예시·데이터 한계</a:t>
            </a:r>
          </a:p>
        </p:txBody>
      </p:sp>
      <p:sp>
        <p:nvSpPr>
          <p:cNvPr id="21" name="TextBox 20"/>
          <p:cNvSpPr txBox="1"/>
          <p:nvPr/>
        </p:nvSpPr>
        <p:spPr>
          <a:xfrm>
            <a:off x="10561320" y="1572768"/>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디자인시스템 예시만 캡처했어요. 실제 모델 호출 전이며 데모 기사에는 판정값이 없어요. 중성 글자·아이콘·AI 판정으로 구분하고 주가 등락색·확률을 쓰지 않아요.</a:t>
            </a:r>
          </a:p>
        </p:txBody>
      </p:sp>
      <p:sp>
        <p:nvSpPr>
          <p:cNvPr id="22" name="TextBox 21"/>
          <p:cNvSpPr txBox="1"/>
          <p:nvPr/>
        </p:nvSpPr>
        <p:spPr>
          <a:xfrm>
            <a:off x="10561320" y="2329053"/>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3" name="TextBox 22"/>
          <p:cNvSpPr txBox="1"/>
          <p:nvPr/>
        </p:nvSpPr>
        <p:spPr>
          <a:xfrm>
            <a:off x="10561320" y="2575941"/>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디자인시스템의 판정 예시</a:t>
            </a:r>
          </a:p>
        </p:txBody>
      </p:sp>
      <p:sp>
        <p:nvSpPr>
          <p:cNvPr id="24" name="TextBox 23"/>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5" name="TextBox 24"/>
          <p:cNvSpPr txBox="1"/>
          <p:nvPr/>
        </p:nvSpPr>
        <p:spPr>
          <a:xfrm>
            <a:off x="10561320" y="3166364"/>
            <a:ext cx="3703320" cy="17424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긍정 예시의 사유·인용·판정 시각을 열어요 → D-SEN-01</a:t>
            </a:r>
          </a:p>
          <a:p>
            <a:pPr>
              <a:lnSpc>
                <a:spcPts val="1625"/>
              </a:lnSpc>
              <a:spcAft>
                <a:spcPts val="0"/>
              </a:spcAft>
              <a:defRPr sz="1250" b="0">
                <a:solidFill>
                  <a:srgbClr val="19201D"/>
                </a:solidFill>
                <a:latin typeface="SUIT"/>
              </a:defRPr>
            </a:pPr>
            <a:r>
              <a:rPr>
                <a:ea typeface="SUIT"/>
              </a:rPr>
              <a:t>2  부정 예시의 사유·인용·판정 시각을 열어요 → D-SEN-01</a:t>
            </a:r>
          </a:p>
          <a:p>
            <a:pPr>
              <a:lnSpc>
                <a:spcPts val="1625"/>
              </a:lnSpc>
              <a:spcAft>
                <a:spcPts val="0"/>
              </a:spcAft>
              <a:defRPr sz="1250" b="0">
                <a:solidFill>
                  <a:srgbClr val="19201D"/>
                </a:solidFill>
                <a:latin typeface="SUIT"/>
              </a:defRPr>
            </a:pPr>
            <a:r>
              <a:rPr>
                <a:ea typeface="SUIT"/>
              </a:rPr>
              <a:t>3  혼재 예시의 사유·인용·판정 시각을 열어요 → D-SEN-01</a:t>
            </a:r>
          </a:p>
          <a:p>
            <a:pPr>
              <a:lnSpc>
                <a:spcPts val="1625"/>
              </a:lnSpc>
              <a:spcAft>
                <a:spcPts val="0"/>
              </a:spcAft>
              <a:defRPr sz="1250" b="0">
                <a:solidFill>
                  <a:srgbClr val="19201D"/>
                </a:solidFill>
                <a:latin typeface="SUIT"/>
              </a:defRPr>
            </a:pPr>
            <a:r>
              <a:rPr>
                <a:ea typeface="SUIT"/>
              </a:rPr>
              <a:t>4  판단 보류 예시의 사유·인용·판정 시각을 열어요 → D-SEN-01</a:t>
            </a:r>
          </a:p>
        </p:txBody>
      </p:sp>
      <p:sp>
        <p:nvSpPr>
          <p:cNvPr id="26" name="TextBox 25"/>
          <p:cNvSpPr txBox="1"/>
          <p:nvPr/>
        </p:nvSpPr>
        <p:spPr>
          <a:xfrm>
            <a:off x="10561320" y="49545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7" name="TextBox 26"/>
          <p:cNvSpPr txBox="1"/>
          <p:nvPr/>
        </p:nvSpPr>
        <p:spPr>
          <a:xfrm>
            <a:off x="10561320" y="5201411"/>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부분 실패 · 받은 영역 유지</a:t>
            </a:r>
          </a:p>
          <a:p>
            <a:pPr>
              <a:lnSpc>
                <a:spcPts val="1495"/>
              </a:lnSpc>
              <a:spcAft>
                <a:spcPts val="0"/>
              </a:spcAft>
              <a:defRPr sz="1150" b="0">
                <a:solidFill>
                  <a:srgbClr val="19201D"/>
                </a:solidFill>
                <a:latin typeface="SUIT"/>
              </a:defRPr>
            </a:pPr>
            <a:r>
              <a:rPr>
                <a:ea typeface="SUIT"/>
              </a:rPr>
              <a:t>구현 상태: 디자인시스템 예시 · 판정 근거 펼침 · null은 숨김</a:t>
            </a:r>
          </a:p>
          <a:p>
            <a:pPr>
              <a:lnSpc>
                <a:spcPts val="1495"/>
              </a:lnSpc>
              <a:spcAft>
                <a:spcPts val="0"/>
              </a:spcAft>
              <a:defRPr sz="1150" b="0">
                <a:solidFill>
                  <a:srgbClr val="19201D"/>
                </a:solidFill>
                <a:latin typeface="SUIT"/>
              </a:defRPr>
            </a:pPr>
            <a:r>
              <a:rPr>
                <a:ea typeface="SUIT"/>
              </a:rPr>
              <a:t>코드 근거: components/domain/status-labels.tsx · components/domain/briefing-outlook.tsx</a:t>
            </a:r>
          </a:p>
          <a:p>
            <a:pPr>
              <a:lnSpc>
                <a:spcPts val="1495"/>
              </a:lnSpc>
              <a:spcAft>
                <a:spcPts val="0"/>
              </a:spcAft>
              <a:defRPr sz="1150" b="0">
                <a:solidFill>
                  <a:srgbClr val="19201D"/>
                </a:solidFill>
                <a:latin typeface="SUIT"/>
              </a:defRPr>
            </a:pPr>
          </a:p>
        </p:txBody>
      </p:sp>
      <p:sp>
        <p:nvSpPr>
          <p:cNvPr id="28" name="TextBox 27"/>
          <p:cNvSpPr txBox="1"/>
          <p:nvPr/>
        </p:nvSpPr>
        <p:spPr>
          <a:xfrm>
            <a:off x="10561320" y="6287897"/>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9" name="TextBox 28"/>
          <p:cNvSpPr txBox="1"/>
          <p:nvPr/>
        </p:nvSpPr>
        <p:spPr>
          <a:xfrm>
            <a:off x="10561320" y="6534784"/>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FS021 / 요구 21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D-SEN-02   회차 판단·디자인시스템 예시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/design-system#c-briefing</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60</a:t>
            </a:r>
          </a:p>
        </p:txBody>
      </p:sp>
      <p:pic>
        <p:nvPicPr>
          <p:cNvPr id="7" name="Picture 6" descr="D-SEN-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478541" y="3312128"/>
            <a:ext cx="485096" cy="246888"/>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341381" y="317496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231653" y="306524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27535" y="3823049"/>
            <a:ext cx="970192" cy="13373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290375" y="368588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80647" y="357616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5200650" y="4227671"/>
            <a:ext cx="218770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063490" y="409051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953762" y="398078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예시·데이터 한계</a:t>
            </a:r>
          </a:p>
        </p:txBody>
      </p:sp>
      <p:sp>
        <p:nvSpPr>
          <p:cNvPr id="18" name="TextBox 17"/>
          <p:cNvSpPr txBox="1"/>
          <p:nvPr/>
        </p:nvSpPr>
        <p:spPr>
          <a:xfrm>
            <a:off x="10561320" y="1572768"/>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디자인시스템 예시이며 데모 브리핑에는 outlook 값이 없어요. 회차 판단과 사유는 발행 시 고정하며 주가 전망이 아니에요.</a:t>
            </a:r>
          </a:p>
        </p:txBody>
      </p:sp>
      <p:sp>
        <p:nvSpPr>
          <p:cNvPr id="19" name="TextBox 18"/>
          <p:cNvSpPr txBox="1"/>
          <p:nvPr/>
        </p:nvSpPr>
        <p:spPr>
          <a:xfrm>
            <a:off x="10561320" y="2329053"/>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0" name="TextBox 19"/>
          <p:cNvSpPr txBox="1"/>
          <p:nvPr/>
        </p:nvSpPr>
        <p:spPr>
          <a:xfrm>
            <a:off x="10561320" y="2575941"/>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디자인시스템 BriefingCard 예시</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2" name="TextBox 21"/>
          <p:cNvSpPr txBox="1"/>
          <p:nvPr/>
        </p:nvSpPr>
        <p:spPr>
          <a:xfrm>
            <a:off x="10561320" y="3166364"/>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회차 판단 예시의 근거를 열어요 → D-SEN-02</a:t>
            </a:r>
          </a:p>
          <a:p>
            <a:pPr>
              <a:lnSpc>
                <a:spcPts val="1625"/>
              </a:lnSpc>
              <a:spcAft>
                <a:spcPts val="0"/>
              </a:spcAft>
              <a:defRPr sz="1250" b="0">
                <a:solidFill>
                  <a:srgbClr val="19201D"/>
                </a:solidFill>
                <a:latin typeface="SUIT"/>
              </a:defRPr>
            </a:pPr>
            <a:r>
              <a:rPr>
                <a:ea typeface="SUIT"/>
              </a:rPr>
              <a:t>2  회차 본문의 예시 이슈로 이동해요 → D-SEN-02</a:t>
            </a:r>
          </a:p>
          <a:p>
            <a:pPr>
              <a:lnSpc>
                <a:spcPts val="1625"/>
              </a:lnSpc>
              <a:spcAft>
                <a:spcPts val="0"/>
              </a:spcAft>
              <a:defRPr sz="1250" b="0">
                <a:solidFill>
                  <a:srgbClr val="19201D"/>
                </a:solidFill>
                <a:latin typeface="SUIT"/>
              </a:defRPr>
            </a:pPr>
            <a:r>
              <a:rPr>
                <a:ea typeface="SUIT"/>
              </a:rPr>
              <a:t>3  예시 회차의 관계도 탭을 보여줘요 → D-SEN-02</a:t>
            </a:r>
          </a:p>
        </p:txBody>
      </p:sp>
      <p:sp>
        <p:nvSpPr>
          <p:cNvPr id="23" name="TextBox 22"/>
          <p:cNvSpPr txBox="1"/>
          <p:nvPr/>
        </p:nvSpPr>
        <p:spPr>
          <a:xfrm>
            <a:off x="10561320" y="39226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4" name="TextBox 23"/>
          <p:cNvSpPr txBox="1"/>
          <p:nvPr/>
        </p:nvSpPr>
        <p:spPr>
          <a:xfrm>
            <a:off x="10561320" y="4169537"/>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부분 실패 · 받은 영역 유지</a:t>
            </a:r>
          </a:p>
          <a:p>
            <a:pPr>
              <a:lnSpc>
                <a:spcPts val="1495"/>
              </a:lnSpc>
              <a:spcAft>
                <a:spcPts val="0"/>
              </a:spcAft>
              <a:defRPr sz="1150" b="0">
                <a:solidFill>
                  <a:srgbClr val="19201D"/>
                </a:solidFill>
                <a:latin typeface="SUIT"/>
              </a:defRPr>
            </a:pPr>
            <a:r>
              <a:rPr>
                <a:ea typeface="SUIT"/>
              </a:rPr>
              <a:t>구현 상태: 디자인시스템 예시 · 판정 근거 펼침 · null은 숨김</a:t>
            </a:r>
          </a:p>
          <a:p>
            <a:pPr>
              <a:lnSpc>
                <a:spcPts val="1495"/>
              </a:lnSpc>
              <a:spcAft>
                <a:spcPts val="0"/>
              </a:spcAft>
              <a:defRPr sz="1150" b="0">
                <a:solidFill>
                  <a:srgbClr val="19201D"/>
                </a:solidFill>
                <a:latin typeface="SUIT"/>
              </a:defRPr>
            </a:pPr>
            <a:r>
              <a:rPr>
                <a:ea typeface="SUIT"/>
              </a:rPr>
              <a:t>코드 근거: components/domain/status-labels.tsx · components/domain/briefing-outlook.tsx</a:t>
            </a:r>
          </a:p>
          <a:p>
            <a:pPr>
              <a:lnSpc>
                <a:spcPts val="1495"/>
              </a:lnSpc>
              <a:spcAft>
                <a:spcPts val="0"/>
              </a:spcAft>
              <a:defRPr sz="1150" b="0">
                <a:solidFill>
                  <a:srgbClr val="19201D"/>
                </a:solidFill>
                <a:latin typeface="SUIT"/>
              </a:defRPr>
            </a:pPr>
          </a:p>
        </p:txBody>
      </p:sp>
      <p:sp>
        <p:nvSpPr>
          <p:cNvPr id="25" name="TextBox 24"/>
          <p:cNvSpPr txBox="1"/>
          <p:nvPr/>
        </p:nvSpPr>
        <p:spPr>
          <a:xfrm>
            <a:off x="10561320" y="525602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6" name="TextBox 25"/>
          <p:cNvSpPr txBox="1"/>
          <p:nvPr/>
        </p:nvSpPr>
        <p:spPr>
          <a:xfrm>
            <a:off x="10561320" y="550291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FS028 · FS029 · FS030 / 요구 28·29·30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A-ADM-05c   관리자 로그인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/admin/login</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61</a:t>
            </a:r>
          </a:p>
        </p:txBody>
      </p:sp>
      <p:pic>
        <p:nvPicPr>
          <p:cNvPr id="7" name="Picture 6" descr="A-ADM-05c.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3986784" y="5060061"/>
            <a:ext cx="2633472" cy="329184"/>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849624" y="492290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39896" y="481317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986784" y="4062222"/>
            <a:ext cx="263347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849624" y="392506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39896" y="381533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986784" y="4648581"/>
            <a:ext cx="263347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849624" y="4511421"/>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739896" y="440169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세션이 없는 /admin 진입</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세션을 만들고 운영 대시보드로 들어가요. → A-ADM-01</a:t>
            </a:r>
          </a:p>
          <a:p>
            <a:pPr>
              <a:lnSpc>
                <a:spcPts val="1625"/>
              </a:lnSpc>
              <a:spcAft>
                <a:spcPts val="0"/>
              </a:spcAft>
              <a:defRPr sz="1250" b="0">
                <a:solidFill>
                  <a:srgbClr val="19201D"/>
                </a:solidFill>
                <a:latin typeface="SUIT"/>
              </a:defRPr>
            </a:pPr>
            <a:r>
              <a:rPr>
                <a:ea typeface="SUIT"/>
              </a:rPr>
              <a:t>2  관리자 이메일을 입력해요 → A-ADM-05c</a:t>
            </a:r>
          </a:p>
          <a:p>
            <a:pPr>
              <a:lnSpc>
                <a:spcPts val="1625"/>
              </a:lnSpc>
              <a:spcAft>
                <a:spcPts val="0"/>
              </a:spcAft>
              <a:defRPr sz="1250" b="0">
                <a:solidFill>
                  <a:srgbClr val="19201D"/>
                </a:solidFill>
                <a:latin typeface="SUIT"/>
              </a:defRPr>
            </a:pPr>
            <a:r>
              <a:rPr>
                <a:ea typeface="SUIT"/>
              </a:rPr>
              <a:t>3  비밀번호를 가려 입력해요 → A-ADM-05c</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입력 누락 · 인증·권한 실패 · 세션 만료</a:t>
            </a:r>
          </a:p>
          <a:p>
            <a:pPr>
              <a:lnSpc>
                <a:spcPts val="1495"/>
              </a:lnSpc>
              <a:spcAft>
                <a:spcPts val="0"/>
              </a:spcAft>
              <a:defRPr sz="1150" b="0">
                <a:solidFill>
                  <a:srgbClr val="19201D"/>
                </a:solidFill>
                <a:latin typeface="SUIT"/>
              </a:defRPr>
            </a:pPr>
            <a:r>
              <a:rPr>
                <a:ea typeface="SUIT"/>
              </a:rPr>
              <a:t>코드 근거: admin/pages/login.tsx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FS073 · NFS001 / 요구 54·85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A-ADM-01   운영 대시보드</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62</a:t>
            </a:r>
          </a:p>
        </p:txBody>
      </p:sp>
      <p:pic>
        <p:nvPicPr>
          <p:cNvPr id="7" name="Picture 6" descr="A-ADM-01.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08026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194310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183337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420624" y="2711196"/>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83464" y="2574036"/>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73736" y="2464308"/>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20624" y="3026664"/>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283464" y="288950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73736" y="277977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20624" y="365760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283464" y="3520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73736" y="3410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A-ADM-03</a:t>
            </a:r>
          </a:p>
          <a:p>
            <a:pPr>
              <a:lnSpc>
                <a:spcPts val="1625"/>
              </a:lnSpc>
              <a:spcAft>
                <a:spcPts val="0"/>
              </a:spcAft>
              <a:defRPr sz="1250" b="0">
                <a:solidFill>
                  <a:srgbClr val="19201D"/>
                </a:solidFill>
                <a:latin typeface="SUIT"/>
              </a:defRPr>
            </a:pPr>
            <a:r>
              <a:rPr>
                <a:ea typeface="SUIT"/>
              </a:rPr>
              <a:t>2  브리핑 회차 운영을 열어요 → A-ADM-04</a:t>
            </a:r>
          </a:p>
          <a:p>
            <a:pPr>
              <a:lnSpc>
                <a:spcPts val="1625"/>
              </a:lnSpc>
              <a:spcAft>
                <a:spcPts val="0"/>
              </a:spcAft>
              <a:defRPr sz="1250" b="0">
                <a:solidFill>
                  <a:srgbClr val="19201D"/>
                </a:solidFill>
                <a:latin typeface="SUIT"/>
              </a:defRPr>
            </a:pPr>
            <a:r>
              <a:rPr>
                <a:ea typeface="SUIT"/>
              </a:rPr>
              <a:t>3  이용 통계를 열어요 → A-ADM-02</a:t>
            </a:r>
          </a:p>
          <a:p>
            <a:pPr>
              <a:lnSpc>
                <a:spcPts val="1625"/>
              </a:lnSpc>
              <a:spcAft>
                <a:spcPts val="0"/>
              </a:spcAft>
              <a:defRPr sz="1250" b="0">
                <a:solidFill>
                  <a:srgbClr val="19201D"/>
                </a:solidFill>
                <a:latin typeface="SUIT"/>
              </a:defRPr>
            </a:pPr>
            <a:r>
              <a:rPr>
                <a:ea typeface="SUIT"/>
              </a:rPr>
              <a:t>4  회원 활동 목록을 열어요 → A-ADM-05</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 · 조건에 맞는 자료 없음 · 영역 오류</a:t>
            </a:r>
          </a:p>
          <a:p>
            <a:pPr>
              <a:lnSpc>
                <a:spcPts val="1495"/>
              </a:lnSpc>
              <a:spcAft>
                <a:spcPts val="0"/>
              </a:spcAft>
              <a:defRPr sz="1150" b="0">
                <a:solidFill>
                  <a:srgbClr val="19201D"/>
                </a:solidFill>
                <a:latin typeface="SUIT"/>
              </a:defRPr>
            </a:pPr>
            <a:r>
              <a:rPr>
                <a:ea typeface="SUIT"/>
              </a:rPr>
              <a:t>관리자 세션 없음·만료 → 로그인</a:t>
            </a:r>
          </a:p>
          <a:p>
            <a:pPr>
              <a:lnSpc>
                <a:spcPts val="1495"/>
              </a:lnSpc>
              <a:spcAft>
                <a:spcPts val="0"/>
              </a:spcAft>
              <a:defRPr sz="1150" b="0">
                <a:solidFill>
                  <a:srgbClr val="19201D"/>
                </a:solidFill>
                <a:latin typeface="SUIT"/>
              </a:defRPr>
            </a:pPr>
            <a:r>
              <a:rPr>
                <a:ea typeface="SUIT"/>
              </a:rPr>
              <a:t>코드 근거: admin/pages/dashboard.tsx · admin/session.tsx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85546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5102352"/>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FS072 / 요구 84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A-ADM-02   통계·AI 품질</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/admin/stats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63</a:t>
            </a:r>
          </a:p>
        </p:txBody>
      </p:sp>
      <p:pic>
        <p:nvPicPr>
          <p:cNvPr id="7" name="Picture 6" descr="A-ADM-02.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3342132"/>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32049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30952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657600" y="1984248"/>
            <a:ext cx="1536192"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520440"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410712"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296054" y="1545336"/>
            <a:ext cx="35040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158894" y="1408175"/>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049166" y="129844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A-ADM-02b</a:t>
            </a:r>
          </a:p>
          <a:p>
            <a:pPr>
              <a:lnSpc>
                <a:spcPts val="1625"/>
              </a:lnSpc>
              <a:spcAft>
                <a:spcPts val="0"/>
              </a:spcAft>
              <a:defRPr sz="1250" b="0">
                <a:solidFill>
                  <a:srgbClr val="19201D"/>
                </a:solidFill>
                <a:latin typeface="SUIT"/>
              </a:defRPr>
            </a:pPr>
            <a:r>
              <a:rPr>
                <a:ea typeface="SUIT"/>
              </a:rPr>
              <a:t>2  기업별 활동 순위를 보여줘요 → A-ADM-02</a:t>
            </a:r>
          </a:p>
          <a:p>
            <a:pPr>
              <a:lnSpc>
                <a:spcPts val="1625"/>
              </a:lnSpc>
              <a:spcAft>
                <a:spcPts val="0"/>
              </a:spcAft>
              <a:defRPr sz="1250" b="0">
                <a:solidFill>
                  <a:srgbClr val="19201D"/>
                </a:solidFill>
                <a:latin typeface="SUIT"/>
              </a:defRPr>
            </a:pPr>
            <a:r>
              <a:rPr>
                <a:ea typeface="SUIT"/>
              </a:rPr>
              <a:t>3  최근 30일로 집계 범위를 바꿔요 → A-ADM-02</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집계 조회 중·실패 · 표본 부족 · 활동 없음</a:t>
            </a:r>
          </a:p>
          <a:p>
            <a:pPr>
              <a:lnSpc>
                <a:spcPts val="1495"/>
              </a:lnSpc>
              <a:spcAft>
                <a:spcPts val="0"/>
              </a:spcAft>
              <a:defRPr sz="1150" b="0">
                <a:solidFill>
                  <a:srgbClr val="19201D"/>
                </a:solidFill>
                <a:latin typeface="SUIT"/>
              </a:defRPr>
            </a:pPr>
            <a:r>
              <a:rPr>
                <a:ea typeface="SUIT"/>
              </a:rPr>
              <a:t>코드 근거: admin/pages/stats.tsx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FS065 / 요구 77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A-ADM-02b   선호도·대화록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/admin/feedback</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64</a:t>
            </a:r>
          </a:p>
        </p:txBody>
      </p:sp>
      <p:pic>
        <p:nvPicPr>
          <p:cNvPr id="7" name="Picture 6" descr="A-ADM-02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08026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194310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183337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1984248"/>
            <a:ext cx="131673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754880" y="1984248"/>
            <a:ext cx="1316735"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617720"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07992"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4645152" y="2577465"/>
            <a:ext cx="78106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4507992" y="2440305"/>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398264" y="233057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1233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A-ADM-03</a:t>
            </a:r>
          </a:p>
          <a:p>
            <a:pPr>
              <a:lnSpc>
                <a:spcPts val="1625"/>
              </a:lnSpc>
              <a:spcAft>
                <a:spcPts val="0"/>
              </a:spcAft>
              <a:defRPr sz="1250" b="0">
                <a:solidFill>
                  <a:srgbClr val="19201D"/>
                </a:solidFill>
                <a:latin typeface="SUIT"/>
              </a:defRPr>
            </a:pPr>
            <a:r>
              <a:rPr>
                <a:ea typeface="SUIT"/>
              </a:rPr>
              <a:t>2  평가 사유 목록을 보여줘요 → A-ADM-02b</a:t>
            </a:r>
          </a:p>
          <a:p>
            <a:pPr>
              <a:lnSpc>
                <a:spcPts val="1625"/>
              </a:lnSpc>
              <a:spcAft>
                <a:spcPts val="0"/>
              </a:spcAft>
              <a:defRPr sz="1250" b="0">
                <a:solidFill>
                  <a:srgbClr val="19201D"/>
                </a:solidFill>
                <a:latin typeface="SUIT"/>
              </a:defRPr>
            </a:pPr>
            <a:r>
              <a:rPr>
                <a:ea typeface="SUIT"/>
              </a:rPr>
              <a:t>3  마스킹 대화 목록을 보여줘요 → A-ADM-02b</a:t>
            </a:r>
          </a:p>
          <a:p>
            <a:pPr>
              <a:lnSpc>
                <a:spcPts val="1625"/>
              </a:lnSpc>
              <a:spcAft>
                <a:spcPts val="0"/>
              </a:spcAft>
              <a:defRPr sz="1250" b="0">
                <a:solidFill>
                  <a:srgbClr val="19201D"/>
                </a:solidFill>
                <a:latin typeface="SUIT"/>
              </a:defRPr>
            </a:pPr>
            <a:r>
              <a:rPr>
                <a:ea typeface="SUIT"/>
              </a:rPr>
              <a:t>4  입력한 조회 기간을 적용해요 → A-ADM-02b</a:t>
            </a:r>
          </a:p>
        </p:txBody>
      </p:sp>
      <p:sp>
        <p:nvSpPr>
          <p:cNvPr id="24" name="TextBox 23"/>
          <p:cNvSpPr txBox="1"/>
          <p:nvPr/>
        </p:nvSpPr>
        <p:spPr>
          <a:xfrm>
            <a:off x="10561320" y="333222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57911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집계 중·실패 · 평가·대화 없음 · 표본 부족</a:t>
            </a:r>
          </a:p>
          <a:p>
            <a:pPr>
              <a:lnSpc>
                <a:spcPts val="1495"/>
              </a:lnSpc>
              <a:spcAft>
                <a:spcPts val="0"/>
              </a:spcAft>
              <a:defRPr sz="1150" b="0">
                <a:solidFill>
                  <a:srgbClr val="19201D"/>
                </a:solidFill>
                <a:latin typeface="SUIT"/>
              </a:defRPr>
            </a:pPr>
            <a:r>
              <a:rPr>
                <a:ea typeface="SUIT"/>
              </a:rPr>
              <a:t>코드 근거: admin/pages/feedback.tsx · admin/session.tsx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66559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91248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FS066-02 · FS066-03 / 요구 78</a:t>
            </a:r>
          </a:p>
        </p:txBody>
      </p:sp>
      <p:sp>
        <p:nvSpPr>
          <p:cNvPr id="28" name="TextBox 27"/>
          <p:cNvSpPr txBox="1"/>
          <p:nvPr/>
        </p:nvSpPr>
        <p:spPr>
          <a:xfrm>
            <a:off x="10561320" y="525602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9" name="TextBox 28"/>
          <p:cNvSpPr txBox="1"/>
          <p:nvPr/>
        </p:nvSpPr>
        <p:spPr>
          <a:xfrm>
            <a:off x="10561320" y="550291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대화록의 별도 권한·열람 목적·실패 차단이 미정이에요.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A-ADM-03   그래프 관제·검수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/admin/pipeline</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65</a:t>
            </a:r>
          </a:p>
        </p:txBody>
      </p:sp>
      <p:pic>
        <p:nvPicPr>
          <p:cNvPr id="7" name="Picture 6" descr="A-ADM-03.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39572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225856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214884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3438144" y="4713732"/>
            <a:ext cx="131673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3300984" y="45765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1256" y="44668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754880" y="4713732"/>
            <a:ext cx="1316735"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4617720" y="4576572"/>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507992" y="4466844"/>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A-ADM-04b</a:t>
            </a:r>
          </a:p>
          <a:p>
            <a:pPr>
              <a:lnSpc>
                <a:spcPts val="1625"/>
              </a:lnSpc>
              <a:spcAft>
                <a:spcPts val="0"/>
              </a:spcAft>
              <a:defRPr sz="1250" b="0">
                <a:solidFill>
                  <a:srgbClr val="19201D"/>
                </a:solidFill>
                <a:latin typeface="SUIT"/>
              </a:defRPr>
            </a:pPr>
            <a:r>
              <a:rPr>
                <a:ea typeface="SUIT"/>
              </a:rPr>
              <a:t>2  공개 버전과 반영 상태를 보여줘요 → A-ADM-03</a:t>
            </a:r>
          </a:p>
          <a:p>
            <a:pPr>
              <a:lnSpc>
                <a:spcPts val="1625"/>
              </a:lnSpc>
              <a:spcAft>
                <a:spcPts val="0"/>
              </a:spcAft>
              <a:defRPr sz="1250" b="0">
                <a:solidFill>
                  <a:srgbClr val="19201D"/>
                </a:solidFill>
                <a:latin typeface="SUIT"/>
              </a:defRPr>
            </a:pPr>
            <a:r>
              <a:rPr>
                <a:ea typeface="SUIT"/>
              </a:rPr>
              <a:t>3  작업 상태·로그 목록을 보여줘요 → A-ADM-03</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통과·보류·폐기 · 실행·대기·실패 · 원장 조회 실패</a:t>
            </a:r>
          </a:p>
          <a:p>
            <a:pPr>
              <a:lnSpc>
                <a:spcPts val="1495"/>
              </a:lnSpc>
              <a:spcAft>
                <a:spcPts val="0"/>
              </a:spcAft>
              <a:defRPr sz="1150" b="0">
                <a:solidFill>
                  <a:srgbClr val="19201D"/>
                </a:solidFill>
                <a:latin typeface="SUIT"/>
              </a:defRPr>
            </a:pPr>
            <a:r>
              <a:rPr>
                <a:ea typeface="SUIT"/>
              </a:rPr>
              <a:t>코드 근거: admin/pages/pipeline.tsx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6935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51624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FS067-01 · FS067-02 · FS067-03 / 요구 79</a:t>
            </a:r>
          </a:p>
        </p:txBody>
      </p:sp>
      <p:sp>
        <p:nvSpPr>
          <p:cNvPr id="25" name="TextBox 24"/>
          <p:cNvSpPr txBox="1"/>
          <p:nvPr/>
        </p:nvSpPr>
        <p:spPr>
          <a:xfrm>
            <a:off x="10561320" y="485978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6" name="TextBox 25"/>
          <p:cNvSpPr txBox="1"/>
          <p:nvPr/>
        </p:nvSpPr>
        <p:spPr>
          <a:xfrm>
            <a:off x="10561320" y="510667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R1 승인·검수 권한·허용 후 재검증 방식이 미정이에요.</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A-ADM-04   AI·브리핑 운영</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/admin/briefings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66</a:t>
            </a:r>
          </a:p>
        </p:txBody>
      </p:sp>
      <p:pic>
        <p:nvPicPr>
          <p:cNvPr id="7" name="Picture 6" descr="A-ADM-04.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239572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225856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214884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203704" y="2735199"/>
            <a:ext cx="828103"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066544" y="2598039"/>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956816" y="2488311"/>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420624" y="397306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283464" y="3835907"/>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73736" y="372617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A-ADM-04b</a:t>
            </a:r>
          </a:p>
          <a:p>
            <a:pPr>
              <a:lnSpc>
                <a:spcPts val="1625"/>
              </a:lnSpc>
              <a:spcAft>
                <a:spcPts val="0"/>
              </a:spcAft>
              <a:defRPr sz="1250" b="0">
                <a:solidFill>
                  <a:srgbClr val="19201D"/>
                </a:solidFill>
                <a:latin typeface="SUIT"/>
              </a:defRPr>
            </a:pPr>
            <a:r>
              <a:rPr>
                <a:ea typeface="SUIT"/>
              </a:rPr>
              <a:t>2  선택 회차 원문·처리 이력을 보여줘요 → A-ADM-04</a:t>
            </a:r>
          </a:p>
          <a:p>
            <a:pPr>
              <a:lnSpc>
                <a:spcPts val="1625"/>
              </a:lnSpc>
              <a:spcAft>
                <a:spcPts val="0"/>
              </a:spcAft>
              <a:defRPr sz="1250" b="0">
                <a:solidFill>
                  <a:srgbClr val="19201D"/>
                </a:solidFill>
                <a:latin typeface="SUIT"/>
              </a:defRPr>
            </a:pPr>
            <a:r>
              <a:rPr>
                <a:ea typeface="SUIT"/>
              </a:rPr>
              <a:t>3  생성·관리 행위 기록을 열어요 → A-ADM-05b</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예정·생성·발행·실패·중단 · 정정 이력 · 조회 실패</a:t>
            </a:r>
          </a:p>
          <a:p>
            <a:pPr>
              <a:lnSpc>
                <a:spcPts val="1495"/>
              </a:lnSpc>
              <a:spcAft>
                <a:spcPts val="0"/>
              </a:spcAft>
              <a:defRPr sz="1150" b="0">
                <a:solidFill>
                  <a:srgbClr val="19201D"/>
                </a:solidFill>
                <a:latin typeface="SUIT"/>
              </a:defRPr>
            </a:pPr>
            <a:r>
              <a:rPr>
                <a:ea typeface="SUIT"/>
              </a:rPr>
              <a:t>코드 근거: admin/pages/briefings.tsx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459224"/>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706112"/>
            <a:ext cx="3703320" cy="5041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FS070-01 · FS070-02 · FS071-01 · FS071-02 / 요구 82·83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A-ADM-04b   AI 사용량·오류</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/admin/ai</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67</a:t>
            </a:r>
          </a:p>
        </p:txBody>
      </p:sp>
      <p:pic>
        <p:nvPicPr>
          <p:cNvPr id="7" name="Picture 6" descr="A-ADM-04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3657600"/>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352044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341071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8522922" y="1545336"/>
            <a:ext cx="425731"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8385762" y="1408175"/>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76034" y="129844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9296054" y="1545336"/>
            <a:ext cx="350400" cy="274320"/>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9158894" y="1408175"/>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049166" y="1298447"/>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Rectangle 16"/>
          <p:cNvSpPr/>
          <p:nvPr/>
        </p:nvSpPr>
        <p:spPr>
          <a:xfrm>
            <a:off x="9407604" y="3246120"/>
            <a:ext cx="192024" cy="192023"/>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270444" y="310896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160716" y="299923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4</a:t>
            </a:r>
          </a:p>
        </p:txBody>
      </p:sp>
      <p:sp>
        <p:nvSpPr>
          <p:cNvPr id="20" name="TextBox 19"/>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21" name="TextBox 20"/>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22" name="TextBox 21"/>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3" name="TextBox 22"/>
          <p:cNvSpPr txBox="1"/>
          <p:nvPr/>
        </p:nvSpPr>
        <p:spPr>
          <a:xfrm>
            <a:off x="10561320" y="2163191"/>
            <a:ext cx="3703320" cy="132969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A-ADM-05</a:t>
            </a:r>
          </a:p>
          <a:p>
            <a:pPr>
              <a:lnSpc>
                <a:spcPts val="1625"/>
              </a:lnSpc>
              <a:spcAft>
                <a:spcPts val="0"/>
              </a:spcAft>
              <a:defRPr sz="1250" b="0">
                <a:solidFill>
                  <a:srgbClr val="19201D"/>
                </a:solidFill>
                <a:latin typeface="SUIT"/>
              </a:defRPr>
            </a:pPr>
            <a:r>
              <a:rPr>
                <a:ea typeface="SUIT"/>
              </a:rPr>
              <a:t>2  최근 24시간 사용량을 집계해요 → A-ADM-04b</a:t>
            </a:r>
          </a:p>
          <a:p>
            <a:pPr>
              <a:lnSpc>
                <a:spcPts val="1625"/>
              </a:lnSpc>
              <a:spcAft>
                <a:spcPts val="0"/>
              </a:spcAft>
              <a:defRPr sz="1250" b="0">
                <a:solidFill>
                  <a:srgbClr val="19201D"/>
                </a:solidFill>
                <a:latin typeface="SUIT"/>
              </a:defRPr>
            </a:pPr>
            <a:r>
              <a:rPr>
                <a:ea typeface="SUIT"/>
              </a:rPr>
              <a:t>3  최근 30일 사용량을 집계해요 → A-ADM-04b</a:t>
            </a:r>
          </a:p>
          <a:p>
            <a:pPr>
              <a:lnSpc>
                <a:spcPts val="1625"/>
              </a:lnSpc>
              <a:spcAft>
                <a:spcPts val="0"/>
              </a:spcAft>
              <a:defRPr sz="1250" b="0">
                <a:solidFill>
                  <a:srgbClr val="19201D"/>
                </a:solidFill>
                <a:latin typeface="SUIT"/>
              </a:defRPr>
            </a:pPr>
            <a:r>
              <a:rPr>
                <a:ea typeface="SUIT"/>
              </a:rPr>
              <a:t>4  실제 비용을 제공하지 못한 이유를 열어요 → A-ADM-04b</a:t>
            </a:r>
          </a:p>
        </p:txBody>
      </p:sp>
      <p:sp>
        <p:nvSpPr>
          <p:cNvPr id="24" name="TextBox 23"/>
          <p:cNvSpPr txBox="1"/>
          <p:nvPr/>
        </p:nvSpPr>
        <p:spPr>
          <a:xfrm>
            <a:off x="10561320" y="353860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5" name="TextBox 24"/>
          <p:cNvSpPr txBox="1"/>
          <p:nvPr/>
        </p:nvSpPr>
        <p:spPr>
          <a:xfrm>
            <a:off x="10561320" y="3785489"/>
            <a:ext cx="3703320" cy="85090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집계 중·실패 · 오류 없음 · 비용 미제공</a:t>
            </a:r>
          </a:p>
          <a:p>
            <a:pPr>
              <a:lnSpc>
                <a:spcPts val="1495"/>
              </a:lnSpc>
              <a:spcAft>
                <a:spcPts val="0"/>
              </a:spcAft>
              <a:defRPr sz="1150" b="0">
                <a:solidFill>
                  <a:srgbClr val="19201D"/>
                </a:solidFill>
                <a:latin typeface="SUIT"/>
              </a:defRPr>
            </a:pPr>
            <a:r>
              <a:rPr>
                <a:ea typeface="SUIT"/>
              </a:rPr>
              <a:t>코드 근거: admin/pages/ai.tsx · admin/session.tsx</a:t>
            </a:r>
          </a:p>
          <a:p>
            <a:pPr>
              <a:lnSpc>
                <a:spcPts val="1495"/>
              </a:lnSpc>
              <a:spcAft>
                <a:spcPts val="0"/>
              </a:spcAft>
              <a:defRPr sz="1150" b="0">
                <a:solidFill>
                  <a:srgbClr val="19201D"/>
                </a:solidFill>
                <a:latin typeface="SUIT"/>
              </a:defRPr>
            </a:pPr>
          </a:p>
        </p:txBody>
      </p:sp>
      <p:sp>
        <p:nvSpPr>
          <p:cNvPr id="26" name="TextBox 25"/>
          <p:cNvSpPr txBox="1"/>
          <p:nvPr/>
        </p:nvSpPr>
        <p:spPr>
          <a:xfrm>
            <a:off x="10561320" y="468210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7" name="TextBox 26"/>
          <p:cNvSpPr txBox="1"/>
          <p:nvPr/>
        </p:nvSpPr>
        <p:spPr>
          <a:xfrm>
            <a:off x="10561320" y="492899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FS068 / 요구 80</a:t>
            </a:r>
          </a:p>
        </p:txBody>
      </p:sp>
      <p:sp>
        <p:nvSpPr>
          <p:cNvPr id="28" name="TextBox 27"/>
          <p:cNvSpPr txBox="1"/>
          <p:nvPr/>
        </p:nvSpPr>
        <p:spPr>
          <a:xfrm>
            <a:off x="10561320" y="527253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조회·선택 규칙</a:t>
            </a:r>
          </a:p>
        </p:txBody>
      </p:sp>
      <p:sp>
        <p:nvSpPr>
          <p:cNvPr id="29" name="TextBox 28"/>
          <p:cNvSpPr txBox="1"/>
          <p:nvPr/>
        </p:nvSpPr>
        <p:spPr>
          <a:xfrm>
            <a:off x="10561320" y="5519420"/>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문서×기업 판정(document-sentiment)·회차 판단(briefing-outlook)의 사용량 행이 있어요. 실제 모델 호출 전이며 데모 판정값은 없어요.</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A-ADM-05   회원·접근 관리</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/admin/members</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68</a:t>
            </a:r>
          </a:p>
        </p:txBody>
      </p:sp>
      <p:pic>
        <p:nvPicPr>
          <p:cNvPr id="7" name="Picture 6" descr="A-ADM-05.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3973068"/>
            <a:ext cx="1419606"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3835907"/>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3726179"/>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844712" y="2011680"/>
            <a:ext cx="398406" cy="274319"/>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2707552" y="1874520"/>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597824" y="1764792"/>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352847" y="1997964"/>
            <a:ext cx="219456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215687" y="1860804"/>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105959" y="1751076"/>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916940"/>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A-ADM-05b</a:t>
            </a:r>
          </a:p>
          <a:p>
            <a:pPr>
              <a:lnSpc>
                <a:spcPts val="1625"/>
              </a:lnSpc>
              <a:spcAft>
                <a:spcPts val="0"/>
              </a:spcAft>
              <a:defRPr sz="1250" b="0">
                <a:solidFill>
                  <a:srgbClr val="19201D"/>
                </a:solidFill>
                <a:latin typeface="SUIT"/>
              </a:defRPr>
            </a:pPr>
            <a:r>
              <a:rPr>
                <a:ea typeface="SUIT"/>
              </a:rPr>
              <a:t>2  차단 회원만 보여줘요 → A-ADM-05</a:t>
            </a:r>
          </a:p>
          <a:p>
            <a:pPr>
              <a:lnSpc>
                <a:spcPts val="1625"/>
              </a:lnSpc>
              <a:spcAft>
                <a:spcPts val="0"/>
              </a:spcAft>
              <a:defRPr sz="1250" b="0">
                <a:solidFill>
                  <a:srgbClr val="19201D"/>
                </a:solidFill>
                <a:latin typeface="SUIT"/>
              </a:defRPr>
            </a:pPr>
            <a:r>
              <a:rPr>
                <a:ea typeface="SUIT"/>
              </a:rPr>
              <a:t>3  가명·가린 이메일로 검색해요 → A-ADM-05</a:t>
            </a:r>
          </a:p>
        </p:txBody>
      </p:sp>
      <p:sp>
        <p:nvSpPr>
          <p:cNvPr id="21" name="TextBox 20"/>
          <p:cNvSpPr txBox="1"/>
          <p:nvPr/>
        </p:nvSpPr>
        <p:spPr>
          <a:xfrm>
            <a:off x="10561320" y="3125851"/>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372739"/>
            <a:ext cx="3703320" cy="1230630"/>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 · 조건에 맞는 자료 없음 · 영역 오류</a:t>
            </a:r>
          </a:p>
          <a:p>
            <a:pPr>
              <a:lnSpc>
                <a:spcPts val="1495"/>
              </a:lnSpc>
              <a:spcAft>
                <a:spcPts val="0"/>
              </a:spcAft>
              <a:defRPr sz="1150" b="0">
                <a:solidFill>
                  <a:srgbClr val="19201D"/>
                </a:solidFill>
                <a:latin typeface="SUIT"/>
              </a:defRPr>
            </a:pPr>
            <a:r>
              <a:rPr>
                <a:ea typeface="SUIT"/>
              </a:rPr>
              <a:t>관리자 세션 없음·만료 → 로그인</a:t>
            </a:r>
          </a:p>
          <a:p>
            <a:pPr>
              <a:lnSpc>
                <a:spcPts val="1495"/>
              </a:lnSpc>
              <a:spcAft>
                <a:spcPts val="0"/>
              </a:spcAft>
              <a:defRPr sz="1150" b="0">
                <a:solidFill>
                  <a:srgbClr val="19201D"/>
                </a:solidFill>
                <a:latin typeface="SUIT"/>
              </a:defRPr>
            </a:pPr>
            <a:r>
              <a:rPr>
                <a:ea typeface="SUIT"/>
              </a:rPr>
              <a:t>코드 근거: admin/pages/members.tsx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64908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89597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FS069-01 · FS069-02 · FS073 / 요구 81·85</a:t>
            </a:r>
          </a:p>
        </p:txBody>
      </p:sp>
      <p:sp>
        <p:nvSpPr>
          <p:cNvPr id="25" name="TextBox 24"/>
          <p:cNvSpPr txBox="1"/>
          <p:nvPr/>
        </p:nvSpPr>
        <p:spPr>
          <a:xfrm>
            <a:off x="10561320" y="523951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팀 확인 필요</a:t>
            </a:r>
          </a:p>
        </p:txBody>
      </p:sp>
      <p:sp>
        <p:nvSpPr>
          <p:cNvPr id="26" name="TextBox 25"/>
          <p:cNvSpPr txBox="1"/>
          <p:nvPr/>
        </p:nvSpPr>
        <p:spPr>
          <a:xfrm>
            <a:off x="10561320" y="5486400"/>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권한 등급과 회수 정책이 미정이에요.</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A-ADM-05b   관리자 감사 로그</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r>
              <a:rPr>
                <a:ea typeface="SUIT"/>
              </a:rPr>
              <a:t>/admin/audit</a:t>
            </a: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69</a:t>
            </a:r>
          </a:p>
        </p:txBody>
      </p:sp>
      <p:pic>
        <p:nvPicPr>
          <p:cNvPr id="7" name="Picture 6" descr="A-ADM-05b.png"/>
          <p:cNvPicPr>
            <a:picLocks noChangeAspect="1"/>
          </p:cNvPicPr>
          <p:nvPr/>
        </p:nvPicPr>
        <p:blipFill>
          <a:blip r:embed="rId2"/>
          <a:stretch>
            <a:fillRect/>
          </a:stretch>
        </p:blipFill>
        <p:spPr>
          <a:xfrm>
            <a:off x="365760" y="1325880"/>
            <a:ext cx="9875520" cy="6172200"/>
          </a:xfrm>
          <a:prstGeom prst="rect">
            <a:avLst/>
          </a:prstGeom>
        </p:spPr>
      </p:pic>
      <p:sp>
        <p:nvSpPr>
          <p:cNvPr id="8" name="Rectangle 7"/>
          <p:cNvSpPr/>
          <p:nvPr/>
        </p:nvSpPr>
        <p:spPr>
          <a:xfrm>
            <a:off x="420624" y="1764792"/>
            <a:ext cx="1419606" cy="301751"/>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283464" y="1627631"/>
            <a:ext cx="137160" cy="137161"/>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 y="1517903"/>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1</a:t>
            </a:r>
          </a:p>
        </p:txBody>
      </p:sp>
      <p:sp>
        <p:nvSpPr>
          <p:cNvPr id="11" name="Rectangle 10"/>
          <p:cNvSpPr/>
          <p:nvPr/>
        </p:nvSpPr>
        <p:spPr>
          <a:xfrm>
            <a:off x="2121408" y="1984248"/>
            <a:ext cx="1536191"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1984248"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874520"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2</a:t>
            </a:r>
          </a:p>
        </p:txBody>
      </p:sp>
      <p:sp>
        <p:nvSpPr>
          <p:cNvPr id="14" name="Rectangle 13"/>
          <p:cNvSpPr/>
          <p:nvPr/>
        </p:nvSpPr>
        <p:spPr>
          <a:xfrm>
            <a:off x="3739896" y="1984248"/>
            <a:ext cx="2194560" cy="301752"/>
          </a:xfrm>
          <a:prstGeom prst="rect">
            <a:avLst/>
          </a:prstGeom>
          <a:noFill/>
          <a:ln w="13716">
            <a:solidFill>
              <a:srgbClr val="0A5C4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602736" y="1847088"/>
            <a:ext cx="137160" cy="137160"/>
          </a:xfrm>
          <a:prstGeom prst="line">
            <a:avLst/>
          </a:prstGeom>
          <a:ln w="8890">
            <a:solidFill>
              <a:srgbClr val="0A5C4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493008" y="1737360"/>
            <a:ext cx="219456" cy="219456"/>
          </a:xfrm>
          <a:prstGeom prst="ellipse">
            <a:avLst/>
          </a:prstGeom>
          <a:solidFill>
            <a:srgbClr val="0A5C48"/>
          </a:solidFill>
          <a:ln w="13716">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defRPr b="1" sz="864">
                <a:solidFill>
                  <a:srgbClr val="FFFFFF"/>
                </a:solidFill>
                <a:latin typeface="SUIT"/>
              </a:defRPr>
            </a:pPr>
            <a:r>
              <a:t>3</a:t>
            </a:r>
          </a:p>
        </p:txBody>
      </p:sp>
      <p:sp>
        <p:nvSpPr>
          <p:cNvPr id="17" name="TextBox 16"/>
          <p:cNvSpPr txBox="1"/>
          <p:nvPr/>
        </p:nvSpPr>
        <p:spPr>
          <a:xfrm>
            <a:off x="10561320" y="1325880"/>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진입 조건</a:t>
            </a:r>
          </a:p>
        </p:txBody>
      </p:sp>
      <p:sp>
        <p:nvSpPr>
          <p:cNvPr id="18" name="TextBox 17"/>
          <p:cNvSpPr txBox="1"/>
          <p:nvPr/>
        </p:nvSpPr>
        <p:spPr>
          <a:xfrm>
            <a:off x="10561320" y="1572768"/>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관리자 로그인 후 전용 메뉴</a:t>
            </a:r>
          </a:p>
        </p:txBody>
      </p:sp>
      <p:sp>
        <p:nvSpPr>
          <p:cNvPr id="19" name="TextBox 18"/>
          <p:cNvSpPr txBox="1"/>
          <p:nvPr/>
        </p:nvSpPr>
        <p:spPr>
          <a:xfrm>
            <a:off x="10561320" y="1916302"/>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누르면</a:t>
            </a:r>
          </a:p>
        </p:txBody>
      </p:sp>
      <p:sp>
        <p:nvSpPr>
          <p:cNvPr id="20" name="TextBox 19"/>
          <p:cNvSpPr txBox="1"/>
          <p:nvPr/>
        </p:nvSpPr>
        <p:spPr>
          <a:xfrm>
            <a:off x="10561320" y="2163191"/>
            <a:ext cx="3703320" cy="71056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1  관리자 메뉴의 해당 운영 화면을 열어요. → A-ADM-01</a:t>
            </a:r>
          </a:p>
          <a:p>
            <a:pPr>
              <a:lnSpc>
                <a:spcPts val="1625"/>
              </a:lnSpc>
              <a:spcAft>
                <a:spcPts val="0"/>
              </a:spcAft>
              <a:defRPr sz="1250" b="0">
                <a:solidFill>
                  <a:srgbClr val="19201D"/>
                </a:solidFill>
                <a:latin typeface="SUIT"/>
              </a:defRPr>
            </a:pPr>
            <a:r>
              <a:rPr>
                <a:ea typeface="SUIT"/>
              </a:rPr>
              <a:t>2  관리 동작 필터를 펼쳐요 → A-ADM-05b</a:t>
            </a:r>
          </a:p>
          <a:p>
            <a:pPr>
              <a:lnSpc>
                <a:spcPts val="1625"/>
              </a:lnSpc>
              <a:spcAft>
                <a:spcPts val="0"/>
              </a:spcAft>
              <a:defRPr sz="1250" b="0">
                <a:solidFill>
                  <a:srgbClr val="19201D"/>
                </a:solidFill>
                <a:latin typeface="SUIT"/>
              </a:defRPr>
            </a:pPr>
            <a:r>
              <a:rPr>
                <a:ea typeface="SUIT"/>
              </a:rPr>
              <a:t>3  대상·사유·관리자로 검색해요 → A-ADM-05b</a:t>
            </a:r>
          </a:p>
        </p:txBody>
      </p:sp>
      <p:sp>
        <p:nvSpPr>
          <p:cNvPr id="21" name="TextBox 20"/>
          <p:cNvSpPr txBox="1"/>
          <p:nvPr/>
        </p:nvSpPr>
        <p:spPr>
          <a:xfrm>
            <a:off x="10561320" y="2919476"/>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상태</a:t>
            </a:r>
          </a:p>
        </p:txBody>
      </p:sp>
      <p:sp>
        <p:nvSpPr>
          <p:cNvPr id="22" name="TextBox 21"/>
          <p:cNvSpPr txBox="1"/>
          <p:nvPr/>
        </p:nvSpPr>
        <p:spPr>
          <a:xfrm>
            <a:off x="10561320" y="3166364"/>
            <a:ext cx="3703320" cy="1040765"/>
          </a:xfrm>
          <a:prstGeom prst="rect">
            <a:avLst/>
          </a:prstGeom>
          <a:noFill/>
        </p:spPr>
        <p:txBody>
          <a:bodyPr wrap="square" lIns="27432" rIns="27432" tIns="27432" bIns="0">
            <a:spAutoFit/>
          </a:bodyPr>
          <a:lstStyle/>
          <a:p>
            <a:pPr>
              <a:lnSpc>
                <a:spcPts val="1495"/>
              </a:lnSpc>
              <a:spcAft>
                <a:spcPts val="0"/>
              </a:spcAft>
              <a:defRPr sz="1150" b="0">
                <a:solidFill>
                  <a:srgbClr val="19201D"/>
                </a:solidFill>
                <a:latin typeface="SUIT"/>
              </a:defRPr>
            </a:pPr>
            <a:r>
              <a:rPr>
                <a:ea typeface="SUIT"/>
              </a:rPr>
              <a:t>현재 캡처: 기본</a:t>
            </a:r>
          </a:p>
          <a:p>
            <a:pPr>
              <a:lnSpc>
                <a:spcPts val="1495"/>
              </a:lnSpc>
              <a:spcAft>
                <a:spcPts val="0"/>
              </a:spcAft>
              <a:defRPr sz="1150" b="0">
                <a:solidFill>
                  <a:srgbClr val="19201D"/>
                </a:solidFill>
                <a:latin typeface="SUIT"/>
              </a:defRPr>
            </a:pPr>
            <a:r>
              <a:rPr>
                <a:ea typeface="SUIT"/>
              </a:rPr>
              <a:t>구현 상태: 조회 중 · 조건에 맞는 자료 없음 · 영역 오류</a:t>
            </a:r>
          </a:p>
          <a:p>
            <a:pPr>
              <a:lnSpc>
                <a:spcPts val="1495"/>
              </a:lnSpc>
              <a:spcAft>
                <a:spcPts val="0"/>
              </a:spcAft>
              <a:defRPr sz="1150" b="0">
                <a:solidFill>
                  <a:srgbClr val="19201D"/>
                </a:solidFill>
                <a:latin typeface="SUIT"/>
              </a:defRPr>
            </a:pPr>
            <a:r>
              <a:rPr>
                <a:ea typeface="SUIT"/>
              </a:rPr>
              <a:t>관리자 세션 없음·만료 → 로그인</a:t>
            </a:r>
          </a:p>
          <a:p>
            <a:pPr>
              <a:lnSpc>
                <a:spcPts val="1495"/>
              </a:lnSpc>
              <a:spcAft>
                <a:spcPts val="0"/>
              </a:spcAft>
              <a:defRPr sz="1150" b="0">
                <a:solidFill>
                  <a:srgbClr val="19201D"/>
                </a:solidFill>
                <a:latin typeface="SUIT"/>
              </a:defRPr>
            </a:pPr>
            <a:r>
              <a:rPr>
                <a:ea typeface="SUIT"/>
              </a:rPr>
              <a:t>코드 근거: admin/pages/audit.tsx · admin/session.tsx</a:t>
            </a:r>
          </a:p>
          <a:p>
            <a:pPr>
              <a:lnSpc>
                <a:spcPts val="1495"/>
              </a:lnSpc>
              <a:spcAft>
                <a:spcPts val="0"/>
              </a:spcAft>
              <a:defRPr sz="1150" b="0">
                <a:solidFill>
                  <a:srgbClr val="19201D"/>
                </a:solidFill>
                <a:latin typeface="SUIT"/>
              </a:defRPr>
            </a:pPr>
          </a:p>
        </p:txBody>
      </p:sp>
      <p:sp>
        <p:nvSpPr>
          <p:cNvPr id="23" name="TextBox 22"/>
          <p:cNvSpPr txBox="1"/>
          <p:nvPr/>
        </p:nvSpPr>
        <p:spPr>
          <a:xfrm>
            <a:off x="10561320" y="4252849"/>
            <a:ext cx="3703320" cy="210312"/>
          </a:xfrm>
          <a:prstGeom prst="rect">
            <a:avLst/>
          </a:prstGeom>
          <a:noFill/>
        </p:spPr>
        <p:txBody>
          <a:bodyPr wrap="square" lIns="27432" rIns="27432" tIns="27432" bIns="0">
            <a:spAutoFit/>
          </a:bodyPr>
          <a:lstStyle/>
          <a:p>
            <a:pPr>
              <a:lnSpc>
                <a:spcPct val="100000"/>
              </a:lnSpc>
              <a:spcAft>
                <a:spcPts val="0"/>
              </a:spcAft>
              <a:defRPr sz="1350" b="1">
                <a:solidFill>
                  <a:srgbClr val="0A5C48"/>
                </a:solidFill>
                <a:latin typeface="SUIT"/>
              </a:defRPr>
            </a:pPr>
            <a:r>
              <a:rPr>
                <a:ea typeface="SUIT"/>
              </a:rPr>
              <a:t>명세</a:t>
            </a:r>
          </a:p>
        </p:txBody>
      </p:sp>
      <p:sp>
        <p:nvSpPr>
          <p:cNvPr id="24" name="TextBox 23"/>
          <p:cNvSpPr txBox="1"/>
          <p:nvPr/>
        </p:nvSpPr>
        <p:spPr>
          <a:xfrm>
            <a:off x="10561320" y="4499737"/>
            <a:ext cx="3703320" cy="297815"/>
          </a:xfrm>
          <a:prstGeom prst="rect">
            <a:avLst/>
          </a:prstGeom>
          <a:noFill/>
        </p:spPr>
        <p:txBody>
          <a:bodyPr wrap="square" lIns="27432" rIns="27432" tIns="27432" bIns="0">
            <a:spAutoFit/>
          </a:bodyPr>
          <a:lstStyle/>
          <a:p>
            <a:pPr>
              <a:lnSpc>
                <a:spcPts val="1625"/>
              </a:lnSpc>
              <a:spcAft>
                <a:spcPts val="0"/>
              </a:spcAft>
              <a:defRPr sz="1250" b="0">
                <a:solidFill>
                  <a:srgbClr val="19201D"/>
                </a:solidFill>
                <a:latin typeface="SUIT"/>
              </a:defRPr>
            </a:pPr>
            <a:r>
              <a:rPr>
                <a:ea typeface="SUIT"/>
              </a:rPr>
              <a:t>NFS008 / 요구 61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APP-EVIDENCE   근거·원문 접근 상태 매트릭스</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design-direction.md §5.5. 전 상태 실측 아님 · FS024·FS050-01·FS043</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70</a:t>
            </a:r>
          </a:p>
        </p:txBody>
      </p:sp>
      <p:sp>
        <p:nvSpPr>
          <p:cNvPr id="7" name="TextBox 6"/>
          <p:cNvSpPr txBox="1"/>
          <p:nvPr/>
        </p:nvSpPr>
        <p:spPr>
          <a:xfrm>
            <a:off x="594360" y="1508760"/>
            <a:ext cx="29718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상태</a:t>
            </a:r>
          </a:p>
        </p:txBody>
      </p:sp>
      <p:sp>
        <p:nvSpPr>
          <p:cNvPr id="8" name="TextBox 7"/>
          <p:cNvSpPr txBox="1"/>
          <p:nvPr/>
        </p:nvSpPr>
        <p:spPr>
          <a:xfrm>
            <a:off x="3566160" y="1508760"/>
            <a:ext cx="562356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화면 표시</a:t>
            </a:r>
          </a:p>
        </p:txBody>
      </p:sp>
      <p:sp>
        <p:nvSpPr>
          <p:cNvPr id="9" name="TextBox 8"/>
          <p:cNvSpPr txBox="1"/>
          <p:nvPr/>
        </p:nvSpPr>
        <p:spPr>
          <a:xfrm>
            <a:off x="9189720" y="1508760"/>
            <a:ext cx="48006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다음 행동</a:t>
            </a:r>
          </a:p>
        </p:txBody>
      </p:sp>
      <p:sp>
        <p:nvSpPr>
          <p:cNvPr id="10" name="TextBox 9"/>
          <p:cNvSpPr txBox="1"/>
          <p:nvPr/>
        </p:nvSpPr>
        <p:spPr>
          <a:xfrm>
            <a:off x="594360" y="2075688"/>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 링크 있음</a:t>
            </a:r>
          </a:p>
        </p:txBody>
      </p:sp>
      <p:sp>
        <p:nvSpPr>
          <p:cNvPr id="11" name="TextBox 10"/>
          <p:cNvSpPr txBox="1"/>
          <p:nvPr/>
        </p:nvSpPr>
        <p:spPr>
          <a:xfrm>
            <a:off x="3566160" y="2075688"/>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인용·출처 + 원문 링크</a:t>
            </a:r>
          </a:p>
        </p:txBody>
      </p:sp>
      <p:sp>
        <p:nvSpPr>
          <p:cNvPr id="12" name="TextBox 11"/>
          <p:cNvSpPr txBox="1"/>
          <p:nvPr/>
        </p:nvSpPr>
        <p:spPr>
          <a:xfrm>
            <a:off x="9189720" y="2075688"/>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새 창. 기존 패널·대화 유지</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 링크 없음</a:t>
            </a:r>
          </a:p>
        </p:txBody>
      </p:sp>
      <p:sp>
        <p:nvSpPr>
          <p:cNvPr id="15" name="TextBox 14"/>
          <p:cNvSpPr txBox="1"/>
          <p:nvPr/>
        </p:nvSpPr>
        <p:spPr>
          <a:xfrm>
            <a:off x="3566160" y="2779776"/>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원문을 제공하지 않는 자료입니다</a:t>
            </a:r>
          </a:p>
        </p:txBody>
      </p:sp>
      <p:sp>
        <p:nvSpPr>
          <p:cNvPr id="16" name="TextBox 15"/>
          <p:cNvSpPr txBox="1"/>
          <p:nvPr/>
        </p:nvSpPr>
        <p:spPr>
          <a:xfrm>
            <a:off x="9189720" y="2779776"/>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인용·출처 유지</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원문 접근 실패</a:t>
            </a:r>
          </a:p>
        </p:txBody>
      </p:sp>
      <p:sp>
        <p:nvSpPr>
          <p:cNvPr id="19" name="TextBox 18"/>
          <p:cNvSpPr txBox="1"/>
          <p:nvPr/>
        </p:nvSpPr>
        <p:spPr>
          <a:xfrm>
            <a:off x="3566160" y="3483864"/>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앱이 외부 사이트 접근을 검사하지 않음</a:t>
            </a:r>
          </a:p>
        </p:txBody>
      </p:sp>
      <p:sp>
        <p:nvSpPr>
          <p:cNvPr id="20" name="TextBox 19"/>
          <p:cNvSpPr txBox="1"/>
          <p:nvPr/>
        </p:nvSpPr>
        <p:spPr>
          <a:xfrm>
            <a:off x="9189720" y="3483864"/>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외부 사이트에서 처리. 앱 오류 만들지 않음</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연결 자료 0건</a:t>
            </a:r>
          </a:p>
        </p:txBody>
      </p:sp>
      <p:sp>
        <p:nvSpPr>
          <p:cNvPr id="23" name="TextBox 22"/>
          <p:cNvSpPr txBox="1"/>
          <p:nvPr/>
        </p:nvSpPr>
        <p:spPr>
          <a:xfrm>
            <a:off x="3566160" y="4187952"/>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근거 없음. 근거 버튼 생략</a:t>
            </a:r>
          </a:p>
        </p:txBody>
      </p:sp>
      <p:sp>
        <p:nvSpPr>
          <p:cNvPr id="24" name="TextBox 23"/>
          <p:cNvSpPr txBox="1"/>
          <p:nvPr/>
        </p:nvSpPr>
        <p:spPr>
          <a:xfrm>
            <a:off x="9189720" y="4187952"/>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빈 상태, 오류 아님</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근거 조회 일시 실패</a:t>
            </a:r>
          </a:p>
        </p:txBody>
      </p:sp>
      <p:sp>
        <p:nvSpPr>
          <p:cNvPr id="27" name="TextBox 26"/>
          <p:cNvSpPr txBox="1"/>
          <p:nvPr/>
        </p:nvSpPr>
        <p:spPr>
          <a:xfrm>
            <a:off x="3566160" y="4892040"/>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받은 근거 유지 + 실패 건수</a:t>
            </a:r>
          </a:p>
        </p:txBody>
      </p:sp>
      <p:sp>
        <p:nvSpPr>
          <p:cNvPr id="28" name="TextBox 27"/>
          <p:cNvSpPr txBox="1"/>
          <p:nvPr/>
        </p:nvSpPr>
        <p:spPr>
          <a:xfrm>
            <a:off x="9189720" y="4892040"/>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실패한 근거만 다시 시도</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삭제·비공개·권한 없음</a:t>
            </a:r>
          </a:p>
        </p:txBody>
      </p:sp>
      <p:sp>
        <p:nvSpPr>
          <p:cNvPr id="31" name="TextBox 30"/>
          <p:cNvSpPr txBox="1"/>
          <p:nvPr/>
        </p:nvSpPr>
        <p:spPr>
          <a:xfrm>
            <a:off x="3566160" y="5596127"/>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제공 불가. 보호 내용 표시 안 함</a:t>
            </a:r>
          </a:p>
        </p:txBody>
      </p:sp>
      <p:sp>
        <p:nvSpPr>
          <p:cNvPr id="32" name="TextBox 31"/>
          <p:cNvSpPr txBox="1"/>
          <p:nvPr/>
        </p:nvSpPr>
        <p:spPr>
          <a:xfrm>
            <a:off x="9189720" y="5596127"/>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404·403은 재시도 없음</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6300215"/>
            <a:ext cx="28346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이전 대상 늦은 응답</a:t>
            </a:r>
          </a:p>
        </p:txBody>
      </p:sp>
      <p:sp>
        <p:nvSpPr>
          <p:cNvPr id="35" name="TextBox 34"/>
          <p:cNvSpPr txBox="1"/>
          <p:nvPr/>
        </p:nvSpPr>
        <p:spPr>
          <a:xfrm>
            <a:off x="3566160" y="6300215"/>
            <a:ext cx="548640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현재 대상에 섞이지 않음</a:t>
            </a:r>
          </a:p>
        </p:txBody>
      </p:sp>
      <p:sp>
        <p:nvSpPr>
          <p:cNvPr id="36" name="TextBox 35"/>
          <p:cNvSpPr txBox="1"/>
          <p:nvPr/>
        </p:nvSpPr>
        <p:spPr>
          <a:xfrm>
            <a:off x="9189720" y="6300215"/>
            <a:ext cx="46634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대상별 조회 칸 분리</a:t>
            </a:r>
          </a:p>
        </p:txBody>
      </p:sp>
      <p:cxnSp>
        <p:nvCxnSpPr>
          <p:cNvPr id="37" name="Connector 36"/>
          <p:cNvCxnSpPr/>
          <p:nvPr/>
        </p:nvCxnSpPr>
        <p:spPr>
          <a:xfrm>
            <a:off x="594360" y="6986015"/>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APP-ID   팀 v1.7 ↔ v2.1 화면 ID 대응</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팀 원문 screen-plan-v1.7.txt · 본문과 같은 화면 흐름 순서</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71</a:t>
            </a:r>
          </a:p>
        </p:txBody>
      </p:sp>
      <p:sp>
        <p:nvSpPr>
          <p:cNvPr id="7" name="TextBox 6"/>
          <p:cNvSpPr txBox="1"/>
          <p:nvPr/>
        </p:nvSpPr>
        <p:spPr>
          <a:xfrm>
            <a:off x="594360" y="1508760"/>
            <a:ext cx="420624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팀 v1.7</a:t>
            </a:r>
          </a:p>
        </p:txBody>
      </p:sp>
      <p:sp>
        <p:nvSpPr>
          <p:cNvPr id="8" name="TextBox 7"/>
          <p:cNvSpPr txBox="1"/>
          <p:nvPr/>
        </p:nvSpPr>
        <p:spPr>
          <a:xfrm>
            <a:off x="4800600" y="1508760"/>
            <a:ext cx="484632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프로토타입 v2.1</a:t>
            </a:r>
          </a:p>
        </p:txBody>
      </p:sp>
      <p:sp>
        <p:nvSpPr>
          <p:cNvPr id="9" name="TextBox 8"/>
          <p:cNvSpPr txBox="1"/>
          <p:nvPr/>
        </p:nvSpPr>
        <p:spPr>
          <a:xfrm>
            <a:off x="9646920" y="1508760"/>
            <a:ext cx="43434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판정·차이</a:t>
            </a:r>
          </a:p>
        </p:txBody>
      </p:sp>
      <p:sp>
        <p:nvSpPr>
          <p:cNvPr id="10" name="TextBox 9"/>
          <p:cNvSpPr txBox="1"/>
          <p:nvPr/>
        </p:nvSpPr>
        <p:spPr>
          <a:xfrm>
            <a:off x="594360" y="207568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 필터</a:t>
            </a:r>
          </a:p>
        </p:txBody>
      </p:sp>
      <p:sp>
        <p:nvSpPr>
          <p:cNvPr id="11" name="TextBox 10"/>
          <p:cNvSpPr txBox="1"/>
          <p:nvPr/>
        </p:nvSpPr>
        <p:spPr>
          <a:xfrm>
            <a:off x="4800600" y="207568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D-GRP-01 · D-GRP-01b</a:t>
            </a:r>
          </a:p>
        </p:txBody>
      </p:sp>
      <p:sp>
        <p:nvSpPr>
          <p:cNvPr id="12" name="TextBox 11"/>
          <p:cNvSpPr txBox="1"/>
          <p:nvPr/>
        </p:nvSpPr>
        <p:spPr>
          <a:xfrm>
            <a:off x="9646920" y="207568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두 모드와 개인화 내부 필터로 분리</a:t>
            </a:r>
          </a:p>
        </p:txBody>
      </p:sp>
      <p:cxnSp>
        <p:nvCxnSpPr>
          <p:cNvPr id="13" name="Connector 12"/>
          <p:cNvCxnSpPr/>
          <p:nvPr/>
        </p:nvCxnSpPr>
        <p:spPr>
          <a:xfrm>
            <a:off x="594360" y="26314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64972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D-GRP-02 동시 이슈</a:t>
            </a:r>
          </a:p>
        </p:txBody>
      </p:sp>
      <p:sp>
        <p:nvSpPr>
          <p:cNvPr id="15" name="TextBox 14"/>
          <p:cNvSpPr txBox="1"/>
          <p:nvPr/>
        </p:nvSpPr>
        <p:spPr>
          <a:xfrm>
            <a:off x="4800600" y="264972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D-GRP-02 사건 패널</a:t>
            </a:r>
          </a:p>
        </p:txBody>
      </p:sp>
      <p:sp>
        <p:nvSpPr>
          <p:cNvPr id="16" name="TextBox 15"/>
          <p:cNvSpPr txBox="1"/>
          <p:nvPr/>
        </p:nvSpPr>
        <p:spPr>
          <a:xfrm>
            <a:off x="9646920" y="264972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명칭·단위 변경</a:t>
            </a:r>
          </a:p>
        </p:txBody>
      </p:sp>
      <p:cxnSp>
        <p:nvCxnSpPr>
          <p:cNvPr id="17" name="Connector 16"/>
          <p:cNvCxnSpPr/>
          <p:nvPr/>
        </p:nvCxnSpPr>
        <p:spPr>
          <a:xfrm>
            <a:off x="594360" y="32054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22376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 영향 경로</a:t>
            </a:r>
          </a:p>
        </p:txBody>
      </p:sp>
      <p:sp>
        <p:nvSpPr>
          <p:cNvPr id="19" name="TextBox 18"/>
          <p:cNvSpPr txBox="1"/>
          <p:nvPr/>
        </p:nvSpPr>
        <p:spPr>
          <a:xfrm>
            <a:off x="4800600" y="322376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 기업 패널</a:t>
            </a:r>
          </a:p>
        </p:txBody>
      </p:sp>
      <p:sp>
        <p:nvSpPr>
          <p:cNvPr id="20" name="TextBox 19"/>
          <p:cNvSpPr txBox="1"/>
          <p:nvPr/>
        </p:nvSpPr>
        <p:spPr>
          <a:xfrm>
            <a:off x="9646920" y="322376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정보 패널과 경로 역할 분리</a:t>
            </a:r>
          </a:p>
        </p:txBody>
      </p:sp>
      <p:cxnSp>
        <p:nvCxnSpPr>
          <p:cNvPr id="21" name="Connector 20"/>
          <p:cNvCxnSpPr/>
          <p:nvPr/>
        </p:nvCxnSpPr>
        <p:spPr>
          <a:xfrm>
            <a:off x="594360" y="377952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379780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 관계 설명 · D-GRP-06 간선 모달</a:t>
            </a:r>
          </a:p>
        </p:txBody>
      </p:sp>
      <p:sp>
        <p:nvSpPr>
          <p:cNvPr id="23" name="TextBox 22"/>
          <p:cNvSpPr txBox="1"/>
          <p:nvPr/>
        </p:nvSpPr>
        <p:spPr>
          <a:xfrm>
            <a:off x="4800600" y="379780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D-GRP-04 연결선 상세</a:t>
            </a:r>
          </a:p>
        </p:txBody>
      </p:sp>
      <p:sp>
        <p:nvSpPr>
          <p:cNvPr id="24" name="TextBox 23"/>
          <p:cNvSpPr txBox="1"/>
          <p:nvPr/>
        </p:nvSpPr>
        <p:spPr>
          <a:xfrm>
            <a:off x="9646920" y="379780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사건 공유·후속 사건 상세로 한정</a:t>
            </a:r>
          </a:p>
        </p:txBody>
      </p:sp>
      <p:cxnSp>
        <p:nvCxnSpPr>
          <p:cNvPr id="25" name="Connector 24"/>
          <p:cNvCxnSpPr/>
          <p:nvPr/>
        </p:nvCxnSpPr>
        <p:spPr>
          <a:xfrm>
            <a:off x="594360" y="43535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37184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D-GRP-04 근거</a:t>
            </a:r>
          </a:p>
        </p:txBody>
      </p:sp>
      <p:sp>
        <p:nvSpPr>
          <p:cNvPr id="27" name="TextBox 26"/>
          <p:cNvSpPr txBox="1"/>
          <p:nvPr/>
        </p:nvSpPr>
        <p:spPr>
          <a:xfrm>
            <a:off x="4800600" y="437184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D-GRP-05 근거 창</a:t>
            </a:r>
          </a:p>
        </p:txBody>
      </p:sp>
      <p:sp>
        <p:nvSpPr>
          <p:cNvPr id="28" name="TextBox 27"/>
          <p:cNvSpPr txBox="1"/>
          <p:nvPr/>
        </p:nvSpPr>
        <p:spPr>
          <a:xfrm>
            <a:off x="9646920" y="437184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ID 이동</a:t>
            </a:r>
          </a:p>
        </p:txBody>
      </p:sp>
      <p:cxnSp>
        <p:nvCxnSpPr>
          <p:cNvPr id="29" name="Connector 28"/>
          <p:cNvCxnSpPr/>
          <p:nvPr/>
        </p:nvCxnSpPr>
        <p:spPr>
          <a:xfrm>
            <a:off x="594360" y="492760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494588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D-GRP-03 영향 경로 · D-GRP-06 간선 모달</a:t>
            </a:r>
          </a:p>
        </p:txBody>
      </p:sp>
      <p:sp>
        <p:nvSpPr>
          <p:cNvPr id="31" name="TextBox 30"/>
          <p:cNvSpPr txBox="1"/>
          <p:nvPr/>
        </p:nvSpPr>
        <p:spPr>
          <a:xfrm>
            <a:off x="4800600" y="494588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D-GRP-06 영향 경로</a:t>
            </a:r>
          </a:p>
        </p:txBody>
      </p:sp>
      <p:sp>
        <p:nvSpPr>
          <p:cNvPr id="32" name="TextBox 31"/>
          <p:cNvSpPr txBox="1"/>
          <p:nvPr/>
        </p:nvSpPr>
        <p:spPr>
          <a:xfrm>
            <a:off x="9646920" y="494588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 패널의 관련 사건에서 진입</a:t>
            </a:r>
          </a:p>
        </p:txBody>
      </p:sp>
      <p:cxnSp>
        <p:nvCxnSpPr>
          <p:cNvPr id="33" name="Connector 32"/>
          <p:cNvCxnSpPr/>
          <p:nvPr/>
        </p:nvCxnSpPr>
        <p:spPr>
          <a:xfrm>
            <a:off x="594360" y="55016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94360" y="551992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D-BRF-03 장 마감 보드</a:t>
            </a:r>
          </a:p>
        </p:txBody>
      </p:sp>
      <p:sp>
        <p:nvSpPr>
          <p:cNvPr id="35" name="TextBox 34"/>
          <p:cNvSpPr txBox="1"/>
          <p:nvPr/>
        </p:nvSpPr>
        <p:spPr>
          <a:xfrm>
            <a:off x="4800600" y="551992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D-BRF-02 퇴근 회차 비교</a:t>
            </a:r>
          </a:p>
        </p:txBody>
      </p:sp>
      <p:sp>
        <p:nvSpPr>
          <p:cNvPr id="36" name="TextBox 35"/>
          <p:cNvSpPr txBox="1"/>
          <p:nvPr/>
        </p:nvSpPr>
        <p:spPr>
          <a:xfrm>
            <a:off x="9646920" y="551992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독립 화면 없이 흡수</a:t>
            </a:r>
          </a:p>
        </p:txBody>
      </p:sp>
      <p:cxnSp>
        <p:nvCxnSpPr>
          <p:cNvPr id="37" name="Connector 36"/>
          <p:cNvCxnSpPr/>
          <p:nvPr/>
        </p:nvCxnSpPr>
        <p:spPr>
          <a:xfrm>
            <a:off x="594360" y="607568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09396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지도 안 목록 보기</a:t>
            </a:r>
          </a:p>
        </p:txBody>
      </p:sp>
      <p:sp>
        <p:nvSpPr>
          <p:cNvPr id="39" name="TextBox 38"/>
          <p:cNvSpPr txBox="1"/>
          <p:nvPr/>
        </p:nvSpPr>
        <p:spPr>
          <a:xfrm>
            <a:off x="4800600" y="609396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D-STK-01 · M-STK-01</a:t>
            </a:r>
          </a:p>
        </p:txBody>
      </p:sp>
      <p:sp>
        <p:nvSpPr>
          <p:cNvPr id="40" name="TextBox 39"/>
          <p:cNvSpPr txBox="1"/>
          <p:nvPr/>
        </p:nvSpPr>
        <p:spPr>
          <a:xfrm>
            <a:off x="9646920" y="609396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독립 종목 메뉴 /companies로 분리</a:t>
            </a:r>
          </a:p>
        </p:txBody>
      </p:sp>
      <p:cxnSp>
        <p:nvCxnSpPr>
          <p:cNvPr id="41" name="Connector 40"/>
          <p:cNvCxnSpPr/>
          <p:nvPr/>
        </p:nvCxnSpPr>
        <p:spPr>
          <a:xfrm>
            <a:off x="594360" y="664972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94360" y="6668008"/>
            <a:ext cx="406907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A-ADM-01~05</a:t>
            </a:r>
          </a:p>
        </p:txBody>
      </p:sp>
      <p:sp>
        <p:nvSpPr>
          <p:cNvPr id="43" name="TextBox 42"/>
          <p:cNvSpPr txBox="1"/>
          <p:nvPr/>
        </p:nvSpPr>
        <p:spPr>
          <a:xfrm>
            <a:off x="4800600" y="6668008"/>
            <a:ext cx="4709159"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관리자 로그인 → 최종 5개 묶음</a:t>
            </a:r>
          </a:p>
        </p:txBody>
      </p:sp>
      <p:sp>
        <p:nvSpPr>
          <p:cNvPr id="44" name="TextBox 43"/>
          <p:cNvSpPr txBox="1"/>
          <p:nvPr/>
        </p:nvSpPr>
        <p:spPr>
          <a:xfrm>
            <a:off x="9646920" y="6668008"/>
            <a:ext cx="4206240" cy="574040"/>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42쪽 기준, 28쪽의 이전 분류는 승계하지 않음</a:t>
            </a:r>
          </a:p>
        </p:txBody>
      </p:sp>
      <p:cxnSp>
        <p:nvCxnSpPr>
          <p:cNvPr id="45" name="Connector 44"/>
          <p:cNvCxnSpPr/>
          <p:nvPr/>
        </p:nvCxnSpPr>
        <p:spPr>
          <a:xfrm>
            <a:off x="594360" y="722376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APP-VERDICT-01   팀 v1.7 판정표 · 채택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작성 명세 팀 v1.7 확정 판정 · review.md Main 정정</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72</a:t>
            </a:r>
          </a:p>
        </p:txBody>
      </p:sp>
      <p:sp>
        <p:nvSpPr>
          <p:cNvPr id="7" name="TextBox 6"/>
          <p:cNvSpPr txBox="1"/>
          <p:nvPr/>
        </p:nvSpPr>
        <p:spPr>
          <a:xfrm>
            <a:off x="594360" y="1508760"/>
            <a:ext cx="42976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팀 항목</a:t>
            </a:r>
          </a:p>
        </p:txBody>
      </p:sp>
      <p:sp>
        <p:nvSpPr>
          <p:cNvPr id="8" name="TextBox 7"/>
          <p:cNvSpPr txBox="1"/>
          <p:nvPr/>
        </p:nvSpPr>
        <p:spPr>
          <a:xfrm>
            <a:off x="4892040" y="1508760"/>
            <a:ext cx="38862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v2.0 적용</a:t>
            </a:r>
          </a:p>
        </p:txBody>
      </p:sp>
      <p:sp>
        <p:nvSpPr>
          <p:cNvPr id="9" name="TextBox 8"/>
          <p:cNvSpPr txBox="1"/>
          <p:nvPr/>
        </p:nvSpPr>
        <p:spPr>
          <a:xfrm>
            <a:off x="8778240" y="1508760"/>
            <a:ext cx="52120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근거</a:t>
            </a:r>
          </a:p>
        </p:txBody>
      </p:sp>
      <p:sp>
        <p:nvSpPr>
          <p:cNvPr id="10" name="TextBox 9"/>
          <p:cNvSpPr txBox="1"/>
          <p:nvPr/>
        </p:nvSpPr>
        <p:spPr>
          <a:xfrm>
            <a:off x="594360" y="2075688"/>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D-BRF-03 회차 비교</a:t>
            </a:r>
          </a:p>
        </p:txBody>
      </p:sp>
      <p:sp>
        <p:nvSpPr>
          <p:cNvPr id="11" name="TextBox 10"/>
          <p:cNvSpPr txBox="1"/>
          <p:nvPr/>
        </p:nvSpPr>
        <p:spPr>
          <a:xfrm>
            <a:off x="4892040" y="2075688"/>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D-BRF-02에 흡수</a:t>
            </a:r>
          </a:p>
        </p:txBody>
      </p:sp>
      <p:sp>
        <p:nvSpPr>
          <p:cNvPr id="12" name="TextBox 11"/>
          <p:cNvSpPr txBox="1"/>
          <p:nvPr/>
        </p:nvSpPr>
        <p:spPr>
          <a:xfrm>
            <a:off x="8778240" y="2075688"/>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공통 발행본을 날짜·출근/퇴근으로 비교</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모바일 아침 이후 바뀐 내용</a:t>
            </a:r>
          </a:p>
        </p:txBody>
      </p:sp>
      <p:sp>
        <p:nvSpPr>
          <p:cNvPr id="15" name="TextBox 14"/>
          <p:cNvSpPr txBox="1"/>
          <p:nvPr/>
        </p:nvSpPr>
        <p:spPr>
          <a:xfrm>
            <a:off x="4892040" y="2779776"/>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M-BRF-01 · D-BRF-02</a:t>
            </a:r>
          </a:p>
        </p:txBody>
      </p:sp>
      <p:sp>
        <p:nvSpPr>
          <p:cNvPr id="16" name="TextBox 15"/>
          <p:cNvSpPr txBox="1"/>
          <p:nvPr/>
        </p:nvSpPr>
        <p:spPr>
          <a:xfrm>
            <a:off x="8778240" y="2779776"/>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동일 날짜 출근/퇴근 이슈 ID 비교</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근거·원문 상태 매트릭스</a:t>
            </a:r>
          </a:p>
        </p:txBody>
      </p:sp>
      <p:sp>
        <p:nvSpPr>
          <p:cNvPr id="19" name="TextBox 18"/>
          <p:cNvSpPr txBox="1"/>
          <p:nvPr/>
        </p:nvSpPr>
        <p:spPr>
          <a:xfrm>
            <a:off x="4892040" y="3483864"/>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APP-EVIDENCE</a:t>
            </a:r>
          </a:p>
        </p:txBody>
      </p:sp>
      <p:sp>
        <p:nvSpPr>
          <p:cNvPr id="20" name="TextBox 19"/>
          <p:cNvSpPr txBox="1"/>
          <p:nvPr/>
        </p:nvSpPr>
        <p:spPr>
          <a:xfrm>
            <a:off x="8778240" y="3483864"/>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일시 실패와 404·403 제공 불가 분리</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인과관계 아님 고지</a:t>
            </a:r>
          </a:p>
        </p:txBody>
      </p:sp>
      <p:sp>
        <p:nvSpPr>
          <p:cNvPr id="23" name="TextBox 22"/>
          <p:cNvSpPr txBox="1"/>
          <p:nvPr/>
        </p:nvSpPr>
        <p:spPr>
          <a:xfrm>
            <a:off x="4892040" y="4187952"/>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D-COM-01b</a:t>
            </a:r>
          </a:p>
        </p:txBody>
      </p:sp>
      <p:sp>
        <p:nvSpPr>
          <p:cNvPr id="24" name="TextBox 23"/>
          <p:cNvSpPr txBox="1"/>
          <p:nvPr/>
        </p:nvSpPr>
        <p:spPr>
          <a:xfrm>
            <a:off x="8778240" y="4187952"/>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명세 FS040 · 10-03 시점 겹침 고지</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모바일 하단 AI 탭</a:t>
            </a:r>
          </a:p>
        </p:txBody>
      </p:sp>
      <p:sp>
        <p:nvSpPr>
          <p:cNvPr id="27" name="TextBox 26"/>
          <p:cNvSpPr txBox="1"/>
          <p:nvPr/>
        </p:nvSpPr>
        <p:spPr>
          <a:xfrm>
            <a:off x="4892040" y="4892040"/>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M-AI-01</a:t>
            </a:r>
          </a:p>
        </p:txBody>
      </p:sp>
      <p:sp>
        <p:nvSpPr>
          <p:cNvPr id="28" name="TextBox 27"/>
          <p:cNvSpPr txBox="1"/>
          <p:nvPr/>
        </p:nvSpPr>
        <p:spPr>
          <a:xfrm>
            <a:off x="8778240" y="4892040"/>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새 화면 없이 기존 질문 창 열기</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권한표·관리자 감사 형식</a:t>
            </a:r>
          </a:p>
        </p:txBody>
      </p:sp>
      <p:sp>
        <p:nvSpPr>
          <p:cNvPr id="31" name="TextBox 30"/>
          <p:cNvSpPr txBox="1"/>
          <p:nvPr/>
        </p:nvSpPr>
        <p:spPr>
          <a:xfrm>
            <a:off x="4892040" y="5596127"/>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AUTHORITY · A-ADM-05b</a:t>
            </a:r>
          </a:p>
        </p:txBody>
      </p:sp>
      <p:sp>
        <p:nvSpPr>
          <p:cNvPr id="32" name="TextBox 31"/>
          <p:cNvSpPr txBox="1"/>
          <p:nvPr/>
        </p:nvSpPr>
        <p:spPr>
          <a:xfrm>
            <a:off x="8778240" y="5596127"/>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권한과 변경 기록을 화면에서 구분</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APP-VERDICT-02   팀 v1.7 판정표 · 불채택</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작성 명세 팀 v1.7 확정 판정 · review.md Main 정정</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73</a:t>
            </a:r>
          </a:p>
        </p:txBody>
      </p:sp>
      <p:sp>
        <p:nvSpPr>
          <p:cNvPr id="7" name="TextBox 6"/>
          <p:cNvSpPr txBox="1"/>
          <p:nvPr/>
        </p:nvSpPr>
        <p:spPr>
          <a:xfrm>
            <a:off x="594360" y="1508760"/>
            <a:ext cx="42976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팀 항목</a:t>
            </a:r>
          </a:p>
        </p:txBody>
      </p:sp>
      <p:sp>
        <p:nvSpPr>
          <p:cNvPr id="8" name="TextBox 7"/>
          <p:cNvSpPr txBox="1"/>
          <p:nvPr/>
        </p:nvSpPr>
        <p:spPr>
          <a:xfrm>
            <a:off x="4892040" y="1508760"/>
            <a:ext cx="38862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v2.0 판정</a:t>
            </a:r>
          </a:p>
        </p:txBody>
      </p:sp>
      <p:sp>
        <p:nvSpPr>
          <p:cNvPr id="9" name="TextBox 8"/>
          <p:cNvSpPr txBox="1"/>
          <p:nvPr/>
        </p:nvSpPr>
        <p:spPr>
          <a:xfrm>
            <a:off x="8778240" y="1508760"/>
            <a:ext cx="52120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근거</a:t>
            </a:r>
          </a:p>
        </p:txBody>
      </p:sp>
      <p:sp>
        <p:nvSpPr>
          <p:cNvPr id="10" name="TextBox 9"/>
          <p:cNvSpPr txBox="1"/>
          <p:nvPr/>
        </p:nvSpPr>
        <p:spPr>
          <a:xfrm>
            <a:off x="594360" y="2075688"/>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이슈–기업/기업 간 간선 모달 D-GRP-06</a:t>
            </a:r>
          </a:p>
        </p:txBody>
      </p:sp>
      <p:sp>
        <p:nvSpPr>
          <p:cNvPr id="11" name="TextBox 10"/>
          <p:cNvSpPr txBox="1"/>
          <p:nvPr/>
        </p:nvSpPr>
        <p:spPr>
          <a:xfrm>
            <a:off x="4892040" y="2075688"/>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모달 대신 영향 경로·연결선 패널</a:t>
            </a:r>
          </a:p>
        </p:txBody>
      </p:sp>
      <p:sp>
        <p:nvSpPr>
          <p:cNvPr id="12" name="TextBox 11"/>
          <p:cNvSpPr txBox="1"/>
          <p:nvPr/>
        </p:nvSpPr>
        <p:spPr>
          <a:xfrm>
            <a:off x="8778240" y="2075688"/>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FS022·D03. 사건–기업 선 클릭 제거</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외부 원인 10종·공급/경쟁 직결선</a:t>
            </a:r>
          </a:p>
        </p:txBody>
      </p:sp>
      <p:sp>
        <p:nvSpPr>
          <p:cNvPr id="15" name="TextBox 14"/>
          <p:cNvSpPr txBox="1"/>
          <p:nvPr/>
        </p:nvSpPr>
        <p:spPr>
          <a:xfrm>
            <a:off x="4892040" y="2779776"/>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기업·사건 두 노드와 실제 관계만</a:t>
            </a:r>
          </a:p>
        </p:txBody>
      </p:sp>
      <p:sp>
        <p:nvSpPr>
          <p:cNvPr id="16" name="TextBox 15"/>
          <p:cNvSpPr txBox="1"/>
          <p:nvPr/>
        </p:nvSpPr>
        <p:spPr>
          <a:xfrm>
            <a:off x="8778240" y="2779776"/>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값을 만드는 데이터 없음</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긍정 가능/부정 가능 배지</a:t>
            </a:r>
          </a:p>
        </p:txBody>
      </p:sp>
      <p:sp>
        <p:nvSpPr>
          <p:cNvPr id="19" name="TextBox 18"/>
          <p:cNvSpPr txBox="1"/>
          <p:nvPr/>
        </p:nvSpPr>
        <p:spPr>
          <a:xfrm>
            <a:off x="4892040" y="3483864"/>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방향 값 생기면 4분류 규격 적용</a:t>
            </a:r>
          </a:p>
        </p:txBody>
      </p:sp>
      <p:sp>
        <p:nvSpPr>
          <p:cNvPr id="20" name="TextBox 19"/>
          <p:cNvSpPr txBox="1"/>
          <p:nvPr/>
        </p:nvSpPr>
        <p:spPr>
          <a:xfrm>
            <a:off x="8778240" y="3483864"/>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명세는 방향을 요구하나 PoC 생산자 없음. 문구 미정</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모듈별 6색·카드 좌측 색 막대</a:t>
            </a:r>
          </a:p>
        </p:txBody>
      </p:sp>
      <p:sp>
        <p:nvSpPr>
          <p:cNvPr id="23" name="TextBox 22"/>
          <p:cNvSpPr txBox="1"/>
          <p:nvPr/>
        </p:nvSpPr>
        <p:spPr>
          <a:xfrm>
            <a:off x="4892040" y="4187952"/>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중성 회색 + 의미별 색</a:t>
            </a:r>
          </a:p>
        </p:txBody>
      </p:sp>
      <p:sp>
        <p:nvSpPr>
          <p:cNvPr id="24" name="TextBox 23"/>
          <p:cNvSpPr txBox="1"/>
          <p:nvPr/>
        </p:nvSpPr>
        <p:spPr>
          <a:xfrm>
            <a:off x="8778240" y="4187952"/>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브랜드 주 행동·선택, 모듈 ID·아이콘</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관심 최대 3개</a:t>
            </a:r>
          </a:p>
        </p:txBody>
      </p:sp>
      <p:sp>
        <p:nvSpPr>
          <p:cNvPr id="27" name="TextBox 26"/>
          <p:cNvSpPr txBox="1"/>
          <p:nvPr/>
        </p:nvSpPr>
        <p:spPr>
          <a:xfrm>
            <a:off x="4892040" y="4892040"/>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무제한·0개 허용</a:t>
            </a:r>
          </a:p>
        </p:txBody>
      </p:sp>
      <p:sp>
        <p:nvSpPr>
          <p:cNvPr id="28" name="TextBox 27"/>
          <p:cNvSpPr txBox="1"/>
          <p:nvPr/>
        </p:nvSpPr>
        <p:spPr>
          <a:xfrm>
            <a:off x="8778240" y="4892040"/>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9/30 결정·FS012·FS027</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41605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브리핑 08:00/18:00</a:t>
            </a:r>
          </a:p>
        </p:txBody>
      </p:sp>
      <p:sp>
        <p:nvSpPr>
          <p:cNvPr id="31" name="TextBox 30"/>
          <p:cNvSpPr txBox="1"/>
          <p:nvPr/>
        </p:nvSpPr>
        <p:spPr>
          <a:xfrm>
            <a:off x="4892040" y="5596127"/>
            <a:ext cx="3749039"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07:40/18:10 생성 시작</a:t>
            </a:r>
          </a:p>
        </p:txBody>
      </p:sp>
      <p:sp>
        <p:nvSpPr>
          <p:cNvPr id="32" name="TextBox 31"/>
          <p:cNvSpPr txBox="1"/>
          <p:nvPr/>
        </p:nvSpPr>
        <p:spPr>
          <a:xfrm>
            <a:off x="8778240" y="5596127"/>
            <a:ext cx="5074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10-01 명세 정본</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APP-POLICY-01   팀 확인 필요 · 관리자와 운영</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progress-2026-10-02.md §1. 여섯 항목은 확정 결정이 아니라 결정 요청이에요.</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74</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팀에 요청한 결정 1~3</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1. R1을 자동 검증 정책의 일부로 인정할지</a:t>
            </a:r>
          </a:p>
          <a:p>
            <a:pPr>
              <a:lnSpc>
                <a:spcPct val="112000"/>
              </a:lnSpc>
              <a:spcAft>
                <a:spcPts val="600"/>
              </a:spcAft>
              <a:defRPr sz="1800" b="0">
                <a:solidFill>
                  <a:srgbClr val="19201D"/>
                </a:solidFill>
                <a:latin typeface="SUIT"/>
              </a:defRPr>
            </a:pPr>
            <a:r>
              <a:rPr>
                <a:ea typeface="SUIT"/>
              </a:rPr>
              <a:t>역할이 확인되지 않은 후보를 역할 없이 공개해요.</a:t>
            </a:r>
          </a:p>
          <a:p>
            <a:pPr>
              <a:lnSpc>
                <a:spcPct val="112000"/>
              </a:lnSpc>
              <a:spcAft>
                <a:spcPts val="600"/>
              </a:spcAft>
              <a:defRPr sz="1800" b="0">
                <a:solidFill>
                  <a:srgbClr val="19201D"/>
                </a:solidFill>
                <a:latin typeface="SUIT"/>
              </a:defRPr>
            </a:pPr>
            <a:r>
              <a:rPr>
                <a:ea typeface="SUIT"/>
              </a:rPr>
              <a:t>2. 관리자 권한 등급·대화록 범위·마스킹</a:t>
            </a:r>
          </a:p>
          <a:p>
            <a:pPr>
              <a:lnSpc>
                <a:spcPct val="112000"/>
              </a:lnSpc>
              <a:spcAft>
                <a:spcPts val="600"/>
              </a:spcAft>
              <a:defRPr sz="1800" b="0">
                <a:solidFill>
                  <a:srgbClr val="19201D"/>
                </a:solidFill>
                <a:latin typeface="SUIT"/>
              </a:defRPr>
            </a:pPr>
            <a:r>
              <a:rPr>
                <a:ea typeface="SUIT"/>
              </a:rPr>
              <a:t>별도 열람 권한·목적·실패 차단은 남은 충돌이에요.</a:t>
            </a:r>
          </a:p>
          <a:p>
            <a:pPr>
              <a:lnSpc>
                <a:spcPct val="112000"/>
              </a:lnSpc>
              <a:spcAft>
                <a:spcPts val="600"/>
              </a:spcAft>
              <a:defRPr sz="1800" b="0">
                <a:solidFill>
                  <a:srgbClr val="19201D"/>
                </a:solidFill>
                <a:latin typeface="SUIT"/>
              </a:defRPr>
            </a:pPr>
            <a:r>
              <a:rPr>
                <a:ea typeface="SUIT"/>
              </a:rPr>
              <a:t>3. 관리자 허용 → 재검증 전환</a:t>
            </a:r>
          </a:p>
          <a:p>
            <a:pPr>
              <a:lnSpc>
                <a:spcPct val="112000"/>
              </a:lnSpc>
              <a:spcAft>
                <a:spcPts val="600"/>
              </a:spcAft>
              <a:defRPr sz="1800" b="0">
                <a:solidFill>
                  <a:srgbClr val="19201D"/>
                </a:solidFill>
                <a:latin typeface="SUIT"/>
              </a:defRPr>
            </a:pPr>
            <a:r>
              <a:rPr>
                <a:ea typeface="SUIT"/>
              </a:rPr>
              <a:t>현재 즉시 공개와 FS067-02가 충돌해요.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팀에 요청한 결정 4~6</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4. 운영 값: 로그인 실패 제한·재시도 범위·보존 기간</a:t>
            </a:r>
          </a:p>
          <a:p>
            <a:pPr>
              <a:lnSpc>
                <a:spcPct val="112000"/>
              </a:lnSpc>
              <a:spcAft>
                <a:spcPts val="600"/>
              </a:spcAft>
              <a:defRPr sz="1800" b="0">
                <a:solidFill>
                  <a:srgbClr val="19201D"/>
                </a:solidFill>
                <a:latin typeface="SUIT"/>
              </a:defRPr>
            </a:pPr>
            <a:r>
              <a:rPr>
                <a:ea typeface="SUIT"/>
              </a:rPr>
              <a:t>AI 재시도 3회·중단 120초는 프로토타입 기본값</a:t>
            </a:r>
          </a:p>
          <a:p>
            <a:pPr>
              <a:lnSpc>
                <a:spcPct val="112000"/>
              </a:lnSpc>
              <a:spcAft>
                <a:spcPts val="600"/>
              </a:spcAft>
              <a:defRPr sz="1800" b="0">
                <a:solidFill>
                  <a:srgbClr val="19201D"/>
                </a:solidFill>
                <a:latin typeface="SUIT"/>
              </a:defRPr>
            </a:pPr>
            <a:r>
              <a:rPr>
                <a:ea typeface="SUIT"/>
              </a:rPr>
              <a:t>5. 그래프 기본값: 사이드바·패널·원 최소 크기</a:t>
            </a:r>
          </a:p>
          <a:p>
            <a:pPr>
              <a:lnSpc>
                <a:spcPct val="112000"/>
              </a:lnSpc>
              <a:spcAft>
                <a:spcPts val="600"/>
              </a:spcAft>
              <a:defRPr sz="1800" b="0">
                <a:solidFill>
                  <a:srgbClr val="19201D"/>
                </a:solidFill>
                <a:latin typeface="SUIT"/>
              </a:defRPr>
            </a:pPr>
            <a:r>
              <a:rPr>
                <a:ea typeface="SUIT"/>
              </a:rPr>
              <a:t>영향 경로라는 이름의 오해 가능성 확인</a:t>
            </a:r>
          </a:p>
          <a:p>
            <a:pPr>
              <a:lnSpc>
                <a:spcPct val="112000"/>
              </a:lnSpc>
              <a:spcAft>
                <a:spcPts val="600"/>
              </a:spcAft>
              <a:defRPr sz="1800" b="0">
                <a:solidFill>
                  <a:srgbClr val="19201D"/>
                </a:solidFill>
                <a:latin typeface="SUIT"/>
              </a:defRPr>
            </a:pPr>
            <a:r>
              <a:rPr>
                <a:ea typeface="SUIT"/>
              </a:rPr>
              <a:t>6. 시세 공급원: 토스 API 이용 목적·제3자 제공</a:t>
            </a:r>
          </a:p>
          <a:p>
            <a:pPr>
              <a:lnSpc>
                <a:spcPct val="112000"/>
              </a:lnSpc>
              <a:spcAft>
                <a:spcPts val="600"/>
              </a:spcAft>
              <a:defRPr sz="1800" b="0">
                <a:solidFill>
                  <a:srgbClr val="19201D"/>
                </a:solidFill>
                <a:latin typeface="SUIT"/>
              </a:defRPr>
            </a:pPr>
            <a:r>
              <a:rPr>
                <a:ea typeface="SUIT"/>
              </a:rPr>
              <a:t>키 발급과 별개로 약관·배포 권한 확인</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APP-POLICY-02   팀 확인 필요 · 10-03 명세 충돌</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spec-wbs-delta-2026-10-03.md §6 · notion-delta-2026-10-03.md §7</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75</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명세 갱신본</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FS017: 기존 시트 제품 노드 vs v2 기업·사건 두 노드</a:t>
            </a:r>
          </a:p>
          <a:p>
            <a:pPr>
              <a:lnSpc>
                <a:spcPct val="112000"/>
              </a:lnSpc>
              <a:spcAft>
                <a:spcPts val="600"/>
              </a:spcAft>
              <a:defRPr sz="1800" b="0">
                <a:solidFill>
                  <a:srgbClr val="19201D"/>
                </a:solidFill>
                <a:latin typeface="SUIT"/>
              </a:defRPr>
            </a:pPr>
            <a:r>
              <a:rPr>
                <a:ea typeface="SUIT"/>
              </a:rPr>
              <a:t>현재 캡처는 기업·사건만. 정본 대체 선언은 없어요.</a:t>
            </a:r>
          </a:p>
          <a:p>
            <a:pPr>
              <a:lnSpc>
                <a:spcPct val="112000"/>
              </a:lnSpc>
              <a:spcAft>
                <a:spcPts val="600"/>
              </a:spcAft>
              <a:defRPr sz="1800" b="0">
                <a:solidFill>
                  <a:srgbClr val="19201D"/>
                </a:solidFill>
                <a:latin typeface="SUIT"/>
              </a:defRPr>
            </a:pPr>
            <a:r>
              <a:rPr>
                <a:ea typeface="SUIT"/>
              </a:rPr>
              <a:t>FS004 vs FS061: 제공자·신규 계정·연결 정책 정합화</a:t>
            </a:r>
          </a:p>
          <a:p>
            <a:pPr>
              <a:lnSpc>
                <a:spcPct val="112000"/>
              </a:lnSpc>
              <a:spcAft>
                <a:spcPts val="600"/>
              </a:spcAft>
              <a:defRPr sz="1800" b="0">
                <a:solidFill>
                  <a:srgbClr val="19201D"/>
                </a:solidFill>
                <a:latin typeface="SUIT"/>
              </a:defRPr>
            </a:pPr>
            <a:r>
              <a:rPr>
                <a:ea typeface="SUIT"/>
              </a:rPr>
              <a:t>현재는 /mock-idp 모의 제공자예요.</a:t>
            </a:r>
          </a:p>
          <a:p>
            <a:pPr>
              <a:lnSpc>
                <a:spcPct val="112000"/>
              </a:lnSpc>
              <a:spcAft>
                <a:spcPts val="600"/>
              </a:spcAft>
              <a:defRPr sz="1800" b="0">
                <a:solidFill>
                  <a:srgbClr val="19201D"/>
                </a:solidFill>
                <a:latin typeface="SUIT"/>
              </a:defRPr>
            </a:pPr>
            <a:r>
              <a:rPr>
                <a:ea typeface="SUIT"/>
              </a:rPr>
              <a:t>FS014: 초기 그래프에 튜토리얼 기준 혼입</a:t>
            </a:r>
          </a:p>
          <a:p>
            <a:pPr>
              <a:lnSpc>
                <a:spcPct val="112000"/>
              </a:lnSpc>
              <a:spcAft>
                <a:spcPts val="600"/>
              </a:spcAft>
              <a:defRPr sz="1800" b="0">
                <a:solidFill>
                  <a:srgbClr val="19201D"/>
                </a:solidFill>
                <a:latin typeface="SUIT"/>
              </a:defRPr>
            </a:pPr>
            <a:r>
              <a:rPr>
                <a:ea typeface="SUIT"/>
              </a:rPr>
              <a:t>초기 설정·튜토리얼 계약을 분리해야 해요.</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Notion 최종 시퀀스 vs 9/30</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비회원 관심 선택·저장 금지 vs 임시 저장 허용</a:t>
            </a:r>
          </a:p>
          <a:p>
            <a:pPr>
              <a:lnSpc>
                <a:spcPct val="112000"/>
              </a:lnSpc>
              <a:spcAft>
                <a:spcPts val="600"/>
              </a:spcAft>
              <a:defRPr sz="1800" b="0">
                <a:solidFill>
                  <a:srgbClr val="19201D"/>
                </a:solidFill>
                <a:latin typeface="SUIT"/>
              </a:defRPr>
            </a:pPr>
            <a:r>
              <a:rPr>
                <a:ea typeface="SUIT"/>
              </a:rPr>
              <a:t>관심 무제한·0개 허용 vs 최소1/최대3</a:t>
            </a:r>
          </a:p>
          <a:p>
            <a:pPr>
              <a:lnSpc>
                <a:spcPct val="112000"/>
              </a:lnSpc>
              <a:spcAft>
                <a:spcPts val="600"/>
              </a:spcAft>
              <a:defRPr sz="1800" b="0">
                <a:solidFill>
                  <a:srgbClr val="19201D"/>
                </a:solidFill>
                <a:latin typeface="SUIT"/>
              </a:defRPr>
            </a:pPr>
            <a:r>
              <a:rPr>
                <a:ea typeface="SUIT"/>
              </a:rPr>
              <a:t>사건–기업 간선 클릭 제거 vs 상세 패널 진입</a:t>
            </a:r>
          </a:p>
          <a:p>
            <a:pPr>
              <a:lnSpc>
                <a:spcPct val="112000"/>
              </a:lnSpc>
              <a:spcAft>
                <a:spcPts val="600"/>
              </a:spcAft>
              <a:defRPr sz="1800" b="0">
                <a:solidFill>
                  <a:srgbClr val="19201D"/>
                </a:solidFill>
                <a:latin typeface="SUIT"/>
              </a:defRPr>
            </a:pPr>
            <a:r>
              <a:rPr>
                <a:ea typeface="SUIT"/>
              </a:rPr>
              <a:t>보유·관심 한 모드 내 필터 vs 세 모드 혼재</a:t>
            </a:r>
          </a:p>
          <a:p>
            <a:pPr>
              <a:lnSpc>
                <a:spcPct val="112000"/>
              </a:lnSpc>
              <a:spcAft>
                <a:spcPts val="600"/>
              </a:spcAft>
              <a:defRPr sz="1800" b="0">
                <a:solidFill>
                  <a:srgbClr val="19201D"/>
                </a:solidFill>
                <a:latin typeface="SUIT"/>
              </a:defRPr>
            </a:pPr>
            <a:r>
              <a:rPr>
                <a:ea typeface="SUIT"/>
              </a:rPr>
              <a:t>가입 자동 로그인 vs 로그인 화면으로 복귀</a:t>
            </a:r>
          </a:p>
          <a:p>
            <a:pPr>
              <a:lnSpc>
                <a:spcPct val="112000"/>
              </a:lnSpc>
              <a:spcAft>
                <a:spcPts val="600"/>
              </a:spcAft>
              <a:defRPr sz="1800" b="0">
                <a:solidFill>
                  <a:srgbClr val="19201D"/>
                </a:solidFill>
                <a:latin typeface="SUIT"/>
              </a:defRPr>
            </a:pPr>
            <a:r>
              <a:rPr>
                <a:ea typeface="SUIT"/>
              </a:rPr>
              <a:t>문서 제목 최종만으로 팀 승인으로 보지 않아요.</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APP-LIMIT   근거 버전·남은 한계</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없는 데이터·전망·확률을 만들어 채우지 않아요.</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76</a:t>
            </a:r>
          </a:p>
        </p:txBody>
      </p:sp>
      <p:sp>
        <p:nvSpPr>
          <p:cNvPr id="7" name="TextBox 6"/>
          <p:cNvSpPr txBox="1"/>
          <p:nvPr/>
        </p:nvSpPr>
        <p:spPr>
          <a:xfrm>
            <a:off x="640080" y="1463040"/>
            <a:ext cx="612648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현재 근거</a:t>
            </a:r>
          </a:p>
        </p:txBody>
      </p:sp>
      <p:sp>
        <p:nvSpPr>
          <p:cNvPr id="8" name="TextBox 7"/>
          <p:cNvSpPr txBox="1"/>
          <p:nvPr/>
        </p:nvSpPr>
        <p:spPr>
          <a:xfrm>
            <a:off x="640080" y="2057400"/>
            <a:ext cx="612648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기능명세: functional-spec_2026-10-06</a:t>
            </a:r>
          </a:p>
          <a:p>
            <a:pPr>
              <a:lnSpc>
                <a:spcPct val="112000"/>
              </a:lnSpc>
              <a:spcAft>
                <a:spcPts val="600"/>
              </a:spcAft>
              <a:defRPr sz="1800" b="0">
                <a:solidFill>
                  <a:srgbClr val="19201D"/>
                </a:solidFill>
                <a:latin typeface="SUIT"/>
              </a:defRPr>
            </a:pPr>
            <a:r>
              <a:rPr>
                <a:ea typeface="SUIT"/>
              </a:rPr>
              <a:t>요구사항: requirements-sheet_2026-10-06</a:t>
            </a:r>
          </a:p>
          <a:p>
            <a:pPr>
              <a:lnSpc>
                <a:spcPct val="112000"/>
              </a:lnSpc>
              <a:spcAft>
                <a:spcPts val="600"/>
              </a:spcAft>
              <a:defRPr sz="1800" b="0">
                <a:solidFill>
                  <a:srgbClr val="19201D"/>
                </a:solidFill>
                <a:latin typeface="SUIT"/>
              </a:defRPr>
            </a:pPr>
            <a:r>
              <a:rPr>
                <a:ea typeface="SUIT"/>
              </a:rPr>
              <a:t>WBS: wbs_2026-10-03(내용 동일)</a:t>
            </a:r>
          </a:p>
          <a:p>
            <a:pPr>
              <a:lnSpc>
                <a:spcPct val="112000"/>
              </a:lnSpc>
              <a:spcAft>
                <a:spcPts val="600"/>
              </a:spcAft>
              <a:defRPr sz="1800" b="0">
                <a:solidFill>
                  <a:srgbClr val="19201D"/>
                </a:solidFill>
                <a:latin typeface="SUIT"/>
              </a:defRPr>
            </a:pPr>
            <a:r>
              <a:rPr>
                <a:ea typeface="SUIT"/>
              </a:rPr>
              <a:t>변경 대응: doc-delta-2026-10-06.md §2.2</a:t>
            </a:r>
          </a:p>
          <a:p>
            <a:pPr>
              <a:lnSpc>
                <a:spcPct val="112000"/>
              </a:lnSpc>
              <a:spcAft>
                <a:spcPts val="600"/>
              </a:spcAft>
              <a:defRPr sz="1800" b="0">
                <a:solidFill>
                  <a:srgbClr val="19201D"/>
                </a:solidFill>
                <a:latin typeface="SUIT"/>
              </a:defRPr>
            </a:pPr>
            <a:r>
              <a:rPr>
                <a:ea typeface="SUIT"/>
              </a:rPr>
              <a:t>화면: captures/ 원본·좌표·클릭 결과</a:t>
            </a:r>
          </a:p>
          <a:p>
            <a:pPr>
              <a:lnSpc>
                <a:spcPct val="112000"/>
              </a:lnSpc>
              <a:spcAft>
                <a:spcPts val="600"/>
              </a:spcAft>
              <a:defRPr sz="1800" b="0">
                <a:solidFill>
                  <a:srgbClr val="19201D"/>
                </a:solidFill>
                <a:latin typeface="SUIT"/>
              </a:defRPr>
            </a:pPr>
            <a:r>
              <a:rPr>
                <a:ea typeface="SUIT"/>
              </a:rPr>
              <a:t>디자인: design-direction.md · sentiment.md</a:t>
            </a:r>
          </a:p>
        </p:txBody>
      </p:sp>
      <p:sp>
        <p:nvSpPr>
          <p:cNvPr id="9" name="TextBox 8"/>
          <p:cNvSpPr txBox="1"/>
          <p:nvPr/>
        </p:nvSpPr>
        <p:spPr>
          <a:xfrm>
            <a:off x="7589520" y="1463040"/>
            <a:ext cx="6217920" cy="411480"/>
          </a:xfrm>
          <a:prstGeom prst="rect">
            <a:avLst/>
          </a:prstGeom>
          <a:noFill/>
        </p:spPr>
        <p:txBody>
          <a:bodyPr wrap="square" lIns="27432" rIns="27432" tIns="27432" bIns="0">
            <a:spAutoFit/>
          </a:bodyPr>
          <a:lstStyle/>
          <a:p>
            <a:pPr>
              <a:lnSpc>
                <a:spcPct val="112000"/>
              </a:lnSpc>
              <a:spcAft>
                <a:spcPts val="600"/>
              </a:spcAft>
              <a:defRPr sz="2100" b="1">
                <a:solidFill>
                  <a:srgbClr val="0A5C48"/>
                </a:solidFill>
                <a:latin typeface="SUIT"/>
              </a:defRPr>
            </a:pPr>
            <a:r>
              <a:rPr>
                <a:ea typeface="SUIT"/>
              </a:rPr>
              <a:t>정책·데이터 한계</a:t>
            </a:r>
          </a:p>
        </p:txBody>
      </p:sp>
      <p:sp>
        <p:nvSpPr>
          <p:cNvPr id="10" name="TextBox 9"/>
          <p:cNvSpPr txBox="1"/>
          <p:nvPr/>
        </p:nvSpPr>
        <p:spPr>
          <a:xfrm>
            <a:off x="7589520" y="2057400"/>
            <a:ext cx="6217920" cy="5166360"/>
          </a:xfrm>
          <a:prstGeom prst="rect">
            <a:avLst/>
          </a:prstGeom>
          <a:noFill/>
        </p:spPr>
        <p:txBody>
          <a:bodyPr wrap="square" lIns="27432" rIns="27432" tIns="27432" bIns="0">
            <a:spAutoFit/>
          </a:bodyPr>
          <a:lstStyle/>
          <a:p>
            <a:pPr>
              <a:lnSpc>
                <a:spcPct val="112000"/>
              </a:lnSpc>
              <a:spcAft>
                <a:spcPts val="600"/>
              </a:spcAft>
              <a:defRPr sz="1800" b="0">
                <a:solidFill>
                  <a:srgbClr val="19201D"/>
                </a:solidFill>
                <a:latin typeface="SUIT"/>
              </a:defRPr>
            </a:pPr>
            <a:r>
              <a:rPr>
                <a:ea typeface="SUIT"/>
              </a:rPr>
              <a:t>시장 요약·재무 추이·산업/테마 생산자 없음</a:t>
            </a:r>
          </a:p>
          <a:p>
            <a:pPr>
              <a:lnSpc>
                <a:spcPct val="112000"/>
              </a:lnSpc>
              <a:spcAft>
                <a:spcPts val="600"/>
              </a:spcAft>
              <a:defRPr sz="1800" b="0">
                <a:solidFill>
                  <a:srgbClr val="19201D"/>
                </a:solidFill>
                <a:latin typeface="SUIT"/>
              </a:defRPr>
            </a:pPr>
            <a:r>
              <a:rPr>
                <a:ea typeface="SUIT"/>
              </a:rPr>
              <a:t>데모 판정값 없음. 예시 화면과 실제 데이터 분리</a:t>
            </a:r>
          </a:p>
          <a:p>
            <a:pPr>
              <a:lnSpc>
                <a:spcPct val="112000"/>
              </a:lnSpc>
              <a:spcAft>
                <a:spcPts val="600"/>
              </a:spcAft>
              <a:defRPr sz="1800" b="0">
                <a:solidFill>
                  <a:srgbClr val="19201D"/>
                </a:solidFill>
                <a:latin typeface="SUIT"/>
              </a:defRPr>
            </a:pPr>
            <a:r>
              <a:rPr>
                <a:ea typeface="SUIT"/>
              </a:rPr>
              <a:t>생성형 AI·실 소셜 IdP·정기 수집원 미연결</a:t>
            </a:r>
          </a:p>
          <a:p>
            <a:pPr>
              <a:lnSpc>
                <a:spcPct val="112000"/>
              </a:lnSpc>
              <a:spcAft>
                <a:spcPts val="600"/>
              </a:spcAft>
              <a:defRPr sz="1800" b="0">
                <a:solidFill>
                  <a:srgbClr val="19201D"/>
                </a:solidFill>
                <a:latin typeface="SUIT"/>
              </a:defRPr>
            </a:pPr>
            <a:r>
              <a:rPr>
                <a:ea typeface="SUIT"/>
              </a:rPr>
              <a:t>환율 변화 기준·지연 수치는 프로토타입 가정</a:t>
            </a:r>
          </a:p>
          <a:p>
            <a:pPr>
              <a:lnSpc>
                <a:spcPct val="112000"/>
              </a:lnSpc>
              <a:spcAft>
                <a:spcPts val="600"/>
              </a:spcAft>
              <a:defRPr sz="1800" b="0">
                <a:solidFill>
                  <a:srgbClr val="19201D"/>
                </a:solidFill>
                <a:latin typeface="SUIT"/>
              </a:defRPr>
            </a:pPr>
            <a:r>
              <a:rPr>
                <a:ea typeface="SUIT"/>
              </a:rPr>
              <a:t>발행 뒤 지표 재조회는 회차 불변 정책과 충돌</a:t>
            </a:r>
          </a:p>
          <a:p>
            <a:pPr>
              <a:lnSpc>
                <a:spcPct val="112000"/>
              </a:lnSpc>
              <a:spcAft>
                <a:spcPts val="600"/>
              </a:spcAft>
              <a:defRPr sz="1800" b="0">
                <a:solidFill>
                  <a:srgbClr val="19201D"/>
                </a:solidFill>
                <a:latin typeface="SUIT"/>
              </a:defRPr>
            </a:pPr>
            <a:r>
              <a:rPr>
                <a:ea typeface="SUIT"/>
              </a:rPr>
              <a:t>실제 오류·권한·외부 원문 실패 전수 캡처는 아님</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9"/>
        </a:solidFill>
        <a:effectLst/>
      </p:bgPr>
    </p:bg>
    <p:spTree>
      <p:nvGrpSpPr>
        <p:cNvPr id="1" name=""/>
        <p:cNvGrpSpPr/>
        <p:nvPr/>
      </p:nvGrpSpPr>
      <p:grpSpPr/>
      <p:sp>
        <p:nvSpPr>
          <p:cNvPr id="2" name="TextBox 1"/>
          <p:cNvSpPr txBox="1"/>
          <p:nvPr/>
        </p:nvSpPr>
        <p:spPr>
          <a:xfrm>
            <a:off x="548640" y="292608"/>
            <a:ext cx="13533120" cy="475488"/>
          </a:xfrm>
          <a:prstGeom prst="rect">
            <a:avLst/>
          </a:prstGeom>
          <a:noFill/>
        </p:spPr>
        <p:txBody>
          <a:bodyPr wrap="square" lIns="27432" rIns="27432" tIns="27432" bIns="0">
            <a:spAutoFit/>
          </a:bodyPr>
          <a:lstStyle/>
          <a:p>
            <a:pPr>
              <a:lnSpc>
                <a:spcPct val="112000"/>
              </a:lnSpc>
              <a:spcAft>
                <a:spcPts val="600"/>
              </a:spcAft>
              <a:defRPr sz="2700" b="1">
                <a:solidFill>
                  <a:srgbClr val="19201D"/>
                </a:solidFill>
                <a:latin typeface="SUIT"/>
              </a:defRPr>
            </a:pPr>
            <a:r>
              <a:rPr>
                <a:ea typeface="SUIT"/>
              </a:rPr>
              <a:t>APP-DOCS   문서 체계 · 화면에서 구현 추적까지</a:t>
            </a:r>
          </a:p>
        </p:txBody>
      </p:sp>
      <p:sp>
        <p:nvSpPr>
          <p:cNvPr id="3" name="TextBox 2"/>
          <p:cNvSpPr txBox="1"/>
          <p:nvPr/>
        </p:nvSpPr>
        <p:spPr>
          <a:xfrm>
            <a:off x="576072" y="841248"/>
            <a:ext cx="13533120" cy="320040"/>
          </a:xfrm>
          <a:prstGeom prst="rect">
            <a:avLst/>
          </a:prstGeom>
          <a:noFill/>
        </p:spPr>
        <p:txBody>
          <a:bodyPr wrap="square" lIns="27432" rIns="27432" tIns="27432" bIns="0">
            <a:spAutoFit/>
          </a:bodyPr>
          <a:lstStyle/>
          <a:p>
            <a:pPr>
              <a:lnSpc>
                <a:spcPct val="112000"/>
              </a:lnSpc>
              <a:spcAft>
                <a:spcPts val="600"/>
              </a:spcAft>
              <a:defRPr sz="1100" b="0">
                <a:solidFill>
                  <a:srgbClr val="474F4C"/>
                </a:solidFill>
                <a:latin typeface="SUIT"/>
              </a:defRPr>
            </a:pPr>
          </a:p>
        </p:txBody>
      </p:sp>
      <p:cxnSp>
        <p:nvCxnSpPr>
          <p:cNvPr id="4" name="Connector 3"/>
          <p:cNvCxnSpPr/>
          <p:nvPr/>
        </p:nvCxnSpPr>
        <p:spPr>
          <a:xfrm>
            <a:off x="548640" y="1161288"/>
            <a:ext cx="13533120" cy="0"/>
          </a:xfrm>
          <a:prstGeom prst="line">
            <a:avLst/>
          </a:prstGeom>
          <a:ln w="10160">
            <a:solidFill>
              <a:srgbClr val="DFE4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72" y="7726679"/>
            <a:ext cx="12527280" cy="274320"/>
          </a:xfrm>
          <a:prstGeom prst="rect">
            <a:avLst/>
          </a:prstGeom>
          <a:noFill/>
        </p:spPr>
        <p:txBody>
          <a:bodyPr wrap="square" lIns="27432" rIns="27432" tIns="27432" bIns="0">
            <a:spAutoFit/>
          </a:bodyPr>
          <a:lstStyle/>
          <a:p>
            <a:pPr>
              <a:lnSpc>
                <a:spcPct val="112000"/>
              </a:lnSpc>
              <a:spcAft>
                <a:spcPts val="600"/>
              </a:spcAft>
              <a:defRPr sz="900" b="0">
                <a:solidFill>
                  <a:srgbClr val="636B68"/>
                </a:solidFill>
                <a:latin typeface="SUIT"/>
              </a:defRPr>
            </a:pPr>
            <a:r>
              <a:rPr>
                <a:ea typeface="SUIT"/>
              </a:rPr>
              <a:t>줍 화면계획서 v2.1 · 프로토타입 기준  |  docs/system/README.md · links.yaml · API 정본 openapi.yaml</a:t>
            </a:r>
          </a:p>
        </p:txBody>
      </p:sp>
      <p:sp>
        <p:nvSpPr>
          <p:cNvPr id="6" name="TextBox 5"/>
          <p:cNvSpPr txBox="1"/>
          <p:nvPr/>
        </p:nvSpPr>
        <p:spPr>
          <a:xfrm>
            <a:off x="13350240" y="7680960"/>
            <a:ext cx="731520" cy="365760"/>
          </a:xfrm>
          <a:prstGeom prst="rect">
            <a:avLst/>
          </a:prstGeom>
          <a:noFill/>
        </p:spPr>
        <p:txBody>
          <a:bodyPr wrap="square" lIns="27432" rIns="27432" tIns="27432" bIns="0">
            <a:spAutoFit/>
          </a:bodyPr>
          <a:lstStyle/>
          <a:p>
            <a:pPr>
              <a:lnSpc>
                <a:spcPct val="112000"/>
              </a:lnSpc>
              <a:spcAft>
                <a:spcPts val="600"/>
              </a:spcAft>
              <a:defRPr sz="1200" b="1">
                <a:solidFill>
                  <a:srgbClr val="0A5C48"/>
                </a:solidFill>
                <a:latin typeface="SUIT"/>
              </a:defRPr>
            </a:pPr>
            <a:r>
              <a:rPr>
                <a:ea typeface="SUIT"/>
              </a:rPr>
              <a:t>77</a:t>
            </a:r>
          </a:p>
        </p:txBody>
      </p:sp>
      <p:sp>
        <p:nvSpPr>
          <p:cNvPr id="7" name="TextBox 6"/>
          <p:cNvSpPr txBox="1"/>
          <p:nvPr/>
        </p:nvSpPr>
        <p:spPr>
          <a:xfrm>
            <a:off x="594360" y="1508760"/>
            <a:ext cx="228600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문서</a:t>
            </a:r>
          </a:p>
        </p:txBody>
      </p:sp>
      <p:sp>
        <p:nvSpPr>
          <p:cNvPr id="8" name="TextBox 7"/>
          <p:cNvSpPr txBox="1"/>
          <p:nvPr/>
        </p:nvSpPr>
        <p:spPr>
          <a:xfrm>
            <a:off x="2880360" y="1508760"/>
            <a:ext cx="47548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확인할 내용</a:t>
            </a:r>
          </a:p>
        </p:txBody>
      </p:sp>
      <p:sp>
        <p:nvSpPr>
          <p:cNvPr id="9" name="TextBox 8"/>
          <p:cNvSpPr txBox="1"/>
          <p:nvPr/>
        </p:nvSpPr>
        <p:spPr>
          <a:xfrm>
            <a:off x="7635240" y="1508760"/>
            <a:ext cx="6355080" cy="438912"/>
          </a:xfrm>
          <a:prstGeom prst="rect">
            <a:avLst/>
          </a:prstGeom>
          <a:noFill/>
        </p:spPr>
        <p:txBody>
          <a:bodyPr wrap="square" lIns="27432" rIns="27432" tIns="27432" bIns="0">
            <a:spAutoFit/>
          </a:bodyPr>
          <a:lstStyle/>
          <a:p>
            <a:pPr>
              <a:lnSpc>
                <a:spcPct val="112000"/>
              </a:lnSpc>
              <a:spcAft>
                <a:spcPts val="600"/>
              </a:spcAft>
              <a:defRPr sz="1500" b="1">
                <a:solidFill>
                  <a:srgbClr val="0A5C48"/>
                </a:solidFill>
                <a:latin typeface="SUIT"/>
              </a:defRPr>
            </a:pPr>
            <a:r>
              <a:rPr>
                <a:ea typeface="SUIT"/>
              </a:rPr>
              <a:t>저장소 위치</a:t>
            </a:r>
          </a:p>
        </p:txBody>
      </p:sp>
      <p:sp>
        <p:nvSpPr>
          <p:cNvPr id="10" name="TextBox 9"/>
          <p:cNvSpPr txBox="1"/>
          <p:nvPr/>
        </p:nvSpPr>
        <p:spPr>
          <a:xfrm>
            <a:off x="594360" y="2075688"/>
            <a:ext cx="2148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화면계획서</a:t>
            </a:r>
          </a:p>
        </p:txBody>
      </p:sp>
      <p:sp>
        <p:nvSpPr>
          <p:cNvPr id="11" name="TextBox 10"/>
          <p:cNvSpPr txBox="1"/>
          <p:nvPr/>
        </p:nvSpPr>
        <p:spPr>
          <a:xfrm>
            <a:off x="2880360" y="2075688"/>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실제 화면·번호 조작·상태·화면 ID</a:t>
            </a:r>
          </a:p>
        </p:txBody>
      </p:sp>
      <p:sp>
        <p:nvSpPr>
          <p:cNvPr id="12" name="TextBox 11"/>
          <p:cNvSpPr txBox="1"/>
          <p:nvPr/>
        </p:nvSpPr>
        <p:spPr>
          <a:xfrm>
            <a:off x="7635240" y="2075688"/>
            <a:ext cx="6217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docs/screen-plan/zoop-screen-plan-v2.1.pdf</a:t>
            </a:r>
          </a:p>
        </p:txBody>
      </p:sp>
      <p:cxnSp>
        <p:nvCxnSpPr>
          <p:cNvPr id="13" name="Connector 12"/>
          <p:cNvCxnSpPr/>
          <p:nvPr/>
        </p:nvCxnSpPr>
        <p:spPr>
          <a:xfrm>
            <a:off x="594360" y="2761488"/>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2779776"/>
            <a:ext cx="2148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기능 명세</a:t>
            </a:r>
          </a:p>
        </p:txBody>
      </p:sp>
      <p:sp>
        <p:nvSpPr>
          <p:cNvPr id="15" name="TextBox 14"/>
          <p:cNvSpPr txBox="1"/>
          <p:nvPr/>
        </p:nvSpPr>
        <p:spPr>
          <a:xfrm>
            <a:off x="2880360" y="2779776"/>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10-06 고정본의 FS·NFS 원문</a:t>
            </a:r>
          </a:p>
        </p:txBody>
      </p:sp>
      <p:sp>
        <p:nvSpPr>
          <p:cNvPr id="16" name="TextBox 15"/>
          <p:cNvSpPr txBox="1"/>
          <p:nvPr/>
        </p:nvSpPr>
        <p:spPr>
          <a:xfrm>
            <a:off x="7635240" y="2779776"/>
            <a:ext cx="6217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docs/evidence/raw/functional-spec_2026-10-06/</a:t>
            </a:r>
          </a:p>
        </p:txBody>
      </p:sp>
      <p:cxnSp>
        <p:nvCxnSpPr>
          <p:cNvPr id="17" name="Connector 16"/>
          <p:cNvCxnSpPr/>
          <p:nvPr/>
        </p:nvCxnSpPr>
        <p:spPr>
          <a:xfrm>
            <a:off x="594360" y="3465576"/>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94360" y="3483864"/>
            <a:ext cx="2148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목표 API 명세</a:t>
            </a:r>
          </a:p>
        </p:txBody>
      </p:sp>
      <p:sp>
        <p:nvSpPr>
          <p:cNvPr id="19" name="TextBox 18"/>
          <p:cNvSpPr txBox="1"/>
          <p:nvPr/>
        </p:nvSpPr>
        <p:spPr>
          <a:xfrm>
            <a:off x="2880360" y="3483864"/>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기능·화면별 API 계약과 BFF 차이</a:t>
            </a:r>
          </a:p>
        </p:txBody>
      </p:sp>
      <p:sp>
        <p:nvSpPr>
          <p:cNvPr id="20" name="TextBox 19"/>
          <p:cNvSpPr txBox="1"/>
          <p:nvPr/>
        </p:nvSpPr>
        <p:spPr>
          <a:xfrm>
            <a:off x="7635240" y="3483864"/>
            <a:ext cx="6217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docs/api/out/zoop-api-spec.md</a:t>
            </a:r>
          </a:p>
        </p:txBody>
      </p:sp>
      <p:cxnSp>
        <p:nvCxnSpPr>
          <p:cNvPr id="21" name="Connector 20"/>
          <p:cNvCxnSpPr/>
          <p:nvPr/>
        </p:nvCxnSpPr>
        <p:spPr>
          <a:xfrm>
            <a:off x="594360" y="4169664"/>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4187952"/>
            <a:ext cx="2148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WBS</a:t>
            </a:r>
          </a:p>
        </p:txBody>
      </p:sp>
      <p:sp>
        <p:nvSpPr>
          <p:cNvPr id="23" name="TextBox 22"/>
          <p:cNvSpPr txBox="1"/>
          <p:nvPr/>
        </p:nvSpPr>
        <p:spPr>
          <a:xfrm>
            <a:off x="2880360" y="4187952"/>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업무 번호·명세 연결·담당·일정</a:t>
            </a:r>
          </a:p>
        </p:txBody>
      </p:sp>
      <p:sp>
        <p:nvSpPr>
          <p:cNvPr id="24" name="TextBox 23"/>
          <p:cNvSpPr txBox="1"/>
          <p:nvPr/>
        </p:nvSpPr>
        <p:spPr>
          <a:xfrm>
            <a:off x="7635240" y="4187952"/>
            <a:ext cx="6217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docs/evidence/raw/wbs_2026-10-03/</a:t>
            </a:r>
          </a:p>
        </p:txBody>
      </p:sp>
      <p:cxnSp>
        <p:nvCxnSpPr>
          <p:cNvPr id="25" name="Connector 24"/>
          <p:cNvCxnSpPr/>
          <p:nvPr/>
        </p:nvCxnSpPr>
        <p:spPr>
          <a:xfrm>
            <a:off x="594360" y="4873752"/>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4360" y="4892040"/>
            <a:ext cx="2148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통합 추적표</a:t>
            </a:r>
          </a:p>
        </p:txBody>
      </p:sp>
      <p:sp>
        <p:nvSpPr>
          <p:cNvPr id="27" name="TextBox 26"/>
          <p:cNvSpPr txBox="1"/>
          <p:nvPr/>
        </p:nvSpPr>
        <p:spPr>
          <a:xfrm>
            <a:off x="2880360" y="4892040"/>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화면 ↔ 기능 ↔ API ↔ WBS ↔ 구현 판정</a:t>
            </a:r>
          </a:p>
        </p:txBody>
      </p:sp>
      <p:sp>
        <p:nvSpPr>
          <p:cNvPr id="28" name="TextBox 27"/>
          <p:cNvSpPr txBox="1"/>
          <p:nvPr/>
        </p:nvSpPr>
        <p:spPr>
          <a:xfrm>
            <a:off x="7635240" y="4892040"/>
            <a:ext cx="6217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docs/system/out/zoop-trace.xlsx</a:t>
            </a:r>
          </a:p>
        </p:txBody>
      </p:sp>
      <p:cxnSp>
        <p:nvCxnSpPr>
          <p:cNvPr id="29" name="Connector 28"/>
          <p:cNvCxnSpPr/>
          <p:nvPr/>
        </p:nvCxnSpPr>
        <p:spPr>
          <a:xfrm>
            <a:off x="594360" y="5577840"/>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5596127"/>
            <a:ext cx="214884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통합 문서 목록</a:t>
            </a:r>
          </a:p>
        </p:txBody>
      </p:sp>
      <p:sp>
        <p:nvSpPr>
          <p:cNvPr id="31" name="TextBox 30"/>
          <p:cNvSpPr txBox="1"/>
          <p:nvPr/>
        </p:nvSpPr>
        <p:spPr>
          <a:xfrm>
            <a:off x="2880360" y="5596127"/>
            <a:ext cx="46177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화면별·기능별 문서와 검사 결과</a:t>
            </a:r>
          </a:p>
        </p:txBody>
      </p:sp>
      <p:sp>
        <p:nvSpPr>
          <p:cNvPr id="32" name="TextBox 31"/>
          <p:cNvSpPr txBox="1"/>
          <p:nvPr/>
        </p:nvSpPr>
        <p:spPr>
          <a:xfrm>
            <a:off x="7635240" y="5596127"/>
            <a:ext cx="6217920" cy="704088"/>
          </a:xfrm>
          <a:prstGeom prst="rect">
            <a:avLst/>
          </a:prstGeom>
          <a:noFill/>
        </p:spPr>
        <p:txBody>
          <a:bodyPr wrap="square" lIns="27432" rIns="27432" tIns="27432" bIns="0">
            <a:spAutoFit/>
          </a:bodyPr>
          <a:lstStyle/>
          <a:p>
            <a:pPr>
              <a:lnSpc>
                <a:spcPct val="112000"/>
              </a:lnSpc>
              <a:spcAft>
                <a:spcPts val="600"/>
              </a:spcAft>
              <a:defRPr sz="1300" b="0">
                <a:solidFill>
                  <a:srgbClr val="19201D"/>
                </a:solidFill>
                <a:latin typeface="SUIT"/>
              </a:defRPr>
            </a:pPr>
            <a:r>
              <a:rPr>
                <a:ea typeface="SUIT"/>
              </a:rPr>
              <a:t>docs/system/out/index.md</a:t>
            </a:r>
          </a:p>
        </p:txBody>
      </p:sp>
      <p:cxnSp>
        <p:nvCxnSpPr>
          <p:cNvPr id="33" name="Connector 32"/>
          <p:cNvCxnSpPr/>
          <p:nvPr/>
        </p:nvCxnSpPr>
        <p:spPr>
          <a:xfrm>
            <a:off x="594360" y="6281927"/>
            <a:ext cx="13395960" cy="0"/>
          </a:xfrm>
          <a:prstGeom prst="line">
            <a:avLst/>
          </a:prstGeom>
          <a:ln w="7620">
            <a:solidFill>
              <a:srgbClr val="DFE4E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