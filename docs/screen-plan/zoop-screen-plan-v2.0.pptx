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Default Extension="txt" ContentType="text/plain"/>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4630400" cy="8229600" type="screen4x3"/>
  <p:notesSz cx="6858000" cy="9144000"/>
  <p:embeddedFontLst>
    <p:embeddedFont>
      <p:font typeface="SUIT" pitchFamily="34" charset="1"/>
      <p:regular r:id="rIdSuit1"/>
      <p:bold r:id="rIdSuit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Suit1" Type="http://schemas.openxmlformats.org/officeDocument/2006/relationships/font" Target="fonts/suit1.fntdata"/><Relationship Id="rIdSuit2" Type="http://schemas.openxmlformats.org/officeDocument/2006/relationships/font" Target="fonts/suit2.fntdata"/></Relationships>
</file>

<file path=ppt/fonts/LICENSE.txt>Copyright (c) 2022, SUNN (http://sun.fo/suit),
with Reserved Font Name SUIT.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D-AUT-01.png</a:t>
            </a:r>
          </a:p>
          <a:p>
            <a:r>
              <a:t>좌표·클릭 후 실제 화면: D-AUT-01.json</a:t>
            </a:r>
          </a:p>
          <a:p>
            <a:r>
              <a:t>본문으로 건너뛰기</a:t>
            </a:r>
          </a:p>
          <a:p>
            <a:r>
              <a:t>줍</a:t>
            </a:r>
          </a:p>
          <a:p>
            <a:r>
              <a:t>Zoop</a:t>
            </a:r>
          </a:p>
          <a:p>
            <a:r>
              <a:t>줍</a:t>
            </a:r>
          </a:p>
          <a:p/>
          <a:p>
            <a:r>
              <a:t>내 종목 주변의 사건과 근거를 탐색해요</a:t>
            </a:r>
          </a:p>
          <a:p/>
          <a:p>
            <a:r>
              <a:t>이메일로 로그인</a:t>
            </a:r>
          </a:p>
          <a:p>
            <a:r>
              <a:t>이메일</a:t>
            </a:r>
          </a:p>
          <a:p>
            <a:r>
              <a:t>비밀번호</a:t>
            </a:r>
          </a:p>
          <a:p/>
          <a:p>
            <a:r>
              <a:t>데모 계정이 입력되어 있어요</a:t>
            </a:r>
          </a:p>
          <a:p/>
          <a:p>
            <a:r>
              <a:t>로그인</a:t>
            </a:r>
          </a:p>
          <a:p/>
          <a:p>
            <a:r>
              <a:t>처음이거나 다른 방법으로 시작하기</a:t>
            </a:r>
          </a:p>
          <a:p/>
          <a:p>
            <a:r>
              <a:t>이메일로 회원가입</a:t>
            </a:r>
          </a:p>
          <a:p>
            <a:r>
              <a:t>개발용 모의 로그인으로 계속</a:t>
            </a:r>
          </a:p>
          <a:p/>
          <a:p>
            <a:r>
              <a:t>개발용 모의 제공자예요. 실제 소셜 계정과 연결되지 않아요.</a:t>
            </a:r>
          </a:p>
          <a:p/>
          <a:p>
            <a:r>
              <a:t>로그인 없이 둘러보기</a:t>
            </a:r>
          </a:p>
          <a:p/>
          <a:p>
            <a:r>
              <a:t>본 서비스는 투자 권유를 제공하지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D-AUT-02.png</a:t>
            </a:r>
          </a:p>
          <a:p>
            <a:r>
              <a:t>좌표·클릭 후 실제 화면: D-AUT-02.json</a:t>
            </a:r>
          </a:p>
          <a:p>
            <a:r>
              <a:t>본문으로 건너뛰기</a:t>
            </a:r>
          </a:p>
          <a:p>
            <a:r>
              <a:t>줍</a:t>
            </a:r>
          </a:p>
          <a:p>
            <a:r>
              <a:t>Zoop</a:t>
            </a:r>
          </a:p>
          <a:p>
            <a:r>
              <a:t>시작 화면으로</a:t>
            </a:r>
          </a:p>
          <a:p>
            <a:r>
              <a:t>이메일로 가입하기</a:t>
            </a:r>
          </a:p>
          <a:p>
            <a:r>
              <a:t>이메일</a:t>
            </a:r>
          </a:p>
          <a:p>
            <a:r>
              <a:t>비밀번호</a:t>
            </a:r>
          </a:p>
          <a:p/>
          <a:p>
            <a:r>
              <a:t>영문과 숫자를 섞어 8자 이상</a:t>
            </a:r>
          </a:p>
          <a:p/>
          <a:p>
            <a:r>
              <a:t>표시 이름</a:t>
            </a:r>
          </a:p>
          <a:p/>
          <a:p>
            <a:r>
              <a:t>화면에 보이는 이름이에요. 20자까지</a:t>
            </a:r>
          </a:p>
          <a:p/>
          <a:p>
            <a:r>
              <a:t>약관 동의</a:t>
            </a:r>
          </a:p>
          <a:p>
            <a:r>
              <a:t>모두 동의</a:t>
            </a:r>
          </a:p>
          <a:p>
            <a:r>
              <a:t>서비스 이용약관 (필수)</a:t>
            </a:r>
          </a:p>
          <a:p>
            <a:r>
              <a:t>본문 보기</a:t>
            </a:r>
          </a:p>
          <a:p/>
          <a:p>
            <a:r>
              <a:t>약관 본문 준비 중</a:t>
            </a:r>
          </a:p>
          <a:p/>
          <a:p>
            <a:r>
              <a:t>개인정보 수집·이용 동의 (필수)</a:t>
            </a:r>
          </a:p>
          <a:p>
            <a:r>
              <a:t>본문 보기</a:t>
            </a:r>
          </a:p>
          <a:p>
            <a:r>
              <a:t>가입하고 시작하기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D-AUT-03.png</a:t>
            </a:r>
          </a:p>
          <a:p>
            <a:r>
              <a:t>좌표·클릭 후 실제 화면: D-AUT-03.json</a:t>
            </a:r>
          </a:p>
          <a:p>
            <a:r>
              <a:t>개발용 모의 로그인</a:t>
            </a:r>
          </a:p>
          <a:p/>
          <a:p>
            <a:r>
              <a:t>모의 소셜 계정으로 로그인</a:t>
            </a:r>
          </a:p>
          <a:p/>
          <a:p>
            <a:r>
              <a:t>실제 소셜 서비스가 아니에요. 입력한 이메일이 모의 계정이 되고, 줍에 이메일과 이름을 전달해요.</a:t>
            </a:r>
          </a:p>
          <a:p/>
          <a:p>
            <a:r>
              <a:t>모의 계정 이메일</a:t>
            </a:r>
          </a:p>
          <a:p>
            <a:r>
              <a:t>이름</a:t>
            </a:r>
          </a:p>
          <a:p/>
          <a:p>
            <a:r>
              <a:t>비워 두면 이메일 앞부분을 써요</a:t>
            </a:r>
          </a:p>
          <a:p/>
          <a:p>
            <a:r>
              <a:t>동의하고 계속</a:t>
            </a:r>
          </a:p>
          <a:p>
            <a:r>
              <a:t>취소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D-ONB-01.png</a:t>
            </a:r>
          </a:p>
          <a:p>
            <a:r>
              <a:t>좌표·클릭 후 실제 화면: D-ONB-01.json</a:t>
            </a:r>
          </a:p>
          <a:p>
            <a:r>
              <a:t>본문으로 건너뛰기</a:t>
            </a:r>
          </a:p>
          <a:p>
            <a:r>
              <a:t>줍</a:t>
            </a:r>
          </a:p>
          <a:p>
            <a:r>
              <a:t>Zoop</a:t>
            </a:r>
          </a:p>
          <a:p>
            <a:r>
              <a:t>화면계획 시연님</a:t>
            </a:r>
          </a:p>
          <a:p>
            <a:r>
              <a:t>지금 주식에 투자하고 계신가요?</a:t>
            </a:r>
          </a:p>
          <a:p>
            <a:r>
              <a:t>지금 주식에 투자하고 있어요</a:t>
            </a:r>
          </a:p>
          <a:p>
            <a:r>
              <a:t>가상 계좌를 연결해 보유 종목 주변을 봐요</a:t>
            </a:r>
          </a:p>
          <a:p>
            <a:r>
              <a:t>아직 투자하지 않아요</a:t>
            </a:r>
          </a:p>
          <a:p>
            <a:r>
              <a:t>관심 있는 종목을 골라 시작해요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D-ONB-02.png</a:t>
            </a:r>
          </a:p>
          <a:p>
            <a:r>
              <a:t>좌표·클릭 후 실제 화면: D-ONB-02.json</a:t>
            </a:r>
          </a:p>
          <a:p>
            <a:r>
              <a:t>본문으로 건너뛰기</a:t>
            </a:r>
          </a:p>
          <a:p>
            <a:r>
              <a:t>줍</a:t>
            </a:r>
          </a:p>
          <a:p>
            <a:r>
              <a:t>Zoop</a:t>
            </a:r>
          </a:p>
          <a:p>
            <a:r>
              <a:t>화면계획 시연님</a:t>
            </a:r>
          </a:p>
          <a:p>
            <a:r>
              <a:t>이전 단계</a:t>
            </a:r>
          </a:p>
          <a:p>
            <a:r>
              <a:t>가상 계좌를 연결해요</a:t>
            </a:r>
          </a:p>
          <a:p/>
          <a:p>
            <a:r>
              <a:t>실제 증권 계좌가 아니에요. 준비된 모의 데이터로 만든 가상 계좌예요.</a:t>
            </a:r>
          </a:p>
          <a:p/>
          <a:p>
            <a:r>
              <a:t>연결할 가상 계좌</a:t>
            </a:r>
          </a:p>
          <a:p>
            <a:r>
              <a:t>가상 계좌 예시</a:t>
            </a:r>
          </a:p>
          <a:p>
            <a:r>
              <a:t>보유 종목 3개</a:t>
            </a:r>
          </a:p>
          <a:p>
            <a:r>
              <a:t>선택한 가상 계좌 연결하기</a:t>
            </a:r>
          </a:p>
          <a:p>
            <a:r>
              <a:t>건너뛰고 관심 종목 고르기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D-WAT-01.png</a:t>
            </a:r>
          </a:p>
          <a:p>
            <a:r>
              <a:t>좌표·클릭 후 실제 화면: D-WAT-01.json</a:t>
            </a:r>
          </a:p>
          <a:p>
            <a:r>
              <a:t>본문으로 건너뛰기</a:t>
            </a:r>
          </a:p>
          <a:p>
            <a:r>
              <a:t>줍</a:t>
            </a:r>
          </a:p>
          <a:p>
            <a:r>
              <a:t>Zoop</a:t>
            </a:r>
          </a:p>
          <a:p>
            <a:r>
              <a:t>화면계획 시연님</a:t>
            </a:r>
          </a:p>
          <a:p>
            <a:r>
              <a:t>이전 단계</a:t>
            </a:r>
          </a:p>
          <a:p>
            <a:r>
              <a:t>관심 있는 종목을 골라 주세요</a:t>
            </a:r>
          </a:p>
          <a:p>
            <a:r>
              <a:t>고른 종목</a:t>
            </a:r>
          </a:p>
          <a:p>
            <a:r>
              <a:t>0개</a:t>
            </a:r>
          </a:p>
          <a:p/>
          <a:p>
            <a:r>
              <a:t>고르지 않아도 보유 종목 기준 내 종목 지도로 시작할 수 있어요.</a:t>
            </a:r>
          </a:p>
          <a:p/>
          <a:p>
            <a:r>
              <a:t>승인된 사건이 많은 기업</a:t>
            </a:r>
          </a:p>
          <a:p>
            <a:r>
              <a:t>NVIDIA</a:t>
            </a:r>
          </a:p>
          <a:p>
            <a:r>
              <a:t>NVDA · 승인된 사건 46건</a:t>
            </a:r>
          </a:p>
          <a:p>
            <a:r>
              <a:t>추가</a:t>
            </a:r>
          </a:p>
          <a:p>
            <a:r>
              <a:t>삼성전자</a:t>
            </a:r>
          </a:p>
          <a:p>
            <a:r>
              <a:t>005930 · 승인된 사건 27건</a:t>
            </a:r>
          </a:p>
          <a:p>
            <a:r>
              <a:t>추가</a:t>
            </a:r>
          </a:p>
          <a:p>
            <a:r>
              <a:t>S</a:t>
            </a:r>
          </a:p>
          <a:p>
            <a:r>
              <a:t>SK텔레콤</a:t>
            </a:r>
          </a:p>
          <a:p>
            <a:r>
              <a:t>017670 · 승인된 사건 6건</a:t>
            </a:r>
          </a:p>
          <a:p>
            <a:r>
              <a:t>추가</a:t>
            </a:r>
          </a:p>
          <a:p>
            <a:r>
              <a:t>S</a:t>
            </a:r>
          </a:p>
          <a:p>
            <a:r>
              <a:t>Salesforce</a:t>
            </a:r>
          </a:p>
          <a:p>
            <a:r>
              <a:t>CRM · 승인된 사건 6건</a:t>
            </a:r>
          </a:p>
          <a:p>
            <a:r>
              <a:t>추가</a:t>
            </a:r>
          </a:p>
          <a:p>
            <a:r>
              <a:t>삼</a:t>
            </a:r>
          </a:p>
          <a:p>
            <a:r>
              <a:t>삼성SDI</a:t>
            </a:r>
          </a:p>
          <a:p>
            <a:r>
              <a:t>006400 · 승인된 사건 6건</a:t>
            </a:r>
          </a:p>
          <a:p>
            <a:r>
              <a:t>추가</a:t>
            </a:r>
          </a:p>
          <a:p>
            <a:r>
              <a:t>Google</a:t>
            </a:r>
          </a:p>
          <a:p>
            <a:r>
              <a:t>GOOGL · 승인된 사건 5건</a:t>
            </a:r>
          </a:p>
          <a:p>
            <a:r>
              <a:t>추가</a:t>
            </a:r>
          </a:p>
          <a:p>
            <a:r>
              <a:t>C</a:t>
            </a:r>
          </a:p>
          <a:p>
            <a:r>
              <a:t>CoreWeave</a:t>
            </a:r>
          </a:p>
          <a:p>
            <a:r>
              <a:t>CRWV · 승인된 사건 3건</a:t>
            </a:r>
          </a:p>
          <a:p>
            <a:r>
              <a:t>추가</a:t>
            </a:r>
          </a:p>
          <a:p>
            <a:r>
              <a:t>K</a:t>
            </a:r>
          </a:p>
          <a:p>
            <a:r>
              <a:t>KT</a:t>
            </a:r>
          </a:p>
          <a:p>
            <a:r>
              <a:t>030200 · 승인된 사건 3건</a:t>
            </a:r>
          </a:p>
          <a:p>
            <a:r>
              <a:t>추가</a:t>
            </a:r>
          </a:p>
          <a:p>
            <a:r>
              <a:t>종목 검색</a:t>
            </a:r>
          </a:p>
          <a:p>
            <a:r>
              <a:t>검색</a:t>
            </a:r>
          </a:p>
          <a:p>
            <a:r>
              <a:t>고르지 않고 지도 보기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D-WAT-01b.png</a:t>
            </a:r>
          </a:p>
          <a:p>
            <a:r>
              <a:t>좌표·클릭 후 실제 화면: D-WAT-01b.json</a:t>
            </a:r>
          </a:p>
          <a:p>
            <a:r>
              <a:t>본문으로 건너뛰기</a:t>
            </a:r>
          </a:p>
          <a:p>
            <a:r>
              <a:t>줍</a:t>
            </a:r>
          </a:p>
          <a:p>
            <a:r>
              <a:t>Zoop</a:t>
            </a:r>
          </a:p>
          <a:p>
            <a:r>
              <a:t>화면계획 시연님</a:t>
            </a:r>
          </a:p>
          <a:p>
            <a:r>
              <a:t>이전 단계</a:t>
            </a:r>
          </a:p>
          <a:p>
            <a:r>
              <a:t>관심 있는 종목을 골라 주세요</a:t>
            </a:r>
          </a:p>
          <a:p>
            <a:r>
              <a:t>고른 종목</a:t>
            </a:r>
          </a:p>
          <a:p>
            <a:r>
              <a:t>4개</a:t>
            </a:r>
          </a:p>
          <a:p>
            <a:r>
              <a:t>NVIDIA</a:t>
            </a:r>
          </a:p>
          <a:p>
            <a:r>
              <a:t>삼성전자</a:t>
            </a:r>
          </a:p>
          <a:p>
            <a:r>
              <a:t>S</a:t>
            </a:r>
          </a:p>
          <a:p>
            <a:r>
              <a:t>SK텔레콤</a:t>
            </a:r>
          </a:p>
          <a:p>
            <a:r>
              <a:t>S</a:t>
            </a:r>
          </a:p>
          <a:p>
            <a:r>
              <a:t>Salesforce</a:t>
            </a:r>
          </a:p>
          <a:p>
            <a:r>
              <a:t>승인된 사건이 많은 기업</a:t>
            </a:r>
          </a:p>
          <a:p>
            <a:r>
              <a:t>NVIDIA</a:t>
            </a:r>
          </a:p>
          <a:p>
            <a:r>
              <a:t>NVDA · 승인된 사건 46건</a:t>
            </a:r>
          </a:p>
          <a:p>
            <a:r>
              <a:t>선택됨</a:t>
            </a:r>
          </a:p>
          <a:p>
            <a:r>
              <a:t>삼성전자</a:t>
            </a:r>
          </a:p>
          <a:p>
            <a:r>
              <a:t>005930 · 승인된 사건 27건</a:t>
            </a:r>
          </a:p>
          <a:p>
            <a:r>
              <a:t>선택됨</a:t>
            </a:r>
          </a:p>
          <a:p>
            <a:r>
              <a:t>S</a:t>
            </a:r>
          </a:p>
          <a:p>
            <a:r>
              <a:t>SK텔레콤</a:t>
            </a:r>
          </a:p>
          <a:p>
            <a:r>
              <a:t>017670 · 승인된 사건 6건</a:t>
            </a:r>
          </a:p>
          <a:p>
            <a:r>
              <a:t>선택됨</a:t>
            </a:r>
          </a:p>
          <a:p>
            <a:r>
              <a:t>S</a:t>
            </a:r>
          </a:p>
          <a:p>
            <a:r>
              <a:t>Salesforce</a:t>
            </a:r>
          </a:p>
          <a:p>
            <a:r>
              <a:t>CRM · 승인된 사건 6건</a:t>
            </a:r>
          </a:p>
          <a:p>
            <a:r>
              <a:t>선택됨</a:t>
            </a:r>
          </a:p>
          <a:p>
            <a:r>
              <a:t>삼</a:t>
            </a:r>
          </a:p>
          <a:p>
            <a:r>
              <a:t>삼성SDI</a:t>
            </a:r>
          </a:p>
          <a:p>
            <a:r>
              <a:t>006400 · 승인된 사건 6건</a:t>
            </a:r>
          </a:p>
          <a:p>
            <a:r>
              <a:t>추가</a:t>
            </a:r>
          </a:p>
          <a:p>
            <a:r>
              <a:t>Google</a:t>
            </a:r>
          </a:p>
          <a:p>
            <a:r>
              <a:t>GOOGL · 승인된 사건 5건</a:t>
            </a:r>
          </a:p>
          <a:p>
            <a:r>
              <a:t>추가</a:t>
            </a:r>
          </a:p>
          <a:p>
            <a:r>
              <a:t>C</a:t>
            </a:r>
          </a:p>
          <a:p>
            <a:r>
              <a:t>CoreWeave</a:t>
            </a:r>
          </a:p>
          <a:p>
            <a:r>
              <a:t>CRWV · 승인된 사건 3건</a:t>
            </a:r>
          </a:p>
          <a:p>
            <a:r>
              <a:t>추가</a:t>
            </a:r>
          </a:p>
          <a:p>
            <a:r>
              <a:t>K</a:t>
            </a:r>
          </a:p>
          <a:p>
            <a:r>
              <a:t>KT</a:t>
            </a:r>
          </a:p>
          <a:p>
            <a:r>
              <a:t>030200 · 승인된 사건 3건</a:t>
            </a:r>
          </a:p>
          <a:p>
            <a:r>
              <a:t>추가</a:t>
            </a:r>
          </a:p>
          <a:p>
            <a:r>
              <a:t>종목 검색</a:t>
            </a:r>
          </a:p>
          <a:p>
            <a:r>
              <a:t>검색</a:t>
            </a:r>
          </a:p>
          <a:p>
            <a:r>
              <a:t>4개 종목으로 시작하기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D-GRP-01.png</a:t>
            </a:r>
          </a:p>
          <a:p>
            <a:r>
              <a:t>좌표·클릭 후 실제 화면: D-GRP-01.json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D-GRP-01b.png</a:t>
            </a:r>
          </a:p>
          <a:p>
            <a:r>
              <a:t>좌표·클릭 후 실제 화면: D-GRP-01b.json</a:t>
            </a:r>
          </a:p>
          <a:p>
            <a:r>
              <a:t>본문으로 건너뛰기</a:t>
            </a:r>
          </a:p>
          <a:p>
            <a:r>
              <a:t>줍</a:t>
            </a:r>
          </a:p>
          <a:p>
            <a:r>
              <a:t>Zoop</a:t>
            </a:r>
          </a:p>
          <a:p>
            <a:r>
              <a:t>지도</a:t>
            </a:r>
          </a:p>
          <a:p>
            <a:r>
              <a:t>브리핑</a:t>
            </a:r>
          </a:p>
          <a:p>
            <a:r>
              <a:t>내 종목</a:t>
            </a:r>
          </a:p>
          <a:p>
            <a:r>
              <a:t>데모 사용자님</a:t>
            </a:r>
          </a:p>
          <a:p>
            <a:r>
              <a:t>내 종목 지도</a:t>
            </a:r>
          </a:p>
          <a:p>
            <a:r>
              <a:t>내 종목</a:t>
            </a:r>
          </a:p>
          <a:p>
            <a:r>
              <a:t>시장 전체</a:t>
            </a:r>
          </a:p>
          <a:p>
            <a:r>
              <a:t>내 종목</a:t>
            </a:r>
          </a:p>
          <a:p>
            <a:r>
              <a:t>전체</a:t>
            </a:r>
          </a:p>
          <a:p>
            <a:r>
              <a:t>보유</a:t>
            </a:r>
          </a:p>
          <a:p>
            <a:r>
              <a:t>3</a:t>
            </a:r>
          </a:p>
          <a:p>
            <a:r>
              <a:t>관심</a:t>
            </a:r>
          </a:p>
          <a:p>
            <a:r>
              <a:t>1</a:t>
            </a:r>
          </a:p>
          <a:p>
            <a:r>
              <a:t>기업</a:t>
            </a:r>
          </a:p>
          <a:p>
            <a:r>
              <a:t>23</a:t>
            </a:r>
          </a:p>
          <a:p>
            <a:r>
              <a:t>사건</a:t>
            </a:r>
          </a:p>
          <a:p>
            <a:r>
              <a:t>89</a:t>
            </a:r>
          </a:p>
          <a:p>
            <a:r>
              <a:t>직접 관련</a:t>
            </a:r>
          </a:p>
          <a:p>
            <a:r>
              <a:t>122</a:t>
            </a:r>
          </a:p>
          <a:p>
            <a:r>
              <a:t>후속 사건</a:t>
            </a:r>
          </a:p>
          <a:p>
            <a:r>
              <a:t>1</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D-GRP-T.png</a:t>
            </a:r>
          </a:p>
          <a:p>
            <a:r>
              <a:t>좌표·클릭 후 실제 화면: D-GRP-T.json</a:t>
            </a:r>
          </a:p>
          <a:p>
            <a:r>
              <a:t>본문으로 건너뛰기</a:t>
            </a:r>
          </a:p>
          <a:p>
            <a:r>
              <a:t>줍</a:t>
            </a:r>
          </a:p>
          <a:p>
            <a:r>
              <a:t>Zoop</a:t>
            </a:r>
          </a:p>
          <a:p>
            <a:r>
              <a:t>지도</a:t>
            </a:r>
          </a:p>
          <a:p>
            <a:r>
              <a:t>브리핑</a:t>
            </a:r>
          </a:p>
          <a:p>
            <a:r>
              <a:t>내 종목</a:t>
            </a:r>
          </a:p>
          <a:p>
            <a:r>
              <a:t>화면계획 시연님</a:t>
            </a:r>
          </a:p>
          <a:p>
            <a:r>
              <a:t>시장 전체 지도</a:t>
            </a:r>
          </a:p>
          <a:p>
            <a:r>
              <a:t>튜토리얼 1/5</a:t>
            </a:r>
          </a:p>
          <a:p>
            <a:r>
              <a:t>지도 움직이기</a:t>
            </a:r>
          </a:p>
          <a:p/>
          <a:p>
            <a:r>
              <a:t>빈 곳을 끌어 지도를 옮기고, 휠이나 두 손가락으로 확대해 보세요. 점선으로 표시한 [화면에 맞추기]를 누르면 전체가 다시 보여요.</a:t>
            </a:r>
          </a:p>
          <a:p/>
          <a:p>
            <a:r>
              <a:t>키보드로는 [확대]·[축소]·[화면에 맞추기] 버튼을 쓸 수 있어요.</a:t>
            </a:r>
          </a:p>
          <a:p/>
          <a:p>
            <a:r>
              <a:t>1단계 지도 움직이기, 지금 단계</a:t>
            </a:r>
          </a:p>
          <a:p>
            <a:r>
              <a:t>2단계 기업이나 사건 고르기</a:t>
            </a:r>
          </a:p>
          <a:p>
            <a:r>
              <a:t>3단계 영향 경로 보기</a:t>
            </a:r>
          </a:p>
          <a:p>
            <a:r>
              <a:t>4단계 상세와 근거 확인하기</a:t>
            </a:r>
          </a:p>
          <a:p>
            <a:r>
              <a:t>5단계 AI에게 묻기</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D-GRP-T2.png</a:t>
            </a:r>
          </a:p>
          <a:p>
            <a:r>
              <a:t>좌표·클릭 후 실제 화면: D-GRP-T2.json</a:t>
            </a:r>
          </a:p>
          <a:p>
            <a:r>
              <a:t>본문으로 건너뛰기</a:t>
            </a:r>
          </a:p>
          <a:p>
            <a:r>
              <a:t>줍</a:t>
            </a:r>
          </a:p>
          <a:p>
            <a:r>
              <a:t>Zoop</a:t>
            </a:r>
          </a:p>
          <a:p>
            <a:r>
              <a:t>지도</a:t>
            </a:r>
          </a:p>
          <a:p>
            <a:r>
              <a:t>브리핑</a:t>
            </a:r>
          </a:p>
          <a:p>
            <a:r>
              <a:t>내 종목</a:t>
            </a:r>
          </a:p>
          <a:p>
            <a:r>
              <a:t>화면계획 시연님</a:t>
            </a:r>
          </a:p>
          <a:p>
            <a:r>
              <a:t>시장 전체 지도</a:t>
            </a:r>
          </a:p>
          <a:p>
            <a:r>
              <a:t>튜토리얼 2/5</a:t>
            </a:r>
          </a:p>
          <a:p>
            <a:r>
              <a:t>기업이나 사건 고르기</a:t>
            </a:r>
          </a:p>
          <a:p/>
          <a:p>
            <a:r>
              <a:t>기업(동그라미)이나 사건 노드를 눌러 보세요. 무엇과 연결됐는지 상세가 열려요.</a:t>
            </a:r>
          </a:p>
          <a:p/>
          <a:p>
            <a:r>
              <a:t>키보드로는 [목록] 보기에서 기업·사건 행을 Tab으로 골라 Enter를 누르세요.</a:t>
            </a:r>
          </a:p>
          <a:p/>
          <a:p>
            <a:r>
              <a:t>1단계 지도 움직이기</a:t>
            </a:r>
          </a:p>
          <a:p>
            <a:r>
              <a:t>2단계 기업이나 사건 고르기, 지금 단계</a:t>
            </a:r>
          </a:p>
          <a:p>
            <a:r>
              <a:t>3단계 영향 경로 보기</a:t>
            </a:r>
          </a:p>
          <a:p>
            <a:r>
              <a:t>4단계 상세와 근거 확인하기</a:t>
            </a:r>
          </a:p>
          <a:p>
            <a:r>
              <a:t>5단계 AI에게 묻기</a:t>
            </a:r>
          </a:p>
          <a:p>
            <a:r>
              <a:t>이전</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D-GRP-T3.png</a:t>
            </a:r>
          </a:p>
          <a:p>
            <a:r>
              <a:t>좌표·클릭 후 실제 화면: D-GRP-T3.json</a:t>
            </a:r>
          </a:p>
          <a:p>
            <a:r>
              <a:t>본문으로 건너뛰기</a:t>
            </a:r>
          </a:p>
          <a:p>
            <a:r>
              <a:t>줍</a:t>
            </a:r>
          </a:p>
          <a:p>
            <a:r>
              <a:t>Zoop</a:t>
            </a:r>
          </a:p>
          <a:p>
            <a:r>
              <a:t>지도</a:t>
            </a:r>
          </a:p>
          <a:p>
            <a:r>
              <a:t>브리핑</a:t>
            </a:r>
          </a:p>
          <a:p>
            <a:r>
              <a:t>내 종목</a:t>
            </a:r>
          </a:p>
          <a:p>
            <a:r>
              <a:t>화면계획 시연님</a:t>
            </a:r>
          </a:p>
          <a:p>
            <a:r>
              <a:t>시장 전체 지도</a:t>
            </a:r>
          </a:p>
          <a:p>
            <a:r>
              <a:t>튜토리얼 3/5</a:t>
            </a:r>
          </a:p>
          <a:p>
            <a:r>
              <a:t>영향 경로 보기</a:t>
            </a:r>
          </a:p>
          <a:p/>
          <a:p>
            <a:r>
              <a:t>기업을 고른 뒤 상세의 [직접 이슈]에서 사건을 눌러 보세요. 기업과 그 사건이 어떻게 이어졌는지 단계별 근거와 함께 보여요. 기업 사이 점선(사건 공유)을 눌러도 두 기업의 관계가 열려요.</a:t>
            </a:r>
          </a:p>
          <a:p/>
          <a:p>
            <a:r>
              <a:t>키보드로는 [목록] 보기에서 기업을 고른 뒤 상세의 [직접 이슈] 사건 제목으로 Tab해 Enter를 누르세요.</a:t>
            </a:r>
          </a:p>
          <a:p/>
          <a:p>
            <a:r>
              <a:t>1단계 지도 움직이기</a:t>
            </a:r>
          </a:p>
          <a:p>
            <a:r>
              <a:t>2단계 기업이나 사건 고르기</a:t>
            </a:r>
          </a:p>
          <a:p>
            <a:r>
              <a:t>3단계 영향 경로 보기, 지금 단계</a:t>
            </a:r>
          </a:p>
          <a:p>
            <a:r>
              <a:t>4단계 상세와 근거 확인하기</a:t>
            </a:r>
          </a:p>
          <a:p>
            <a:r>
              <a:t>5단계 AI에게 묻기</a:t>
            </a:r>
          </a:p>
          <a:p>
            <a:r>
              <a:t>이전</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D-GRP-T4.png</a:t>
            </a:r>
          </a:p>
          <a:p>
            <a:r>
              <a:t>좌표·클릭 후 실제 화면: D-GRP-T4.json</a:t>
            </a:r>
          </a:p>
          <a:p>
            <a:r>
              <a:t>본문으로 건너뛰기</a:t>
            </a:r>
          </a:p>
          <a:p>
            <a:r>
              <a:t>줍</a:t>
            </a:r>
          </a:p>
          <a:p>
            <a:r>
              <a:t>Zoop</a:t>
            </a:r>
          </a:p>
          <a:p>
            <a:r>
              <a:t>지도</a:t>
            </a:r>
          </a:p>
          <a:p>
            <a:r>
              <a:t>브리핑</a:t>
            </a:r>
          </a:p>
          <a:p>
            <a:r>
              <a:t>내 종목</a:t>
            </a:r>
          </a:p>
          <a:p>
            <a:r>
              <a:t>화면계획 시연님</a:t>
            </a:r>
          </a:p>
          <a:p>
            <a:r>
              <a:t>시장 전체 지도</a:t>
            </a:r>
          </a:p>
          <a:p>
            <a:r>
              <a:t>튜토리얼 4/5</a:t>
            </a:r>
          </a:p>
          <a:p>
            <a:r>
              <a:t>상세와 근거 확인하기</a:t>
            </a:r>
          </a:p>
          <a:p/>
          <a:p>
            <a:r>
              <a:t>상세에서 [근거 N건 보기]를 눌러 기사 원문과 인용을 확인해 보세요.</a:t>
            </a:r>
          </a:p>
          <a:p/>
          <a:p>
            <a:r>
              <a:t>상세 패널의 [근거 N건 보기] 버튼으로 Tab해 Enter를 누르세요.</a:t>
            </a:r>
          </a:p>
          <a:p/>
          <a:p>
            <a:r>
              <a:t>1단계 지도 움직이기</a:t>
            </a:r>
          </a:p>
          <a:p>
            <a:r>
              <a:t>2단계 기업이나 사건 고르기</a:t>
            </a:r>
          </a:p>
          <a:p>
            <a:r>
              <a:t>3단계 영향 경로 보기</a:t>
            </a:r>
          </a:p>
          <a:p>
            <a:r>
              <a:t>4단계 상세와 근거 확인하기, 지금 단계</a:t>
            </a:r>
          </a:p>
          <a:p>
            <a:r>
              <a:t>5단계 AI에게 묻기</a:t>
            </a:r>
          </a:p>
          <a:p>
            <a:r>
              <a:t>이전</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D-GRP-T5.png</a:t>
            </a:r>
          </a:p>
          <a:p>
            <a:r>
              <a:t>좌표·클릭 후 실제 화면: D-GRP-T5.json</a:t>
            </a:r>
          </a:p>
          <a:p>
            <a:r>
              <a:t>본문으로 건너뛰기</a:t>
            </a:r>
          </a:p>
          <a:p>
            <a:r>
              <a:t>줍</a:t>
            </a:r>
          </a:p>
          <a:p>
            <a:r>
              <a:t>Zoop</a:t>
            </a:r>
          </a:p>
          <a:p>
            <a:r>
              <a:t>지도</a:t>
            </a:r>
          </a:p>
          <a:p>
            <a:r>
              <a:t>브리핑</a:t>
            </a:r>
          </a:p>
          <a:p>
            <a:r>
              <a:t>내 종목</a:t>
            </a:r>
          </a:p>
          <a:p>
            <a:r>
              <a:t>화면계획 시연님</a:t>
            </a:r>
          </a:p>
          <a:p>
            <a:r>
              <a:t>시장 전체 지도</a:t>
            </a:r>
          </a:p>
          <a:p>
            <a:r>
              <a:t>튜토리얼 5/5</a:t>
            </a:r>
          </a:p>
          <a:p>
            <a:r>
              <a:t>AI에게 묻기</a:t>
            </a:r>
          </a:p>
          <a:p/>
          <a:p>
            <a:r>
              <a:t>상세에서 [AI에게 묻기]를 누르면 고른 대상과 근거를 바탕으로 질문할 수 있어요. 근거가 부족하면 답을 보류해요.</a:t>
            </a:r>
          </a:p>
          <a:p/>
          <a:p>
            <a:r>
              <a:t>상세 패널의 [AI에게 묻기] 버튼으로 Tab해 Enter를 누르세요.</a:t>
            </a:r>
          </a:p>
          <a:p/>
          <a:p>
            <a:r>
              <a:t>1단계 지도 움직이기</a:t>
            </a:r>
          </a:p>
          <a:p>
            <a:r>
              <a:t>2단계 기업이나 사건 고르기</a:t>
            </a:r>
          </a:p>
          <a:p>
            <a:r>
              <a:t>3단계 영향 경로 보기</a:t>
            </a:r>
          </a:p>
          <a:p>
            <a:r>
              <a:t>4단계 상세와 근거 확인하기</a:t>
            </a:r>
          </a:p>
          <a:p>
            <a:r>
              <a:t>5단계 AI에게 묻기, 지금 단계</a:t>
            </a:r>
          </a:p>
          <a:p>
            <a:r>
              <a:t>이전</a:t>
            </a:r>
          </a:p>
          <a:p>
            <a:r>
              <a:t>마치기</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D-GRP-02.png</a:t>
            </a:r>
          </a:p>
          <a:p>
            <a:r>
              <a:t>좌표·클릭 후 실제 화면: D-GRP-02.json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Jensen Huang appears at Salesforce Dreamforce 선택됨</a:t>
            </a:r>
          </a:p>
          <a:p/>
          <a:p>
            <a:r>
              <a:t>흐름 순으로 정렬</a:t>
            </a:r>
          </a:p>
          <a:p>
            <a:r>
              <a:t>Jensen Huang appears at Salesforce Dreamforce</a:t>
            </a:r>
          </a:p>
          <a:p/>
          <a:p>
            <a:r>
              <a:t>발생 시각 미상</a:t>
            </a:r>
          </a:p>
          <a:p/>
          <a:p>
            <a:r>
              <a:t>근거 2건 보기</a:t>
            </a:r>
          </a:p>
          <a:p>
            <a:r>
              <a:t>이 노드 중심으로 보기</a:t>
            </a:r>
          </a:p>
          <a:p>
            <a:r>
              <a:t>AI에게 묻기</a:t>
            </a:r>
          </a:p>
          <a:p>
            <a:r>
              <a:t>직접 관련 기업 1곳</a:t>
            </a:r>
          </a:p>
          <a:p>
            <a:r>
              <a:t>S</a:t>
            </a:r>
          </a:p>
          <a:p>
            <a:r>
              <a:t>Salesforce</a:t>
            </a:r>
          </a:p>
          <a:p>
            <a:r>
              <a:t>주최자</a:t>
            </a:r>
          </a:p>
          <a:p>
            <a:r>
              <a:t>보도 기사 1건</a:t>
            </a:r>
          </a:p>
          <a:p>
            <a:r>
              <a:t>‘Now We Can Know Everything and Do Anything,’ Jensen Huang Says at Dreamforce</a:t>
            </a:r>
          </a:p>
          <a:p>
            <a:r>
              <a:t>NVIDIA official blog (blogs.nvidia.com) · 2026-09-16 07:24 KST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D-GRP-03.png</a:t>
            </a:r>
          </a:p>
          <a:p>
            <a:r>
              <a:t>좌표·클릭 후 실제 화면: D-GRP-03.json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a:t>
            </a:r>
          </a:p>
          <a:p/>
          <a:p>
            <a:r>
              <a:t>005930</a:t>
            </a:r>
          </a:p>
          <a:p/>
          <a:p>
            <a:r>
              <a:t>보유 종목</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2026-09-11</a:t>
            </a:r>
          </a:p>
          <a:p>
            <a:r>
              <a:t>주최/진행</a:t>
            </a:r>
          </a:p>
          <a:p>
            <a:r>
              <a:t>[영상] 요즘 사람들의 책 읽기, 민음사와 함께 한 갤럭시 Z 폴드8 북토크 현장</a:t>
            </a:r>
          </a:p>
          <a:p>
            <a:r>
              <a:t>근거 2건 보기</a:t>
            </a:r>
          </a:p>
          <a:p>
            <a:r>
              <a:t>2026-09-08</a:t>
            </a:r>
          </a:p>
          <a:p>
            <a:r>
              <a:t>발행회사</a:t>
            </a:r>
          </a:p>
          <a:p>
            <a:r>
              <a:t>최대주주등소유주식변동신고서</a:t>
            </a:r>
          </a:p>
          <a:p>
            <a:r>
              <a:t>근거 2건 보기</a:t>
            </a:r>
          </a:p>
          <a:p>
            <a:r>
              <a:t>2026-08-07</a:t>
            </a:r>
          </a:p>
          <a:p>
            <a:r>
              <a:t>삼성전자, 8월 7일 갤럭시 워치 공식 출시</a:t>
            </a:r>
          </a:p>
          <a:p>
            <a:r>
              <a:t>근거 1건 보기</a:t>
            </a:r>
          </a:p>
          <a:p>
            <a:r>
              <a:t>2026-07-28</a:t>
            </a:r>
          </a:p>
          <a:p>
            <a:r>
              <a:t>제공사</a:t>
            </a:r>
          </a:p>
          <a:p>
            <a:r>
              <a:t>삼성전자, ‘갤럭시 Z 폴드8 울트라·폴드8·플립8’, ‘갤럭시 워치 울트라2·워치9’ 사전 판매 시작</a:t>
            </a:r>
          </a:p>
          <a:p>
            <a:r>
              <a:t>근거 1건 보기</a:t>
            </a:r>
          </a:p>
          <a:p>
            <a:r>
              <a:t>2026-07-28</a:t>
            </a:r>
          </a:p>
          <a:p>
            <a:r>
              <a:t>판매사</a:t>
            </a:r>
          </a:p>
          <a:p>
            <a:r>
              <a:t>삼성전자, 7월 28일 갤럭시 워치 사전 판매 시작</a:t>
            </a:r>
          </a:p>
          <a:p>
            <a:r>
              <a:t>근거 1건 보기</a:t>
            </a:r>
          </a:p>
          <a:p>
            <a:r>
              <a:t>2026-07-24</a:t>
            </a:r>
          </a:p>
          <a:p>
            <a:r>
              <a:t>참여사</a:t>
            </a:r>
          </a:p>
          <a:p>
            <a:r>
              <a:t>AI Summit Stage Gathering of Global Tech Leaders at the Midway in San Francisco</a:t>
            </a:r>
          </a:p>
          <a:p>
            <a:r>
              <a:t>근거 3건 보기</a:t>
            </a:r>
          </a:p>
          <a:p>
            <a:r>
              <a:t>2026-07-22</a:t>
            </a:r>
          </a:p>
          <a:p>
            <a:r>
              <a:t>공개 주체</a:t>
            </a:r>
          </a:p>
          <a:p>
            <a:r>
              <a:t>삼성전자, ‘갤럭시 워치 울트라2·워치9’ 공개</a:t>
            </a:r>
          </a:p>
          <a:p>
            <a:r>
              <a:t>근거 1건 보기</a:t>
            </a:r>
          </a:p>
          <a:p>
            <a:r>
              <a:t>발생 시각 미상</a:t>
            </a:r>
          </a:p>
          <a:p>
            <a:r>
              <a:t>협력사·기술 제공사</a:t>
            </a:r>
          </a:p>
          <a:p>
            <a:r>
              <a:t>Samsung, SK Telecom, and Hana Financial Group Build Korea’s First Private 5G Smart Office in the Financial Sector</a:t>
            </a:r>
          </a:p>
          <a:p>
            <a:r>
              <a:t>근거 1건 보기</a:t>
            </a:r>
          </a:p>
          <a:p>
            <a:r>
              <a:t>발생 시각 미상</a:t>
            </a:r>
          </a:p>
          <a:p>
            <a:r>
              <a:t>솔루션 제공사</a:t>
            </a:r>
          </a:p>
          <a:p>
            <a:r>
              <a:t>Samsung, SK Telecom, and Hana Financial Group Build Korea’s First Private 5G Smart Office in the Financial Sector</a:t>
            </a:r>
          </a:p>
          <a:p>
            <a:r>
              <a:t>근거 1건 보기</a:t>
            </a:r>
          </a:p>
          <a:p>
            <a:r>
              <a:t>발생 시각 미상</a:t>
            </a:r>
          </a:p>
          <a:p>
            <a:r>
              <a:t>솔루션 제공사</a:t>
            </a:r>
          </a:p>
          <a:p>
            <a:r>
              <a:t>Samsung Provides AI-Native NIS Solution for SK Telecom’s Project</a:t>
            </a:r>
          </a:p>
          <a:p>
            <a:r>
              <a:t>근거 1건 보기</a:t>
            </a:r>
          </a:p>
          <a:p>
            <a:r>
              <a:t>발생 시각 미상</a:t>
            </a:r>
          </a:p>
          <a:p>
            <a:r>
              <a:t>솔루션 제공사</a:t>
            </a:r>
          </a:p>
          <a:p>
            <a:r>
              <a:t>Samsung to Support KT’s Quadruped Welding Robot Use Case with NIS and CognitiV NOS</a:t>
            </a:r>
          </a:p>
          <a:p>
            <a:r>
              <a:t>근거 1건 보기</a:t>
            </a:r>
          </a:p>
          <a:p>
            <a:r>
              <a:t>발생 시각 미상</a:t>
            </a:r>
          </a:p>
          <a:p>
            <a:r>
              <a:t>계약사</a:t>
            </a:r>
          </a:p>
          <a:p>
            <a:r>
              <a:t>Samsung Signs AI RAN Project Contracts with KT and SK Telecom Under Korea’s Hyper AI Network Initiative</a:t>
            </a:r>
          </a:p>
          <a:p>
            <a:r>
              <a:t>근거 1건 보기</a:t>
            </a:r>
          </a:p>
          <a:p>
            <a:r>
              <a:t>발생 시각 미상</a:t>
            </a:r>
          </a:p>
          <a:p>
            <a:r>
              <a:t>주최자</a:t>
            </a:r>
          </a:p>
          <a:p>
            <a:r>
              <a:t>삼성전자, 가전 테크세미나 개최…지역 맞춤형 AI 가전 선봬</a:t>
            </a:r>
          </a:p>
          <a:p>
            <a:r>
              <a:t>근거 3건 보기</a:t>
            </a:r>
          </a:p>
          <a:p>
            <a:r>
              <a:t>발생 시각 미상</a:t>
            </a:r>
          </a:p>
          <a:p>
            <a:r>
              <a:t>시연자</a:t>
            </a:r>
          </a:p>
          <a:p>
            <a:r>
              <a:t>삼성전자, 가전 테크세미나 개최…지역 맞춤형 AI 가전 선봬</a:t>
            </a:r>
          </a:p>
          <a:p>
            <a:r>
              <a:t>근거 1건 보기</a:t>
            </a:r>
          </a:p>
          <a:p>
            <a:r>
              <a:t>발생 시각 미상</a:t>
            </a:r>
          </a:p>
          <a:p>
            <a:r>
              <a:t>참가 및 전시 주체</a:t>
            </a:r>
          </a:p>
          <a:p>
            <a:r>
              <a:t>삼성전자, ‘2026 기후산업국제박람회’서 일상부터 산업까지 맞춤형 에너지 솔루션 선보여</a:t>
            </a:r>
          </a:p>
          <a:p>
            <a:r>
              <a:t>근거 3건 보기</a:t>
            </a:r>
          </a:p>
          <a:p>
            <a:r>
              <a:t>발생 시각 미상</a:t>
            </a:r>
          </a:p>
          <a:p>
            <a:r>
              <a:t>프로모션 주최/운영</a:t>
            </a:r>
          </a:p>
          <a:p>
            <a:r>
              <a:t>삼성전자, 상업용 시스템에어컨 세척 프로모션 진행</a:t>
            </a:r>
          </a:p>
          <a:p>
            <a:r>
              <a:t>근거 1건 보기</a:t>
            </a:r>
          </a:p>
          <a:p>
            <a:r>
              <a:t>발생 시각 미상</a:t>
            </a:r>
          </a:p>
          <a:p>
            <a:r>
              <a:t>컨소시엄 참여 및 공동…</a:t>
            </a:r>
          </a:p>
          <a:p>
            <a:r>
              <a:t>삼성전자, ASML과 차세대 반도체 제조 협력 확대</a:t>
            </a:r>
          </a:p>
          <a:p>
            <a:r>
              <a:t>근거 2건 보기</a:t>
            </a:r>
          </a:p>
          <a:p>
            <a:r>
              <a:t>발생 시각 미상</a:t>
            </a:r>
          </a:p>
          <a:p>
            <a:r>
              <a:t>발행회사</a:t>
            </a:r>
          </a:p>
          <a:p>
            <a:r>
              <a:t>최대주주등소유주식변동신고서</a:t>
            </a:r>
          </a:p>
          <a:p>
            <a:r>
              <a:t>근거 2건 보기</a:t>
            </a:r>
          </a:p>
          <a:p>
            <a:r>
              <a:t>발생 시각 미상</a:t>
            </a:r>
          </a:p>
          <a:p>
            <a:r>
              <a:t>발행회사</a:t>
            </a:r>
          </a:p>
          <a:p>
            <a:r>
              <a:t>최대주주등소유주식변동신고서</a:t>
            </a:r>
          </a:p>
          <a:p>
            <a:r>
              <a:t>근거 3건 보기</a:t>
            </a:r>
          </a:p>
          <a:p>
            <a:r>
              <a:t>발생 시각 미상</a:t>
            </a:r>
          </a:p>
          <a:p>
            <a:r>
              <a:t>제공사</a:t>
            </a:r>
          </a:p>
          <a:p>
            <a:r>
              <a:t>삼성전자, ‘갤럭시 Z 폴드8 울트라·폴드8·플립8’, ‘갤럭시 워치 울트라2·워치9’ 사전 판매 시작</a:t>
            </a:r>
          </a:p>
          <a:p>
            <a:r>
              <a:t>근거 1건 보기</a:t>
            </a:r>
          </a:p>
          <a:p>
            <a:r>
              <a:t>발생 시각 미상</a:t>
            </a:r>
          </a:p>
          <a:p>
            <a:r>
              <a:t>개발사</a:t>
            </a:r>
          </a:p>
          <a:p>
            <a:r>
              <a:t>삼성전자, 갤럭시 워치 건강 관리 기능 추가</a:t>
            </a:r>
          </a:p>
          <a:p>
            <a:r>
              <a:t>근거 1건 보기</a:t>
            </a:r>
          </a:p>
          <a:p>
            <a:r>
              <a:t>발생 시각 미상</a:t>
            </a:r>
          </a:p>
          <a:p>
            <a:r>
              <a:t>투자사</a:t>
            </a:r>
          </a:p>
          <a:p>
            <a:r>
              <a:t>삼성전자·삼성SDS, 구미에 휴머노이드 양산·AI 데이터센터 투자 계획</a:t>
            </a:r>
          </a:p>
          <a:p>
            <a:r>
              <a:t>근거 2건 보기</a:t>
            </a:r>
          </a:p>
          <a:p>
            <a:r>
              <a:t>발생 시각 미상</a:t>
            </a:r>
          </a:p>
          <a:p>
            <a:r>
              <a:t>투자자</a:t>
            </a:r>
          </a:p>
          <a:p>
            <a:r>
              <a:t>삼성, 미래 성장 위해 호남에 425조원 투자</a:t>
            </a:r>
          </a:p>
          <a:p>
            <a:r>
              <a:t>근거 1건 보기</a:t>
            </a:r>
          </a:p>
          <a:p>
            <a:r>
              <a:t>발생 시각 미상</a:t>
            </a:r>
          </a:p>
          <a:p>
            <a:r>
              <a:t>구축사</a:t>
            </a:r>
          </a:p>
          <a:p>
            <a:r>
              <a:t>삼성, 미래 성장 위해 2,655조원 투자</a:t>
            </a:r>
          </a:p>
          <a:p>
            <a:r>
              <a:t>근거 2건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D-GRP-04.png</a:t>
            </a:r>
          </a:p>
          <a:p>
            <a:r>
              <a:t>좌표·클릭 후 실제 화면: D-GRP-04.json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같은 사건 2건 연결선 선택됨</a:t>
            </a:r>
          </a:p>
          <a:p/>
          <a:p>
            <a:r>
              <a:t>흐름 순으로 정렬</a:t>
            </a:r>
          </a:p>
          <a:p>
            <a:r>
              <a:t>삼성전자 – 삼성에스디에스</a:t>
            </a:r>
          </a:p>
          <a:p/>
          <a:p>
            <a:r>
              <a:t>같은 사건 2건</a:t>
            </a:r>
          </a:p>
          <a:p>
            <a:r>
              <a:t>사건 공유</a:t>
            </a:r>
          </a:p>
          <a:p/>
          <a:p>
            <a:r>
              <a:t>두 기업이 같은 사건에 함께 등장했다는 뜻이에요. 직접 거래나 영향 관계는 아니에요.</a:t>
            </a:r>
          </a:p>
          <a:p/>
          <a:p>
            <a:r>
              <a:t>방향</a:t>
            </a:r>
          </a:p>
          <a:p>
            <a:r>
              <a:t>방향 없음</a:t>
            </a:r>
          </a:p>
          <a:p>
            <a:r>
              <a:t>공유 사건</a:t>
            </a:r>
          </a:p>
          <a:p>
            <a:r>
              <a:t>2건 · 2026-09-29</a:t>
            </a:r>
          </a:p>
          <a:p>
            <a:r>
              <a:t>확인 시점</a:t>
            </a:r>
          </a:p>
          <a:p>
            <a:r>
              <a:t>2026-10-01 20:21 KST</a:t>
            </a:r>
          </a:p>
          <a:p>
            <a:r>
              <a:t>근거 4건 보기</a:t>
            </a:r>
          </a:p>
          <a:p>
            <a:r>
              <a:t>AI에게 묻기</a:t>
            </a:r>
          </a:p>
          <a:p>
            <a:r>
              <a:t>연결된 두 대상</a:t>
            </a:r>
          </a:p>
          <a:p>
            <a:r>
              <a:t>기업:</a:t>
            </a:r>
          </a:p>
          <a:p>
            <a:r>
              <a:t>삼성전자</a:t>
            </a:r>
          </a:p>
          <a:p>
            <a:r>
              <a:t>삼</a:t>
            </a:r>
          </a:p>
          <a:p>
            <a:r>
              <a:t>기업:</a:t>
            </a:r>
          </a:p>
          <a:p>
            <a:r>
              <a:t>삼성에스디에스</a:t>
            </a:r>
          </a:p>
          <a:p>
            <a:r>
              <a:t>함께 언급된 사건 2건</a:t>
            </a:r>
          </a:p>
          <a:p>
            <a:r>
              <a:t>발생 시각 미상</a:t>
            </a:r>
          </a:p>
          <a:p>
            <a:r>
              <a:t>삼성전자·삼성SDS, 구미에 휴머노이드 양산·AI 데이터센터 투자 계획</a:t>
            </a:r>
          </a:p>
          <a:p>
            <a:r>
              <a:t>근거 2건 보기</a:t>
            </a:r>
          </a:p>
          <a:p>
            <a:r>
              <a:t>2026-09-29</a:t>
            </a:r>
          </a:p>
          <a:p>
            <a:r>
              <a:t>삼성 6개사, 美 AI 인프라 기업 ‘헬릭스’에 10억 달러 투자</a:t>
            </a:r>
          </a:p>
          <a:p>
            <a:r>
              <a:t>근거 2건 보기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D-GRP-05.png</a:t>
            </a:r>
          </a:p>
          <a:p>
            <a:r>
              <a:t>좌표·클릭 후 실제 화면: D-GRP-05.json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 · 영향 경로</a:t>
            </a:r>
          </a:p>
          <a:p/>
          <a:p>
            <a:r>
              <a:t>직접 연결 · 지도 기준 2026-10-01 20:21 KST</a:t>
            </a:r>
          </a:p>
          <a:p/>
          <a:p>
            <a:r>
              <a:t>사건 상세 보기</a:t>
            </a:r>
          </a:p>
          <a:p>
            <a:r>
              <a:t>AI에게 묻기</a:t>
            </a:r>
          </a:p>
          <a:p>
            <a:r>
              <a:t>확인된 연결</a:t>
            </a:r>
          </a:p>
          <a:p>
            <a:r>
              <a:t>기업:</a:t>
            </a:r>
          </a:p>
          <a:p>
            <a:r>
              <a:t>삼성전자</a:t>
            </a:r>
          </a:p>
          <a:p>
            <a:r>
              <a:t>직접 관련</a:t>
            </a:r>
          </a:p>
          <a:p>
            <a:r>
              <a:t>High NA EUV 도…</a:t>
            </a:r>
          </a:p>
          <a:p>
            <a:r>
              <a:t>· 계획</a:t>
            </a:r>
          </a:p>
          <a:p>
            <a:r>
              <a:t>근거 2건</a:t>
            </a:r>
          </a:p>
          <a:p>
            <a:r>
              <a:t>2028년</a:t>
            </a:r>
          </a:p>
          <a:p>
            <a:r>
              <a:t>삼성전자, ASML과 차세대 반도체 제조 협력 확대</a:t>
            </a:r>
          </a:p>
          <a:p>
            <a:r>
              <a:t>근거 2건 보기</a:t>
            </a:r>
          </a:p>
          <a:p>
            <a:r>
              <a:t>함께 연결된 기업 1곳</a:t>
            </a:r>
          </a:p>
          <a:p>
            <a:r>
              <a:t>A</a:t>
            </a:r>
          </a:p>
          <a:p>
            <a:r>
              <a:t>ASML</a:t>
            </a:r>
          </a:p>
          <a:p>
            <a:r>
              <a:t>직접 관련 · 협력 파트너(노광 설비…</a:t>
            </a:r>
          </a:p>
          <a:p>
            <a:r>
              <a:t>근거 2건</a:t>
            </a:r>
          </a:p>
          <a:p>
            <a:r>
              <a:t>해석 한계</a:t>
            </a:r>
          </a:p>
          <a:p>
            <a:r>
              <a:t>위 연결은 기사에 적힌 사실과 등록된 사업 관계예요. 이 사건이 주가나 실적에 주는 영향은 판단하지 않아요.</a:t>
            </a:r>
          </a:p>
          <a:p>
            <a:r>
              <a:t>보도 표현이 발생이 아닌 연결(계획·전망 등)은 아직 일어난 일로 확인되지 않았어요.</a:t>
            </a:r>
          </a:p>
          <a:p>
            <a:r>
              <a:t>근거 문서</a:t>
            </a:r>
          </a:p>
          <a:p/>
          <a:p>
            <a:r>
              <a:t>삼성전자, ASML과 차세대 반도체 제조 협력 확대</a:t>
            </a:r>
          </a:p>
          <a:p/>
          <a:p>
            <a:r>
              <a:t>관계 확인 시점</a:t>
            </a:r>
          </a:p>
          <a:p>
            <a:r>
              <a:t>2026-10-01 20:21 KST</a:t>
            </a:r>
          </a:p>
          <a:p/>
          <a:p>
            <a:r>
              <a:t>Samsung Electronics Newsroom (news.samsung.com)</a:t>
            </a:r>
          </a:p>
          <a:p>
            <a:r>
              <a:t>·</a:t>
            </a:r>
          </a:p>
          <a:p>
            <a:r>
              <a:t>발행 2026-09-09 00:03 KST</a:t>
            </a:r>
          </a:p>
          <a:p/>
          <a:p>
            <a:r>
              <a:t>삼성전자, ASML과 차세대 반도체 제조 협력 확대</a:t>
            </a:r>
          </a:p>
          <a:p/>
          <a:p>
            <a:r>
              <a:t>“한편, 삼성전자는 ASML과 2028년까지 첨단 D램 제조에 차세대 노광 설비 High NA EUV 도입을 위한 협력도 강화할 계획이다.”</a:t>
            </a:r>
          </a:p>
          <a:p>
            <a:r>
              <a:t>원문 기사 보기</a:t>
            </a:r>
          </a:p>
          <a:p>
            <a:r>
              <a:t>(새 창에서 열림)</a:t>
            </a:r>
          </a:p>
          <a:p>
            <a:r>
              <a:t>지도에서 보기</a:t>
            </a:r>
          </a:p>
          <a:p/>
          <a:p>
            <a:r>
              <a:t>Samsung Electronics Newsroom (news.samsung.com)</a:t>
            </a:r>
          </a:p>
          <a:p>
            <a:r>
              <a:t>·</a:t>
            </a:r>
          </a:p>
          <a:p>
            <a:r>
              <a:t>발행 2026-09-09 00:03 KST</a:t>
            </a:r>
          </a:p>
          <a:p/>
          <a:p>
            <a:r>
              <a:t>삼성전자, ASML과 차세대 반도체 제조 협력 확대</a:t>
            </a:r>
          </a:p>
          <a:p/>
          <a:p>
            <a:r>
              <a:t>“2028년 업계 최초로 메모리 제조에 High NA EUV 도입 추진”</a:t>
            </a:r>
          </a:p>
          <a:p>
            <a:r>
              <a:t>원문 기사 보기</a:t>
            </a:r>
          </a:p>
          <a:p>
            <a:r>
              <a:t>(새 창에서 열림)</a:t>
            </a:r>
          </a:p>
          <a:p>
            <a:r>
              <a:t>지도에서 보기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D-GRP-06.png</a:t>
            </a:r>
          </a:p>
          <a:p>
            <a:r>
              <a:t>좌표·클릭 후 실제 화면: D-GRP-06.json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 · 영향 경로</a:t>
            </a:r>
          </a:p>
          <a:p/>
          <a:p>
            <a:r>
              <a:t>직접 연결 · 지도 기준 2026-10-01 20:21 KST</a:t>
            </a:r>
          </a:p>
          <a:p/>
          <a:p>
            <a:r>
              <a:t>사건 상세 보기</a:t>
            </a:r>
          </a:p>
          <a:p>
            <a:r>
              <a:t>AI에게 묻기</a:t>
            </a:r>
          </a:p>
          <a:p>
            <a:r>
              <a:t>확인된 연결</a:t>
            </a:r>
          </a:p>
          <a:p>
            <a:r>
              <a:t>기업:</a:t>
            </a:r>
          </a:p>
          <a:p>
            <a:r>
              <a:t>삼성전자</a:t>
            </a:r>
          </a:p>
          <a:p>
            <a:r>
              <a:t>직접 관련</a:t>
            </a:r>
          </a:p>
          <a:p>
            <a:r>
              <a:t>High NA EUV 도…</a:t>
            </a:r>
          </a:p>
          <a:p>
            <a:r>
              <a:t>· 계획</a:t>
            </a:r>
          </a:p>
          <a:p>
            <a:r>
              <a:t>근거 2건</a:t>
            </a:r>
          </a:p>
          <a:p>
            <a:r>
              <a:t>2028년</a:t>
            </a:r>
          </a:p>
          <a:p>
            <a:r>
              <a:t>삼성전자, ASML과 차세대 반도체 제조 협력 확대</a:t>
            </a:r>
          </a:p>
          <a:p>
            <a:r>
              <a:t>근거 2건 보기</a:t>
            </a:r>
          </a:p>
          <a:p>
            <a:r>
              <a:t>함께 연결된 기업 1곳</a:t>
            </a:r>
          </a:p>
          <a:p>
            <a:r>
              <a:t>A</a:t>
            </a:r>
          </a:p>
          <a:p>
            <a:r>
              <a:t>ASML</a:t>
            </a:r>
          </a:p>
          <a:p>
            <a:r>
              <a:t>직접 관련 · 협력 파트너(노광 설비…</a:t>
            </a:r>
          </a:p>
          <a:p>
            <a:r>
              <a:t>근거 2건</a:t>
            </a:r>
          </a:p>
          <a:p>
            <a:r>
              <a:t>해석 한계</a:t>
            </a:r>
          </a:p>
          <a:p>
            <a:r>
              <a:t>위 연결은 기사에 적힌 사실과 등록된 사업 관계예요. 이 사건이 주가나 실적에 주는 영향은 판단하지 않아요.</a:t>
            </a:r>
          </a:p>
          <a:p>
            <a:r>
              <a:t>보도 표현이 발생이 아닌 연결(계획·전망 등)은 아직 일어난 일로 확인되지 않았어요.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D-GRP-07.png</a:t>
            </a:r>
          </a:p>
          <a:p>
            <a:r>
              <a:t>좌표·클릭 후 실제 화면: D-GRP-07.json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흐름 순으로 정렬</a:t>
            </a:r>
          </a:p>
          <a:p/>
          <a:p>
            <a:r>
              <a:t>삼성전자에서 NVIDIA까지 경로,</a:t>
            </a:r>
          </a:p>
          <a:p>
            <a:r>
              <a:t>삼성전자</a:t>
            </a:r>
          </a:p>
          <a:p>
            <a:r>
              <a:t>NVIDIA</a:t>
            </a:r>
          </a:p>
          <a:p>
            <a:r>
              <a:t>· 2단계</a:t>
            </a:r>
          </a:p>
          <a:p/>
          <a:p>
            <a:r>
              <a:t>전체 보기</a:t>
            </a:r>
          </a:p>
          <a:p>
            <a:r>
              <a:t>삼성전자 ↔ NVIDIA</a:t>
            </a:r>
          </a:p>
          <a:p>
            <a:r>
              <a:t>다른 기업 고르기</a:t>
            </a:r>
          </a:p>
          <a:p>
            <a:r>
              <a:t>2단계</a:t>
            </a:r>
          </a:p>
          <a:p>
            <a:r>
              <a:t>기업:</a:t>
            </a:r>
          </a:p>
          <a:p>
            <a:r>
              <a:t>삼성전자</a:t>
            </a:r>
          </a:p>
          <a:p>
            <a:r>
              <a:t>직접 관련:</a:t>
            </a:r>
          </a:p>
          <a:p>
            <a:r>
              <a:t>투자사</a:t>
            </a:r>
          </a:p>
          <a:p>
            <a:r>
              <a:t>2026-09-29</a:t>
            </a:r>
          </a:p>
          <a:p>
            <a:r>
              <a:t>삼성 6개사, 美 AI 인프라 기업 ‘헬릭스’에 10억 달러 투자</a:t>
            </a:r>
          </a:p>
          <a:p>
            <a:r>
              <a:t>근거 2건 보기</a:t>
            </a:r>
          </a:p>
          <a:p>
            <a:r>
              <a:t>직접 관련:</a:t>
            </a:r>
          </a:p>
          <a:p>
            <a:r>
              <a:t>공동 설립 투자사</a:t>
            </a:r>
          </a:p>
          <a:p>
            <a:r>
              <a:t>기업:</a:t>
            </a:r>
          </a:p>
          <a:p>
            <a:r>
              <a:t>NVIDIA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D-GRP-07b.png</a:t>
            </a:r>
          </a:p>
          <a:p>
            <a:r>
              <a:t>좌표·클릭 후 실제 화면: D-GRP-07b.json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p>
            <a:r>
              <a:t>삼성전자 중심</a:t>
            </a:r>
          </a:p>
          <a:p/>
          <a:p>
            <a:r>
              <a:t>1단계</a:t>
            </a:r>
          </a:p>
          <a:p>
            <a:r>
              <a:t>2단계</a:t>
            </a:r>
          </a:p>
          <a:p>
            <a:r>
              <a:t>전체 보기</a:t>
            </a:r>
          </a:p>
          <a:p>
            <a:r>
              <a:t>삼성전자</a:t>
            </a:r>
          </a:p>
          <a:p/>
          <a:p>
            <a:r>
              <a:t>005930</a:t>
            </a:r>
          </a:p>
          <a:p/>
          <a:p>
            <a:r>
              <a:t>보유 종목</a:t>
            </a:r>
          </a:p>
          <a:p/>
          <a:p>
            <a:r>
              <a:t>기업 상세</a:t>
            </a:r>
          </a:p>
          <a:p>
            <a:r>
              <a:t>관심 종목에 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2026-09-11</a:t>
            </a:r>
          </a:p>
          <a:p>
            <a:r>
              <a:t>주최/진행</a:t>
            </a:r>
          </a:p>
          <a:p>
            <a:r>
              <a:t>[영상] 요즘 사람들의 책 읽기, 민음사와 함께 한 갤럭시 Z 폴드8 북토크 현장</a:t>
            </a:r>
          </a:p>
          <a:p>
            <a:r>
              <a:t>근거 2건 보기</a:t>
            </a:r>
          </a:p>
          <a:p>
            <a:r>
              <a:t>2026-09-08</a:t>
            </a:r>
          </a:p>
          <a:p>
            <a:r>
              <a:t>발행회사</a:t>
            </a:r>
          </a:p>
          <a:p>
            <a:r>
              <a:t>최대주주등소유주식변동신고서</a:t>
            </a:r>
          </a:p>
          <a:p>
            <a:r>
              <a:t>근거 2건 보기</a:t>
            </a:r>
          </a:p>
          <a:p>
            <a:r>
              <a:t>2026-08-07</a:t>
            </a:r>
          </a:p>
          <a:p>
            <a:r>
              <a:t>삼성전자, 8월 7일 갤럭시 워치 공식 출시</a:t>
            </a:r>
          </a:p>
          <a:p>
            <a:r>
              <a:t>근거 1건 보기</a:t>
            </a:r>
          </a:p>
          <a:p>
            <a:r>
              <a:t>2026-07-28</a:t>
            </a:r>
          </a:p>
          <a:p>
            <a:r>
              <a:t>제공사</a:t>
            </a:r>
          </a:p>
          <a:p>
            <a:r>
              <a:t>삼성전자, ‘갤럭시 Z 폴드8 울트라·폴드8·플립8’, ‘갤럭시 워치 울트라2·워치9’ 사전 판매 시작</a:t>
            </a:r>
          </a:p>
          <a:p>
            <a:r>
              <a:t>근거 1건 보기</a:t>
            </a:r>
          </a:p>
          <a:p>
            <a:r>
              <a:t>2026-07-28</a:t>
            </a:r>
          </a:p>
          <a:p>
            <a:r>
              <a:t>판매사</a:t>
            </a:r>
          </a:p>
          <a:p>
            <a:r>
              <a:t>삼성전자, 7월 28일 갤럭시 워치 사전 판매 시작</a:t>
            </a:r>
          </a:p>
          <a:p>
            <a:r>
              <a:t>근거 1건 보기</a:t>
            </a:r>
          </a:p>
          <a:p>
            <a:r>
              <a:t>2026-07-24</a:t>
            </a:r>
          </a:p>
          <a:p>
            <a:r>
              <a:t>참여사</a:t>
            </a:r>
          </a:p>
          <a:p>
            <a:r>
              <a:t>AI Summit Stage Gathering of Global Tech Leaders at the Midway in San Francisco</a:t>
            </a:r>
          </a:p>
          <a:p>
            <a:r>
              <a:t>근거 3건 보기</a:t>
            </a:r>
          </a:p>
          <a:p>
            <a:r>
              <a:t>2026-07-22</a:t>
            </a:r>
          </a:p>
          <a:p>
            <a:r>
              <a:t>공개 주체</a:t>
            </a:r>
          </a:p>
          <a:p>
            <a:r>
              <a:t>삼성전자, ‘갤럭시 워치 울트라2·워치9’ 공개</a:t>
            </a:r>
          </a:p>
          <a:p>
            <a:r>
              <a:t>근거 1건 보기</a:t>
            </a:r>
          </a:p>
          <a:p>
            <a:r>
              <a:t>발생 시각 미상</a:t>
            </a:r>
          </a:p>
          <a:p>
            <a:r>
              <a:t>협력사·기술 제공사</a:t>
            </a:r>
          </a:p>
          <a:p>
            <a:r>
              <a:t>Samsung, SK Telecom, and Hana Financial Group Build Korea’s First Private 5G Smart Office in the Financial Sector</a:t>
            </a:r>
          </a:p>
          <a:p>
            <a:r>
              <a:t>근거 1건 보기</a:t>
            </a:r>
          </a:p>
          <a:p>
            <a:r>
              <a:t>발생 시각 미상</a:t>
            </a:r>
          </a:p>
          <a:p>
            <a:r>
              <a:t>솔루션 제공사</a:t>
            </a:r>
          </a:p>
          <a:p>
            <a:r>
              <a:t>Samsung, SK Telecom, and Hana Financial Group Build Korea’s First Private 5G Smart Office in the Financial Sector</a:t>
            </a:r>
          </a:p>
          <a:p>
            <a:r>
              <a:t>근거 1건 보기</a:t>
            </a:r>
          </a:p>
          <a:p>
            <a:r>
              <a:t>발생 시각 미상</a:t>
            </a:r>
          </a:p>
          <a:p>
            <a:r>
              <a:t>솔루션 제공사</a:t>
            </a:r>
          </a:p>
          <a:p>
            <a:r>
              <a:t>Samsung Provides AI-Native NIS Solution for SK Telecom’s Project</a:t>
            </a:r>
          </a:p>
          <a:p>
            <a:r>
              <a:t>근거 1건 보기</a:t>
            </a:r>
          </a:p>
          <a:p>
            <a:r>
              <a:t>발생 시각 미상</a:t>
            </a:r>
          </a:p>
          <a:p>
            <a:r>
              <a:t>솔루션 제공사</a:t>
            </a:r>
          </a:p>
          <a:p>
            <a:r>
              <a:t>Samsung to Support KT’s Quadruped Welding Robot Use Case with NIS and CognitiV NOS</a:t>
            </a:r>
          </a:p>
          <a:p>
            <a:r>
              <a:t>근거 1건 보기</a:t>
            </a:r>
          </a:p>
          <a:p>
            <a:r>
              <a:t>발생 시각 미상</a:t>
            </a:r>
          </a:p>
          <a:p>
            <a:r>
              <a:t>계약사</a:t>
            </a:r>
          </a:p>
          <a:p>
            <a:r>
              <a:t>Samsung Signs AI RAN Project Contracts with KT and SK Telecom Under Korea’s Hyper AI Network Initiative</a:t>
            </a:r>
          </a:p>
          <a:p>
            <a:r>
              <a:t>근거 1건 보기</a:t>
            </a:r>
          </a:p>
          <a:p>
            <a:r>
              <a:t>발생 시각 미상</a:t>
            </a:r>
          </a:p>
          <a:p>
            <a:r>
              <a:t>주최자</a:t>
            </a:r>
          </a:p>
          <a:p>
            <a:r>
              <a:t>삼성전자, 가전 테크세미나 개최…지역 맞춤형 AI 가전 선봬</a:t>
            </a:r>
          </a:p>
          <a:p>
            <a:r>
              <a:t>근거 3건 보기</a:t>
            </a:r>
          </a:p>
          <a:p>
            <a:r>
              <a:t>발생 시각 미상</a:t>
            </a:r>
          </a:p>
          <a:p>
            <a:r>
              <a:t>시연자</a:t>
            </a:r>
          </a:p>
          <a:p>
            <a:r>
              <a:t>삼성전자, 가전 테크세미나 개최…지역 맞춤형 AI 가전 선봬</a:t>
            </a:r>
          </a:p>
          <a:p>
            <a:r>
              <a:t>근거 1건 보기</a:t>
            </a:r>
          </a:p>
          <a:p>
            <a:r>
              <a:t>발생 시각 미상</a:t>
            </a:r>
          </a:p>
          <a:p>
            <a:r>
              <a:t>참가 및 전시 주체</a:t>
            </a:r>
          </a:p>
          <a:p>
            <a:r>
              <a:t>삼성전자, ‘2026 기후산업국제박람회’서 일상부터 산업까지 맞춤형 에너지 솔루션 선보여</a:t>
            </a:r>
          </a:p>
          <a:p>
            <a:r>
              <a:t>근거 3건 보기</a:t>
            </a:r>
          </a:p>
          <a:p>
            <a:r>
              <a:t>발생 시각 미상</a:t>
            </a:r>
          </a:p>
          <a:p>
            <a:r>
              <a:t>프로모션 주최/운영</a:t>
            </a:r>
          </a:p>
          <a:p>
            <a:r>
              <a:t>삼성전자, 상업용 시스템에어컨 세척 프로모션 진행</a:t>
            </a:r>
          </a:p>
          <a:p>
            <a:r>
              <a:t>근거 1건 보기</a:t>
            </a:r>
          </a:p>
          <a:p>
            <a:r>
              <a:t>발생 시각 미상</a:t>
            </a:r>
          </a:p>
          <a:p>
            <a:r>
              <a:t>컨소시엄 참여 및 공동…</a:t>
            </a:r>
          </a:p>
          <a:p>
            <a:r>
              <a:t>삼성전자, ASML과 차세대 반도체 제조 협력 확대</a:t>
            </a:r>
          </a:p>
          <a:p>
            <a:r>
              <a:t>근거 2건 보기</a:t>
            </a:r>
          </a:p>
          <a:p>
            <a:r>
              <a:t>발생 시각 미상</a:t>
            </a:r>
          </a:p>
          <a:p>
            <a:r>
              <a:t>발행회사</a:t>
            </a:r>
          </a:p>
          <a:p>
            <a:r>
              <a:t>최대주주등소유주식변동신고서</a:t>
            </a:r>
          </a:p>
          <a:p>
            <a:r>
              <a:t>근거 2건 보기</a:t>
            </a:r>
          </a:p>
          <a:p>
            <a:r>
              <a:t>발생 시각 미상</a:t>
            </a:r>
          </a:p>
          <a:p>
            <a:r>
              <a:t>발행회사</a:t>
            </a:r>
          </a:p>
          <a:p>
            <a:r>
              <a:t>최대주주등소유주식변동신고서</a:t>
            </a:r>
          </a:p>
          <a:p>
            <a:r>
              <a:t>근거 3건 보기</a:t>
            </a:r>
          </a:p>
          <a:p>
            <a:r>
              <a:t>발생 시각 미상</a:t>
            </a:r>
          </a:p>
          <a:p>
            <a:r>
              <a:t>제공사</a:t>
            </a:r>
          </a:p>
          <a:p>
            <a:r>
              <a:t>삼성전자, ‘갤럭시 Z 폴드8 울트라·폴드8·플립8’, ‘갤럭시 워치 울트라2·워치9’ 사전 판매 시작</a:t>
            </a:r>
          </a:p>
          <a:p>
            <a:r>
              <a:t>근거 1건 보기</a:t>
            </a:r>
          </a:p>
          <a:p>
            <a:r>
              <a:t>발생 시각 미상</a:t>
            </a:r>
          </a:p>
          <a:p>
            <a:r>
              <a:t>개발사</a:t>
            </a:r>
          </a:p>
          <a:p>
            <a:r>
              <a:t>삼성전자, 갤럭시 워치 건강 관리 기능 추가</a:t>
            </a:r>
          </a:p>
          <a:p>
            <a:r>
              <a:t>근거 1건 보기</a:t>
            </a:r>
          </a:p>
          <a:p>
            <a:r>
              <a:t>발생 시각 미상</a:t>
            </a:r>
          </a:p>
          <a:p>
            <a:r>
              <a:t>투자사</a:t>
            </a:r>
          </a:p>
          <a:p>
            <a:r>
              <a:t>삼성전자·삼성SDS, 구미에 휴머노이드 양산·AI 데이터센터 투자 계획</a:t>
            </a:r>
          </a:p>
          <a:p>
            <a:r>
              <a:t>근거 2건 보기</a:t>
            </a:r>
          </a:p>
          <a:p>
            <a:r>
              <a:t>발생 시각 미상</a:t>
            </a:r>
          </a:p>
          <a:p>
            <a:r>
              <a:t>투자자</a:t>
            </a:r>
          </a:p>
          <a:p>
            <a:r>
              <a:t>삼성, 미래 성장 위해 호남에 425조원 투자</a:t>
            </a:r>
          </a:p>
          <a:p>
            <a:r>
              <a:t>근거 1건 보기</a:t>
            </a:r>
          </a:p>
          <a:p>
            <a:r>
              <a:t>발생 시각 미상</a:t>
            </a:r>
          </a:p>
          <a:p>
            <a:r>
              <a:t>구축사</a:t>
            </a:r>
          </a:p>
          <a:p>
            <a:r>
              <a:t>삼성, 미래 성장 위해 2,655조원 투자</a:t>
            </a:r>
          </a:p>
          <a:p>
            <a:r>
              <a:t>근거 2건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D-COM-01.png</a:t>
            </a:r>
          </a:p>
          <a:p>
            <a:r>
              <a:t>좌표·클릭 후 실제 화면: D-COM-01.json</a:t>
            </a:r>
          </a:p>
          <a:p>
            <a:r>
              <a:t>본문으로 건너뛰기</a:t>
            </a:r>
          </a:p>
          <a:p>
            <a:r>
              <a:t>줍</a:t>
            </a:r>
          </a:p>
          <a:p>
            <a:r>
              <a:t>Zoop</a:t>
            </a:r>
          </a:p>
          <a:p>
            <a:r>
              <a:t>지도</a:t>
            </a:r>
          </a:p>
          <a:p>
            <a:r>
              <a:t>브리핑</a:t>
            </a:r>
          </a:p>
          <a:p>
            <a:r>
              <a:t>내 종목</a:t>
            </a:r>
          </a:p>
          <a:p>
            <a:r>
              <a:t>데모 사용자님</a:t>
            </a:r>
          </a:p>
          <a:p>
            <a:r>
              <a:t>관계 그래프 보기</a:t>
            </a:r>
          </a:p>
          <a:p>
            <a:r>
              <a:t>삼성전자</a:t>
            </a:r>
          </a:p>
          <a:p>
            <a:r>
              <a:t>005930</a:t>
            </a:r>
          </a:p>
          <a:p>
            <a:r>
              <a:t>보유</a:t>
            </a:r>
          </a:p>
          <a:p>
            <a:r>
              <a:t>시세</a:t>
            </a:r>
          </a:p>
          <a:p/>
          <a:p>
            <a:r>
              <a:t>276,000원</a:t>
            </a:r>
          </a:p>
          <a:p/>
          <a:p>
            <a:r>
              <a:t>전일 대비</a:t>
            </a:r>
          </a:p>
          <a:p>
            <a:r>
              <a:t>0원 (0.00%)</a:t>
            </a:r>
          </a:p>
          <a:p>
            <a:r>
              <a:t>보합</a:t>
            </a:r>
          </a:p>
          <a:p/>
          <a:p>
            <a:r>
              <a:t>전일 대비 · 기준 2026-10-02 15:30 KST · Yahoo Finance · 지연 가능</a:t>
            </a:r>
          </a:p>
          <a:p>
            <a:r>
              <a:t>거래량</a:t>
            </a:r>
          </a:p>
          <a:p>
            <a:r>
              <a:t>1150.1만주</a:t>
            </a:r>
          </a:p>
          <a:p>
            <a:r>
              <a:t>당일 저가 ~ 고가</a:t>
            </a:r>
          </a:p>
          <a:p>
            <a:r>
              <a:t>271,500원 ~ 277,000원</a:t>
            </a:r>
          </a:p>
          <a:p>
            <a:r>
              <a:t>52주 저가 ~ 고가</a:t>
            </a:r>
          </a:p>
          <a:p>
            <a:r>
              <a:t>89,750원 ~ 374,500원</a:t>
            </a:r>
          </a:p>
          <a:p>
            <a:r>
              <a:t>주요 지표</a:t>
            </a:r>
          </a:p>
          <a:p>
            <a:r>
              <a:t>주요 지표 · 네이버 증권 · 기준 2026-10-02 20:20 KST</a:t>
            </a:r>
          </a:p>
          <a:p>
            <a:r>
              <a:t>시가총액</a:t>
            </a:r>
          </a:p>
          <a:p>
            <a:r>
              <a:t>1,613조 5,729억</a:t>
            </a:r>
          </a:p>
          <a:p>
            <a:r>
              <a:t>PER</a:t>
            </a:r>
          </a:p>
          <a:p>
            <a:r>
              <a:t>12.38배</a:t>
            </a:r>
          </a:p>
          <a:p>
            <a:r>
              <a:t>(2026.06. 기준)</a:t>
            </a:r>
          </a:p>
          <a:p>
            <a:r>
              <a:t>EPS</a:t>
            </a:r>
          </a:p>
          <a:p>
            <a:r>
              <a:t>22,292원</a:t>
            </a:r>
          </a:p>
          <a:p>
            <a:r>
              <a:t>(2026.06. 기준)</a:t>
            </a:r>
          </a:p>
          <a:p>
            <a:r>
              <a:t>PBR</a:t>
            </a:r>
          </a:p>
          <a:p>
            <a:r>
              <a:t>3.21배</a:t>
            </a:r>
          </a:p>
          <a:p>
            <a:r>
              <a:t>(2026.06. 기준)</a:t>
            </a:r>
          </a:p>
          <a:p>
            <a:r>
              <a:t>BPS</a:t>
            </a:r>
          </a:p>
          <a:p>
            <a:r>
              <a:t>86,052원</a:t>
            </a:r>
          </a:p>
          <a:p>
            <a:r>
              <a:t>(2026.06. 기준)</a:t>
            </a:r>
          </a:p>
          <a:p>
            <a:r>
              <a:t>배당수익률</a:t>
            </a:r>
          </a:p>
          <a:p>
            <a:r>
              <a:t>0.60%</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5,520,000원</a:t>
            </a:r>
          </a:p>
          <a:p>
            <a:r>
              <a:t>자산 비중</a:t>
            </a:r>
          </a:p>
          <a:p>
            <a:r>
              <a:t>계산 불가</a:t>
            </a:r>
          </a:p>
          <a:p>
            <a:r>
              <a:t>평가 손익</a:t>
            </a:r>
          </a:p>
          <a:p>
            <a:r>
              <a:t>▲ +4,320,000원 (+360.00%)</a:t>
            </a:r>
          </a:p>
          <a:p>
            <a:r>
              <a:t>상승</a:t>
            </a:r>
          </a:p>
          <a:p/>
          <a:p>
            <a:r>
              <a:t>모의 정보 기준 2026-10-03 18:50 KST · 평가 계산 2026-10-03 19:05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1개월</a:t>
            </a:r>
          </a:p>
          <a:p>
            <a:r>
              <a:t>1년</a:t>
            </a:r>
          </a:p>
          <a:p>
            <a:r>
              <a:t>전체</a:t>
            </a:r>
          </a:p>
          <a:p>
            <a:r>
              <a:t>직접 관련</a:t>
            </a:r>
          </a:p>
          <a:p>
            <a:r>
              <a:t>구조적 관련</a:t>
            </a:r>
          </a:p>
          <a:p/>
          <a:p>
            <a:r>
              <a:t>1개월 주가. 처음 9월 3일 250,000원, 마지막 10월 2일 276,000원. 최고 285,500원(9월 23일), 최저 248,500원(9월 15일). 사건이 있었던 날 4곳을 표시했어요.</a:t>
            </a:r>
          </a:p>
          <a:p/>
          <a:p>
            <a:r>
              <a:t>1개월 · 처음 시세 대비</a:t>
            </a:r>
          </a:p>
          <a:p>
            <a:r>
              <a:t>▲ +26,000원 (+10.40%)</a:t>
            </a:r>
          </a:p>
          <a:p>
            <a:r>
              <a:t>상승</a:t>
            </a:r>
          </a:p>
          <a:p>
            <a:r>
              <a:t>285,500원</a:t>
            </a:r>
          </a:p>
          <a:p>
            <a:r>
              <a:t>248,500원</a:t>
            </a:r>
          </a:p>
          <a:p>
            <a:r>
              <a:t>9월 3일</a:t>
            </a:r>
          </a:p>
          <a:p>
            <a:r>
              <a:t>10월 2일</a:t>
            </a:r>
          </a:p>
          <a:p>
            <a:r>
              <a:t>Yahoo Finance · 일별 종가</a:t>
            </a:r>
          </a:p>
          <a:p/>
          <a:p>
            <a:r>
              <a:t>차트와 사건의 시점이 겹쳐도 인과관계를 뜻하지는 않아요.</a:t>
            </a:r>
          </a:p>
          <a:p/>
          <a:p>
            <a:r>
              <a:t>표로 보기</a:t>
            </a:r>
          </a:p>
          <a:p/>
          <a:p>
            <a:r>
              <a:t>1개월 · 사건 17건</a:t>
            </a:r>
          </a:p>
          <a:p/>
          <a:p>
            <a:r>
              <a:t>2026-09-29</a:t>
            </a:r>
          </a:p>
          <a:p>
            <a:r>
              <a:t>근거 문서</a:t>
            </a:r>
          </a:p>
          <a:p>
            <a:r>
              <a:t>1</a:t>
            </a:r>
          </a:p>
          <a:p>
            <a:r>
              <a:t>삼성 6개사, 美 AI 인프라 기업 ‘헬릭스’에 10억 달러 투자</a:t>
            </a:r>
          </a:p>
          <a:p/>
          <a:p>
            <a:r>
              <a:t>Helix Digital Infrastructure</a:t>
            </a:r>
          </a:p>
          <a:p/>
          <a:p>
            <a:r>
              <a:t>2026-09-17</a:t>
            </a:r>
          </a:p>
          <a:p>
            <a:r>
              <a:t>근거 문서</a:t>
            </a:r>
          </a:p>
          <a:p>
            <a:r>
              <a:t>1</a:t>
            </a:r>
          </a:p>
          <a:p>
            <a:r>
              <a:t>삼성전자, 필리핀 복합단지 개발사업에 통합 운영 솔루션 공급 협력</a:t>
            </a:r>
          </a:p>
          <a:p/>
          <a:p>
            <a:r>
              <a:t>그란츠 포레스트 파크 개발사업 (필리핀 세부)</a:t>
            </a:r>
          </a:p>
          <a:p/>
          <a:p>
            <a:r>
              <a:t>2026-09-11</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D-COM-01b.png</a:t>
            </a:r>
          </a:p>
          <a:p>
            <a:r>
              <a:t>좌표·클릭 후 실제 화면: D-COM-01b.json</a:t>
            </a:r>
          </a:p>
          <a:p>
            <a:r>
              <a:t>본문으로 건너뛰기</a:t>
            </a:r>
          </a:p>
          <a:p>
            <a:r>
              <a:t>줍</a:t>
            </a:r>
          </a:p>
          <a:p>
            <a:r>
              <a:t>Zoop</a:t>
            </a:r>
          </a:p>
          <a:p>
            <a:r>
              <a:t>지도</a:t>
            </a:r>
          </a:p>
          <a:p>
            <a:r>
              <a:t>브리핑</a:t>
            </a:r>
          </a:p>
          <a:p>
            <a:r>
              <a:t>내 종목</a:t>
            </a:r>
          </a:p>
          <a:p>
            <a:r>
              <a:t>데모 사용자님</a:t>
            </a:r>
          </a:p>
          <a:p>
            <a:r>
              <a:t>관계 그래프 보기</a:t>
            </a:r>
          </a:p>
          <a:p>
            <a:r>
              <a:t>삼성전자</a:t>
            </a:r>
          </a:p>
          <a:p>
            <a:r>
              <a:t>005930</a:t>
            </a:r>
          </a:p>
          <a:p>
            <a:r>
              <a:t>보유</a:t>
            </a:r>
          </a:p>
          <a:p>
            <a:r>
              <a:t>시세</a:t>
            </a:r>
          </a:p>
          <a:p/>
          <a:p>
            <a:r>
              <a:t>276,000원</a:t>
            </a:r>
          </a:p>
          <a:p/>
          <a:p>
            <a:r>
              <a:t>전일 대비</a:t>
            </a:r>
          </a:p>
          <a:p>
            <a:r>
              <a:t>0원 (0.00%)</a:t>
            </a:r>
          </a:p>
          <a:p>
            <a:r>
              <a:t>보합</a:t>
            </a:r>
          </a:p>
          <a:p/>
          <a:p>
            <a:r>
              <a:t>전일 대비 · 기준 2026-10-02 15:30 KST · Yahoo Finance · 지연 가능</a:t>
            </a:r>
          </a:p>
          <a:p>
            <a:r>
              <a:t>거래량</a:t>
            </a:r>
          </a:p>
          <a:p>
            <a:r>
              <a:t>1150.1만주</a:t>
            </a:r>
          </a:p>
          <a:p>
            <a:r>
              <a:t>당일 저가 ~ 고가</a:t>
            </a:r>
          </a:p>
          <a:p>
            <a:r>
              <a:t>271,500원 ~ 277,000원</a:t>
            </a:r>
          </a:p>
          <a:p>
            <a:r>
              <a:t>52주 저가 ~ 고가</a:t>
            </a:r>
          </a:p>
          <a:p>
            <a:r>
              <a:t>89,750원 ~ 374,500원</a:t>
            </a:r>
          </a:p>
          <a:p>
            <a:r>
              <a:t>주요 지표</a:t>
            </a:r>
          </a:p>
          <a:p>
            <a:r>
              <a:t>주요 지표 · 네이버 증권 · 기준 2026-10-02 20:20 KST</a:t>
            </a:r>
          </a:p>
          <a:p>
            <a:r>
              <a:t>시가총액</a:t>
            </a:r>
          </a:p>
          <a:p>
            <a:r>
              <a:t>1,613조 5,729억</a:t>
            </a:r>
          </a:p>
          <a:p>
            <a:r>
              <a:t>PER</a:t>
            </a:r>
          </a:p>
          <a:p>
            <a:r>
              <a:t>12.38배</a:t>
            </a:r>
          </a:p>
          <a:p>
            <a:r>
              <a:t>(2026.06. 기준)</a:t>
            </a:r>
          </a:p>
          <a:p>
            <a:r>
              <a:t>EPS</a:t>
            </a:r>
          </a:p>
          <a:p>
            <a:r>
              <a:t>22,292원</a:t>
            </a:r>
          </a:p>
          <a:p>
            <a:r>
              <a:t>(2026.06. 기준)</a:t>
            </a:r>
          </a:p>
          <a:p>
            <a:r>
              <a:t>PBR</a:t>
            </a:r>
          </a:p>
          <a:p>
            <a:r>
              <a:t>3.21배</a:t>
            </a:r>
          </a:p>
          <a:p>
            <a:r>
              <a:t>(2026.06. 기준)</a:t>
            </a:r>
          </a:p>
          <a:p>
            <a:r>
              <a:t>BPS</a:t>
            </a:r>
          </a:p>
          <a:p>
            <a:r>
              <a:t>86,052원</a:t>
            </a:r>
          </a:p>
          <a:p>
            <a:r>
              <a:t>(2026.06. 기준)</a:t>
            </a:r>
          </a:p>
          <a:p>
            <a:r>
              <a:t>배당수익률</a:t>
            </a:r>
          </a:p>
          <a:p>
            <a:r>
              <a:t>0.60%</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5,520,000원</a:t>
            </a:r>
          </a:p>
          <a:p>
            <a:r>
              <a:t>자산 비중</a:t>
            </a:r>
          </a:p>
          <a:p>
            <a:r>
              <a:t>계산 불가</a:t>
            </a:r>
          </a:p>
          <a:p>
            <a:r>
              <a:t>평가 손익</a:t>
            </a:r>
          </a:p>
          <a:p>
            <a:r>
              <a:t>▲ +4,320,000원 (+360.00%)</a:t>
            </a:r>
          </a:p>
          <a:p>
            <a:r>
              <a:t>상승</a:t>
            </a:r>
          </a:p>
          <a:p/>
          <a:p>
            <a:r>
              <a:t>모의 정보 기준 2026-10-03 18:50 KST · 평가 계산 2026-10-03 19:06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1개월</a:t>
            </a:r>
          </a:p>
          <a:p>
            <a:r>
              <a:t>1년</a:t>
            </a:r>
          </a:p>
          <a:p>
            <a:r>
              <a:t>전체</a:t>
            </a:r>
          </a:p>
          <a:p>
            <a:r>
              <a:t>직접 관련</a:t>
            </a:r>
          </a:p>
          <a:p>
            <a:r>
              <a:t>구조적 관련</a:t>
            </a:r>
          </a:p>
          <a:p/>
          <a:p>
            <a:r>
              <a:t>1개월 주가. 처음 9월 3일 250,000원, 마지막 10월 2일 276,000원. 최고 285,500원(9월 23일), 최저 248,500원(9월 15일). 사건이 있었던 날 4곳을 표시했어요.</a:t>
            </a:r>
          </a:p>
          <a:p/>
          <a:p>
            <a:r>
              <a:t>1개월 · 처음 시세 대비</a:t>
            </a:r>
          </a:p>
          <a:p>
            <a:r>
              <a:t>▲ +26,000원 (+10.40%)</a:t>
            </a:r>
          </a:p>
          <a:p>
            <a:r>
              <a:t>상승</a:t>
            </a:r>
          </a:p>
          <a:p>
            <a:r>
              <a:t>285,500원</a:t>
            </a:r>
          </a:p>
          <a:p>
            <a:r>
              <a:t>248,500원</a:t>
            </a:r>
          </a:p>
          <a:p>
            <a:r>
              <a:t>9월 3일</a:t>
            </a:r>
          </a:p>
          <a:p>
            <a:r>
              <a:t>10월 2일</a:t>
            </a:r>
          </a:p>
          <a:p>
            <a:r>
              <a:t>Yahoo Finance · 일별 종가</a:t>
            </a:r>
          </a:p>
          <a:p/>
          <a:p>
            <a:r>
              <a:t>차트와 사건의 시점이 겹쳐도 인과관계를 뜻하지는 않아요.</a:t>
            </a:r>
          </a:p>
          <a:p/>
          <a:p>
            <a:r>
              <a:t>표로 보기</a:t>
            </a:r>
          </a:p>
          <a:p/>
          <a:p>
            <a:r>
              <a:t>1개월 · 사건 17건</a:t>
            </a:r>
          </a:p>
          <a:p/>
          <a:p>
            <a:r>
              <a:t>2026-09-29</a:t>
            </a:r>
          </a:p>
          <a:p>
            <a:r>
              <a:t>근거 문서</a:t>
            </a:r>
          </a:p>
          <a:p>
            <a:r>
              <a:t>1</a:t>
            </a:r>
          </a:p>
          <a:p>
            <a:r>
              <a:t>삼성 6개사, 美 AI 인프라 기업 ‘헬릭스’에 10억 달러 투자</a:t>
            </a:r>
          </a:p>
          <a:p/>
          <a:p>
            <a:r>
              <a:t>Helix Digital Infrastructure</a:t>
            </a:r>
          </a:p>
          <a:p/>
          <a:p>
            <a:r>
              <a:t>2026-09-17</a:t>
            </a:r>
          </a:p>
          <a:p>
            <a:r>
              <a:t>근거 문서</a:t>
            </a:r>
          </a:p>
          <a:p>
            <a:r>
              <a:t>1</a:t>
            </a:r>
          </a:p>
          <a:p>
            <a:r>
              <a:t>삼성전자, 필리핀 복합단지 개발사업에 통합 운영 솔루션 공급 협력</a:t>
            </a:r>
          </a:p>
          <a:p/>
          <a:p>
            <a:r>
              <a:t>그란츠 포레스트 파크 개발사업 (필리핀 세부)</a:t>
            </a:r>
          </a:p>
          <a:p/>
          <a:p>
            <a:r>
              <a:t>2026-09-11</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D-COM-02.png</a:t>
            </a:r>
          </a:p>
          <a:p>
            <a:r>
              <a:t>좌표·클릭 후 실제 화면: D-COM-02.json</a:t>
            </a:r>
          </a:p>
          <a:p>
            <a:r>
              <a:t>본문으로 건너뛰기</a:t>
            </a:r>
          </a:p>
          <a:p>
            <a:r>
              <a:t>줍</a:t>
            </a:r>
          </a:p>
          <a:p>
            <a:r>
              <a:t>Zoop</a:t>
            </a:r>
          </a:p>
          <a:p>
            <a:r>
              <a:t>지도</a:t>
            </a:r>
          </a:p>
          <a:p>
            <a:r>
              <a:t>브리핑</a:t>
            </a:r>
          </a:p>
          <a:p>
            <a:r>
              <a:t>내 종목</a:t>
            </a:r>
          </a:p>
          <a:p>
            <a:r>
              <a:t>데모 사용자님</a:t>
            </a:r>
          </a:p>
          <a:p>
            <a:r>
              <a:t>관계 그래프 보기</a:t>
            </a:r>
          </a:p>
          <a:p>
            <a:r>
              <a:t>삼성전자</a:t>
            </a:r>
          </a:p>
          <a:p>
            <a:r>
              <a:t>005930</a:t>
            </a:r>
          </a:p>
          <a:p>
            <a:r>
              <a:t>보유</a:t>
            </a:r>
          </a:p>
          <a:p>
            <a:r>
              <a:t>시세</a:t>
            </a:r>
          </a:p>
          <a:p/>
          <a:p>
            <a:r>
              <a:t>276,000원</a:t>
            </a:r>
          </a:p>
          <a:p/>
          <a:p>
            <a:r>
              <a:t>전일 대비</a:t>
            </a:r>
          </a:p>
          <a:p>
            <a:r>
              <a:t>0원 (0.00%)</a:t>
            </a:r>
          </a:p>
          <a:p>
            <a:r>
              <a:t>보합</a:t>
            </a:r>
          </a:p>
          <a:p/>
          <a:p>
            <a:r>
              <a:t>전일 대비 · 기준 2026-10-02 15:30 KST · Yahoo Finance · 지연 가능</a:t>
            </a:r>
          </a:p>
          <a:p>
            <a:r>
              <a:t>거래량</a:t>
            </a:r>
          </a:p>
          <a:p>
            <a:r>
              <a:t>1150.1만주</a:t>
            </a:r>
          </a:p>
          <a:p>
            <a:r>
              <a:t>당일 저가 ~ 고가</a:t>
            </a:r>
          </a:p>
          <a:p>
            <a:r>
              <a:t>271,500원 ~ 277,000원</a:t>
            </a:r>
          </a:p>
          <a:p>
            <a:r>
              <a:t>52주 저가 ~ 고가</a:t>
            </a:r>
          </a:p>
          <a:p>
            <a:r>
              <a:t>89,750원 ~ 374,500원</a:t>
            </a:r>
          </a:p>
          <a:p>
            <a:r>
              <a:t>주요 지표</a:t>
            </a:r>
          </a:p>
          <a:p>
            <a:r>
              <a:t>주요 지표 · 네이버 증권 · 기준 2026-10-02 20:20 KST</a:t>
            </a:r>
          </a:p>
          <a:p>
            <a:r>
              <a:t>시가총액</a:t>
            </a:r>
          </a:p>
          <a:p>
            <a:r>
              <a:t>1,613조 5,729억</a:t>
            </a:r>
          </a:p>
          <a:p>
            <a:r>
              <a:t>PER</a:t>
            </a:r>
          </a:p>
          <a:p>
            <a:r>
              <a:t>12.38배</a:t>
            </a:r>
          </a:p>
          <a:p>
            <a:r>
              <a:t>(2026.06. 기준)</a:t>
            </a:r>
          </a:p>
          <a:p>
            <a:r>
              <a:t>EPS</a:t>
            </a:r>
          </a:p>
          <a:p>
            <a:r>
              <a:t>22,292원</a:t>
            </a:r>
          </a:p>
          <a:p>
            <a:r>
              <a:t>(2026.06. 기준)</a:t>
            </a:r>
          </a:p>
          <a:p>
            <a:r>
              <a:t>PBR</a:t>
            </a:r>
          </a:p>
          <a:p>
            <a:r>
              <a:t>3.21배</a:t>
            </a:r>
          </a:p>
          <a:p>
            <a:r>
              <a:t>(2026.06. 기준)</a:t>
            </a:r>
          </a:p>
          <a:p>
            <a:r>
              <a:t>BPS</a:t>
            </a:r>
          </a:p>
          <a:p>
            <a:r>
              <a:t>86,052원</a:t>
            </a:r>
          </a:p>
          <a:p>
            <a:r>
              <a:t>(2026.06. 기준)</a:t>
            </a:r>
          </a:p>
          <a:p>
            <a:r>
              <a:t>배당수익률</a:t>
            </a:r>
          </a:p>
          <a:p>
            <a:r>
              <a:t>0.60%</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5,520,000원</a:t>
            </a:r>
          </a:p>
          <a:p>
            <a:r>
              <a:t>자산 비중</a:t>
            </a:r>
          </a:p>
          <a:p>
            <a:r>
              <a:t>계산 불가</a:t>
            </a:r>
          </a:p>
          <a:p>
            <a:r>
              <a:t>평가 손익</a:t>
            </a:r>
          </a:p>
          <a:p>
            <a:r>
              <a:t>▲ +4,320,000원 (+360.00%)</a:t>
            </a:r>
          </a:p>
          <a:p>
            <a:r>
              <a:t>상승</a:t>
            </a:r>
          </a:p>
          <a:p/>
          <a:p>
            <a:r>
              <a:t>모의 정보 기준 2026-10-03 18:50 KST · 평가 계산 2026-10-03 19:05 KST</a:t>
            </a:r>
          </a:p>
          <a:p/>
          <a:p>
            <a:r>
              <a:t>자산 비중: 보유 종목의 시세 통화가 서로 달라요. 환율로 바꾸지 않아 합계와 비중을 계산하지 않았어요.</a:t>
            </a:r>
          </a:p>
          <a:p/>
          <a:p>
            <a:r>
              <a:t>사건</a:t>
            </a:r>
          </a:p>
          <a:p>
            <a:r>
              <a:t>문서</a:t>
            </a:r>
          </a:p>
          <a:p>
            <a:r>
              <a:t>기업 정보</a:t>
            </a:r>
          </a:p>
          <a:p>
            <a:r>
              <a:t>근거 문서 16건</a:t>
            </a:r>
          </a:p>
          <a:p/>
          <a:p>
            <a:r>
              <a:t>Samsung Electronics Newsroom (news.samsung.com)</a:t>
            </a:r>
          </a:p>
          <a:p>
            <a:r>
              <a:t>·</a:t>
            </a:r>
          </a:p>
          <a:p>
            <a:r>
              <a:t>발행 2026-09-29 17:00 KST</a:t>
            </a:r>
          </a:p>
          <a:p/>
          <a:p>
            <a:r>
              <a:t>삼성 6개사, 美 AI 인프라 기업 ‘헬릭스’에 10억 달러 투자</a:t>
            </a:r>
          </a:p>
          <a:p>
            <a:r>
              <a:t>사건을 보도한 기사 · 사건 1건: 삼성 6개사, 美 AI 인프라 기업 ‘헬릭스’에 10억 달러 투자</a:t>
            </a:r>
          </a:p>
          <a:p>
            <a:r>
              <a:t>“삼성전자와 삼성물산, 삼성SDS, 삼성SDI, 삼성생명, 삼성화재 등 6개사는 29일 미국의 글로벌 투자 회사 KKR이 설립한 AI 인프라 기업 ‘헬릭스 디지털 인프라스트럭처(Helix Digital Infrastructure, 이하 헬릭스)’에 총 10억 달러를 투자하기로 결정했다고 밝혔다.”</a:t>
            </a:r>
          </a:p>
          <a:p>
            <a:r>
              <a:t>“삼성 관계사들은 KKR, 엔비디아(Nvidia), 미국 전력 회사 비스트라(Vistra), 쿠웨이트투자청(KIA) 등 글로벌 AI 인프라 생태계를 이끄는 투자사, 반도체 기업, 전력 회사와 나란히 헬릭스의 창립 투자자로 참여했다.”</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사건을 보도한 기사 · 사건 2건: Samsung, SK Telecom, and Hana Financial Group Build Korea’s First Private 5G Smart Office in the Financial Sector</a:t>
            </a:r>
          </a:p>
          <a:p>
            <a:r>
              <a:t>“In collaboration with SK Telecom and Samsung, Hana Financial Group built out a large-scale smart office, spanning 16 floors of its headquarters, multiple group affiliates, and thousands of employees.”</a:t>
            </a:r>
          </a:p>
          <a:p>
            <a:r>
              <a:t>“For this project, Samsung provided its full stack of network solutions including radios, baseband, and cloud-native core, supporting the mid-band (4.7GHz) spectrum dedicated to private 5G networks in Korea.”</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사건을 보도한 기사 · 사건 3건: Samsung Provides AI-Native NIS Solution for SK Telecom’s Project / Samsung to Support KT’s Quadruped Welding Robot Use Case with NIS and CognitiV NOS / Samsung Signs AI RAN Project Contracts with KT and SK Telecom Under Korea’s Hyper AI Network Initiative</a:t>
            </a:r>
          </a:p>
          <a:p>
            <a:r>
              <a:t>“Samsung is providing its AI-native NIS solution for SK Telecom’s project.”</a:t>
            </a:r>
          </a:p>
          <a:p>
            <a:r>
              <a:t>“For the AI-powered quadruped welding robot use case, Samsung will support KT with its software-driven, AI-native solutions, including Network in a Server (NIS)”</a:t>
            </a:r>
          </a:p>
          <a:p>
            <a:r>
              <a:t>“Samsung Electronics today announced it has signed contracts with KT and SK Telecom for their AI RAN projects under the Korean Ministry of Science and ICT’s (MSIT) “Hyper AI Network” initiative, taking on the roles of sole global vendor for KT and main vendor for SK Telecom.”</a:t>
            </a:r>
          </a:p>
          <a:p>
            <a:r>
              <a:t>원문 기사 보기</a:t>
            </a:r>
          </a:p>
          <a:p>
            <a:r>
              <a:t>(새 창에서 열림)</a:t>
            </a:r>
          </a:p>
          <a:p/>
          <a:p>
            <a:r>
              <a:t>Samsung Electronics Newsroom (news.samsung.com)</a:t>
            </a:r>
          </a:p>
          <a:p>
            <a:r>
              <a:t>·</a:t>
            </a:r>
          </a:p>
          <a:p>
            <a:r>
              <a:t>발행 2026-09-17 20:00 KST</a:t>
            </a:r>
          </a:p>
          <a:p/>
          <a:p>
            <a:r>
              <a:t>삼성전자, 필리핀 복합단지 개발사업에 통합 운영 솔루션 공급 협력</a:t>
            </a:r>
          </a:p>
          <a:p>
            <a:r>
              <a:t>사건을 보도한 기사 · 사건 1건: 삼성전자, 필리핀 복합단지 개발사업에 통합 운영 솔루션 공급 협력</a:t>
            </a:r>
          </a:p>
          <a:p>
            <a:r>
              <a:t>“삼성전자는 17일 전문 부동산 개발사인 디에이치플러스(DH플러스)와 필리핀 세부에서 추진되는 ‘그란츠 포레스트 파크’ 개발사업에 AI 가전과 스마트싱스 프로, b.IoT 등 B2B 통합 운영 솔루션을 제공하는 업무협약을 체결했다.”</a:t>
            </a:r>
          </a:p>
          <a:p>
            <a:r>
              <a:t>원문 기사 보기</a:t>
            </a:r>
          </a:p>
          <a:p>
            <a:r>
              <a:t>(새 창에서 열림)</a:t>
            </a:r>
          </a:p>
          <a:p/>
          <a:p>
            <a:r>
              <a:t>Samsung Electronics Newsroom (news.samsung.com)</a:t>
            </a:r>
          </a:p>
          <a:p>
            <a:r>
              <a:t>·</a:t>
            </a:r>
          </a:p>
          <a:p>
            <a:r>
              <a:t>발행 2026-09-17 17:00 KST</a:t>
            </a:r>
          </a:p>
          <a:p/>
          <a:p>
            <a:r>
              <a:t>삼성전자, 가전 테크세미나 개최…지역 맞춤형 AI 가전 선봬</a:t>
            </a:r>
          </a:p>
          <a:p>
            <a:r>
              <a:t>사건을 보도한 기사 · 사건 2건: 삼성전자, 가전 테크세미나 개최…지역 맞춤형 AI 가전 선봬</a:t>
            </a:r>
          </a:p>
          <a:p>
            <a:r>
              <a:t>“삼성전자가 16일 인도 구루그람에서 가전 테크세미나 ‘더 브리프(The Brief)’를 열고, 현지 소비자 특성과 주거 환경을 반영한 맞춤형 AI 가전 경험을 선보였다.”</a:t>
            </a:r>
          </a:p>
          <a:p>
            <a:r>
              <a:t>“삼성전자는 이번 행사에서 AI기반 통합 연결 플랫폼인 ‘스마트싱스’를 기반으로 가사 부담을 덜고 에너지를 효율적으로 관리하며 가족의 일상까지 세심하게 살피는 ‘일상 속 AI 동반자’로서의 삼성전자 AI 가전이 제공하는 가치를 강조했다.”</a:t>
            </a:r>
          </a:p>
          <a:p>
            <a:r>
              <a:t>“또 갤럭시 워치, 갤럭시 링과 연동해 수면 단계와 체온 변화에 맞춘 최적의 수면 환경을 조성하는 ‘웨어러블 굿슬립’ 모드도 선보였다.”</a:t>
            </a:r>
          </a:p>
          <a:p>
            <a:r>
              <a:t>“주방가전 체험 존에서는 ‘비스포크 AI 패밀리허브’ 냉장고 스크린을 통해 사용자 맞춤형 정보를 추천하는 ‘나우 브리프’ 기능을 시연했다.”</a:t>
            </a:r>
          </a:p>
          <a:p>
            <a:r>
              <a:t>“홈케어·신뢰성 존에서는 제품 구매 이후까지 책임지는 차별화된 품질·서비스 경쟁력을 강조했다. 특히 ‘스마트싱스 홈케어’와 ‘가전제품 원격 관리(HRM)’를 통해 이상 징후를 확인하고 진단과 조치를 지원하는 서비스를 소개했다.”</a:t>
            </a:r>
          </a:p>
          <a:p>
            <a:r>
              <a:t>“삼성전자는 이번 서남아 테크세미나에 현지 주요 미디어, 인플루언서 등을 초청해 인도 특유의 기후 환경과 문화에 최적화된 AI 가전 기술을 소개했다.”</a:t>
            </a:r>
          </a:p>
          <a:p>
            <a:r>
              <a:t>“에어컨 체험 존에서는 직바람 없이 쾌적함을 유지하는 무풍 기술을 시연했다. 특히 ‘비스포크 AI 무풍 프로’ 에어컨의 송풍 날개인 ‘모션 블레이드’를 활용한 5가지 기류 제어 기술을 소개했다.”</a:t>
            </a:r>
          </a:p>
          <a:p>
            <a:r>
              <a:t>원문 기사 보기</a:t>
            </a:r>
          </a:p>
          <a:p>
            <a:r>
              <a:t>(새 창에서 열림)</a:t>
            </a:r>
          </a:p>
          <a:p/>
          <a:p>
            <a:r>
              <a:t>Samsung Electronics Newsroom (news.samsung.com)</a:t>
            </a:r>
          </a:p>
          <a:p>
            <a:r>
              <a:t>·</a:t>
            </a:r>
          </a:p>
          <a:p>
            <a:r>
              <a:t>발행 2026-09-16 19:00 KST</a:t>
            </a:r>
          </a:p>
          <a:p/>
          <a:p>
            <a:r>
              <a:t>삼성전자, ‘2026 기후산업국제박람회’서 일상부터 산업까지 맞춤형 에너지 솔루션 선보여</a:t>
            </a:r>
          </a:p>
          <a:p>
            <a:r>
              <a:t>사건을 보도한 기사 · 사건 1건: 삼성전자, ‘2026 기후산업국제박람회’서 일상부터 산업까지 맞춤형 에너지 솔루션 선보여</a:t>
            </a:r>
          </a:p>
          <a:p>
            <a:r>
              <a:t>“삼성전자가 ‘2026 기후산업국제박람회’에 참가해 독보적인 AI 기술과 고효율 가전을 결합한 에너지 절감 솔루션을 대거 선보인다.”</a:t>
            </a:r>
          </a:p>
          <a:p>
            <a:r>
              <a:t>“삼성전자는 약 270㎡(약 82평) 규모의 단독 전시관을 마련하고 일상 속 가전제품부터 AI 데이터센터, 대형 상업시설의 공조 솔루션에 이르기까지 다양한 에너지 절감 솔루션을 통해 글로벌 시장 내 에너지 기술 리더십을 선보인다.”</a:t>
            </a:r>
          </a:p>
          <a:p>
            <a:r>
              <a:t>“삼성전자는 고효율 히트펌프 솔루션인 ‘EHS 올인원’을 전면에 내세웠다.”</a:t>
            </a:r>
          </a:p>
          <a:p>
            <a:r>
              <a:t>원문 기사 보기</a:t>
            </a:r>
          </a:p>
          <a:p>
            <a:r>
              <a:t>(새 창에서 열림)</a:t>
            </a:r>
          </a:p>
          <a:p/>
          <a:p>
            <a:r>
              <a:t>Samsung Electronics Newsroom (news.samsung.com)</a:t>
            </a:r>
          </a:p>
          <a:p>
            <a:r>
              <a:t>·</a:t>
            </a:r>
          </a:p>
          <a:p>
            <a:r>
              <a:t>발행 2026-09-16 17:00 KST</a:t>
            </a:r>
          </a:p>
          <a:p/>
          <a:p>
            <a:r>
              <a:t>[영상] 요즘 사람들의 책 읽기, 민음사와 함께 한 갤럭시 Z 폴드8 북토크 현장</a:t>
            </a:r>
          </a:p>
          <a:p>
            <a:r>
              <a:t>사건을 보도한 기사 · 사건 1건: [영상] 요즘 사람들의 책 읽기, 민음사와 함께 한 갤럭시 Z 폴드8 북토크 현장</a:t>
            </a:r>
          </a:p>
          <a:p>
            <a:r>
              <a:t>“삼성전자는 9월 11일 삼성 강남에서 ‘갤럭시 Z 폴드8’과 민음사가 함께하는 북토크를 진행했다.”</a:t>
            </a:r>
          </a:p>
          <a:p>
            <a:r>
              <a:t>“▲ 북토크를 진행한 민음사 조아란 마케터(좌), 박혜진 편집자(우)”</a:t>
            </a:r>
          </a:p>
          <a:p>
            <a:r>
              <a:t>원문 기사 보기</a:t>
            </a:r>
          </a:p>
          <a:p>
            <a:r>
              <a:t>(새 창에서 열림)</a:t>
            </a:r>
          </a:p>
          <a:p/>
          <a:p>
            <a:r>
              <a:t>Samsung Electronics Newsroom (news.samsung.com)</a:t>
            </a:r>
          </a:p>
          <a:p>
            <a:r>
              <a:t>·</a:t>
            </a:r>
          </a:p>
          <a:p>
            <a:r>
              <a:t>발행 2026-09-15 17:00 KST</a:t>
            </a:r>
          </a:p>
          <a:p/>
          <a:p>
            <a:r>
              <a:t>삼성전자, 상업용 시스템에어컨 세척 프로모션 진행</a:t>
            </a:r>
          </a:p>
          <a:p>
            <a:r>
              <a:t>사건을 보도한 기사 · 사건 1건: 삼성전자, 상업용 시스템에어컨 세척 프로모션 진행</a:t>
            </a:r>
          </a:p>
          <a:p>
            <a:r>
              <a:t>“삼성전자가 이번주부터 10월 31일까지 하반기 상업용 시스템에어컨 세척 할인 프로모션을 진행한다.”</a:t>
            </a:r>
          </a:p>
          <a:p>
            <a:r>
              <a:t>원문 기사 보기</a:t>
            </a:r>
          </a:p>
          <a:p>
            <a:r>
              <a:t>(새 창에서 열림)</a:t>
            </a:r>
          </a:p>
          <a:p/>
          <a:p>
            <a:r>
              <a:t>Samsung Electronics Newsroom (news.samsung.com)</a:t>
            </a:r>
          </a:p>
          <a:p>
            <a:r>
              <a:t>·</a:t>
            </a:r>
          </a:p>
          <a:p>
            <a:r>
              <a:t>발행 2026-09-09 00:03 KST</a:t>
            </a:r>
          </a:p>
          <a:p/>
          <a:p>
            <a:r>
              <a:t>삼성전자, ASML과 차세대 반도체 제조 협력 확대</a:t>
            </a:r>
          </a:p>
          <a:p>
            <a:r>
              <a:t>사건을 보도한 기사 · 사건 2건: 삼성전자, ASML과 차세대 반도체 제조 협력 확대</a:t>
            </a:r>
          </a:p>
          <a:p>
            <a:r>
              <a:t>“한편, 삼성전자는 ASML과 2028년까지 첨단 D램 제조에 차세대 노광 설비 High NA EUV 도입을 위한 협력도 강화할 계획이다.”</a:t>
            </a:r>
          </a:p>
          <a:p>
            <a:r>
              <a:t>“2028년 업계 최초로 메모리 제조에 High NA EUV 도입 추진”</a:t>
            </a:r>
          </a:p>
          <a:p>
            <a:r>
              <a:t>“삼성전자가 네덜란드 반도체 노광설비 기업 ASML이 주도하는 ‘대형 마스크 컨소시엄(Large Size Mask Consortium)’에 참여하고 차세대 12인치 포토 마스크 공동 개발에 나선다.”</a:t>
            </a:r>
          </a:p>
          <a:p>
            <a:r>
              <a:t>“노광설비와 포토 마스크 관련 글로벌 기술 동향을 함께 모니터링하고 12인치 포토 마스크 개발을 목표로 공동 연구, 표준 개발 등의 협력 활동을 펼칠 계획이다.”</a:t>
            </a:r>
          </a:p>
          <a:p>
            <a:r>
              <a:t>원문 기사 보기</a:t>
            </a:r>
          </a:p>
          <a:p>
            <a:r>
              <a:t>(새 창에서 열림)</a:t>
            </a:r>
          </a:p>
          <a:p/>
          <a:p>
            <a:r>
              <a:t>OpenDART (dart.fss.or.kr)</a:t>
            </a:r>
          </a:p>
          <a:p>
            <a:r>
              <a:t>·</a:t>
            </a:r>
          </a:p>
          <a:p>
            <a:r>
              <a:t>발행 2026-09-08 09:00 KST</a:t>
            </a:r>
          </a:p>
          <a:p/>
          <a:p>
            <a:r>
              <a:t>최대주주등소유주식변동신고서</a:t>
            </a:r>
          </a:p>
          <a:p>
            <a:r>
              <a:t>사건을 보도한 기사 · 사건 3건: 최대주주등소유주식변동신고서</a:t>
            </a:r>
          </a:p>
          <a:p>
            <a:r>
              <a:t>“이번보고서제출일 2026-09-08 보통주식 1,151,093,368”</a:t>
            </a:r>
          </a:p>
          <a:p>
            <a:r>
              <a:t>“보고일자 소유주식”</a:t>
            </a:r>
          </a:p>
          <a:p>
            <a:r>
              <a:t>“종류주식 -8,562 0.00”</a:t>
            </a:r>
          </a:p>
          <a:p>
            <a:r>
              <a:t>“2026-08-10 장내매도(-) 종류주식 76,633 -5,125 71,508”</a:t>
            </a:r>
          </a:p>
          <a:p>
            <a:r>
              <a:t>“증감 보통주식 -216,504 0.00”</a:t>
            </a:r>
          </a:p>
          <a:p>
            <a:r>
              <a:t>“성명 삼성생명(특별계정) 사업자등록번호 104-81-26688”</a:t>
            </a:r>
          </a:p>
          <a:p>
            <a:r>
              <a:t>“2026-08-04 장내매도(-) 보통주식 3,573,813 -82,354 3,491,459”</a:t>
            </a:r>
          </a:p>
          <a:p>
            <a:r>
              <a:t>원문 기사 보기</a:t>
            </a:r>
          </a:p>
          <a:p>
            <a:r>
              <a:t>(새 창에서 열림)</a:t>
            </a:r>
          </a:p>
          <a:p/>
          <a:p>
            <a:r>
              <a:t>Samsung Electronics Newsroom (news.samsung.com)</a:t>
            </a:r>
          </a:p>
          <a:p>
            <a:r>
              <a:t>·</a:t>
            </a:r>
          </a:p>
          <a:p>
            <a:r>
              <a:t>발행 2026-07-27 17:00 KST</a:t>
            </a:r>
          </a:p>
          <a:p/>
          <a:p>
            <a:r>
              <a:t>삼성전자, ‘갤럭시 Z 폴드8 울트라·폴드8·플립8’, ‘갤럭시 워치 울트라2·워치9’ 사전 판매 시작</a:t>
            </a:r>
          </a:p>
          <a:p>
            <a:r>
              <a:t>사건을 보도한 기사 · 사건 2건: 삼성전자, ‘갤럭시 Z 폴드8 울트라·폴드8·플립8’, ‘갤럭시 워치 울트라2·워치9’ 사전 판매 시작</a:t>
            </a:r>
          </a:p>
          <a:p>
            <a:r>
              <a:t>“삼성전자가 완전히 새로워진 폴더블폰 ‘갤럭시 Z 폴드8 울트라’, ‘갤럭시 Z 폴드8’, ‘갤럭시 Z 플립8’과 손목 위 건강 동반자 ‘갤럭시 워치 울트라2’, ‘갤럭시 워치9’의 사전 판매를 28일부터 8월 3일까지 진행한다.”</a:t>
            </a:r>
          </a:p>
          <a:p>
            <a:r>
              <a:t>“삼성전자는 ‘갤럭시 Z 폴드8 울트라·폴드8·플립8’ 256GB 모델을 사전 구매한 고객에게 512GB 모델로 저장 용량을 2배 업그레이드해 주는 ‘더블 스토리지(Double Storage)’ 할인 혜택을 제공한다.”</a:t>
            </a:r>
          </a:p>
          <a:p>
            <a:r>
              <a:t>원문 기사 보기</a:t>
            </a:r>
          </a:p>
          <a:p>
            <a:r>
              <a:t>(새 창에서 열림)</a:t>
            </a:r>
          </a:p>
          <a:p/>
          <a:p>
            <a:r>
              <a:t>NVIDIA official blog (blogs.nvidia.com)</a:t>
            </a:r>
          </a:p>
          <a:p>
            <a:r>
              <a:t>·</a:t>
            </a:r>
          </a:p>
          <a:p>
            <a:r>
              <a:t>발행 2026-07-24 13:34 KST</a:t>
            </a:r>
          </a:p>
          <a:p/>
          <a:p>
            <a:r>
              <a:t>At AI Summit, South Korea Outlines Its AI Future With NVIDIA and Partners</a:t>
            </a:r>
          </a:p>
          <a:p>
            <a:r>
              <a:t>사건을 보도한 기사 · 사건 1건: AI Summit Stage Gathering of Global Tech Leaders at the Midway in San Francisco</a:t>
            </a:r>
          </a:p>
          <a:p>
            <a:r>
              <a:t>“The sheer gravity of the global AI boom was displayed Friday on stage at the Midway, a premier event venue in San Francisco.”</a:t>
            </a:r>
          </a:p>
          <a:p>
            <a:r>
              <a:t>“Moderated by Stanford University’s Soh Kim, the stage brought together an eye-popping lineup of tech leaders.”</a:t>
            </a:r>
          </a:p>
          <a:p>
            <a:r>
              <a:t>“Joining them was South Korea’s industrial vanguard — Samsung Electronics Chairman Jay Y. Lee, SK Group Chairman Chey Tae-won, Hyundai Motor Group Executive Chair Euisun Chung and NAVER founder Hae-jin Lee.”</a:t>
            </a:r>
          </a:p>
          <a:p>
            <a:r>
              <a:t>원문 기사 보기</a:t>
            </a:r>
          </a:p>
          <a:p>
            <a:r>
              <a:t>(새 창에서 열림)</a:t>
            </a:r>
          </a:p>
          <a:p/>
          <a:p>
            <a:r>
              <a:t>Samsung Electronics Newsroom (news.samsung.com)</a:t>
            </a:r>
          </a:p>
          <a:p>
            <a:r>
              <a:t>·</a:t>
            </a:r>
          </a:p>
          <a:p>
            <a:r>
              <a:t>발행 2026-07-23 07:01 KST</a:t>
            </a:r>
          </a:p>
          <a:p/>
          <a:p>
            <a:r>
              <a:t>삼성전자, ‘갤럭시 워치 울트라2·워치9’ 공개</a:t>
            </a:r>
          </a:p>
          <a:p>
            <a:r>
              <a:t>사건을 보도한 기사 · 사건 4건: 삼성전자, 8월 7일 갤럭시 워치 공식 출시 / 삼성전자, 7월 28일 갤럭시 워치 사전 판매 시작 / 삼성전자, ‘갤럭시 워치 울트라2·워치9’ 공개 / 삼성전자, 갤럭시 워치 건강 관리 기능 추가</a:t>
            </a:r>
          </a:p>
          <a:p>
            <a:r>
              <a:t>“삼성전자는 7월 28일 삼성닷컴과 온라인 오픈마켓, 오프라인 매장에서 갤럭시 워치 울트라2와 갤럭시 워치9의 사전 판매를 시작하며 8월 7일 공식 출시한다.”</a:t>
            </a:r>
          </a:p>
          <a:p>
            <a:r>
              <a:t>“삼성전자가 22일(현지시간) 영국 런던 올드 빌링스게이트(Old Billingsgate)에서 열린 ‘갤럭시 언팩 2026’ 행사에서 새로운 갤럭시 워치 울트라2와 갤럭시 워치9을 공개했다.”</a:t>
            </a:r>
          </a:p>
          <a:p>
            <a:r>
              <a:t>“삼성전자는 다년간 헬스 서비스를 통해 축적된 풍부한 데이터와 국내외 대학 및 전문 의료기관과 수행해 온 임상 연구를 기반으로 수면, 활동, 심혈관 건강 및 회복과 관련된 건강 관리 기능을 새로 추가했다.”</a:t>
            </a:r>
          </a:p>
          <a:p>
            <a:r>
              <a:t>원문 기사 보기</a:t>
            </a:r>
          </a:p>
          <a:p>
            <a:r>
              <a:t>(새 창에서 열림)</a:t>
            </a:r>
          </a:p>
          <a:p/>
          <a:p>
            <a:r>
              <a:t>Samsung Electronics Newsroom (news.samsung.com)</a:t>
            </a:r>
          </a:p>
          <a:p>
            <a:r>
              <a:t>·</a:t>
            </a:r>
          </a:p>
          <a:p>
            <a:r>
              <a:t>발행 2026-07-04 01:25 KST</a:t>
            </a:r>
          </a:p>
          <a:p/>
          <a:p>
            <a:r>
              <a:t>삼성, 미래 성장 위해 영남에 60조원 투자 계획</a:t>
            </a:r>
          </a:p>
          <a:p>
            <a:r>
              <a:t>사건을 보도한 기사 · 사건 1건: 삼성전자·삼성SDS, 구미에 휴머노이드 양산·AI 데이터센터 투자 계획</a:t>
            </a:r>
          </a:p>
          <a:p>
            <a:r>
              <a:t>“① 삼성전자∙삼성SDS, 휴머노이드∙제조AX 접목, 최첨단 미래 제조단지 구축 예정”</a:t>
            </a:r>
          </a:p>
          <a:p>
            <a:r>
              <a:t>“구미에 ▲휴머노이드 양산 체계 및 로봇 데이터 팩토리 구축 ▲제조∙로봇 자동화 산업 핵심 인프라인 AI 데이터센터 신축 등에 투자할 계획이다.”</a:t>
            </a:r>
          </a:p>
          <a:p>
            <a:r>
              <a:t>원문 기사 보기</a:t>
            </a:r>
          </a:p>
          <a:p>
            <a:r>
              <a:t>(새 창에서 열림)</a:t>
            </a:r>
          </a:p>
          <a:p/>
          <a:p>
            <a:r>
              <a:t>Samsung Electronics Newsroom (news.samsung.com)</a:t>
            </a:r>
          </a:p>
          <a:p>
            <a:r>
              <a:t>·</a:t>
            </a:r>
          </a:p>
          <a:p>
            <a:r>
              <a:t>발행 2026-07-01 01:32 KST</a:t>
            </a:r>
          </a:p>
          <a:p/>
          <a:p>
            <a:r>
              <a:t>삼성, 미래 성장 위해 호남에 425조원 투자</a:t>
            </a:r>
          </a:p>
          <a:p>
            <a:r>
              <a:t>사건을 보도한 기사 · 사건 1건: 삼성, 미래 성장 위해 호남에 425조원 투자</a:t>
            </a:r>
          </a:p>
          <a:p>
            <a:r>
              <a:t>“① 광주에 삼성전자가 약 400조원을 투자해 신규 반도체 Fab 2개를 건설, 글로벌 반도체 거점으로 조성하겠다는 계획이다.”</a:t>
            </a:r>
          </a:p>
          <a:p>
            <a:r>
              <a:t>원문 기사 보기</a:t>
            </a:r>
          </a:p>
          <a:p>
            <a:r>
              <a:t>(새 창에서 열림)</a:t>
            </a:r>
          </a:p>
          <a:p/>
          <a:p>
            <a:r>
              <a:t>Samsung Electronics Newsroom (news.samsung.com)</a:t>
            </a:r>
          </a:p>
          <a:p>
            <a:r>
              <a:t>·</a:t>
            </a:r>
          </a:p>
          <a:p>
            <a:r>
              <a:t>발행 2026-06-30 01:30 KST</a:t>
            </a:r>
          </a:p>
          <a:p/>
          <a:p>
            <a:r>
              <a:t>삼성, 미래 성장 위해 2,655조원 투자</a:t>
            </a:r>
          </a:p>
          <a:p>
            <a:r>
              <a:t>사건을 보도한 기사 · 사건 1건: 삼성, 미래 성장 위해 2,655조원 투자</a:t>
            </a:r>
          </a:p>
          <a:p>
            <a:r>
              <a:t>“① 광주에 삼성전자, ▲신규 반도체 Fab 건설 ▲디지털 트윈 기반 혁신 허브 구축 추진”</a:t>
            </a:r>
          </a:p>
          <a:p>
            <a:r>
              <a:t>“삼성전자는 또 광주사업장에 스마트가전을 위한 디지털 트윈 기반의 혁신 허브 공장을 구축하고, AI 데이터센터에 필요한 히트펌프∙공조기 등 생산 시설도 갖출 계획이다.”</a:t>
            </a:r>
          </a:p>
          <a:p>
            <a:r>
              <a:t>원문 기사 보기</a:t>
            </a:r>
          </a:p>
          <a:p>
            <a:r>
              <a:t>(새 창에서 열림)</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D-MY-01.png</a:t>
            </a:r>
          </a:p>
          <a:p>
            <a:r>
              <a:t>좌표·클릭 후 실제 화면: D-MY-01.json</a:t>
            </a:r>
          </a:p>
          <a:p>
            <a:r>
              <a:t>본문으로 건너뛰기</a:t>
            </a:r>
          </a:p>
          <a:p>
            <a:r>
              <a:t>줍</a:t>
            </a:r>
          </a:p>
          <a:p>
            <a:r>
              <a:t>Zoop</a:t>
            </a:r>
          </a:p>
          <a:p>
            <a:r>
              <a:t>지도</a:t>
            </a:r>
          </a:p>
          <a:p>
            <a:r>
              <a:t>브리핑</a:t>
            </a:r>
          </a:p>
          <a:p>
            <a:r>
              <a:t>내 종목</a:t>
            </a:r>
          </a:p>
          <a:p>
            <a:r>
              <a:t>데모 사용자님</a:t>
            </a:r>
          </a:p>
          <a:p>
            <a:r>
              <a:t>내 종목</a:t>
            </a:r>
          </a:p>
          <a:p>
            <a:r>
              <a:t>보유 종목(가상 계좌)</a:t>
            </a:r>
          </a:p>
          <a:p>
            <a:r>
              <a:t>연결 끊기</a:t>
            </a:r>
          </a:p>
          <a:p/>
          <a:p>
            <a:r>
              <a:t>모의 계좌 MOCK-0001 · 예수금 3,000,000원</a:t>
            </a:r>
          </a:p>
          <a:p/>
          <a:p>
            <a:r>
              <a:t>모의 정보 기준 2026-10-03 18:50 KST · 평가 계산 2026-10-03 19:06 KST</a:t>
            </a:r>
          </a:p>
          <a:p/>
          <a:p>
            <a:r>
              <a:t>보유 종목의 시세 통화가 서로 달라요. 환율로 바꾸지 않아 합계와 비중을 계산하지 않았어요.</a:t>
            </a:r>
          </a:p>
          <a:p/>
          <a:p>
            <a:r>
              <a:t>N</a:t>
            </a:r>
          </a:p>
          <a:p>
            <a:r>
              <a:t>NVIDIA</a:t>
            </a:r>
          </a:p>
          <a:p>
            <a:r>
              <a:t>10주 · 평가 $2,339.50 · 비중 계산 불가</a:t>
            </a:r>
          </a:p>
          <a:p>
            <a:r>
              <a:t>삼</a:t>
            </a:r>
          </a:p>
          <a:p>
            <a:r>
              <a:t>삼성전자</a:t>
            </a:r>
          </a:p>
          <a:p>
            <a:r>
              <a:t>20주 · 평가 5,520,000원 · 비중 계산 불가</a:t>
            </a:r>
          </a:p>
          <a:p>
            <a:r>
              <a:t>삼</a:t>
            </a:r>
          </a:p>
          <a:p>
            <a:r>
              <a:t>삼성SDI</a:t>
            </a:r>
          </a:p>
          <a:p>
            <a:r>
              <a:t>30주 · 평가 15,870,000원 · 비중 계산 불가</a:t>
            </a:r>
          </a:p>
          <a:p>
            <a:r>
              <a:t>관심 종목</a:t>
            </a:r>
          </a:p>
          <a:p>
            <a:r>
              <a:t>1개</a:t>
            </a:r>
          </a:p>
          <a:p>
            <a:r>
              <a:t>NVIDIA</a:t>
            </a:r>
          </a:p>
          <a:p>
            <a:r>
              <a:t>NVDA</a:t>
            </a:r>
          </a:p>
          <a:p>
            <a:r>
              <a:t>관심 종목 추가</a:t>
            </a:r>
          </a:p>
          <a:p>
            <a:r>
              <a:t>검색</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D-BRF-01.png</a:t>
            </a:r>
          </a:p>
          <a:p>
            <a:r>
              <a:t>좌표·클릭 후 실제 화면: D-BRF-01.json</a:t>
            </a:r>
          </a:p>
          <a:p>
            <a:r>
              <a:t>본문으로 건너뛰기</a:t>
            </a:r>
          </a:p>
          <a:p>
            <a:r>
              <a:t>줍</a:t>
            </a:r>
          </a:p>
          <a:p>
            <a:r>
              <a:t>Zoop</a:t>
            </a:r>
          </a:p>
          <a:p>
            <a:r>
              <a:t>지도</a:t>
            </a:r>
          </a:p>
          <a:p>
            <a:r>
              <a:t>브리핑</a:t>
            </a:r>
          </a:p>
          <a:p>
            <a:r>
              <a:t>내 종목</a:t>
            </a:r>
          </a:p>
          <a:p>
            <a:r>
              <a:t>데모 사용자님</a:t>
            </a:r>
          </a:p>
          <a:p>
            <a:r>
              <a:t>브리핑</a:t>
            </a:r>
          </a:p>
          <a:p>
            <a:r>
              <a:t>발행일</a:t>
            </a:r>
          </a:p>
          <a:p>
            <a:r>
              <a:t>2026-09-17</a:t>
            </a:r>
          </a:p>
          <a:p>
            <a:r>
              <a:t>출근</a:t>
            </a:r>
          </a:p>
          <a:p>
            <a:r>
              <a:t>퇴근</a:t>
            </a:r>
          </a:p>
          <a:p>
            <a:r>
              <a:t>출근 브리핑</a:t>
            </a:r>
          </a:p>
          <a:p>
            <a:r>
              <a:t>발행</a:t>
            </a:r>
          </a:p>
          <a:p>
            <a:r>
              <a:t>발행일</a:t>
            </a:r>
          </a:p>
          <a:p>
            <a:r>
              <a:t>2026-09-17</a:t>
            </a:r>
          </a:p>
          <a:p>
            <a:r>
              <a:t>예정</a:t>
            </a:r>
          </a:p>
          <a:p>
            <a:r>
              <a:t>07:40</a:t>
            </a:r>
          </a:p>
          <a:p>
            <a:r>
              <a:t>생성·발행</a:t>
            </a:r>
          </a:p>
          <a:p>
            <a:r>
              <a:t>2026-09-17 07:41 KST</a:t>
            </a:r>
          </a:p>
          <a:p>
            <a:r>
              <a:t>데이터 기준</a:t>
            </a:r>
          </a:p>
          <a:p>
            <a:r>
              <a:t>2026-09-17 07:40 KST</a:t>
            </a:r>
          </a:p>
          <a:p>
            <a:r>
              <a:t>주요 시장 지표</a:t>
            </a:r>
          </a:p>
          <a:p>
            <a:r>
              <a:t>KOSPI</a:t>
            </a:r>
          </a:p>
          <a:p/>
          <a:p>
            <a:r>
              <a:t>9월 16일 종가</a:t>
            </a:r>
          </a:p>
          <a:p>
            <a:r>
              <a:t>9월 15일 종가 대비</a:t>
            </a:r>
          </a:p>
          <a:p/>
          <a:p>
            <a:r>
              <a:t>6,717.97</a:t>
            </a:r>
          </a:p>
          <a:p>
            <a:r>
              <a:t>▲ +90.71 (+1.37%)</a:t>
            </a:r>
          </a:p>
          <a:p>
            <a:r>
              <a:t>상승</a:t>
            </a:r>
          </a:p>
          <a:p>
            <a:r>
              <a:t>KOSDAQ</a:t>
            </a:r>
          </a:p>
          <a:p/>
          <a:p>
            <a:r>
              <a:t>9월 16일 종가</a:t>
            </a:r>
          </a:p>
          <a:p>
            <a:r>
              <a:t>9월 15일 종가 대비</a:t>
            </a:r>
          </a:p>
          <a:p/>
          <a:p>
            <a:r>
              <a:t>815.98</a:t>
            </a:r>
          </a:p>
          <a:p>
            <a:r>
              <a:t>▲ +3.57 (+0.44%)</a:t>
            </a:r>
          </a:p>
          <a:p>
            <a:r>
              <a:t>상승</a:t>
            </a:r>
          </a:p>
          <a:p>
            <a:r>
              <a:t>원/달러</a:t>
            </a:r>
          </a:p>
          <a:p/>
          <a:p>
            <a:r>
              <a:t>9월 17일 07:35 기준</a:t>
            </a:r>
          </a:p>
          <a:p>
            <a:r>
              <a:t>9월 16일 15:30 대비</a:t>
            </a:r>
          </a:p>
          <a:p/>
          <a:p>
            <a:r>
              <a:t>1,377.17원</a:t>
            </a:r>
          </a:p>
          <a:p>
            <a:r>
              <a:t>▲ +8.79원 (+0.64%)</a:t>
            </a:r>
          </a:p>
          <a:p>
            <a:r>
              <a:t>상승</a:t>
            </a:r>
          </a:p>
          <a:p>
            <a:r>
              <a:t>핵심 이슈</a:t>
            </a:r>
          </a:p>
          <a:p>
            <a:r>
              <a:t>이 회차 전체 관계 그래프</a:t>
            </a:r>
          </a:p>
          <a:p>
            <a:r>
              <a:t>발생 시각 미상</a:t>
            </a:r>
          </a:p>
          <a:p>
            <a:r>
              <a:t>보도 기사</a:t>
            </a:r>
          </a:p>
          <a:p>
            <a:r>
              <a:t>1</a:t>
            </a:r>
          </a:p>
          <a:p>
            <a:r>
              <a:t>1.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1번째로 최근입니다 · 근거 1건</a:t>
            </a:r>
          </a:p>
          <a:p/>
          <a:p>
            <a:r>
              <a:t>이 회차 관계 그래프에서 보기</a:t>
            </a:r>
          </a:p>
          <a:p>
            <a:r>
              <a:t>발생 시각 미상</a:t>
            </a:r>
          </a:p>
          <a:p>
            <a:r>
              <a:t>보도 기사</a:t>
            </a:r>
          </a:p>
          <a:p>
            <a:r>
              <a:t>1</a:t>
            </a:r>
          </a:p>
          <a:p>
            <a:r>
              <a:t>2. NVIDIA Vera Rubin NVL72 Delivers Leading Performance in MLPerf Inference v6.1 Debut</a:t>
            </a:r>
          </a:p>
          <a:p/>
          <a:p>
            <a:r>
              <a:t>관련 기업:</a:t>
            </a:r>
          </a:p>
          <a:p>
            <a:r>
              <a:t>NVIDIA</a:t>
            </a:r>
          </a:p>
          <a:p/>
          <a:p>
            <a:r>
              <a:t>근거</a:t>
            </a:r>
          </a:p>
          <a:p>
            <a:r>
              <a:t>3</a:t>
            </a:r>
          </a:p>
          <a:p/>
          <a:p>
            <a:r>
              <a:t>선정 이유 이번 회차 데이터 창 안의 승인 이슈 7건 중 사건 시각이 2번째로 최근입니다 · 근거 3건</a:t>
            </a:r>
          </a:p>
          <a:p/>
          <a:p>
            <a:r>
              <a:t>이 회차 관계 그래프에서 보기</a:t>
            </a:r>
          </a:p>
          <a:p>
            <a:r>
              <a:t>발생 시각 미상</a:t>
            </a:r>
          </a:p>
          <a:p>
            <a:r>
              <a:t>보도 기사</a:t>
            </a:r>
          </a:p>
          <a:p>
            <a:r>
              <a:t>1</a:t>
            </a:r>
          </a:p>
          <a:p>
            <a:r>
              <a:t>3.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3번째로 최근입니다 · 근거 1건</a:t>
            </a:r>
          </a:p>
          <a:p/>
          <a:p>
            <a:r>
              <a:t>이 회차 관계 그래프에서 보기</a:t>
            </a:r>
          </a:p>
          <a:p>
            <a:r>
              <a:t>이 회차가 도움이 됐나요?</a:t>
            </a:r>
          </a:p>
          <a:p>
            <a:r>
              <a:t>근거 문서</a:t>
            </a:r>
          </a:p>
          <a:p>
            <a:r>
              <a:t>5</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D-BRF-02.png</a:t>
            </a:r>
          </a:p>
          <a:p>
            <a:r>
              <a:t>좌표·클릭 후 실제 화면: D-BRF-02.json</a:t>
            </a:r>
          </a:p>
          <a:p>
            <a:r>
              <a:t>본문으로 건너뛰기</a:t>
            </a:r>
          </a:p>
          <a:p>
            <a:r>
              <a:t>줍</a:t>
            </a:r>
          </a:p>
          <a:p>
            <a:r>
              <a:t>Zoop</a:t>
            </a:r>
          </a:p>
          <a:p>
            <a:r>
              <a:t>지도</a:t>
            </a:r>
          </a:p>
          <a:p>
            <a:r>
              <a:t>브리핑</a:t>
            </a:r>
          </a:p>
          <a:p>
            <a:r>
              <a:t>내 종목</a:t>
            </a:r>
          </a:p>
          <a:p>
            <a:r>
              <a:t>데모 사용자님</a:t>
            </a:r>
          </a:p>
          <a:p>
            <a:r>
              <a:t>브리핑</a:t>
            </a:r>
          </a:p>
          <a:p>
            <a:r>
              <a:t>발행일</a:t>
            </a:r>
          </a:p>
          <a:p>
            <a:r>
              <a:t>2026-09-17</a:t>
            </a:r>
          </a:p>
          <a:p>
            <a:r>
              <a:t>출근</a:t>
            </a:r>
          </a:p>
          <a:p>
            <a:r>
              <a:t>퇴근</a:t>
            </a:r>
          </a:p>
          <a:p>
            <a:r>
              <a:t>퇴근 브리핑</a:t>
            </a:r>
          </a:p>
          <a:p>
            <a:r>
              <a:t>발행</a:t>
            </a:r>
          </a:p>
          <a:p>
            <a:r>
              <a:t>발행일</a:t>
            </a:r>
          </a:p>
          <a:p>
            <a:r>
              <a:t>2026-09-17</a:t>
            </a:r>
          </a:p>
          <a:p>
            <a:r>
              <a:t>예정</a:t>
            </a:r>
          </a:p>
          <a:p>
            <a:r>
              <a:t>18:10</a:t>
            </a:r>
          </a:p>
          <a:p>
            <a:r>
              <a:t>생성·발행</a:t>
            </a:r>
          </a:p>
          <a:p>
            <a:r>
              <a:t>2026-09-17 18:11 KST</a:t>
            </a:r>
          </a:p>
          <a:p>
            <a:r>
              <a:t>데이터 기준</a:t>
            </a:r>
          </a:p>
          <a:p>
            <a:r>
              <a:t>2026-09-17 18:10 KST</a:t>
            </a:r>
          </a:p>
          <a:p>
            <a:r>
              <a:t>주요 시장 지표</a:t>
            </a:r>
          </a:p>
          <a:p>
            <a:r>
              <a:t>KOSPI</a:t>
            </a:r>
          </a:p>
          <a:p/>
          <a:p>
            <a:r>
              <a:t>9월 17일 종가</a:t>
            </a:r>
          </a:p>
          <a:p>
            <a:r>
              <a:t>9월 16일 종가 대비</a:t>
            </a:r>
          </a:p>
          <a:p/>
          <a:p>
            <a:r>
              <a:t>6,715.41</a:t>
            </a:r>
          </a:p>
          <a:p>
            <a:r>
              <a:t>▼ -2.56 (-0.04%)</a:t>
            </a:r>
          </a:p>
          <a:p>
            <a:r>
              <a:t>하락</a:t>
            </a:r>
          </a:p>
          <a:p>
            <a:r>
              <a:t>KOSDAQ</a:t>
            </a:r>
          </a:p>
          <a:p/>
          <a:p>
            <a:r>
              <a:t>9월 17일 종가</a:t>
            </a:r>
          </a:p>
          <a:p>
            <a:r>
              <a:t>9월 16일 종가 대비</a:t>
            </a:r>
          </a:p>
          <a:p/>
          <a:p>
            <a:r>
              <a:t>822.18</a:t>
            </a:r>
          </a:p>
          <a:p>
            <a:r>
              <a:t>▲ +6.20 (+0.76%)</a:t>
            </a:r>
          </a:p>
          <a:p>
            <a:r>
              <a:t>상승</a:t>
            </a:r>
          </a:p>
          <a:p>
            <a:r>
              <a:t>원/달러</a:t>
            </a:r>
          </a:p>
          <a:p/>
          <a:p>
            <a:r>
              <a:t>9월 17일 18:00 기준</a:t>
            </a:r>
          </a:p>
          <a:p>
            <a:r>
              <a:t>9월 16일 15:30 대비</a:t>
            </a:r>
          </a:p>
          <a:p/>
          <a:p>
            <a:r>
              <a:t>1,383.98원</a:t>
            </a:r>
          </a:p>
          <a:p>
            <a:r>
              <a:t>▲ +15.60원 (+1.14%)</a:t>
            </a:r>
          </a:p>
          <a:p>
            <a:r>
              <a:t>상승</a:t>
            </a:r>
          </a:p>
          <a:p>
            <a:r>
              <a:t>핵심 이슈</a:t>
            </a:r>
          </a:p>
          <a:p>
            <a:r>
              <a:t>이 회차 전체 관계 그래프</a:t>
            </a:r>
          </a:p>
          <a:p>
            <a:r>
              <a:t>2026-09-16</a:t>
            </a:r>
          </a:p>
          <a:p>
            <a:r>
              <a:t>보도 기사</a:t>
            </a:r>
          </a:p>
          <a:p>
            <a:r>
              <a:t>1</a:t>
            </a:r>
          </a:p>
          <a:p>
            <a:r>
              <a:t>1. 삼성전자, One UI 9 공식 버전 업데이트 시작</a:t>
            </a:r>
          </a:p>
          <a:p>
            <a:r>
              <a:t>근거</a:t>
            </a:r>
          </a:p>
          <a:p>
            <a:r>
              <a:t>1</a:t>
            </a:r>
          </a:p>
          <a:p/>
          <a:p>
            <a:r>
              <a:t>선정 이유 이번 회차 데이터 창 안의 승인 이슈 5건 중 사건 시각이 1번째로 최근입니다 · 근거 1건</a:t>
            </a:r>
          </a:p>
          <a:p/>
          <a:p>
            <a:r>
              <a:t>이 회차 관계 그래프에서 보기</a:t>
            </a:r>
          </a:p>
          <a:p>
            <a:r>
              <a:t>발생 시각 미상</a:t>
            </a:r>
          </a:p>
          <a:p>
            <a:r>
              <a:t>보도 기사</a:t>
            </a:r>
          </a:p>
          <a:p>
            <a:r>
              <a:t>1</a:t>
            </a:r>
          </a:p>
          <a:p>
            <a:r>
              <a:t>2. 삼성전자, One UI 9 공식 버전 업데이트 시작</a:t>
            </a:r>
          </a:p>
          <a:p>
            <a:r>
              <a:t>근거</a:t>
            </a:r>
          </a:p>
          <a:p>
            <a:r>
              <a:t>2</a:t>
            </a:r>
          </a:p>
          <a:p/>
          <a:p>
            <a:r>
              <a:t>선정 이유 이번 회차 데이터 창 안의 승인 이슈 5건 중 사건 시각이 2번째로 최근입니다 · 근거 2건</a:t>
            </a:r>
          </a:p>
          <a:p/>
          <a:p>
            <a:r>
              <a:t>이 회차 관계 그래프에서 보기</a:t>
            </a:r>
          </a:p>
          <a:p>
            <a:r>
              <a:t>발생 시각 미상</a:t>
            </a:r>
          </a:p>
          <a:p>
            <a:r>
              <a:t>보도 기사</a:t>
            </a:r>
          </a:p>
          <a:p>
            <a:r>
              <a:t>1</a:t>
            </a:r>
          </a:p>
          <a:p>
            <a:r>
              <a:t>3. 삼성전자, 가전 테크세미나 개최…지역 맞춤형 AI 가전 선봬</a:t>
            </a:r>
          </a:p>
          <a:p/>
          <a:p>
            <a:r>
              <a:t>관련 기업:</a:t>
            </a:r>
          </a:p>
          <a:p>
            <a:r>
              <a:t>삼성전자</a:t>
            </a:r>
          </a:p>
          <a:p/>
          <a:p>
            <a:r>
              <a:t>근거</a:t>
            </a:r>
          </a:p>
          <a:p>
            <a:r>
              <a:t>6</a:t>
            </a:r>
          </a:p>
          <a:p/>
          <a:p>
            <a:r>
              <a:t>선정 이유 이번 회차 데이터 창 안의 승인 이슈 5건 중 사건 시각이 3번째로 최근입니다 · 근거 6건</a:t>
            </a:r>
          </a:p>
          <a:p/>
          <a:p>
            <a:r>
              <a:t>이 회차 관계 그래프에서 보기</a:t>
            </a:r>
          </a:p>
          <a:p>
            <a:r>
              <a:t>아침 이후 바뀐 내용</a:t>
            </a:r>
          </a:p>
          <a:p>
            <a:r>
              <a:t>6건</a:t>
            </a:r>
          </a:p>
          <a:p>
            <a:r>
              <a:t>출근 브리핑 보기</a:t>
            </a:r>
          </a:p>
          <a:p>
            <a:r>
              <a:t>보도 00:00</a:t>
            </a:r>
          </a:p>
          <a:p>
            <a:r>
              <a:t>빠짐</a:t>
            </a:r>
          </a:p>
          <a:p>
            <a:r>
              <a:t>NVIDIA Vera Rubin NVL72 Delivers Leading Performance in MLPerf Inference v6.1 Debut</a:t>
            </a:r>
          </a:p>
          <a:p/>
          <a:p>
            <a:r>
              <a:t>관련 기업 NVIDIA · 발생 시각 미상 · 이번 회차 핵심 이슈에는 없어요 · 근거 1건</a:t>
            </a:r>
          </a:p>
          <a:p/>
          <a:p>
            <a:r>
              <a:t>보도 00:00</a:t>
            </a:r>
          </a:p>
          <a:p>
            <a:r>
              <a:t>빠짐</a:t>
            </a:r>
          </a:p>
          <a:p>
            <a:r>
              <a:t>NVIDIA Vera Rubin NVL72 Delivers Leading Performance in MLPerf Inference v6.1 Debut</a:t>
            </a:r>
          </a:p>
          <a:p/>
          <a:p>
            <a:r>
              <a:t>관련 기업 NVIDIA · 발생 시각 미상 · 이번 회차 핵심 이슈에는 없어요 · 근거 3건</a:t>
            </a:r>
          </a:p>
          <a:p/>
          <a:p>
            <a:r>
              <a:t>보도 00:00</a:t>
            </a:r>
          </a:p>
          <a:p>
            <a:r>
              <a:t>빠짐</a:t>
            </a:r>
          </a:p>
          <a:p>
            <a:r>
              <a:t>NVIDIA Vera Rubin NVL72 Delivers Leading Performance in MLPerf Inference v6.1 Debut</a:t>
            </a:r>
          </a:p>
          <a:p/>
          <a:p>
            <a:r>
              <a:t>관련 기업 NVIDIA · 발생 시각 미상 · 이번 회차 핵심 이슈에는 없어요 · 근거 1건</a:t>
            </a:r>
          </a:p>
          <a:p/>
          <a:p>
            <a:r>
              <a:t>보도 17:00</a:t>
            </a:r>
          </a:p>
          <a:p>
            <a:r>
              <a:t>신규</a:t>
            </a:r>
          </a:p>
          <a:p>
            <a:r>
              <a:t>삼성전자, One UI 9 공식 버전 업데이트 시작</a:t>
            </a:r>
          </a:p>
          <a:p/>
          <a:p>
            <a:r>
              <a:t>발생 2026-09-16 · 근거 1건</a:t>
            </a:r>
          </a:p>
          <a:p/>
          <a:p>
            <a:r>
              <a:t>보도 17:00</a:t>
            </a:r>
          </a:p>
          <a:p>
            <a:r>
              <a:t>신규</a:t>
            </a:r>
          </a:p>
          <a:p>
            <a:r>
              <a:t>삼성전자, One UI 9 공식 버전 업데이트 시작</a:t>
            </a:r>
          </a:p>
          <a:p/>
          <a:p>
            <a:r>
              <a:t>발생 시각 미상 · 근거 2건</a:t>
            </a:r>
          </a:p>
          <a:p/>
          <a:p>
            <a:r>
              <a:t>보도 17:00</a:t>
            </a:r>
          </a:p>
          <a:p>
            <a:r>
              <a:t>신규</a:t>
            </a:r>
          </a:p>
          <a:p>
            <a:r>
              <a:t>삼성전자, 가전 테크세미나 개최…지역 맞춤형 AI 가전 선봬</a:t>
            </a:r>
          </a:p>
          <a:p/>
          <a:p>
            <a:r>
              <a:t>근거 6건</a:t>
            </a:r>
          </a:p>
          <a:p/>
          <a:p>
            <a:r>
              <a:t>이 회차가 도움이 됐나요?</a:t>
            </a:r>
          </a:p>
          <a:p>
            <a:r>
              <a:t>근거 문서</a:t>
            </a:r>
          </a:p>
          <a:p>
            <a:r>
              <a:t>9</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D-BRF-04.png</a:t>
            </a:r>
          </a:p>
          <a:p>
            <a:r>
              <a:t>좌표·클릭 후 실제 화면: D-BRF-04.json</a:t>
            </a:r>
          </a:p>
          <a:p>
            <a:r>
              <a:t>본문으로 건너뛰기</a:t>
            </a:r>
          </a:p>
          <a:p>
            <a:r>
              <a:t>줍</a:t>
            </a:r>
          </a:p>
          <a:p>
            <a:r>
              <a:t>Zoop</a:t>
            </a:r>
          </a:p>
          <a:p>
            <a:r>
              <a:t>지도</a:t>
            </a:r>
          </a:p>
          <a:p>
            <a:r>
              <a:t>브리핑</a:t>
            </a:r>
          </a:p>
          <a:p>
            <a:r>
              <a:t>내 종목</a:t>
            </a:r>
          </a:p>
          <a:p>
            <a:r>
              <a:t>데모 사용자님</a:t>
            </a:r>
          </a:p>
          <a:p>
            <a:r>
              <a:t>브리핑 회차 기준 지도</a:t>
            </a:r>
          </a:p>
          <a:p/>
          <a:p>
            <a:r>
              <a:t>2026-09-17 퇴근 브리핑 기준 그래프</a:t>
            </a:r>
          </a:p>
          <a:p/>
          <a:p>
            <a:r>
              <a:t>발행 당시의 관계·근거 · 데이터 기준 2026-09-17 18:10 KST</a:t>
            </a:r>
          </a:p>
          <a:p/>
          <a:p>
            <a:r>
              <a:t>현재 그래프로 보기</a:t>
            </a:r>
          </a:p>
          <a:p>
            <a:r>
              <a:t>브리핑으로</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D-AI-01.png</a:t>
            </a:r>
          </a:p>
          <a:p>
            <a:r>
              <a:t>좌표·클릭 후 실제 화면: D-AI-01.json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a:t>
            </a:r>
          </a:p>
          <a:p/>
          <a:p>
            <a:r>
              <a:t>005930</a:t>
            </a:r>
          </a:p>
          <a:p/>
          <a:p>
            <a:r>
              <a:t>보유 종목</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2026-09-11</a:t>
            </a:r>
          </a:p>
          <a:p>
            <a:r>
              <a:t>주최/진행</a:t>
            </a:r>
          </a:p>
          <a:p>
            <a:r>
              <a:t>[영상] 요즘 사람들의 책 읽기, 민음사와 함께 한 갤럭시 Z 폴드8 북토크 현장</a:t>
            </a:r>
          </a:p>
          <a:p>
            <a:r>
              <a:t>근거 2건 보기</a:t>
            </a:r>
          </a:p>
          <a:p>
            <a:r>
              <a:t>2026-09-08</a:t>
            </a:r>
          </a:p>
          <a:p>
            <a:r>
              <a:t>발행회사</a:t>
            </a:r>
          </a:p>
          <a:p>
            <a:r>
              <a:t>최대주주등소유주식변동신고서</a:t>
            </a:r>
          </a:p>
          <a:p>
            <a:r>
              <a:t>근거 2건 보기</a:t>
            </a:r>
          </a:p>
          <a:p>
            <a:r>
              <a:t>2026-08-07</a:t>
            </a:r>
          </a:p>
          <a:p>
            <a:r>
              <a:t>삼성전자, 8월 7일 갤럭시 워치 공식 출시</a:t>
            </a:r>
          </a:p>
          <a:p>
            <a:r>
              <a:t>근거 1건 보기</a:t>
            </a:r>
          </a:p>
          <a:p>
            <a:r>
              <a:t>2026-07-28</a:t>
            </a:r>
          </a:p>
          <a:p>
            <a:r>
              <a:t>제공사</a:t>
            </a:r>
          </a:p>
          <a:p>
            <a:r>
              <a:t>삼성전자, ‘갤럭시 Z 폴드8 울트라·폴드8·플립8’, ‘갤럭시 워치 울트라2·워치9’ 사전 판매 시작</a:t>
            </a:r>
          </a:p>
          <a:p>
            <a:r>
              <a:t>근거 1건 보기</a:t>
            </a:r>
          </a:p>
          <a:p>
            <a:r>
              <a:t>2026-07-28</a:t>
            </a:r>
          </a:p>
          <a:p>
            <a:r>
              <a:t>판매사</a:t>
            </a:r>
          </a:p>
          <a:p>
            <a:r>
              <a:t>삼성전자, 7월 28일 갤럭시 워치 사전 판매 시작</a:t>
            </a:r>
          </a:p>
          <a:p>
            <a:r>
              <a:t>근거 1건 보기</a:t>
            </a:r>
          </a:p>
          <a:p>
            <a:r>
              <a:t>2026-07-24</a:t>
            </a:r>
          </a:p>
          <a:p>
            <a:r>
              <a:t>참여사</a:t>
            </a:r>
          </a:p>
          <a:p>
            <a:r>
              <a:t>AI Summit Stage Gathering of Global Tech Leaders at the Midway in San Francisco</a:t>
            </a:r>
          </a:p>
          <a:p>
            <a:r>
              <a:t>근거 3건 보기</a:t>
            </a:r>
          </a:p>
          <a:p>
            <a:r>
              <a:t>2026-07-22</a:t>
            </a:r>
          </a:p>
          <a:p>
            <a:r>
              <a:t>공개 주체</a:t>
            </a:r>
          </a:p>
          <a:p>
            <a:r>
              <a:t>삼성전자, ‘갤럭시 워치 울트라2·워치9’ 공개</a:t>
            </a:r>
          </a:p>
          <a:p>
            <a:r>
              <a:t>근거 1건 보기</a:t>
            </a:r>
          </a:p>
          <a:p>
            <a:r>
              <a:t>발생 시각 미상</a:t>
            </a:r>
          </a:p>
          <a:p>
            <a:r>
              <a:t>협력사·기술 제공사</a:t>
            </a:r>
          </a:p>
          <a:p>
            <a:r>
              <a:t>Samsung, SK Telecom, and Hana Financial Group Build Korea’s First Private 5G Smart Office in the Financial Sector</a:t>
            </a:r>
          </a:p>
          <a:p>
            <a:r>
              <a:t>근거 1건 보기</a:t>
            </a:r>
          </a:p>
          <a:p>
            <a:r>
              <a:t>발생 시각 미상</a:t>
            </a:r>
          </a:p>
          <a:p>
            <a:r>
              <a:t>솔루션 제공사</a:t>
            </a:r>
          </a:p>
          <a:p>
            <a:r>
              <a:t>Samsung, SK Telecom, and Hana Financial Group Build Korea’s First Private 5G Smart Office in the Financial Sector</a:t>
            </a:r>
          </a:p>
          <a:p>
            <a:r>
              <a:t>근거 1건 보기</a:t>
            </a:r>
          </a:p>
          <a:p>
            <a:r>
              <a:t>발생 시각 미상</a:t>
            </a:r>
          </a:p>
          <a:p>
            <a:r>
              <a:t>솔루션 제공사</a:t>
            </a:r>
          </a:p>
          <a:p>
            <a:r>
              <a:t>Samsung Provides AI-Native NIS Solution for SK Telecom’s Project</a:t>
            </a:r>
          </a:p>
          <a:p>
            <a:r>
              <a:t>근거 1건 보기</a:t>
            </a:r>
          </a:p>
          <a:p>
            <a:r>
              <a:t>발생 시각 미상</a:t>
            </a:r>
          </a:p>
          <a:p>
            <a:r>
              <a:t>솔루션 제공사</a:t>
            </a:r>
          </a:p>
          <a:p>
            <a:r>
              <a:t>Samsung to Support KT’s Quadruped Welding Robot Use Case with NIS and CognitiV NOS</a:t>
            </a:r>
          </a:p>
          <a:p>
            <a:r>
              <a:t>근거 1건 보기</a:t>
            </a:r>
          </a:p>
          <a:p>
            <a:r>
              <a:t>발생 시각 미상</a:t>
            </a:r>
          </a:p>
          <a:p>
            <a:r>
              <a:t>계약사</a:t>
            </a:r>
          </a:p>
          <a:p>
            <a:r>
              <a:t>Samsung Signs AI RAN Project Contracts with KT and SK Telecom Under Korea’s Hyper AI Network Initiative</a:t>
            </a:r>
          </a:p>
          <a:p>
            <a:r>
              <a:t>근거 1건 보기</a:t>
            </a:r>
          </a:p>
          <a:p>
            <a:r>
              <a:t>발생 시각 미상</a:t>
            </a:r>
          </a:p>
          <a:p>
            <a:r>
              <a:t>주최자</a:t>
            </a:r>
          </a:p>
          <a:p>
            <a:r>
              <a:t>삼성전자, 가전 테크세미나 개최…지역 맞춤형 AI 가전 선봬</a:t>
            </a:r>
          </a:p>
          <a:p>
            <a:r>
              <a:t>근거 3건 보기</a:t>
            </a:r>
          </a:p>
          <a:p>
            <a:r>
              <a:t>발생 시각 미상</a:t>
            </a:r>
          </a:p>
          <a:p>
            <a:r>
              <a:t>시연자</a:t>
            </a:r>
          </a:p>
          <a:p>
            <a:r>
              <a:t>삼성전자, 가전 테크세미나 개최…지역 맞춤형 AI 가전 선봬</a:t>
            </a:r>
          </a:p>
          <a:p>
            <a:r>
              <a:t>근거 1건 보기</a:t>
            </a:r>
          </a:p>
          <a:p>
            <a:r>
              <a:t>발생 시각 미상</a:t>
            </a:r>
          </a:p>
          <a:p>
            <a:r>
              <a:t>참가 및 전시 주체</a:t>
            </a:r>
          </a:p>
          <a:p>
            <a:r>
              <a:t>삼성전자, ‘2026 기후산업국제박람회’서 일상부터 산업까지 맞춤형 에너지 솔루션 선보여</a:t>
            </a:r>
          </a:p>
          <a:p>
            <a:r>
              <a:t>근거 3건 보기</a:t>
            </a:r>
          </a:p>
          <a:p>
            <a:r>
              <a:t>발생 시각 미상</a:t>
            </a:r>
          </a:p>
          <a:p>
            <a:r>
              <a:t>프로모션 주최/운영</a:t>
            </a:r>
          </a:p>
          <a:p>
            <a:r>
              <a:t>삼성전자, 상업용 시스템에어컨 세척 프로모션 진행</a:t>
            </a:r>
          </a:p>
          <a:p>
            <a:r>
              <a:t>근거 1건 보기</a:t>
            </a:r>
          </a:p>
          <a:p>
            <a:r>
              <a:t>발생 시각 미상</a:t>
            </a:r>
          </a:p>
          <a:p>
            <a:r>
              <a:t>컨소시엄 참여 및 공동…</a:t>
            </a:r>
          </a:p>
          <a:p>
            <a:r>
              <a:t>삼성전자, ASML과 차세대 반도체 제조 협력 확대</a:t>
            </a:r>
          </a:p>
          <a:p>
            <a:r>
              <a:t>근거 2건 보기</a:t>
            </a:r>
          </a:p>
          <a:p>
            <a:r>
              <a:t>발생 시각 미상</a:t>
            </a:r>
          </a:p>
          <a:p>
            <a:r>
              <a:t>발행회사</a:t>
            </a:r>
          </a:p>
          <a:p>
            <a:r>
              <a:t>최대주주등소유주식변동신고서</a:t>
            </a:r>
          </a:p>
          <a:p>
            <a:r>
              <a:t>근거 2건 보기</a:t>
            </a:r>
          </a:p>
          <a:p>
            <a:r>
              <a:t>발생 시각 미상</a:t>
            </a:r>
          </a:p>
          <a:p>
            <a:r>
              <a:t>발행회사</a:t>
            </a:r>
          </a:p>
          <a:p>
            <a:r>
              <a:t>최대주주등소유주식변동신고서</a:t>
            </a:r>
          </a:p>
          <a:p>
            <a:r>
              <a:t>근거 3건 보기</a:t>
            </a:r>
          </a:p>
          <a:p>
            <a:r>
              <a:t>발생 시각 미상</a:t>
            </a:r>
          </a:p>
          <a:p>
            <a:r>
              <a:t>제공사</a:t>
            </a:r>
          </a:p>
          <a:p>
            <a:r>
              <a:t>삼성전자, ‘갤럭시 Z 폴드8 울트라·폴드8·플립8’, ‘갤럭시 워치 울트라2·워치9’ 사전 판매 시작</a:t>
            </a:r>
          </a:p>
          <a:p>
            <a:r>
              <a:t>근거 1건 보기</a:t>
            </a:r>
          </a:p>
          <a:p>
            <a:r>
              <a:t>발생 시각 미상</a:t>
            </a:r>
          </a:p>
          <a:p>
            <a:r>
              <a:t>개발사</a:t>
            </a:r>
          </a:p>
          <a:p>
            <a:r>
              <a:t>삼성전자, 갤럭시 워치 건강 관리 기능 추가</a:t>
            </a:r>
          </a:p>
          <a:p>
            <a:r>
              <a:t>근거 1건 보기</a:t>
            </a:r>
          </a:p>
          <a:p>
            <a:r>
              <a:t>발생 시각 미상</a:t>
            </a:r>
          </a:p>
          <a:p>
            <a:r>
              <a:t>투자사</a:t>
            </a:r>
          </a:p>
          <a:p>
            <a:r>
              <a:t>삼성전자·삼성SDS, 구미에 휴머노이드 양산·AI 데이터센터 투자 계획</a:t>
            </a:r>
          </a:p>
          <a:p>
            <a:r>
              <a:t>근거 2건 보기</a:t>
            </a:r>
          </a:p>
          <a:p>
            <a:r>
              <a:t>발생 시각 미상</a:t>
            </a:r>
          </a:p>
          <a:p>
            <a:r>
              <a:t>투자자</a:t>
            </a:r>
          </a:p>
          <a:p>
            <a:r>
              <a:t>삼성, 미래 성장 위해 호남에 425조원 투자</a:t>
            </a:r>
          </a:p>
          <a:p>
            <a:r>
              <a:t>근거 1건 보기</a:t>
            </a:r>
          </a:p>
          <a:p>
            <a:r>
              <a:t>발생 시각 미상</a:t>
            </a:r>
          </a:p>
          <a:p>
            <a:r>
              <a:t>구축사</a:t>
            </a:r>
          </a:p>
          <a:p>
            <a:r>
              <a:t>삼성, 미래 성장 위해 2,655조원 투자</a:t>
            </a:r>
          </a:p>
          <a:p>
            <a:r>
              <a:t>근거 2건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AI에게 묻기</a:t>
            </a:r>
          </a:p>
          <a:p/>
          <a:p>
            <a:r>
              <a:t>질문 대상: 삼성전자</a:t>
            </a:r>
          </a:p>
          <a:p/>
          <a:p>
            <a:r>
              <a:t>새 대화</a:t>
            </a:r>
          </a:p>
          <a:p>
            <a:r>
              <a:t>질문에 연결할 대상</a:t>
            </a:r>
          </a:p>
          <a:p>
            <a:r>
              <a:t>삼성전자</a:t>
            </a:r>
          </a:p>
          <a:p>
            <a:r>
              <a:t>직접 이슈 27건 · 2026-07-22 ~ 2028년 · 근거 43건</a:t>
            </a:r>
          </a:p>
          <a:p>
            <a:r>
              <a:t>추천 질문</a:t>
            </a:r>
          </a:p>
          <a:p>
            <a:r>
              <a:t>함께 언급된 기업은 어디인가요?</a:t>
            </a:r>
          </a:p>
          <a:p>
            <a:r>
              <a:t>이 사건은 언제, 어떤 보도로 알려졌나요?</a:t>
            </a:r>
          </a:p>
          <a:p>
            <a:r>
              <a:t>이 사건 이후 주가 전망은 어떤가요?</a:t>
            </a:r>
          </a:p>
          <a:p>
            <a:r>
              <a:t>질문</a:t>
            </a:r>
          </a:p>
          <a:p>
            <a:r>
              <a:t>보내기</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D-AI-01b.png</a:t>
            </a:r>
          </a:p>
          <a:p>
            <a:r>
              <a:t>좌표·클릭 후 실제 화면: D-AI-01b.json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a:t>
            </a:r>
          </a:p>
          <a:p/>
          <a:p>
            <a:r>
              <a:t>005930</a:t>
            </a:r>
          </a:p>
          <a:p/>
          <a:p>
            <a:r>
              <a:t>보유 종목</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2026-09-11</a:t>
            </a:r>
          </a:p>
          <a:p>
            <a:r>
              <a:t>주최/진행</a:t>
            </a:r>
          </a:p>
          <a:p>
            <a:r>
              <a:t>[영상] 요즘 사람들의 책 읽기, 민음사와 함께 한 갤럭시 Z 폴드8 북토크 현장</a:t>
            </a:r>
          </a:p>
          <a:p>
            <a:r>
              <a:t>근거 2건 보기</a:t>
            </a:r>
          </a:p>
          <a:p>
            <a:r>
              <a:t>2026-09-08</a:t>
            </a:r>
          </a:p>
          <a:p>
            <a:r>
              <a:t>발행회사</a:t>
            </a:r>
          </a:p>
          <a:p>
            <a:r>
              <a:t>최대주주등소유주식변동신고서</a:t>
            </a:r>
          </a:p>
          <a:p>
            <a:r>
              <a:t>근거 2건 보기</a:t>
            </a:r>
          </a:p>
          <a:p>
            <a:r>
              <a:t>2026-08-07</a:t>
            </a:r>
          </a:p>
          <a:p>
            <a:r>
              <a:t>삼성전자, 8월 7일 갤럭시 워치 공식 출시</a:t>
            </a:r>
          </a:p>
          <a:p>
            <a:r>
              <a:t>근거 1건 보기</a:t>
            </a:r>
          </a:p>
          <a:p>
            <a:r>
              <a:t>2026-07-28</a:t>
            </a:r>
          </a:p>
          <a:p>
            <a:r>
              <a:t>제공사</a:t>
            </a:r>
          </a:p>
          <a:p>
            <a:r>
              <a:t>삼성전자, ‘갤럭시 Z 폴드8 울트라·폴드8·플립8’, ‘갤럭시 워치 울트라2·워치9’ 사전 판매 시작</a:t>
            </a:r>
          </a:p>
          <a:p>
            <a:r>
              <a:t>근거 1건 보기</a:t>
            </a:r>
          </a:p>
          <a:p>
            <a:r>
              <a:t>2026-07-28</a:t>
            </a:r>
          </a:p>
          <a:p>
            <a:r>
              <a:t>판매사</a:t>
            </a:r>
          </a:p>
          <a:p>
            <a:r>
              <a:t>삼성전자, 7월 28일 갤럭시 워치 사전 판매 시작</a:t>
            </a:r>
          </a:p>
          <a:p>
            <a:r>
              <a:t>근거 1건 보기</a:t>
            </a:r>
          </a:p>
          <a:p>
            <a:r>
              <a:t>2026-07-24</a:t>
            </a:r>
          </a:p>
          <a:p>
            <a:r>
              <a:t>참여사</a:t>
            </a:r>
          </a:p>
          <a:p>
            <a:r>
              <a:t>AI Summit Stage Gathering of Global Tech Leaders at the Midway in San Francisco</a:t>
            </a:r>
          </a:p>
          <a:p>
            <a:r>
              <a:t>근거 3건 보기</a:t>
            </a:r>
          </a:p>
          <a:p>
            <a:r>
              <a:t>2026-07-22</a:t>
            </a:r>
          </a:p>
          <a:p>
            <a:r>
              <a:t>공개 주체</a:t>
            </a:r>
          </a:p>
          <a:p>
            <a:r>
              <a:t>삼성전자, ‘갤럭시 워치 울트라2·워치9’ 공개</a:t>
            </a:r>
          </a:p>
          <a:p>
            <a:r>
              <a:t>근거 1건 보기</a:t>
            </a:r>
          </a:p>
          <a:p>
            <a:r>
              <a:t>발생 시각 미상</a:t>
            </a:r>
          </a:p>
          <a:p>
            <a:r>
              <a:t>협력사·기술 제공사</a:t>
            </a:r>
          </a:p>
          <a:p>
            <a:r>
              <a:t>Samsung, SK Telecom, and Hana Financial Group Build Korea’s First Private 5G Smart Office in the Financial Sector</a:t>
            </a:r>
          </a:p>
          <a:p>
            <a:r>
              <a:t>근거 1건 보기</a:t>
            </a:r>
          </a:p>
          <a:p>
            <a:r>
              <a:t>발생 시각 미상</a:t>
            </a:r>
          </a:p>
          <a:p>
            <a:r>
              <a:t>솔루션 제공사</a:t>
            </a:r>
          </a:p>
          <a:p>
            <a:r>
              <a:t>Samsung, SK Telecom, and Hana Financial Group Build Korea’s First Private 5G Smart Office in the Financial Sector</a:t>
            </a:r>
          </a:p>
          <a:p>
            <a:r>
              <a:t>근거 1건 보기</a:t>
            </a:r>
          </a:p>
          <a:p>
            <a:r>
              <a:t>발생 시각 미상</a:t>
            </a:r>
          </a:p>
          <a:p>
            <a:r>
              <a:t>솔루션 제공사</a:t>
            </a:r>
          </a:p>
          <a:p>
            <a:r>
              <a:t>Samsung Provides AI-Native NIS Solution for SK Telecom’s Project</a:t>
            </a:r>
          </a:p>
          <a:p>
            <a:r>
              <a:t>근거 1건 보기</a:t>
            </a:r>
          </a:p>
          <a:p>
            <a:r>
              <a:t>발생 시각 미상</a:t>
            </a:r>
          </a:p>
          <a:p>
            <a:r>
              <a:t>솔루션 제공사</a:t>
            </a:r>
          </a:p>
          <a:p>
            <a:r>
              <a:t>Samsung to Support KT’s Quadruped Welding Robot Use Case with NIS and CognitiV NOS</a:t>
            </a:r>
          </a:p>
          <a:p>
            <a:r>
              <a:t>근거 1건 보기</a:t>
            </a:r>
          </a:p>
          <a:p>
            <a:r>
              <a:t>발생 시각 미상</a:t>
            </a:r>
          </a:p>
          <a:p>
            <a:r>
              <a:t>계약사</a:t>
            </a:r>
          </a:p>
          <a:p>
            <a:r>
              <a:t>Samsung Signs AI RAN Project Contracts with KT and SK Telecom Under Korea’s Hyper AI Network Initiative</a:t>
            </a:r>
          </a:p>
          <a:p>
            <a:r>
              <a:t>근거 1건 보기</a:t>
            </a:r>
          </a:p>
          <a:p>
            <a:r>
              <a:t>발생 시각 미상</a:t>
            </a:r>
          </a:p>
          <a:p>
            <a:r>
              <a:t>주최자</a:t>
            </a:r>
          </a:p>
          <a:p>
            <a:r>
              <a:t>삼성전자, 가전 테크세미나 개최…지역 맞춤형 AI 가전 선봬</a:t>
            </a:r>
          </a:p>
          <a:p>
            <a:r>
              <a:t>근거 3건 보기</a:t>
            </a:r>
          </a:p>
          <a:p>
            <a:r>
              <a:t>발생 시각 미상</a:t>
            </a:r>
          </a:p>
          <a:p>
            <a:r>
              <a:t>시연자</a:t>
            </a:r>
          </a:p>
          <a:p>
            <a:r>
              <a:t>삼성전자, 가전 테크세미나 개최…지역 맞춤형 AI 가전 선봬</a:t>
            </a:r>
          </a:p>
          <a:p>
            <a:r>
              <a:t>근거 1건 보기</a:t>
            </a:r>
          </a:p>
          <a:p>
            <a:r>
              <a:t>발생 시각 미상</a:t>
            </a:r>
          </a:p>
          <a:p>
            <a:r>
              <a:t>참가 및 전시 주체</a:t>
            </a:r>
          </a:p>
          <a:p>
            <a:r>
              <a:t>삼성전자, ‘2026 기후산업국제박람회’서 일상부터 산업까지 맞춤형 에너지 솔루션 선보여</a:t>
            </a:r>
          </a:p>
          <a:p>
            <a:r>
              <a:t>근거 3건 보기</a:t>
            </a:r>
          </a:p>
          <a:p>
            <a:r>
              <a:t>발생 시각 미상</a:t>
            </a:r>
          </a:p>
          <a:p>
            <a:r>
              <a:t>프로모션 주최/운영</a:t>
            </a:r>
          </a:p>
          <a:p>
            <a:r>
              <a:t>삼성전자, 상업용 시스템에어컨 세척 프로모션 진행</a:t>
            </a:r>
          </a:p>
          <a:p>
            <a:r>
              <a:t>근거 1건 보기</a:t>
            </a:r>
          </a:p>
          <a:p>
            <a:r>
              <a:t>발생 시각 미상</a:t>
            </a:r>
          </a:p>
          <a:p>
            <a:r>
              <a:t>컨소시엄 참여 및 공동…</a:t>
            </a:r>
          </a:p>
          <a:p>
            <a:r>
              <a:t>삼성전자, ASML과 차세대 반도체 제조 협력 확대</a:t>
            </a:r>
          </a:p>
          <a:p>
            <a:r>
              <a:t>근거 2건 보기</a:t>
            </a:r>
          </a:p>
          <a:p>
            <a:r>
              <a:t>발생 시각 미상</a:t>
            </a:r>
          </a:p>
          <a:p>
            <a:r>
              <a:t>발행회사</a:t>
            </a:r>
          </a:p>
          <a:p>
            <a:r>
              <a:t>최대주주등소유주식변동신고서</a:t>
            </a:r>
          </a:p>
          <a:p>
            <a:r>
              <a:t>근거 2건 보기</a:t>
            </a:r>
          </a:p>
          <a:p>
            <a:r>
              <a:t>발생 시각 미상</a:t>
            </a:r>
          </a:p>
          <a:p>
            <a:r>
              <a:t>발행회사</a:t>
            </a:r>
          </a:p>
          <a:p>
            <a:r>
              <a:t>최대주주등소유주식변동신고서</a:t>
            </a:r>
          </a:p>
          <a:p>
            <a:r>
              <a:t>근거 3건 보기</a:t>
            </a:r>
          </a:p>
          <a:p>
            <a:r>
              <a:t>발생 시각 미상</a:t>
            </a:r>
          </a:p>
          <a:p>
            <a:r>
              <a:t>제공사</a:t>
            </a:r>
          </a:p>
          <a:p>
            <a:r>
              <a:t>삼성전자, ‘갤럭시 Z 폴드8 울트라·폴드8·플립8’, ‘갤럭시 워치 울트라2·워치9’ 사전 판매 시작</a:t>
            </a:r>
          </a:p>
          <a:p>
            <a:r>
              <a:t>근거 1건 보기</a:t>
            </a:r>
          </a:p>
          <a:p>
            <a:r>
              <a:t>발생 시각 미상</a:t>
            </a:r>
          </a:p>
          <a:p>
            <a:r>
              <a:t>개발사</a:t>
            </a:r>
          </a:p>
          <a:p>
            <a:r>
              <a:t>삼성전자, 갤럭시 워치 건강 관리 기능 추가</a:t>
            </a:r>
          </a:p>
          <a:p>
            <a:r>
              <a:t>근거 1건 보기</a:t>
            </a:r>
          </a:p>
          <a:p>
            <a:r>
              <a:t>발생 시각 미상</a:t>
            </a:r>
          </a:p>
          <a:p>
            <a:r>
              <a:t>투자사</a:t>
            </a:r>
          </a:p>
          <a:p>
            <a:r>
              <a:t>삼성전자·삼성SDS, 구미에 휴머노이드 양산·AI 데이터센터 투자 계획</a:t>
            </a:r>
          </a:p>
          <a:p>
            <a:r>
              <a:t>근거 2건 보기</a:t>
            </a:r>
          </a:p>
          <a:p>
            <a:r>
              <a:t>발생 시각 미상</a:t>
            </a:r>
          </a:p>
          <a:p>
            <a:r>
              <a:t>투자자</a:t>
            </a:r>
          </a:p>
          <a:p>
            <a:r>
              <a:t>삼성, 미래 성장 위해 호남에 425조원 투자</a:t>
            </a:r>
          </a:p>
          <a:p>
            <a:r>
              <a:t>근거 1건 보기</a:t>
            </a:r>
          </a:p>
          <a:p>
            <a:r>
              <a:t>발생 시각 미상</a:t>
            </a:r>
          </a:p>
          <a:p>
            <a:r>
              <a:t>구축사</a:t>
            </a:r>
          </a:p>
          <a:p>
            <a:r>
              <a:t>삼성, 미래 성장 위해 2,655조원 투자</a:t>
            </a:r>
          </a:p>
          <a:p>
            <a:r>
              <a:t>근거 2건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AI에게 묻기</a:t>
            </a:r>
          </a:p>
          <a:p/>
          <a:p>
            <a:r>
              <a:t>질문 대상: 없음</a:t>
            </a:r>
          </a:p>
          <a:p/>
          <a:p>
            <a:r>
              <a:t>새 대화</a:t>
            </a:r>
          </a:p>
          <a:p>
            <a:r>
              <a:t>질문에 연결할 대상</a:t>
            </a:r>
          </a:p>
          <a:p>
            <a:r>
              <a:t>삼성전자</a:t>
            </a:r>
          </a:p>
          <a:p>
            <a:r>
              <a:t>직접 이슈 27건 · 2026-07-22 ~ 2028년 · 근거 43건</a:t>
            </a:r>
          </a:p>
          <a:p/>
          <a:p>
            <a:r>
              <a:t>내 질문:</a:t>
            </a:r>
          </a:p>
          <a:p>
            <a:r>
              <a:t>그 기업은 언제?</a:t>
            </a:r>
          </a:p>
          <a:p/>
          <a:p>
            <a:r>
              <a:t>연결한 대상: 없음</a:t>
            </a:r>
          </a:p>
          <a:p/>
          <a:p>
            <a:r>
              <a:t>‘그 기업’만으로는 어느 대상인지 알 수 없어요. 그래프에서 기업이나 사건을 고르거나 기업 이름을 알려 주세요.</a:t>
            </a:r>
          </a:p>
          <a:p/>
          <a:p>
            <a:r>
              <a:t>질문</a:t>
            </a:r>
          </a:p>
          <a:p>
            <a:r>
              <a:t>보내기</a:t>
            </a:r>
          </a:p>
          <a:p/>
          <a:p>
            <a:r>
              <a:t>연결한 대상이 없어요. 질문에 기업 이름을 적거나 위에서 대상을 골라 주세요.</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D-AI-02.png</a:t>
            </a:r>
          </a:p>
          <a:p>
            <a:r>
              <a:t>좌표·클릭 후 실제 화면: D-AI-02.json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a:t>
            </a:r>
          </a:p>
          <a:p/>
          <a:p>
            <a:r>
              <a:t>005930</a:t>
            </a:r>
          </a:p>
          <a:p/>
          <a:p>
            <a:r>
              <a:t>보유 종목</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2026-09-11</a:t>
            </a:r>
          </a:p>
          <a:p>
            <a:r>
              <a:t>주최/진행</a:t>
            </a:r>
          </a:p>
          <a:p>
            <a:r>
              <a:t>[영상] 요즘 사람들의 책 읽기, 민음사와 함께 한 갤럭시 Z 폴드8 북토크 현장</a:t>
            </a:r>
          </a:p>
          <a:p>
            <a:r>
              <a:t>근거 2건 보기</a:t>
            </a:r>
          </a:p>
          <a:p>
            <a:r>
              <a:t>2026-09-08</a:t>
            </a:r>
          </a:p>
          <a:p>
            <a:r>
              <a:t>발행회사</a:t>
            </a:r>
          </a:p>
          <a:p>
            <a:r>
              <a:t>최대주주등소유주식변동신고서</a:t>
            </a:r>
          </a:p>
          <a:p>
            <a:r>
              <a:t>근거 2건 보기</a:t>
            </a:r>
          </a:p>
          <a:p>
            <a:r>
              <a:t>2026-08-07</a:t>
            </a:r>
          </a:p>
          <a:p>
            <a:r>
              <a:t>삼성전자, 8월 7일 갤럭시 워치 공식 출시</a:t>
            </a:r>
          </a:p>
          <a:p>
            <a:r>
              <a:t>근거 1건 보기</a:t>
            </a:r>
          </a:p>
          <a:p>
            <a:r>
              <a:t>2026-07-28</a:t>
            </a:r>
          </a:p>
          <a:p>
            <a:r>
              <a:t>제공사</a:t>
            </a:r>
          </a:p>
          <a:p>
            <a:r>
              <a:t>삼성전자, ‘갤럭시 Z 폴드8 울트라·폴드8·플립8’, ‘갤럭시 워치 울트라2·워치9’ 사전 판매 시작</a:t>
            </a:r>
          </a:p>
          <a:p>
            <a:r>
              <a:t>근거 1건 보기</a:t>
            </a:r>
          </a:p>
          <a:p>
            <a:r>
              <a:t>2026-07-28</a:t>
            </a:r>
          </a:p>
          <a:p>
            <a:r>
              <a:t>판매사</a:t>
            </a:r>
          </a:p>
          <a:p>
            <a:r>
              <a:t>삼성전자, 7월 28일 갤럭시 워치 사전 판매 시작</a:t>
            </a:r>
          </a:p>
          <a:p>
            <a:r>
              <a:t>근거 1건 보기</a:t>
            </a:r>
          </a:p>
          <a:p>
            <a:r>
              <a:t>2026-07-24</a:t>
            </a:r>
          </a:p>
          <a:p>
            <a:r>
              <a:t>참여사</a:t>
            </a:r>
          </a:p>
          <a:p>
            <a:r>
              <a:t>AI Summit Stage Gathering of Global Tech Leaders at the Midway in San Francisco</a:t>
            </a:r>
          </a:p>
          <a:p>
            <a:r>
              <a:t>근거 3건 보기</a:t>
            </a:r>
          </a:p>
          <a:p>
            <a:r>
              <a:t>2026-07-22</a:t>
            </a:r>
          </a:p>
          <a:p>
            <a:r>
              <a:t>공개 주체</a:t>
            </a:r>
          </a:p>
          <a:p>
            <a:r>
              <a:t>삼성전자, ‘갤럭시 워치 울트라2·워치9’ 공개</a:t>
            </a:r>
          </a:p>
          <a:p>
            <a:r>
              <a:t>근거 1건 보기</a:t>
            </a:r>
          </a:p>
          <a:p>
            <a:r>
              <a:t>발생 시각 미상</a:t>
            </a:r>
          </a:p>
          <a:p>
            <a:r>
              <a:t>협력사·기술 제공사</a:t>
            </a:r>
          </a:p>
          <a:p>
            <a:r>
              <a:t>Samsung, SK Telecom, and Hana Financial Group Build Korea’s First Private 5G Smart Office in the Financial Sector</a:t>
            </a:r>
          </a:p>
          <a:p>
            <a:r>
              <a:t>근거 1건 보기</a:t>
            </a:r>
          </a:p>
          <a:p>
            <a:r>
              <a:t>발생 시각 미상</a:t>
            </a:r>
          </a:p>
          <a:p>
            <a:r>
              <a:t>솔루션 제공사</a:t>
            </a:r>
          </a:p>
          <a:p>
            <a:r>
              <a:t>Samsung, SK Telecom, and Hana Financial Group Build Korea’s First Private 5G Smart Office in the Financial Sector</a:t>
            </a:r>
          </a:p>
          <a:p>
            <a:r>
              <a:t>근거 1건 보기</a:t>
            </a:r>
          </a:p>
          <a:p>
            <a:r>
              <a:t>발생 시각 미상</a:t>
            </a:r>
          </a:p>
          <a:p>
            <a:r>
              <a:t>솔루션 제공사</a:t>
            </a:r>
          </a:p>
          <a:p>
            <a:r>
              <a:t>Samsung Provides AI-Native NIS Solution for SK Telecom’s Project</a:t>
            </a:r>
          </a:p>
          <a:p>
            <a:r>
              <a:t>근거 1건 보기</a:t>
            </a:r>
          </a:p>
          <a:p>
            <a:r>
              <a:t>발생 시각 미상</a:t>
            </a:r>
          </a:p>
          <a:p>
            <a:r>
              <a:t>솔루션 제공사</a:t>
            </a:r>
          </a:p>
          <a:p>
            <a:r>
              <a:t>Samsung to Support KT’s Quadruped Welding Robot Use Case with NIS and CognitiV NOS</a:t>
            </a:r>
          </a:p>
          <a:p>
            <a:r>
              <a:t>근거 1건 보기</a:t>
            </a:r>
          </a:p>
          <a:p>
            <a:r>
              <a:t>발생 시각 미상</a:t>
            </a:r>
          </a:p>
          <a:p>
            <a:r>
              <a:t>계약사</a:t>
            </a:r>
          </a:p>
          <a:p>
            <a:r>
              <a:t>Samsung Signs AI RAN Project Contracts with KT and SK Telecom Under Korea’s Hyper AI Network Initiative</a:t>
            </a:r>
          </a:p>
          <a:p>
            <a:r>
              <a:t>근거 1건 보기</a:t>
            </a:r>
          </a:p>
          <a:p>
            <a:r>
              <a:t>발생 시각 미상</a:t>
            </a:r>
          </a:p>
          <a:p>
            <a:r>
              <a:t>주최자</a:t>
            </a:r>
          </a:p>
          <a:p>
            <a:r>
              <a:t>삼성전자, 가전 테크세미나 개최…지역 맞춤형 AI 가전 선봬</a:t>
            </a:r>
          </a:p>
          <a:p>
            <a:r>
              <a:t>근거 3건 보기</a:t>
            </a:r>
          </a:p>
          <a:p>
            <a:r>
              <a:t>발생 시각 미상</a:t>
            </a:r>
          </a:p>
          <a:p>
            <a:r>
              <a:t>시연자</a:t>
            </a:r>
          </a:p>
          <a:p>
            <a:r>
              <a:t>삼성전자, 가전 테크세미나 개최…지역 맞춤형 AI 가전 선봬</a:t>
            </a:r>
          </a:p>
          <a:p>
            <a:r>
              <a:t>근거 1건 보기</a:t>
            </a:r>
          </a:p>
          <a:p>
            <a:r>
              <a:t>발생 시각 미상</a:t>
            </a:r>
          </a:p>
          <a:p>
            <a:r>
              <a:t>참가 및 전시 주체</a:t>
            </a:r>
          </a:p>
          <a:p>
            <a:r>
              <a:t>삼성전자, ‘2026 기후산업국제박람회’서 일상부터 산업까지 맞춤형 에너지 솔루션 선보여</a:t>
            </a:r>
          </a:p>
          <a:p>
            <a:r>
              <a:t>근거 3건 보기</a:t>
            </a:r>
          </a:p>
          <a:p>
            <a:r>
              <a:t>발생 시각 미상</a:t>
            </a:r>
          </a:p>
          <a:p>
            <a:r>
              <a:t>프로모션 주최/운영</a:t>
            </a:r>
          </a:p>
          <a:p>
            <a:r>
              <a:t>삼성전자, 상업용 시스템에어컨 세척 프로모션 진행</a:t>
            </a:r>
          </a:p>
          <a:p>
            <a:r>
              <a:t>근거 1건 보기</a:t>
            </a:r>
          </a:p>
          <a:p>
            <a:r>
              <a:t>발생 시각 미상</a:t>
            </a:r>
          </a:p>
          <a:p>
            <a:r>
              <a:t>컨소시엄 참여 및 공동…</a:t>
            </a:r>
          </a:p>
          <a:p>
            <a:r>
              <a:t>삼성전자, ASML과 차세대 반도체 제조 협력 확대</a:t>
            </a:r>
          </a:p>
          <a:p>
            <a:r>
              <a:t>근거 2건 보기</a:t>
            </a:r>
          </a:p>
          <a:p>
            <a:r>
              <a:t>발생 시각 미상</a:t>
            </a:r>
          </a:p>
          <a:p>
            <a:r>
              <a:t>발행회사</a:t>
            </a:r>
          </a:p>
          <a:p>
            <a:r>
              <a:t>최대주주등소유주식변동신고서</a:t>
            </a:r>
          </a:p>
          <a:p>
            <a:r>
              <a:t>근거 2건 보기</a:t>
            </a:r>
          </a:p>
          <a:p>
            <a:r>
              <a:t>발생 시각 미상</a:t>
            </a:r>
          </a:p>
          <a:p>
            <a:r>
              <a:t>발행회사</a:t>
            </a:r>
          </a:p>
          <a:p>
            <a:r>
              <a:t>최대주주등소유주식변동신고서</a:t>
            </a:r>
          </a:p>
          <a:p>
            <a:r>
              <a:t>근거 3건 보기</a:t>
            </a:r>
          </a:p>
          <a:p>
            <a:r>
              <a:t>발생 시각 미상</a:t>
            </a:r>
          </a:p>
          <a:p>
            <a:r>
              <a:t>제공사</a:t>
            </a:r>
          </a:p>
          <a:p>
            <a:r>
              <a:t>삼성전자, ‘갤럭시 Z 폴드8 울트라·폴드8·플립8’, ‘갤럭시 워치 울트라2·워치9’ 사전 판매 시작</a:t>
            </a:r>
          </a:p>
          <a:p>
            <a:r>
              <a:t>근거 1건 보기</a:t>
            </a:r>
          </a:p>
          <a:p>
            <a:r>
              <a:t>발생 시각 미상</a:t>
            </a:r>
          </a:p>
          <a:p>
            <a:r>
              <a:t>개발사</a:t>
            </a:r>
          </a:p>
          <a:p>
            <a:r>
              <a:t>삼성전자, 갤럭시 워치 건강 관리 기능 추가</a:t>
            </a:r>
          </a:p>
          <a:p>
            <a:r>
              <a:t>근거 1건 보기</a:t>
            </a:r>
          </a:p>
          <a:p>
            <a:r>
              <a:t>발생 시각 미상</a:t>
            </a:r>
          </a:p>
          <a:p>
            <a:r>
              <a:t>투자사</a:t>
            </a:r>
          </a:p>
          <a:p>
            <a:r>
              <a:t>삼성전자·삼성SDS, 구미에 휴머노이드 양산·AI 데이터센터 투자 계획</a:t>
            </a:r>
          </a:p>
          <a:p>
            <a:r>
              <a:t>근거 2건 보기</a:t>
            </a:r>
          </a:p>
          <a:p>
            <a:r>
              <a:t>발생 시각 미상</a:t>
            </a:r>
          </a:p>
          <a:p>
            <a:r>
              <a:t>투자자</a:t>
            </a:r>
          </a:p>
          <a:p>
            <a:r>
              <a:t>삼성, 미래 성장 위해 호남에 425조원 투자</a:t>
            </a:r>
          </a:p>
          <a:p>
            <a:r>
              <a:t>근거 1건 보기</a:t>
            </a:r>
          </a:p>
          <a:p>
            <a:r>
              <a:t>발생 시각 미상</a:t>
            </a:r>
          </a:p>
          <a:p>
            <a:r>
              <a:t>구축사</a:t>
            </a:r>
          </a:p>
          <a:p>
            <a:r>
              <a:t>삼성, 미래 성장 위해 2,655조원 투자</a:t>
            </a:r>
          </a:p>
          <a:p>
            <a:r>
              <a:t>근거 2건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AI에게 묻기</a:t>
            </a:r>
          </a:p>
          <a:p/>
          <a:p>
            <a:r>
              <a:t>질문 대상: 없음</a:t>
            </a:r>
          </a:p>
          <a:p/>
          <a:p>
            <a:r>
              <a:t>새 대화</a:t>
            </a:r>
          </a:p>
          <a:p>
            <a:r>
              <a:t>질문에 연결할 대상</a:t>
            </a:r>
          </a:p>
          <a:p>
            <a:r>
              <a:t>삼성전자</a:t>
            </a:r>
          </a:p>
          <a:p>
            <a:r>
              <a:t>직접 이슈 27건 · 2026-07-22 ~ 2028년 · 근거 43건</a:t>
            </a:r>
          </a:p>
          <a:p/>
          <a:p>
            <a:r>
              <a:t>내 질문:</a:t>
            </a:r>
          </a:p>
          <a:p>
            <a:r>
              <a:t>그 기업은 언제?</a:t>
            </a:r>
          </a:p>
          <a:p/>
          <a:p>
            <a:r>
              <a:t>연결한 대상: 없음</a:t>
            </a:r>
          </a:p>
          <a:p/>
          <a:p>
            <a:r>
              <a:t>‘그 기업’만으로는 어느 대상인지 알 수 없어요. 그래프에서 기업이나 사건을 고르거나 기업 이름을 알려 주세요.</a:t>
            </a:r>
          </a:p>
          <a:p/>
          <a:p>
            <a:r>
              <a:t>질문</a:t>
            </a:r>
          </a:p>
          <a:p>
            <a:r>
              <a:t>보내기</a:t>
            </a:r>
          </a:p>
          <a:p/>
          <a:p>
            <a:r>
              <a:t>연결한 대상이 없어요. 질문에 기업 이름을 적거나 위에서 대상을 골라 주세요.</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D-AI-02b.png</a:t>
            </a:r>
          </a:p>
          <a:p>
            <a:r>
              <a:t>좌표·클릭 후 실제 화면: D-AI-02b.json</a:t>
            </a:r>
          </a:p>
          <a:p>
            <a:r>
              <a:t>본문으로 건너뛰기</a:t>
            </a:r>
          </a:p>
          <a:p>
            <a:r>
              <a:t>줍</a:t>
            </a:r>
          </a:p>
          <a:p>
            <a:r>
              <a:t>Zoop</a:t>
            </a:r>
          </a:p>
          <a:p>
            <a:r>
              <a:t>지도</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삼성전자 선택됨</a:t>
            </a:r>
          </a:p>
          <a:p/>
          <a:p>
            <a:r>
              <a:t>흐름 순으로 정렬</a:t>
            </a:r>
          </a:p>
          <a:p>
            <a:r>
              <a:t>삼성전자</a:t>
            </a:r>
          </a:p>
          <a:p/>
          <a:p>
            <a:r>
              <a:t>005930</a:t>
            </a:r>
          </a:p>
          <a:p/>
          <a:p>
            <a:r>
              <a:t>보유 종목</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2026-09-11</a:t>
            </a:r>
          </a:p>
          <a:p>
            <a:r>
              <a:t>주최/진행</a:t>
            </a:r>
          </a:p>
          <a:p>
            <a:r>
              <a:t>[영상] 요즘 사람들의 책 읽기, 민음사와 함께 한 갤럭시 Z 폴드8 북토크 현장</a:t>
            </a:r>
          </a:p>
          <a:p>
            <a:r>
              <a:t>근거 2건 보기</a:t>
            </a:r>
          </a:p>
          <a:p>
            <a:r>
              <a:t>2026-09-08</a:t>
            </a:r>
          </a:p>
          <a:p>
            <a:r>
              <a:t>발행회사</a:t>
            </a:r>
          </a:p>
          <a:p>
            <a:r>
              <a:t>최대주주등소유주식변동신고서</a:t>
            </a:r>
          </a:p>
          <a:p>
            <a:r>
              <a:t>근거 2건 보기</a:t>
            </a:r>
          </a:p>
          <a:p>
            <a:r>
              <a:t>2026-08-07</a:t>
            </a:r>
          </a:p>
          <a:p>
            <a:r>
              <a:t>삼성전자, 8월 7일 갤럭시 워치 공식 출시</a:t>
            </a:r>
          </a:p>
          <a:p>
            <a:r>
              <a:t>근거 1건 보기</a:t>
            </a:r>
          </a:p>
          <a:p>
            <a:r>
              <a:t>2026-07-28</a:t>
            </a:r>
          </a:p>
          <a:p>
            <a:r>
              <a:t>제공사</a:t>
            </a:r>
          </a:p>
          <a:p>
            <a:r>
              <a:t>삼성전자, ‘갤럭시 Z 폴드8 울트라·폴드8·플립8’, ‘갤럭시 워치 울트라2·워치9’ 사전 판매 시작</a:t>
            </a:r>
          </a:p>
          <a:p>
            <a:r>
              <a:t>근거 1건 보기</a:t>
            </a:r>
          </a:p>
          <a:p>
            <a:r>
              <a:t>2026-07-28</a:t>
            </a:r>
          </a:p>
          <a:p>
            <a:r>
              <a:t>판매사</a:t>
            </a:r>
          </a:p>
          <a:p>
            <a:r>
              <a:t>삼성전자, 7월 28일 갤럭시 워치 사전 판매 시작</a:t>
            </a:r>
          </a:p>
          <a:p>
            <a:r>
              <a:t>근거 1건 보기</a:t>
            </a:r>
          </a:p>
          <a:p>
            <a:r>
              <a:t>2026-07-24</a:t>
            </a:r>
          </a:p>
          <a:p>
            <a:r>
              <a:t>참여사</a:t>
            </a:r>
          </a:p>
          <a:p>
            <a:r>
              <a:t>AI Summit Stage Gathering of Global Tech Leaders at the Midway in San Francisco</a:t>
            </a:r>
          </a:p>
          <a:p>
            <a:r>
              <a:t>근거 3건 보기</a:t>
            </a:r>
          </a:p>
          <a:p>
            <a:r>
              <a:t>2026-07-22</a:t>
            </a:r>
          </a:p>
          <a:p>
            <a:r>
              <a:t>공개 주체</a:t>
            </a:r>
          </a:p>
          <a:p>
            <a:r>
              <a:t>삼성전자, ‘갤럭시 워치 울트라2·워치9’ 공개</a:t>
            </a:r>
          </a:p>
          <a:p>
            <a:r>
              <a:t>근거 1건 보기</a:t>
            </a:r>
          </a:p>
          <a:p>
            <a:r>
              <a:t>발생 시각 미상</a:t>
            </a:r>
          </a:p>
          <a:p>
            <a:r>
              <a:t>협력사·기술 제공사</a:t>
            </a:r>
          </a:p>
          <a:p>
            <a:r>
              <a:t>Samsung, SK Telecom, and Hana Financial Group Build Korea’s First Private 5G Smart Office in the Financial Sector</a:t>
            </a:r>
          </a:p>
          <a:p>
            <a:r>
              <a:t>근거 1건 보기</a:t>
            </a:r>
          </a:p>
          <a:p>
            <a:r>
              <a:t>발생 시각 미상</a:t>
            </a:r>
          </a:p>
          <a:p>
            <a:r>
              <a:t>솔루션 제공사</a:t>
            </a:r>
          </a:p>
          <a:p>
            <a:r>
              <a:t>Samsung, SK Telecom, and Hana Financial Group Build Korea’s First Private 5G Smart Office in the Financial Sector</a:t>
            </a:r>
          </a:p>
          <a:p>
            <a:r>
              <a:t>근거 1건 보기</a:t>
            </a:r>
          </a:p>
          <a:p>
            <a:r>
              <a:t>발생 시각 미상</a:t>
            </a:r>
          </a:p>
          <a:p>
            <a:r>
              <a:t>솔루션 제공사</a:t>
            </a:r>
          </a:p>
          <a:p>
            <a:r>
              <a:t>Samsung Provides AI-Native NIS Solution for SK Telecom’s Project</a:t>
            </a:r>
          </a:p>
          <a:p>
            <a:r>
              <a:t>근거 1건 보기</a:t>
            </a:r>
          </a:p>
          <a:p>
            <a:r>
              <a:t>발생 시각 미상</a:t>
            </a:r>
          </a:p>
          <a:p>
            <a:r>
              <a:t>솔루션 제공사</a:t>
            </a:r>
          </a:p>
          <a:p>
            <a:r>
              <a:t>Samsung to Support KT’s Quadruped Welding Robot Use Case with NIS and CognitiV NOS</a:t>
            </a:r>
          </a:p>
          <a:p>
            <a:r>
              <a:t>근거 1건 보기</a:t>
            </a:r>
          </a:p>
          <a:p>
            <a:r>
              <a:t>발생 시각 미상</a:t>
            </a:r>
          </a:p>
          <a:p>
            <a:r>
              <a:t>계약사</a:t>
            </a:r>
          </a:p>
          <a:p>
            <a:r>
              <a:t>Samsung Signs AI RAN Project Contracts with KT and SK Telecom Under Korea’s Hyper AI Network Initiative</a:t>
            </a:r>
          </a:p>
          <a:p>
            <a:r>
              <a:t>근거 1건 보기</a:t>
            </a:r>
          </a:p>
          <a:p>
            <a:r>
              <a:t>발생 시각 미상</a:t>
            </a:r>
          </a:p>
          <a:p>
            <a:r>
              <a:t>주최자</a:t>
            </a:r>
          </a:p>
          <a:p>
            <a:r>
              <a:t>삼성전자, 가전 테크세미나 개최…지역 맞춤형 AI 가전 선봬</a:t>
            </a:r>
          </a:p>
          <a:p>
            <a:r>
              <a:t>근거 3건 보기</a:t>
            </a:r>
          </a:p>
          <a:p>
            <a:r>
              <a:t>발생 시각 미상</a:t>
            </a:r>
          </a:p>
          <a:p>
            <a:r>
              <a:t>시연자</a:t>
            </a:r>
          </a:p>
          <a:p>
            <a:r>
              <a:t>삼성전자, 가전 테크세미나 개최…지역 맞춤형 AI 가전 선봬</a:t>
            </a:r>
          </a:p>
          <a:p>
            <a:r>
              <a:t>근거 1건 보기</a:t>
            </a:r>
          </a:p>
          <a:p>
            <a:r>
              <a:t>발생 시각 미상</a:t>
            </a:r>
          </a:p>
          <a:p>
            <a:r>
              <a:t>참가 및 전시 주체</a:t>
            </a:r>
          </a:p>
          <a:p>
            <a:r>
              <a:t>삼성전자, ‘2026 기후산업국제박람회’서 일상부터 산업까지 맞춤형 에너지 솔루션 선보여</a:t>
            </a:r>
          </a:p>
          <a:p>
            <a:r>
              <a:t>근거 3건 보기</a:t>
            </a:r>
          </a:p>
          <a:p>
            <a:r>
              <a:t>발생 시각 미상</a:t>
            </a:r>
          </a:p>
          <a:p>
            <a:r>
              <a:t>프로모션 주최/운영</a:t>
            </a:r>
          </a:p>
          <a:p>
            <a:r>
              <a:t>삼성전자, 상업용 시스템에어컨 세척 프로모션 진행</a:t>
            </a:r>
          </a:p>
          <a:p>
            <a:r>
              <a:t>근거 1건 보기</a:t>
            </a:r>
          </a:p>
          <a:p>
            <a:r>
              <a:t>발생 시각 미상</a:t>
            </a:r>
          </a:p>
          <a:p>
            <a:r>
              <a:t>컨소시엄 참여 및 공동…</a:t>
            </a:r>
          </a:p>
          <a:p>
            <a:r>
              <a:t>삼성전자, ASML과 차세대 반도체 제조 협력 확대</a:t>
            </a:r>
          </a:p>
          <a:p>
            <a:r>
              <a:t>근거 2건 보기</a:t>
            </a:r>
          </a:p>
          <a:p>
            <a:r>
              <a:t>발생 시각 미상</a:t>
            </a:r>
          </a:p>
          <a:p>
            <a:r>
              <a:t>발행회사</a:t>
            </a:r>
          </a:p>
          <a:p>
            <a:r>
              <a:t>최대주주등소유주식변동신고서</a:t>
            </a:r>
          </a:p>
          <a:p>
            <a:r>
              <a:t>근거 2건 보기</a:t>
            </a:r>
          </a:p>
          <a:p>
            <a:r>
              <a:t>발생 시각 미상</a:t>
            </a:r>
          </a:p>
          <a:p>
            <a:r>
              <a:t>발행회사</a:t>
            </a:r>
          </a:p>
          <a:p>
            <a:r>
              <a:t>최대주주등소유주식변동신고서</a:t>
            </a:r>
          </a:p>
          <a:p>
            <a:r>
              <a:t>근거 3건 보기</a:t>
            </a:r>
          </a:p>
          <a:p>
            <a:r>
              <a:t>발생 시각 미상</a:t>
            </a:r>
          </a:p>
          <a:p>
            <a:r>
              <a:t>제공사</a:t>
            </a:r>
          </a:p>
          <a:p>
            <a:r>
              <a:t>삼성전자, ‘갤럭시 Z 폴드8 울트라·폴드8·플립8’, ‘갤럭시 워치 울트라2·워치9’ 사전 판매 시작</a:t>
            </a:r>
          </a:p>
          <a:p>
            <a:r>
              <a:t>근거 1건 보기</a:t>
            </a:r>
          </a:p>
          <a:p>
            <a:r>
              <a:t>발생 시각 미상</a:t>
            </a:r>
          </a:p>
          <a:p>
            <a:r>
              <a:t>개발사</a:t>
            </a:r>
          </a:p>
          <a:p>
            <a:r>
              <a:t>삼성전자, 갤럭시 워치 건강 관리 기능 추가</a:t>
            </a:r>
          </a:p>
          <a:p>
            <a:r>
              <a:t>근거 1건 보기</a:t>
            </a:r>
          </a:p>
          <a:p>
            <a:r>
              <a:t>발생 시각 미상</a:t>
            </a:r>
          </a:p>
          <a:p>
            <a:r>
              <a:t>투자사</a:t>
            </a:r>
          </a:p>
          <a:p>
            <a:r>
              <a:t>삼성전자·삼성SDS, 구미에 휴머노이드 양산·AI 데이터센터 투자 계획</a:t>
            </a:r>
          </a:p>
          <a:p>
            <a:r>
              <a:t>근거 2건 보기</a:t>
            </a:r>
          </a:p>
          <a:p>
            <a:r>
              <a:t>발생 시각 미상</a:t>
            </a:r>
          </a:p>
          <a:p>
            <a:r>
              <a:t>투자자</a:t>
            </a:r>
          </a:p>
          <a:p>
            <a:r>
              <a:t>삼성, 미래 성장 위해 호남에 425조원 투자</a:t>
            </a:r>
          </a:p>
          <a:p>
            <a:r>
              <a:t>근거 1건 보기</a:t>
            </a:r>
          </a:p>
          <a:p>
            <a:r>
              <a:t>발생 시각 미상</a:t>
            </a:r>
          </a:p>
          <a:p>
            <a:r>
              <a:t>구축사</a:t>
            </a:r>
          </a:p>
          <a:p>
            <a:r>
              <a:t>삼성, 미래 성장 위해 2,655조원 투자</a:t>
            </a:r>
          </a:p>
          <a:p>
            <a:r>
              <a:t>근거 2건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AI에게 묻기</a:t>
            </a:r>
          </a:p>
          <a:p/>
          <a:p>
            <a:r>
              <a:t>질문 대상: 삼성전자</a:t>
            </a:r>
          </a:p>
          <a:p/>
          <a:p>
            <a:r>
              <a:t>새 대화</a:t>
            </a:r>
          </a:p>
          <a:p>
            <a:r>
              <a:t>질문에 연결할 대상</a:t>
            </a:r>
          </a:p>
          <a:p>
            <a:r>
              <a:t>삼성전자</a:t>
            </a:r>
          </a:p>
          <a:p>
            <a:r>
              <a:t>직접 이슈 27건 · 2026-07-22 ~ 2028년 · 근거 43건</a:t>
            </a:r>
          </a:p>
          <a:p/>
          <a:p>
            <a:r>
              <a:t>이전 대화를 확인하지 못했어요</a:t>
            </a:r>
          </a:p>
          <a:p/>
          <a:p>
            <a:r>
              <a:t>대화가 없는 것이 아니라 확인에 실패했어요. 다시 확인하면 이어서 질문할 수 있어요.</a:t>
            </a:r>
          </a:p>
          <a:p/>
          <a:p>
            <a:r>
              <a:t>자세히</a:t>
            </a:r>
          </a:p>
          <a:p>
            <a:r>
              <a:t>다시 시도</a:t>
            </a:r>
          </a:p>
          <a:p>
            <a:r>
              <a:t>질문</a:t>
            </a:r>
          </a:p>
          <a:p>
            <a:r>
              <a:t>보내기</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M-GRP-01-before.png</a:t>
            </a:r>
          </a:p>
          <a:p>
            <a:r>
              <a:t>좌표·클릭 후 실제 화면: M-GRP-01-before.json</a:t>
            </a:r>
          </a:p>
          <a:p>
            <a:r>
              <a:t>본문으로 건너뛰기</a:t>
            </a:r>
          </a:p>
          <a:p>
            <a:r>
              <a:t>줍</a:t>
            </a:r>
          </a:p>
          <a:p>
            <a:r>
              <a:t>Zoop</a:t>
            </a:r>
          </a:p>
          <a:p>
            <a:r>
              <a:t>시장 전체 지도</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지도</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M-BRF-01-before.png</a:t>
            </a:r>
          </a:p>
          <a:p>
            <a:r>
              <a:t>좌표·클릭 후 실제 화면: M-BRF-01-before.json</a:t>
            </a:r>
          </a:p>
          <a:p>
            <a:r>
              <a:t>본문으로 건너뛰기</a:t>
            </a:r>
          </a:p>
          <a:p>
            <a:r>
              <a:t>줍</a:t>
            </a:r>
          </a:p>
          <a:p>
            <a:r>
              <a:t>Zoop</a:t>
            </a:r>
          </a:p>
          <a:p>
            <a:r>
              <a:t>브리핑</a:t>
            </a:r>
          </a:p>
          <a:p>
            <a:r>
              <a:t>발행일</a:t>
            </a:r>
          </a:p>
          <a:p>
            <a:r>
              <a:t>2026-09-17</a:t>
            </a:r>
          </a:p>
          <a:p>
            <a:r>
              <a:t>출근</a:t>
            </a:r>
          </a:p>
          <a:p>
            <a:r>
              <a:t>퇴근</a:t>
            </a:r>
          </a:p>
          <a:p>
            <a:r>
              <a:t>출근 브리핑</a:t>
            </a:r>
          </a:p>
          <a:p>
            <a:r>
              <a:t>발행</a:t>
            </a:r>
          </a:p>
          <a:p>
            <a:r>
              <a:t>발행일</a:t>
            </a:r>
          </a:p>
          <a:p>
            <a:r>
              <a:t>2026-09-17</a:t>
            </a:r>
          </a:p>
          <a:p>
            <a:r>
              <a:t>예정</a:t>
            </a:r>
          </a:p>
          <a:p>
            <a:r>
              <a:t>07:40</a:t>
            </a:r>
          </a:p>
          <a:p>
            <a:r>
              <a:t>생성·발행</a:t>
            </a:r>
          </a:p>
          <a:p>
            <a:r>
              <a:t>2026-09-17 07:41 KST</a:t>
            </a:r>
          </a:p>
          <a:p>
            <a:r>
              <a:t>데이터 기준</a:t>
            </a:r>
          </a:p>
          <a:p>
            <a:r>
              <a:t>2026-09-17 07:40 KST</a:t>
            </a:r>
          </a:p>
          <a:p>
            <a:r>
              <a:t>주요 시장 지표</a:t>
            </a:r>
          </a:p>
          <a:p>
            <a:r>
              <a:t>KOSPI</a:t>
            </a:r>
          </a:p>
          <a:p/>
          <a:p>
            <a:r>
              <a:t>9월 16일 종가</a:t>
            </a:r>
          </a:p>
          <a:p>
            <a:r>
              <a:t>9월 15일 종가 대비</a:t>
            </a:r>
          </a:p>
          <a:p/>
          <a:p>
            <a:r>
              <a:t>6,717.97</a:t>
            </a:r>
          </a:p>
          <a:p>
            <a:r>
              <a:t>▲ +90.71 (+1.37%)</a:t>
            </a:r>
          </a:p>
          <a:p>
            <a:r>
              <a:t>상승</a:t>
            </a:r>
          </a:p>
          <a:p>
            <a:r>
              <a:t>KOSDAQ</a:t>
            </a:r>
          </a:p>
          <a:p/>
          <a:p>
            <a:r>
              <a:t>9월 16일 종가</a:t>
            </a:r>
          </a:p>
          <a:p>
            <a:r>
              <a:t>9월 15일 종가 대비</a:t>
            </a:r>
          </a:p>
          <a:p/>
          <a:p>
            <a:r>
              <a:t>815.98</a:t>
            </a:r>
          </a:p>
          <a:p>
            <a:r>
              <a:t>▲ +3.57 (+0.44%)</a:t>
            </a:r>
          </a:p>
          <a:p>
            <a:r>
              <a:t>상승</a:t>
            </a:r>
          </a:p>
          <a:p>
            <a:r>
              <a:t>원/달러</a:t>
            </a:r>
          </a:p>
          <a:p/>
          <a:p>
            <a:r>
              <a:t>9월 17일 07:35 기준</a:t>
            </a:r>
          </a:p>
          <a:p>
            <a:r>
              <a:t>9월 16일 15:30 대비</a:t>
            </a:r>
          </a:p>
          <a:p/>
          <a:p>
            <a:r>
              <a:t>1,377.17원</a:t>
            </a:r>
          </a:p>
          <a:p>
            <a:r>
              <a:t>▲ +8.79원 (+0.64%)</a:t>
            </a:r>
          </a:p>
          <a:p>
            <a:r>
              <a:t>상승</a:t>
            </a:r>
          </a:p>
          <a:p>
            <a:r>
              <a:t>핵심 이슈</a:t>
            </a:r>
          </a:p>
          <a:p>
            <a:r>
              <a:t>이 회차 전체 관계 그래프</a:t>
            </a:r>
          </a:p>
          <a:p>
            <a:r>
              <a:t>발생 시각 미상</a:t>
            </a:r>
          </a:p>
          <a:p>
            <a:r>
              <a:t>보도 기사</a:t>
            </a:r>
          </a:p>
          <a:p>
            <a:r>
              <a:t>1</a:t>
            </a:r>
          </a:p>
          <a:p>
            <a:r>
              <a:t>1.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1번째로 최근입니다 · 근거 1건</a:t>
            </a:r>
          </a:p>
          <a:p/>
          <a:p>
            <a:r>
              <a:t>이 회차 관계 그래프에서 보기</a:t>
            </a:r>
          </a:p>
          <a:p>
            <a:r>
              <a:t>발생 시각 미상</a:t>
            </a:r>
          </a:p>
          <a:p>
            <a:r>
              <a:t>보도 기사</a:t>
            </a:r>
          </a:p>
          <a:p>
            <a:r>
              <a:t>1</a:t>
            </a:r>
          </a:p>
          <a:p>
            <a:r>
              <a:t>2. NVIDIA Vera Rubin NVL72 Delivers Leading Performance in MLPerf Inference v6.1 Debut</a:t>
            </a:r>
          </a:p>
          <a:p/>
          <a:p>
            <a:r>
              <a:t>관련 기업:</a:t>
            </a:r>
          </a:p>
          <a:p>
            <a:r>
              <a:t>NVIDIA</a:t>
            </a:r>
          </a:p>
          <a:p/>
          <a:p>
            <a:r>
              <a:t>근거</a:t>
            </a:r>
          </a:p>
          <a:p>
            <a:r>
              <a:t>3</a:t>
            </a:r>
          </a:p>
          <a:p/>
          <a:p>
            <a:r>
              <a:t>선정 이유 이번 회차 데이터 창 안의 승인 이슈 7건 중 사건 시각이 2번째로 최근입니다 · 근거 3건</a:t>
            </a:r>
          </a:p>
          <a:p/>
          <a:p>
            <a:r>
              <a:t>이 회차 관계 그래프에서 보기</a:t>
            </a:r>
          </a:p>
          <a:p>
            <a:r>
              <a:t>발생 시각 미상</a:t>
            </a:r>
          </a:p>
          <a:p>
            <a:r>
              <a:t>보도 기사</a:t>
            </a:r>
          </a:p>
          <a:p>
            <a:r>
              <a:t>1</a:t>
            </a:r>
          </a:p>
          <a:p>
            <a:r>
              <a:t>3.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3번째로 최근입니다 · 근거 1건</a:t>
            </a:r>
          </a:p>
          <a:p/>
          <a:p>
            <a:r>
              <a:t>이 회차 관계 그래프에서 보기</a:t>
            </a:r>
          </a:p>
          <a:p>
            <a:r>
              <a:t>이 회차가 도움이 됐나요?</a:t>
            </a:r>
          </a:p>
          <a:p>
            <a:r>
              <a:t>근거 문서</a:t>
            </a:r>
          </a:p>
          <a:p>
            <a:r>
              <a:t>5</a:t>
            </a:r>
          </a:p>
          <a:p/>
          <a:p>
            <a:r>
              <a:t>본 정보는 참고용이며 투자 권유가 아니에요.</a:t>
            </a:r>
          </a:p>
          <a:p/>
          <a:p>
            <a:r>
              <a:t>지도</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M-AI-01-before.png</a:t>
            </a:r>
          </a:p>
          <a:p>
            <a:r>
              <a:t>좌표·클릭 후 실제 화면: M-AI-01-before.json</a:t>
            </a:r>
          </a:p>
          <a:p>
            <a:r>
              <a:t>본문으로 건너뛰기</a:t>
            </a:r>
          </a:p>
          <a:p>
            <a:r>
              <a:t>줍</a:t>
            </a:r>
          </a:p>
          <a:p>
            <a:r>
              <a:t>Zoop</a:t>
            </a:r>
          </a:p>
          <a:p>
            <a:r>
              <a:t>시장 전체 지도</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r>
              <a:t>그래프</a:t>
            </a:r>
          </a:p>
          <a:p>
            <a:r>
              <a:t>목록</a:t>
            </a:r>
          </a:p>
          <a:p/>
          <a:p>
            <a:r>
              <a:t>지도</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M-COM-01-before.png</a:t>
            </a:r>
          </a:p>
          <a:p>
            <a:r>
              <a:t>좌표·클릭 후 실제 화면: M-COM-01-before.json</a:t>
            </a:r>
          </a:p>
          <a:p>
            <a:r>
              <a:t>본문으로 건너뛰기</a:t>
            </a:r>
          </a:p>
          <a:p>
            <a:r>
              <a:t>줍</a:t>
            </a:r>
          </a:p>
          <a:p>
            <a:r>
              <a:t>Zoop</a:t>
            </a:r>
          </a:p>
          <a:p>
            <a:r>
              <a:t>관계 그래프 보기</a:t>
            </a:r>
          </a:p>
          <a:p>
            <a:r>
              <a:t>삼성전자</a:t>
            </a:r>
          </a:p>
          <a:p>
            <a:r>
              <a:t>005930</a:t>
            </a:r>
          </a:p>
          <a:p>
            <a:r>
              <a:t>보유</a:t>
            </a:r>
          </a:p>
          <a:p>
            <a:r>
              <a:t>시세</a:t>
            </a:r>
          </a:p>
          <a:p/>
          <a:p>
            <a:r>
              <a:t>276,000원</a:t>
            </a:r>
          </a:p>
          <a:p/>
          <a:p>
            <a:r>
              <a:t>전일 대비</a:t>
            </a:r>
          </a:p>
          <a:p>
            <a:r>
              <a:t>0원 (0.00%)</a:t>
            </a:r>
          </a:p>
          <a:p>
            <a:r>
              <a:t>보합</a:t>
            </a:r>
          </a:p>
          <a:p/>
          <a:p>
            <a:r>
              <a:t>전일 대비 · 기준 2026-10-02 15:30 KST · Yahoo Finance · 지연 가능</a:t>
            </a:r>
          </a:p>
          <a:p>
            <a:r>
              <a:t>거래량</a:t>
            </a:r>
          </a:p>
          <a:p>
            <a:r>
              <a:t>1150.1만주</a:t>
            </a:r>
          </a:p>
          <a:p>
            <a:r>
              <a:t>당일 저가 ~ 고가</a:t>
            </a:r>
          </a:p>
          <a:p>
            <a:r>
              <a:t>271,500원 ~ 277,000원</a:t>
            </a:r>
          </a:p>
          <a:p>
            <a:r>
              <a:t>52주 저가 ~ 고가</a:t>
            </a:r>
          </a:p>
          <a:p>
            <a:r>
              <a:t>89,750원 ~ 374,500원</a:t>
            </a:r>
          </a:p>
          <a:p>
            <a:r>
              <a:t>주요 지표</a:t>
            </a:r>
          </a:p>
          <a:p>
            <a:r>
              <a:t>주요 지표 · 네이버 증권 · 기준 2026-10-02 20:20 KST</a:t>
            </a:r>
          </a:p>
          <a:p>
            <a:r>
              <a:t>시가총액</a:t>
            </a:r>
          </a:p>
          <a:p>
            <a:r>
              <a:t>1,613조 5,729억</a:t>
            </a:r>
          </a:p>
          <a:p>
            <a:r>
              <a:t>PER</a:t>
            </a:r>
          </a:p>
          <a:p>
            <a:r>
              <a:t>12.38배</a:t>
            </a:r>
          </a:p>
          <a:p>
            <a:r>
              <a:t>(2026.06. 기준)</a:t>
            </a:r>
          </a:p>
          <a:p>
            <a:r>
              <a:t>EPS</a:t>
            </a:r>
          </a:p>
          <a:p>
            <a:r>
              <a:t>22,292원</a:t>
            </a:r>
          </a:p>
          <a:p>
            <a:r>
              <a:t>(2026.06. 기준)</a:t>
            </a:r>
          </a:p>
          <a:p>
            <a:r>
              <a:t>PBR</a:t>
            </a:r>
          </a:p>
          <a:p>
            <a:r>
              <a:t>3.21배</a:t>
            </a:r>
          </a:p>
          <a:p>
            <a:r>
              <a:t>(2026.06. 기준)</a:t>
            </a:r>
          </a:p>
          <a:p>
            <a:r>
              <a:t>BPS</a:t>
            </a:r>
          </a:p>
          <a:p>
            <a:r>
              <a:t>86,052원</a:t>
            </a:r>
          </a:p>
          <a:p>
            <a:r>
              <a:t>(2026.06. 기준)</a:t>
            </a:r>
          </a:p>
          <a:p>
            <a:r>
              <a:t>배당수익률</a:t>
            </a:r>
          </a:p>
          <a:p>
            <a:r>
              <a:t>0.60%</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5,520,000원</a:t>
            </a:r>
          </a:p>
          <a:p>
            <a:r>
              <a:t>자산 비중</a:t>
            </a:r>
          </a:p>
          <a:p>
            <a:r>
              <a:t>계산 불가</a:t>
            </a:r>
          </a:p>
          <a:p>
            <a:r>
              <a:t>평가 손익</a:t>
            </a:r>
          </a:p>
          <a:p>
            <a:r>
              <a:t>▲ +4,320,000원 (+360.00%)</a:t>
            </a:r>
          </a:p>
          <a:p>
            <a:r>
              <a:t>상승</a:t>
            </a:r>
          </a:p>
          <a:p/>
          <a:p>
            <a:r>
              <a:t>모의 정보 기준 2026-10-03 19:06 KST · 평가 계산 2026-10-03 19:09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1개월</a:t>
            </a:r>
          </a:p>
          <a:p>
            <a:r>
              <a:t>1년</a:t>
            </a:r>
          </a:p>
          <a:p>
            <a:r>
              <a:t>전체</a:t>
            </a:r>
          </a:p>
          <a:p>
            <a:r>
              <a:t>직접 관련</a:t>
            </a:r>
          </a:p>
          <a:p>
            <a:r>
              <a:t>구조적 관련</a:t>
            </a:r>
          </a:p>
          <a:p/>
          <a:p>
            <a:r>
              <a:t>1개월 주가. 처음 9월 3일 250,000원, 마지막 10월 2일 276,000원. 최고 285,500원(9월 23일), 최저 248,500원(9월 15일). 사건이 있었던 날 4곳을 표시했어요.</a:t>
            </a:r>
          </a:p>
          <a:p/>
          <a:p>
            <a:r>
              <a:t>1개월 · 처음 시세 대비</a:t>
            </a:r>
          </a:p>
          <a:p>
            <a:r>
              <a:t>▲ +26,000원 (+10.40%)</a:t>
            </a:r>
          </a:p>
          <a:p>
            <a:r>
              <a:t>상승</a:t>
            </a:r>
          </a:p>
          <a:p>
            <a:r>
              <a:t>285,500원</a:t>
            </a:r>
          </a:p>
          <a:p>
            <a:r>
              <a:t>248,500원</a:t>
            </a:r>
          </a:p>
          <a:p>
            <a:r>
              <a:t>9월 3일</a:t>
            </a:r>
          </a:p>
          <a:p>
            <a:r>
              <a:t>10월 2일</a:t>
            </a:r>
          </a:p>
          <a:p>
            <a:r>
              <a:t>Yahoo Finance · 일별 종가</a:t>
            </a:r>
          </a:p>
          <a:p/>
          <a:p>
            <a:r>
              <a:t>차트와 사건의 시점이 겹쳐도 인과관계를 뜻하지는 않아요.</a:t>
            </a:r>
          </a:p>
          <a:p/>
          <a:p>
            <a:r>
              <a:t>표로 보기</a:t>
            </a:r>
          </a:p>
          <a:p/>
          <a:p>
            <a:r>
              <a:t>1개월 · 사건 17건</a:t>
            </a:r>
          </a:p>
          <a:p/>
          <a:p>
            <a:r>
              <a:t>2026-09-29</a:t>
            </a:r>
          </a:p>
          <a:p>
            <a:r>
              <a:t>근거 문서</a:t>
            </a:r>
          </a:p>
          <a:p>
            <a:r>
              <a:t>1</a:t>
            </a:r>
          </a:p>
          <a:p>
            <a:r>
              <a:t>삼성 6개사, 美 AI 인프라 기업 ‘헬릭스’에 10억 달러 투자</a:t>
            </a:r>
          </a:p>
          <a:p/>
          <a:p>
            <a:r>
              <a:t>Helix Digital Infrastructure</a:t>
            </a:r>
          </a:p>
          <a:p/>
          <a:p>
            <a:r>
              <a:t>2026-09-17</a:t>
            </a:r>
          </a:p>
          <a:p>
            <a:r>
              <a:t>근거 문서</a:t>
            </a:r>
          </a:p>
          <a:p>
            <a:r>
              <a:t>1</a:t>
            </a:r>
          </a:p>
          <a:p>
            <a:r>
              <a:t>삼성전자, 필리핀 복합단지 개발사업에 통합 운영 솔루션 공급 협력</a:t>
            </a:r>
          </a:p>
          <a:p/>
          <a:p>
            <a:r>
              <a:t>그란츠 포레스트 파크 개발사업 (필리핀 세부)</a:t>
            </a:r>
          </a:p>
          <a:p/>
          <a:p>
            <a:r>
              <a:t>2026-09-11</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지도</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A-ADM-05c.png</a:t>
            </a:r>
          </a:p>
          <a:p>
            <a:r>
              <a:t>좌표·클릭 후 실제 화면: A-ADM-05c.json</a:t>
            </a:r>
          </a:p>
          <a:p>
            <a:r>
              <a:t>줍 관리자</a:t>
            </a:r>
          </a:p>
          <a:p>
            <a:r>
              <a:t>관리자 이메일</a:t>
            </a:r>
          </a:p>
          <a:p>
            <a:r>
              <a:t>비밀번호</a:t>
            </a:r>
          </a:p>
          <a:p>
            <a:r>
              <a:t>관리자 로그인</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A-ADM-01.png</a:t>
            </a:r>
          </a:p>
          <a:p>
            <a:r>
              <a:t>좌표·클릭 후 실제 화면: A-ADM-01.json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대시보드</a:t>
            </a:r>
          </a:p>
          <a:p/>
          <a:p>
            <a:r>
              <a:t>갱신 2026-10-03 19:07:16</a:t>
            </a:r>
          </a:p>
          <a:p/>
          <a:p>
            <a:r>
              <a:t>검수 대기</a:t>
            </a:r>
          </a:p>
          <a:p>
            <a:r>
              <a:t>260건</a:t>
            </a:r>
          </a:p>
          <a:p>
            <a:r>
              <a:t>통과 102 · 보류 304 · 폐기 1</a:t>
            </a:r>
          </a:p>
          <a:p>
            <a:r>
              <a:t>사용자에게 보이는 그래프</a:t>
            </a:r>
          </a:p>
          <a:p>
            <a:r>
              <a:t>v1</a:t>
            </a:r>
          </a:p>
          <a:p>
            <a:r>
              <a:t>2026-10-01 20:27 게시 · 검수 11건 반영</a:t>
            </a:r>
          </a:p>
          <a:p>
            <a:r>
              <a:t>자동 검수 규칙 R1@2 켜짐 · 게시 사건 43건</a:t>
            </a:r>
          </a:p>
          <a:p>
            <a:r>
              <a:t>GraphDB 반영</a:t>
            </a:r>
          </a:p>
          <a:p>
            <a:r>
              <a:t>반영됨</a:t>
            </a:r>
          </a:p>
          <a:p>
            <a:r>
              <a:t>대기 작업 0건</a:t>
            </a:r>
          </a:p>
          <a:p>
            <a:r>
              <a:t>작업</a:t>
            </a:r>
          </a:p>
          <a:p>
            <a:r>
              <a:t>실행 0 · 대기 0</a:t>
            </a:r>
          </a:p>
          <a:p>
            <a:r>
              <a:t>24시간 실패 0건</a:t>
            </a:r>
          </a:p>
          <a:p>
            <a:r>
              <a:t>AI 요청(7일)</a:t>
            </a:r>
          </a:p>
          <a:p>
            <a:r>
              <a:t>35건</a:t>
            </a:r>
          </a:p>
          <a:p>
            <a:r>
              <a:t>성공 35 · 실패 0</a:t>
            </a:r>
          </a:p>
          <a:p>
            <a:r>
              <a:t>최근 브리핑 회차</a:t>
            </a:r>
          </a:p>
          <a:p>
            <a:r>
              <a:t>브리핑 운영</a:t>
            </a:r>
          </a:p>
          <a:p>
            <a:r>
              <a:t>브리핑 회차 목록</a:t>
            </a:r>
          </a:p>
          <a:p>
            <a:r>
              <a:t>회차	상태	데이터 기준 시점</a:t>
            </a:r>
          </a:p>
          <a:p>
            <a:r>
              <a:t>2026-10-03 퇴근	</a:t>
            </a:r>
          </a:p>
          <a:p>
            <a:r>
              <a:t>발행됨	2026-10-03 18:10</a:t>
            </a:r>
          </a:p>
          <a:p>
            <a:r>
              <a:t>2026-10-03 출근	</a:t>
            </a:r>
          </a:p>
          <a:p>
            <a:r>
              <a:t>발행됨	2026-10-03 07:40</a:t>
            </a:r>
          </a:p>
          <a:p>
            <a:r>
              <a:t>2026-10-02 퇴근	</a:t>
            </a:r>
          </a:p>
          <a:p>
            <a:r>
              <a:t>발행됨	2026-10-02 18:10</a:t>
            </a:r>
          </a:p>
          <a:p>
            <a:r>
              <a:t>2026-10-02 출근	</a:t>
            </a:r>
          </a:p>
          <a:p>
            <a:r>
              <a:t>발행됨	2026-10-02 07:40</a:t>
            </a:r>
          </a:p>
          <a:p>
            <a:r>
              <a:t>최근 작업</a:t>
            </a:r>
          </a:p>
          <a:p>
            <a:r>
              <a:t>작업 관제</a:t>
            </a:r>
          </a:p>
          <a:p/>
          <a:p>
            <a:r>
              <a:t>아직 실행한 작업이 없어요.</a:t>
            </a:r>
          </a:p>
          <a:p/>
          <a:p>
            <a:r>
              <a:t>AI 기능별 요청(7일)</a:t>
            </a:r>
          </a:p>
          <a:p>
            <a:r>
              <a:t>AI 운영</a:t>
            </a:r>
          </a:p>
          <a:p>
            <a:r>
              <a:t>AI 기능별 요청</a:t>
            </a:r>
          </a:p>
          <a:p>
            <a:r>
              <a:t>기능	요청	실패</a:t>
            </a:r>
          </a:p>
          <a:p>
            <a:r>
              <a:t>AI 챗봇	5	0</a:t>
            </a:r>
          </a:p>
          <a:p>
            <a:r>
              <a:t>뉴스 분석(PoC 파이프라인)	0	0</a:t>
            </a:r>
          </a:p>
          <a:p>
            <a:r>
              <a:t>출퇴근 브리핑	30	0</a:t>
            </a:r>
          </a:p>
          <a:p>
            <a:r>
              <a:t>이용 현황</a:t>
            </a:r>
          </a:p>
          <a:p>
            <a:r>
              <a:t>감사 로그</a:t>
            </a:r>
          </a:p>
          <a:p>
            <a:r>
              <a:t>등록 회원</a:t>
            </a:r>
          </a:p>
          <a:p>
            <a:r>
              <a:t>8</a:t>
            </a:r>
          </a:p>
          <a:p>
            <a:r>
              <a:t>회원 접속 세션</a:t>
            </a:r>
          </a:p>
          <a:p>
            <a:r>
              <a:t>20</a:t>
            </a:r>
          </a:p>
          <a:p>
            <a:r>
              <a:t>비회원 0</a:t>
            </a:r>
          </a:p>
          <a:p>
            <a:r>
              <a:t>감사 기록(24시간)</a:t>
            </a:r>
          </a:p>
          <a:p>
            <a:r>
              <a:t>7</a:t>
            </a:r>
          </a:p>
          <a:p>
            <a:r>
              <a:t>이용·선호도(7일)</a:t>
            </a:r>
          </a:p>
          <a:p>
            <a:r>
              <a:t>이용 통계</a:t>
            </a:r>
          </a:p>
          <a:p>
            <a:r>
              <a:t>선호도</a:t>
            </a:r>
          </a:p>
          <a:p>
            <a:r>
              <a:t>회원 관리</a:t>
            </a:r>
          </a:p>
          <a:p>
            <a:r>
              <a:t>활성 사용자</a:t>
            </a:r>
          </a:p>
          <a:p>
            <a:r>
              <a:t>9명</a:t>
            </a:r>
          </a:p>
          <a:p>
            <a:r>
              <a:t>노드 클릭률</a:t>
            </a:r>
          </a:p>
          <a:p>
            <a:r>
              <a:t>29.9%</a:t>
            </a:r>
          </a:p>
          <a:p>
            <a:r>
              <a:t>43 / 144노출</a:t>
            </a:r>
          </a:p>
          <a:p>
            <a:r>
              <a:t>브리핑 조회율</a:t>
            </a:r>
          </a:p>
          <a:p>
            <a:r>
              <a:t>11.1%</a:t>
            </a:r>
          </a:p>
          <a:p>
            <a:r>
              <a:t>1 / 9명</a:t>
            </a:r>
          </a:p>
          <a:p>
            <a:r>
              <a:t>AI 질문 이용률</a:t>
            </a:r>
          </a:p>
          <a:p>
            <a:r>
              <a:t>11.1%</a:t>
            </a:r>
          </a:p>
          <a:p>
            <a:r>
              <a:t>1 / 9명</a:t>
            </a:r>
          </a:p>
          <a:p>
            <a:r>
              <a:t>AI 좋아요 비율</a:t>
            </a:r>
          </a:p>
          <a:p>
            <a:r>
              <a:t>표본 부족</a:t>
            </a:r>
          </a:p>
          <a:p>
            <a:r>
              <a:t>좋아요 0 · 싫어요 0</a:t>
            </a:r>
          </a:p>
          <a:p>
            <a:r>
              <a:t>등록 회원</a:t>
            </a:r>
          </a:p>
          <a:p>
            <a:r>
              <a:t>8명</a:t>
            </a:r>
          </a:p>
          <a:p>
            <a:r>
              <a:t>차단 0명</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A-ADM-02.png</a:t>
            </a:r>
          </a:p>
          <a:p>
            <a:r>
              <a:t>좌표·클릭 후 실제 화면: A-ADM-02.json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이용 통계</a:t>
            </a:r>
          </a:p>
          <a:p>
            <a:r>
              <a:t>7일</a:t>
            </a:r>
          </a:p>
          <a:p>
            <a:r>
              <a:t>30일</a:t>
            </a:r>
          </a:p>
          <a:p>
            <a:r>
              <a:t>전체</a:t>
            </a:r>
          </a:p>
          <a:p>
            <a:r>
              <a:t>요약</a:t>
            </a:r>
          </a:p>
          <a:p>
            <a:r>
              <a:t>종목 순위</a:t>
            </a:r>
          </a:p>
          <a:p/>
          <a:p>
            <a:r>
              <a:t>집계 시각 2026-10-03 19:07:32 · 비율은 분모가 5 미만이면 숨기고 건수만 보여 줘요 · 온보딩은 가입일이 기간 안에 있는 회원 기준이에요.</a:t>
            </a:r>
          </a:p>
          <a:p/>
          <a:p>
            <a:r>
              <a:t>서비스 이용</a:t>
            </a:r>
          </a:p>
          <a:p>
            <a:r>
              <a:t>서비스 이용 지표</a:t>
            </a:r>
          </a:p>
          <a:p>
            <a:r>
              <a:t>지표	값	산식	정의</a:t>
            </a:r>
          </a:p>
          <a:p>
            <a:r>
              <a:t>활성 사용자	9명	–	기간 안에 화면을 열었거나 AI에 질문했거나 평가를 남긴 사용자 수(회원 1명·비회원 세션 1개를 각각 1명으로 셉니다).</a:t>
            </a:r>
          </a:p>
          <a:p>
            <a:r>
              <a:t>활성 회원	8명	–	활성 사용자 중 로그인한 회원.</a:t>
            </a:r>
          </a:p>
          <a:p>
            <a:r>
              <a:t>활성 비회원	1명	–	활성 사용자 중 비회원 세션.</a:t>
            </a:r>
          </a:p>
          <a:p>
            <a:r>
              <a:t>온보딩 완료율	100%	8 / 8명	기간 안에 가입한 회원 중 초기 설정을 마친 회원의 비율(서버에 저장된 회원 설정 기준).</a:t>
            </a:r>
          </a:p>
          <a:p>
            <a:r>
              <a:t>메인 노출	144회	–	메인 화면이 열린 횟수.</a:t>
            </a:r>
          </a:p>
          <a:p>
            <a:r>
              <a:t>노드 클릭률	29.9%	43 / 144노출	메인 노출 중 기업·사건 노드를 한 번이라도 선택한 노출의 비율.</a:t>
            </a:r>
          </a:p>
          <a:p>
            <a:r>
              <a:t>노드 선택	66회	–	기업·사건 노드를 선택한 총 횟수.</a:t>
            </a:r>
          </a:p>
          <a:p>
            <a:r>
              <a:t>간선 클릭률	3.5%	5 / 144노출	메인 노출 중 연결선을 한 번이라도 선택한 노출의 비율.</a:t>
            </a:r>
          </a:p>
          <a:p>
            <a:r>
              <a:t>간선 선택	5회	–	연결선을 선택한 총 횟수.</a:t>
            </a:r>
          </a:p>
          <a:p>
            <a:r>
              <a:t>브리핑 관심도</a:t>
            </a:r>
          </a:p>
          <a:p>
            <a:r>
              <a:t>브리핑 관심도 지표</a:t>
            </a:r>
          </a:p>
          <a:p>
            <a:r>
              <a:t>지표	값	산식	정의</a:t>
            </a:r>
          </a:p>
          <a:p>
            <a:r>
              <a:t>브리핑 조회율	11.1%	1 / 9명	활성 사용자 중 브리핑 회차를 한 번이라도 연 사용자의 비율.</a:t>
            </a:r>
          </a:p>
          <a:p>
            <a:r>
              <a:t>브리핑 조회	28회	–	브리핑 회차를 연 총 횟수.</a:t>
            </a:r>
          </a:p>
          <a:p>
            <a:r>
              <a:t>이슈 열기율	0%	0 / 14조회	브리핑 조회 중 핵심 이슈를 한 번이라도 연 조회의 비율.</a:t>
            </a:r>
          </a:p>
          <a:p>
            <a:r>
              <a:t>이슈 열기	0회	–	브리핑에서 핵심 이슈를 연 총 횟수.</a:t>
            </a:r>
          </a:p>
          <a:p>
            <a:r>
              <a:t>브리핑 좋아요 비율	</a:t>
            </a:r>
          </a:p>
          <a:p>
            <a:r>
              <a:t>표본 부족	0 / 0표(분모 5 미만이라 비율 숨김)	브리핑 회차와 핵심 이슈에 남긴 표 중 좋아요의 비율.</a:t>
            </a:r>
          </a:p>
          <a:p>
            <a:r>
              <a:t>AI 질문</a:t>
            </a:r>
          </a:p>
          <a:p>
            <a:r>
              <a:t>AI 질문 지표</a:t>
            </a:r>
          </a:p>
          <a:p>
            <a:r>
              <a:t>지표	값	산식	정의</a:t>
            </a:r>
          </a:p>
          <a:p>
            <a:r>
              <a:t>AI 질문 이용률	11.1%	1 / 9명	활성 사용자 중 AI에 질문을 한 번이라도 한 사용자의 비율(서버의 대화 기록 기준).</a:t>
            </a:r>
          </a:p>
          <a:p>
            <a:r>
              <a:t>AI 질문	5회	–	AI에 보낸 질문의 총 횟수.</a:t>
            </a:r>
          </a:p>
          <a:p>
            <a:r>
              <a:t>일별 추이</a:t>
            </a:r>
          </a:p>
          <a:p>
            <a:r>
              <a:t>일별 이용 추이</a:t>
            </a:r>
          </a:p>
          <a:p>
            <a:r>
              <a:t>날짜(KST)	활성 사용자	노드 선택	간선 선택	브리핑 조회	AI 질문</a:t>
            </a:r>
          </a:p>
          <a:p>
            <a:r>
              <a:t>2026-10-03	</a:t>
            </a:r>
          </a:p>
          <a:p>
            <a:r>
              <a:t>8</a:t>
            </a:r>
          </a:p>
          <a:p>
            <a:r>
              <a:t>	</a:t>
            </a:r>
          </a:p>
          <a:p>
            <a:r>
              <a:t>35</a:t>
            </a:r>
          </a:p>
          <a:p>
            <a:r>
              <a:t>	</a:t>
            </a:r>
          </a:p>
          <a:p>
            <a:r>
              <a:t>4</a:t>
            </a:r>
          </a:p>
          <a:p>
            <a:r>
              <a:t>	</a:t>
            </a:r>
          </a:p>
          <a:p>
            <a:r>
              <a:t>28</a:t>
            </a:r>
          </a:p>
          <a:p>
            <a:r>
              <a:t>	</a:t>
            </a:r>
          </a:p>
          <a:p>
            <a:r>
              <a:t>4</a:t>
            </a:r>
          </a:p>
          <a:p/>
          <a:p>
            <a:r>
              <a:t>2026-10-02	</a:t>
            </a:r>
          </a:p>
          <a:p>
            <a:r>
              <a:t>1</a:t>
            </a:r>
          </a:p>
          <a:p>
            <a:r>
              <a:t>	</a:t>
            </a:r>
          </a:p>
          <a:p>
            <a:r>
              <a:t>21</a:t>
            </a:r>
          </a:p>
          <a:p>
            <a:r>
              <a:t>	</a:t>
            </a:r>
          </a:p>
          <a:p>
            <a:r>
              <a:t>1</a:t>
            </a:r>
          </a:p>
          <a:p>
            <a:r>
              <a:t>	</a:t>
            </a:r>
          </a:p>
          <a:p>
            <a:r>
              <a:t>0</a:t>
            </a:r>
          </a:p>
          <a:p>
            <a:r>
              <a:t>	</a:t>
            </a:r>
          </a:p>
          <a:p>
            <a:r>
              <a:t>1</a:t>
            </a:r>
          </a:p>
          <a:p/>
          <a:p>
            <a:r>
              <a:t>2026-10-01	</a:t>
            </a:r>
          </a:p>
          <a:p>
            <a:r>
              <a:t>2</a:t>
            </a:r>
          </a:p>
          <a:p>
            <a:r>
              <a:t>	</a:t>
            </a:r>
          </a:p>
          <a:p>
            <a:r>
              <a:t>10</a:t>
            </a:r>
          </a:p>
          <a:p>
            <a:r>
              <a:t>	</a:t>
            </a:r>
          </a:p>
          <a:p>
            <a:r>
              <a:t>0</a:t>
            </a:r>
          </a:p>
          <a:p>
            <a:r>
              <a:t>	</a:t>
            </a:r>
          </a:p>
          <a:p>
            <a:r>
              <a:t>0</a:t>
            </a:r>
          </a:p>
          <a:p>
            <a:r>
              <a:t>	</a:t>
            </a:r>
          </a:p>
          <a:p>
            <a:r>
              <a:t>0</a:t>
            </a:r>
          </a:p>
          <a:p/>
          <a:p>
            <a:r>
              <a:t>2026-09-30	</a:t>
            </a:r>
          </a:p>
          <a:p>
            <a:r>
              <a:t>0</a:t>
            </a:r>
          </a:p>
          <a:p>
            <a:r>
              <a:t>	</a:t>
            </a:r>
          </a:p>
          <a:p>
            <a:r>
              <a:t>0</a:t>
            </a:r>
          </a:p>
          <a:p>
            <a:r>
              <a:t>	</a:t>
            </a:r>
          </a:p>
          <a:p>
            <a:r>
              <a:t>0</a:t>
            </a:r>
          </a:p>
          <a:p>
            <a:r>
              <a:t>	</a:t>
            </a:r>
          </a:p>
          <a:p>
            <a:r>
              <a:t>0</a:t>
            </a:r>
          </a:p>
          <a:p>
            <a:r>
              <a:t>	</a:t>
            </a:r>
          </a:p>
          <a:p>
            <a:r>
              <a:t>0</a:t>
            </a:r>
          </a:p>
          <a:p/>
          <a:p>
            <a:r>
              <a:t>2026-09-29	</a:t>
            </a:r>
          </a:p>
          <a:p>
            <a:r>
              <a:t>0</a:t>
            </a:r>
          </a:p>
          <a:p>
            <a:r>
              <a:t>	</a:t>
            </a:r>
          </a:p>
          <a:p>
            <a:r>
              <a:t>0</a:t>
            </a:r>
          </a:p>
          <a:p>
            <a:r>
              <a:t>	</a:t>
            </a:r>
          </a:p>
          <a:p>
            <a:r>
              <a:t>0</a:t>
            </a:r>
          </a:p>
          <a:p>
            <a:r>
              <a:t>	</a:t>
            </a:r>
          </a:p>
          <a:p>
            <a:r>
              <a:t>0</a:t>
            </a:r>
          </a:p>
          <a:p>
            <a:r>
              <a:t>	</a:t>
            </a:r>
          </a:p>
          <a:p>
            <a:r>
              <a:t>0</a:t>
            </a:r>
          </a:p>
          <a:p/>
          <a:p>
            <a:r>
              <a:t>2026-09-28	</a:t>
            </a:r>
          </a:p>
          <a:p>
            <a:r>
              <a:t>0</a:t>
            </a:r>
          </a:p>
          <a:p>
            <a:r>
              <a:t>	</a:t>
            </a:r>
          </a:p>
          <a:p>
            <a:r>
              <a:t>0</a:t>
            </a:r>
          </a:p>
          <a:p>
            <a:r>
              <a:t>	</a:t>
            </a:r>
          </a:p>
          <a:p>
            <a:r>
              <a:t>0</a:t>
            </a:r>
          </a:p>
          <a:p>
            <a:r>
              <a:t>	</a:t>
            </a:r>
          </a:p>
          <a:p>
            <a:r>
              <a:t>0</a:t>
            </a:r>
          </a:p>
          <a:p>
            <a:r>
              <a:t>	</a:t>
            </a:r>
          </a:p>
          <a:p>
            <a:r>
              <a:t>0</a:t>
            </a:r>
          </a:p>
          <a:p/>
          <a:p>
            <a:r>
              <a:t>2026-09-27	</a:t>
            </a:r>
          </a:p>
          <a:p>
            <a:r>
              <a:t>0</a:t>
            </a:r>
          </a:p>
          <a:p>
            <a:r>
              <a:t>	</a:t>
            </a:r>
          </a:p>
          <a:p>
            <a:r>
              <a:t>0</a:t>
            </a:r>
          </a:p>
          <a:p>
            <a:r>
              <a:t>	</a:t>
            </a:r>
          </a:p>
          <a:p>
            <a:r>
              <a:t>0</a:t>
            </a:r>
          </a:p>
          <a:p>
            <a:r>
              <a:t>	</a:t>
            </a:r>
          </a:p>
          <a:p>
            <a:r>
              <a:t>0</a:t>
            </a:r>
          </a:p>
          <a:p>
            <a:r>
              <a:t>	</a:t>
            </a:r>
          </a:p>
          <a:p>
            <a:r>
              <a:t>0</a:t>
            </a:r>
          </a:p>
          <a:p>
            <a:r>
              <a:t>브리핑 회차별 조회</a:t>
            </a:r>
          </a:p>
          <a:p>
            <a:r>
              <a:t>브리핑 회차별 조회·평가</a:t>
            </a:r>
          </a:p>
          <a:p>
            <a:r>
              <a:t>회차	조회	조회한 사용자	이슈 열기	좋아요	싫어요</a:t>
            </a:r>
          </a:p>
          <a:p>
            <a:r>
              <a:t>2026-10-03 퇴근	4	1	0	0	0</a:t>
            </a:r>
          </a:p>
          <a:p>
            <a:r>
              <a:t>2026-09-17 출근	12	1	0	0	0</a:t>
            </a:r>
          </a:p>
          <a:p>
            <a:r>
              <a:t>2026-09-17 퇴근	12	1	0	0	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A-ADM-02b.png</a:t>
            </a:r>
          </a:p>
          <a:p>
            <a:r>
              <a:t>좌표·클릭 후 실제 화면: A-ADM-02b.json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선호도</a:t>
            </a:r>
          </a:p>
          <a:p>
            <a:r>
              <a:t>7일</a:t>
            </a:r>
          </a:p>
          <a:p>
            <a:r>
              <a:t>30일</a:t>
            </a:r>
          </a:p>
          <a:p>
            <a:r>
              <a:t>전체</a:t>
            </a:r>
          </a:p>
          <a:p>
            <a:r>
              <a:t>요약</a:t>
            </a:r>
          </a:p>
          <a:p>
            <a:r>
              <a:t>싫어요 사유</a:t>
            </a:r>
          </a:p>
          <a:p>
            <a:r>
              <a:t>AI 대화록</a:t>
            </a:r>
          </a:p>
          <a:p>
            <a:r>
              <a:t>시작일(KST)</a:t>
            </a:r>
          </a:p>
          <a:p>
            <a:r>
              <a:t>종료일(KST)</a:t>
            </a:r>
          </a:p>
          <a:p>
            <a:r>
              <a:t>기간 적용</a:t>
            </a:r>
          </a:p>
          <a:p/>
          <a:p>
            <a:r>
              <a:t>기간 전체 보관 기간(평가를 마지막으로 바꾼 한국 시간 기준) · 집계 시각 2026-10-03 19:07:43</a:t>
            </a:r>
          </a:p>
          <a:p/>
          <a:p>
            <a:r>
              <a:t>현재 유효한 평가만 셉니다. 취소한 평가는 빠지고, 한 사람이 같은 대상에 남길 수 있는 평가는 1개입니다. 기간은 평가를 마지막으로 바꾼 시각(한국 시간)으로 나눕니다. 표본이 적은 비율은 숨기고 건수만 보여 줍니다. (기준 표 5개)</a:t>
            </a:r>
          </a:p>
          <a:p/>
          <a:p>
            <a:r>
              <a:t>기능별 좋아요 비율</a:t>
            </a:r>
          </a:p>
          <a:p>
            <a:r>
              <a:t>AI 기능별 좋아요·싫어요</a:t>
            </a:r>
          </a:p>
          <a:p>
            <a:r>
              <a:t>기능	좋아요	싫어요	표 합계	좋아요 비율</a:t>
            </a:r>
          </a:p>
          <a:p>
            <a:r>
              <a:t>AI 챗봇 답변	0	0	0	</a:t>
            </a:r>
          </a:p>
          <a:p>
            <a:r>
              <a:t>평가 없음</a:t>
            </a:r>
          </a:p>
          <a:p>
            <a:r>
              <a:t>브리핑 회차	0	0	0	</a:t>
            </a:r>
          </a:p>
          <a:p>
            <a:r>
              <a:t>평가 없음</a:t>
            </a:r>
          </a:p>
          <a:p>
            <a:r>
              <a:t>브리핑 핵심 이슈	0	0	0	</a:t>
            </a:r>
          </a:p>
          <a:p>
            <a:r>
              <a:t>평가 없음</a:t>
            </a:r>
          </a:p>
          <a:p/>
          <a:p>
            <a:r>
              <a:t>뉴스 요약: 뉴스 요약을 만드는 기능이 아직 없어 평가할 대상이 없습니다.</a:t>
            </a:r>
          </a:p>
          <a:p/>
          <a:p>
            <a:r>
              <a:t>일별 추이</a:t>
            </a:r>
          </a:p>
          <a:p>
            <a:r>
              <a:t>일별 좋아요·싫어요</a:t>
            </a:r>
          </a:p>
          <a:p>
            <a:r>
              <a:t>날짜(KST)	AI 챗봇 답변</a:t>
            </a:r>
          </a:p>
          <a:p>
            <a:r>
              <a:t>좋아요 / 싫어요(비율)</a:t>
            </a:r>
          </a:p>
          <a:p>
            <a:r>
              <a:t>	브리핑 회차</a:t>
            </a:r>
          </a:p>
          <a:p>
            <a:r>
              <a:t>좋아요 / 싫어요(비율)</a:t>
            </a:r>
          </a:p>
          <a:p>
            <a:r>
              <a:t>	브리핑 핵심 이슈</a:t>
            </a:r>
          </a:p>
          <a:p>
            <a:r>
              <a:t>좋아요 / 싫어요(비율)</a:t>
            </a:r>
          </a:p>
          <a:p/>
          <a:p>
            <a:r>
              <a:t>2026-10-03	0 / 0	0 / 0	0 / 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A-ADM-03.png</a:t>
            </a:r>
          </a:p>
          <a:p>
            <a:r>
              <a:t>좌표·클릭 후 실제 화면: A-ADM-03.json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이슈 관제</a:t>
            </a:r>
          </a:p>
          <a:p>
            <a:r>
              <a:t>후보 판정</a:t>
            </a:r>
          </a:p>
          <a:p>
            <a:r>
              <a:t>407건</a:t>
            </a:r>
          </a:p>
          <a:p>
            <a:r>
              <a:t>통과 102 · 보류 304 · 폐기 1</a:t>
            </a:r>
          </a:p>
          <a:p>
            <a:r>
              <a:t>검수 대기(보류)</a:t>
            </a:r>
          </a:p>
          <a:p>
            <a:r>
              <a:t>260건</a:t>
            </a:r>
          </a:p>
          <a:p>
            <a:r>
              <a:t>규칙 게시 사건 43건 · 검수 결정 11건</a:t>
            </a:r>
          </a:p>
          <a:p>
            <a:r>
              <a:t>사용자에게 보이는 버전</a:t>
            </a:r>
          </a:p>
          <a:p>
            <a:r>
              <a:t>v1</a:t>
            </a:r>
          </a:p>
          <a:p>
            <a:r>
              <a:t>원장에만 있는 이슈 0건</a:t>
            </a:r>
          </a:p>
          <a:p>
            <a:r>
              <a:t>GraphDB 반영</a:t>
            </a:r>
          </a:p>
          <a:p>
            <a:r>
              <a:t>반영됨</a:t>
            </a:r>
          </a:p>
          <a:p>
            <a:r>
              <a:t>반영 95/95 · 대기 작업 0</a:t>
            </a:r>
          </a:p>
          <a:p>
            <a:r>
              <a:t>원장 확인</a:t>
            </a:r>
          </a:p>
          <a:p>
            <a:r>
              <a:t>2026-10-03 19:07:58</a:t>
            </a:r>
          </a:p>
          <a:p>
            <a:r>
              <a:t>이슈 95 · 관계 190 · 기사 39</a:t>
            </a:r>
          </a:p>
          <a:p>
            <a:r>
              <a:t>분석 작업</a:t>
            </a:r>
          </a:p>
          <a:p>
            <a:r>
              <a:t>실행 중 0 · 대기 0 · 24시간 실패 0건</a:t>
            </a:r>
          </a:p>
          <a:p>
            <a:r>
              <a:t>작업 로그 보기</a:t>
            </a:r>
          </a:p>
          <a:p>
            <a:r>
              <a:t>자동 검수 규칙</a:t>
            </a:r>
          </a:p>
          <a:p/>
          <a:p>
            <a:r>
              <a:t>역할 문구 미확인은 역할만 빼고 게시</a:t>
            </a:r>
          </a:p>
          <a:p>
            <a:r>
              <a:t>R1@2</a:t>
            </a:r>
          </a:p>
          <a:p>
            <a:r>
              <a:t>켜짐</a:t>
            </a:r>
          </a:p>
          <a:p/>
          <a:p>
            <a:r>
              <a:t>보류 사유가 참여자·관계의 역할 문구 검사뿐이고 거부 판정이 없으며 원문 인용이 모두 있는 후보를 사건으로 게시합니다. 확인되지 않은 역할 문구는 비워 두고 다른 값으로 채우지 않습니다. 이미 일어난 사건(발생)이 아니면 앞선 사건의 후속(FOLLOWS)으로 잇지 않습니다.</a:t>
            </a:r>
          </a:p>
          <a:p/>
          <a:p>
            <a:r>
              <a:t>다루는 보류 후보 44건</a:t>
            </a:r>
          </a:p>
          <a:p>
            <a:r>
              <a:t>사용자 그래프에 사건 43건 (후보 44건)</a:t>
            </a:r>
          </a:p>
          <a:p>
            <a:r>
              <a:t>기본값(켜짐) 그대로예요</a:t>
            </a:r>
          </a:p>
          <a:p/>
          <a:p>
            <a:r>
              <a:t>규칙 끄기</a:t>
            </a:r>
          </a:p>
          <a:p>
            <a:r>
              <a:t>후보</a:t>
            </a:r>
          </a:p>
          <a:p>
            <a:r>
              <a:t>그래프 버전</a:t>
            </a:r>
          </a:p>
          <a:p>
            <a:r>
              <a:t>작업</a:t>
            </a:r>
          </a:p>
          <a:p>
            <a:r>
              <a:t>보류 304</a:t>
            </a:r>
          </a:p>
          <a:p>
            <a:r>
              <a:t>통과 102</a:t>
            </a:r>
          </a:p>
          <a:p>
            <a:r>
              <a:t>폐기 1</a:t>
            </a:r>
          </a:p>
          <a:p>
            <a:r>
              <a:t>전체</a:t>
            </a:r>
          </a:p>
          <a:p>
            <a:r>
              <a:t>모든 후보</a:t>
            </a:r>
          </a:p>
          <a:p>
            <a:r>
              <a:t>규칙 대상만</a:t>
            </a:r>
          </a:p>
          <a:p>
            <a:r>
              <a:t>후보 검색</a:t>
            </a:r>
          </a:p>
          <a:p>
            <a:r>
              <a:t>후보 목록</a:t>
            </a:r>
          </a:p>
          <a:p>
            <a:r>
              <a:t>판정	이슈	관련 기업	근거	사용자 그래프	검수</a:t>
            </a:r>
          </a:p>
          <a:p/>
          <a:p>
            <a:r>
              <a:t>보류	</a:t>
            </a:r>
          </a:p>
          <a:p>
            <a:r>
              <a:t>As AI Increases Demands on Memory, Storage Steps Up</a:t>
            </a:r>
          </a:p>
          <a:p>
            <a:r>
              <a:t>	NVIDIA	1	</a:t>
            </a:r>
          </a:p>
          <a:p>
            <a:r>
              <a:t>표시 안 함</a:t>
            </a:r>
          </a:p>
          <a:p>
            <a:r>
              <a:t>	–</a:t>
            </a:r>
          </a:p>
          <a:p/>
          <a:p>
            <a:r>
              <a:t>보류	</a:t>
            </a:r>
          </a:p>
          <a:p>
            <a:r>
              <a:t>삼성 6개사, 美 AI 인프라 기업 ‘헬릭스’에 10억 달러 투자</a:t>
            </a:r>
          </a:p>
          <a:p>
            <a:r>
              <a:t>	삼성전자, 플랙트그룹	1	</a:t>
            </a:r>
          </a:p>
          <a:p>
            <a:r>
              <a:t>표시 안 함</a:t>
            </a:r>
          </a:p>
          <a:p>
            <a:r>
              <a:t>	–</a:t>
            </a:r>
          </a:p>
          <a:p/>
          <a:p>
            <a:r>
              <a:t>보류	</a:t>
            </a:r>
          </a:p>
          <a:p>
            <a:r>
              <a:t>타법인주식및출자증권처분결정</a:t>
            </a:r>
          </a:p>
          <a:p>
            <a:r>
              <a:t>	당사, 포스코인터내셔널	3	</a:t>
            </a:r>
          </a:p>
          <a:p>
            <a:r>
              <a:t>표시 안 함</a:t>
            </a:r>
          </a:p>
          <a:p>
            <a:r>
              <a:t>	–</a:t>
            </a:r>
          </a:p>
          <a:p/>
          <a:p>
            <a:r>
              <a:t>보류	</a:t>
            </a:r>
          </a:p>
          <a:p>
            <a:r>
              <a:t>동일인등출자계열회사와의상품ㆍ용역거래변경</a:t>
            </a:r>
          </a:p>
          <a:p>
            <a:r>
              <a:t>	삼성전자주식회사, 삼성물산(주)	2	</a:t>
            </a:r>
          </a:p>
          <a:p>
            <a:r>
              <a:t>표시 안 함</a:t>
            </a:r>
          </a:p>
          <a:p>
            <a:r>
              <a:t>	–</a:t>
            </a:r>
          </a:p>
          <a:p/>
          <a:p>
            <a:r>
              <a:t>보류	</a:t>
            </a:r>
          </a:p>
          <a:p>
            <a:r>
              <a:t>Added and trained Earth-2 StormCast for air pollution forecasting</a:t>
            </a:r>
          </a:p>
          <a:p>
            <a:r>
              <a:t>	University of Manchester, Hao Zhang, NVIDIA, Isambard-AI	2	</a:t>
            </a:r>
          </a:p>
          <a:p>
            <a:r>
              <a:t>표시 안 함</a:t>
            </a:r>
          </a:p>
          <a:p>
            <a:r>
              <a:t>	–</a:t>
            </a:r>
          </a:p>
          <a:p/>
          <a:p>
            <a:r>
              <a:t>보류	</a:t>
            </a:r>
          </a:p>
          <a:p>
            <a:r>
              <a:t>Clarification Regarding Recent Media Reports on Solidigm</a:t>
            </a:r>
          </a:p>
          <a:p>
            <a:r>
              <a:t>	SK hynix, Intel, Solidigm	1	</a:t>
            </a:r>
          </a:p>
          <a:p>
            <a:r>
              <a:t>표시 안 함</a:t>
            </a:r>
          </a:p>
          <a:p>
            <a:r>
              <a:t>	–</a:t>
            </a:r>
          </a:p>
          <a:p/>
          <a:p>
            <a:r>
              <a:t>보류	</a:t>
            </a:r>
          </a:p>
          <a:p>
            <a:r>
              <a:t>Clarification Regarding Recent Media Reports on Solidigm</a:t>
            </a:r>
          </a:p>
          <a:p>
            <a:r>
              <a:t>	SK hynix	1	</a:t>
            </a:r>
          </a:p>
          <a:p>
            <a:r>
              <a:t>표시 안 함</a:t>
            </a:r>
          </a:p>
          <a:p>
            <a:r>
              <a:t>	–</a:t>
            </a:r>
          </a:p>
          <a:p/>
          <a:p>
            <a:r>
              <a:t>보류	</a:t>
            </a:r>
          </a:p>
          <a:p>
            <a:r>
              <a:t>Seoul Purpose: How NVIDIA and South Korea Are Building the Future of AI</a:t>
            </a:r>
          </a:p>
          <a:p>
            <a:r>
              <a:t>	NVIDIA, Jensen Huang	1	</a:t>
            </a:r>
          </a:p>
          <a:p>
            <a:r>
              <a:t>표시 안 함</a:t>
            </a:r>
          </a:p>
          <a:p>
            <a:r>
              <a:t>	–</a:t>
            </a:r>
          </a:p>
          <a:p/>
          <a:p>
            <a:r>
              <a:t>보류	</a:t>
            </a:r>
          </a:p>
          <a:p>
            <a:r>
              <a:t>Seoul Purpose: How NVIDIA and South Korea Are Building the Future of AI</a:t>
            </a:r>
          </a:p>
          <a:p>
            <a:r>
              <a:t>	NVIDIA, Jensen Huang	1	</a:t>
            </a:r>
          </a:p>
          <a:p>
            <a:r>
              <a:t>표시 안 함</a:t>
            </a:r>
          </a:p>
          <a:p>
            <a:r>
              <a:t>	–</a:t>
            </a:r>
          </a:p>
          <a:p/>
          <a:p>
            <a:r>
              <a:t>보류	</a:t>
            </a:r>
          </a:p>
          <a:p>
            <a:r>
              <a:t>Seoul Purpose: How NVIDIA and South Korea Are Building the Future of AI</a:t>
            </a:r>
          </a:p>
          <a:p>
            <a:r>
              <a:t>	NVIDIA, Jensen Huang, SK Group, Chey Tae-won, LG Group, Koo Kwang-mo, NAVER, Lee Hae-jin	1	</a:t>
            </a:r>
          </a:p>
          <a:p>
            <a:r>
              <a:t>표시 안 함</a:t>
            </a:r>
          </a:p>
          <a:p>
            <a:r>
              <a:t>	–</a:t>
            </a:r>
          </a:p>
          <a:p/>
          <a:p>
            <a:r>
              <a:t>보류	</a:t>
            </a:r>
          </a:p>
          <a:p>
            <a:r>
              <a:t>Seoul Purpose: How NVIDIA and South Korea Are Building the Future of AI</a:t>
            </a:r>
          </a:p>
          <a:p>
            <a:r>
              <a:t>	NVIDIA, Jensen Huang, KRAFTON, NC	2	</a:t>
            </a:r>
          </a:p>
          <a:p>
            <a:r>
              <a:t>표시 안 함</a:t>
            </a:r>
          </a:p>
          <a:p>
            <a:r>
              <a:t>	–</a:t>
            </a:r>
          </a:p>
          <a:p/>
          <a:p>
            <a:r>
              <a:t>보류	</a:t>
            </a:r>
          </a:p>
          <a:p>
            <a:r>
              <a:t>Seoul Purpose: How NVIDIA and South Korea Are Building the Future of AI</a:t>
            </a:r>
          </a:p>
          <a:p>
            <a:r>
              <a:t>	NVIDIA, Jensen Huang, T1, Lee “Faker” Sang-hyeok	1	</a:t>
            </a:r>
          </a:p>
          <a:p>
            <a:r>
              <a:t>표시 안 함</a:t>
            </a:r>
          </a:p>
          <a:p>
            <a:r>
              <a:t>	–</a:t>
            </a:r>
          </a:p>
          <a:p/>
          <a:p>
            <a:r>
              <a:t>보류	</a:t>
            </a:r>
          </a:p>
          <a:p>
            <a:r>
              <a:t>Seoul Purpose: How NVIDIA and South Korea Are Building the Future of AI</a:t>
            </a:r>
          </a:p>
          <a:p>
            <a:r>
              <a:t>	NVIDIA, Jensen Huang, Doosan Group, Park Jeong-won	1	</a:t>
            </a:r>
          </a:p>
          <a:p>
            <a:r>
              <a:t>표시 안 함</a:t>
            </a:r>
          </a:p>
          <a:p>
            <a:r>
              <a:t>	–</a:t>
            </a:r>
          </a:p>
          <a:p/>
          <a:p>
            <a:r>
              <a:t>보류	</a:t>
            </a:r>
          </a:p>
          <a:p>
            <a:r>
              <a:t>Seoul Purpose: How NVIDIA and South Korea Are Building the Future of AI</a:t>
            </a:r>
          </a:p>
          <a:p>
            <a:r>
              <a:t>	SK Telecom, NVIDIA	1	</a:t>
            </a:r>
          </a:p>
          <a:p>
            <a:r>
              <a:t>표시 안 함</a:t>
            </a:r>
          </a:p>
          <a:p>
            <a:r>
              <a:t>	–</a:t>
            </a:r>
          </a:p>
          <a:p/>
          <a:p>
            <a:r>
              <a:t>보류	</a:t>
            </a:r>
          </a:p>
          <a:p>
            <a:r>
              <a:t>Seoul Purpose: How NVIDIA and South Korea Are Building the Future of AI</a:t>
            </a:r>
          </a:p>
          <a:p>
            <a:r>
              <a:t>	NVIDIA, SK Group	1	</a:t>
            </a:r>
          </a:p>
          <a:p>
            <a:r>
              <a:t>표시 안 함</a:t>
            </a:r>
          </a:p>
          <a:p>
            <a:r>
              <a:t>	–</a:t>
            </a:r>
          </a:p>
          <a:p/>
          <a:p>
            <a:r>
              <a:t>보류	</a:t>
            </a:r>
          </a:p>
          <a:p>
            <a:r>
              <a:t>Seoul Purpose: How NVIDIA and South Korea Are Building the Future of AI</a:t>
            </a:r>
          </a:p>
          <a:p>
            <a:r>
              <a:t>	NVIDIA, Jensen Huang, SK Group, Chey Tae-won	1	</a:t>
            </a:r>
          </a:p>
          <a:p>
            <a:r>
              <a:t>표시 안 함</a:t>
            </a:r>
          </a:p>
          <a:p>
            <a:r>
              <a:t>	–</a:t>
            </a:r>
          </a:p>
          <a:p/>
          <a:p>
            <a:r>
              <a:t>보류	</a:t>
            </a:r>
          </a:p>
          <a:p>
            <a:r>
              <a:t>Seoul Purpose: How NVIDIA and South Korea Are Building the Future of AI</a:t>
            </a:r>
          </a:p>
          <a:p>
            <a:r>
              <a:t>	NVIDIA, Jensen Huang, LG Group, Koo Kwang-mo	1	</a:t>
            </a:r>
          </a:p>
          <a:p>
            <a:r>
              <a:t>표시 안 함</a:t>
            </a:r>
          </a:p>
          <a:p>
            <a:r>
              <a:t>	–</a:t>
            </a:r>
          </a:p>
          <a:p/>
          <a:p>
            <a:r>
              <a:t>보류	</a:t>
            </a:r>
          </a:p>
          <a:p>
            <a:r>
              <a:t>Seoul Purpose: How NVIDIA and South Korea Are Building the Future of AI</a:t>
            </a:r>
          </a:p>
          <a:p>
            <a:r>
              <a:t>	NVIDIA, LG Group	1	</a:t>
            </a:r>
          </a:p>
          <a:p>
            <a:r>
              <a:t>표시 안 함</a:t>
            </a:r>
          </a:p>
          <a:p>
            <a:r>
              <a:t>	–</a:t>
            </a:r>
          </a:p>
          <a:p/>
          <a:p>
            <a:r>
              <a:t>보류	</a:t>
            </a:r>
          </a:p>
          <a:p>
            <a:r>
              <a:t>Seoul Purpose: How NVIDIA and South Korea Are Building the Future of AI</a:t>
            </a:r>
          </a:p>
          <a:p>
            <a:r>
              <a:t>	NVIDIA, Jensen Huang, Seoul National University	1	</a:t>
            </a:r>
          </a:p>
          <a:p>
            <a:r>
              <a:t>표시 안 함</a:t>
            </a:r>
          </a:p>
          <a:p>
            <a:r>
              <a:t>	–</a:t>
            </a:r>
          </a:p>
          <a:p/>
          <a:p>
            <a:r>
              <a:t>보류	</a:t>
            </a:r>
          </a:p>
          <a:p>
            <a:r>
              <a:t>Seoul Purpose: How NVIDIA and South Korea Are Building the Future of AI</a:t>
            </a:r>
          </a:p>
          <a:p>
            <a:r>
              <a:t>	NVIDIA, Jensen Huang, Hyundai Motor Group	1	</a:t>
            </a:r>
          </a:p>
          <a:p>
            <a:r>
              <a:t>표시 안 함</a:t>
            </a:r>
          </a:p>
          <a:p>
            <a:r>
              <a:t>	–</a:t>
            </a:r>
          </a:p>
          <a:p/>
          <a:p>
            <a:r>
              <a:t>보류	</a:t>
            </a:r>
          </a:p>
          <a:p>
            <a:r>
              <a:t>Seoul Purpose: How NVIDIA and South Korea Are Building the Future of AI</a:t>
            </a:r>
          </a:p>
          <a:p>
            <a:r>
              <a:t>	NAVER, NVIDIA	1	</a:t>
            </a:r>
          </a:p>
          <a:p>
            <a:r>
              <a:t>표시 안 함</a:t>
            </a:r>
          </a:p>
          <a:p>
            <a:r>
              <a:t>	–</a:t>
            </a:r>
          </a:p>
          <a:p/>
          <a:p>
            <a:r>
              <a:t>보류	</a:t>
            </a:r>
          </a:p>
          <a:p>
            <a:r>
              <a:t>Seoul Purpose: How NVIDIA and South Korea Are Building the Future of AI</a:t>
            </a:r>
          </a:p>
          <a:p>
            <a:r>
              <a:t>	NAVER, NVIDIA	1	</a:t>
            </a:r>
          </a:p>
          <a:p>
            <a:r>
              <a:t>표시 안 함</a:t>
            </a:r>
          </a:p>
          <a:p>
            <a:r>
              <a:t>	–</a:t>
            </a:r>
          </a:p>
          <a:p/>
          <a:p>
            <a:r>
              <a:t>보류	</a:t>
            </a:r>
          </a:p>
          <a:p>
            <a:r>
              <a:t>Seoul Purpose: How NVIDIA and South Korea Are Building the Future of AI</a:t>
            </a:r>
          </a:p>
          <a:p>
            <a:r>
              <a:t>	NAVER	1	</a:t>
            </a:r>
          </a:p>
          <a:p>
            <a:r>
              <a:t>표시 안 함</a:t>
            </a:r>
          </a:p>
          <a:p>
            <a:r>
              <a:t>	–</a:t>
            </a:r>
          </a:p>
          <a:p/>
          <a:p>
            <a:r>
              <a:t>보류	</a:t>
            </a:r>
          </a:p>
          <a:p>
            <a:r>
              <a:t>Seoul Purpose: How NVIDIA and South Korea Are Building the Future of AI</a:t>
            </a:r>
          </a:p>
          <a:p>
            <a:r>
              <a:t>	NAVER, NVIDIA	2	</a:t>
            </a:r>
          </a:p>
          <a:p>
            <a:r>
              <a:t>표시 안 함</a:t>
            </a:r>
          </a:p>
          <a:p>
            <a:r>
              <a:t>	–</a:t>
            </a:r>
          </a:p>
          <a:p/>
          <a:p>
            <a:r>
              <a:t>보류	</a:t>
            </a:r>
          </a:p>
          <a:p>
            <a:r>
              <a:t>Seoul Purpose: How NVIDIA and South Korea Are Building the Future of AI</a:t>
            </a:r>
          </a:p>
          <a:p>
            <a:r>
              <a:t>	NVIDIA, Jensen Huang, NAVER, Haejin Lee	1	</a:t>
            </a:r>
          </a:p>
          <a:p>
            <a:r>
              <a:t>표시 안 함</a:t>
            </a:r>
          </a:p>
          <a:p>
            <a:r>
              <a:t>	–</a:t>
            </a:r>
          </a:p>
          <a:p/>
          <a:p>
            <a:r>
              <a:t>보류	</a:t>
            </a:r>
          </a:p>
          <a:p>
            <a:r>
              <a:t>Seoul Purpose: How NVIDIA and South Korea Are Building the Future of AI</a:t>
            </a:r>
          </a:p>
          <a:p>
            <a:r>
              <a:t>	NVIDIA, Jensen Huang	2	</a:t>
            </a:r>
          </a:p>
          <a:p>
            <a:r>
              <a:t>표시 안 함</a:t>
            </a:r>
          </a:p>
          <a:p>
            <a:r>
              <a:t>	–</a:t>
            </a:r>
          </a:p>
          <a:p/>
          <a:p>
            <a:r>
              <a:t>보류	</a:t>
            </a:r>
          </a:p>
          <a:p>
            <a:r>
              <a:t>Seoul Purpose: How NVIDIA and South Korea Are Building the Future of AI</a:t>
            </a:r>
          </a:p>
          <a:p>
            <a:r>
              <a:t>	NVIDIA, Jensen Huang	1	</a:t>
            </a:r>
          </a:p>
          <a:p>
            <a:r>
              <a:t>표시 안 함</a:t>
            </a:r>
          </a:p>
          <a:p>
            <a:r>
              <a:t>	–</a:t>
            </a:r>
          </a:p>
          <a:p/>
          <a:p>
            <a:r>
              <a:t>보류	</a:t>
            </a:r>
          </a:p>
          <a:p>
            <a:r>
              <a:t>NVIDIA Brings Trusted, 24/7 AI Agents to Telecom Operations</a:t>
            </a:r>
          </a:p>
          <a:p>
            <a:r>
              <a:t>	KDDI, KDDI Research, NVIDIA, Keysight, Samsung Research America	1	</a:t>
            </a:r>
          </a:p>
          <a:p>
            <a:r>
              <a:t>표시 안 함</a:t>
            </a:r>
          </a:p>
          <a:p>
            <a:r>
              <a:t>	–</a:t>
            </a:r>
          </a:p>
          <a:p/>
          <a:p>
            <a:r>
              <a:t>보류	</a:t>
            </a:r>
          </a:p>
          <a:p>
            <a:r>
              <a:t>NVIDIA Brings Trusted, 24/7 AI Agents to Telecom Operations</a:t>
            </a:r>
          </a:p>
          <a:p>
            <a:r>
              <a:t>	VIAVI Solutions	1	</a:t>
            </a:r>
          </a:p>
          <a:p>
            <a:r>
              <a:t>표시 안 함</a:t>
            </a:r>
          </a:p>
          <a:p>
            <a:r>
              <a:t>	–</a:t>
            </a:r>
          </a:p>
          <a:p/>
          <a:p>
            <a:r>
              <a:t>보류	</a:t>
            </a:r>
          </a:p>
          <a:p>
            <a:r>
              <a:t>NVIDIA Brings Trusted, 24/7 AI Agents to Telecom Operations</a:t>
            </a:r>
          </a:p>
          <a:p>
            <a:r>
              <a:t>	VIAVI Solutions, NVIDIA	1	</a:t>
            </a:r>
          </a:p>
          <a:p>
            <a:r>
              <a:t>표시 안 함</a:t>
            </a:r>
          </a:p>
          <a:p>
            <a:r>
              <a:t>	–</a:t>
            </a:r>
          </a:p>
          <a:p/>
          <a:p>
            <a:r>
              <a:t>보류	</a:t>
            </a:r>
          </a:p>
          <a:p>
            <a:r>
              <a:t>NVIDIA Brings Trusted, 24/7 AI Agents to Telecom Operations</a:t>
            </a:r>
          </a:p>
          <a:p>
            <a:r>
              <a:t>	Forsk, NVIDIA	1	</a:t>
            </a:r>
          </a:p>
          <a:p>
            <a:r>
              <a:t>표시 안 함</a:t>
            </a:r>
          </a:p>
          <a:p>
            <a:r>
              <a:t>	–</a:t>
            </a:r>
          </a:p>
          <a:p/>
          <a:p>
            <a:r>
              <a:t>보류	</a:t>
            </a:r>
          </a:p>
          <a:p>
            <a:r>
              <a:t>NVIDIA Brings Trusted, 24/7 AI Agents to Telecom Operations</a:t>
            </a:r>
          </a:p>
          <a:p>
            <a:r>
              <a:t>	Tata Consultancy Services (TCS), NVIDIA	1	</a:t>
            </a:r>
          </a:p>
          <a:p>
            <a:r>
              <a:t>표시 안 함</a:t>
            </a:r>
          </a:p>
          <a:p>
            <a:r>
              <a:t>	–</a:t>
            </a:r>
          </a:p>
          <a:p/>
          <a:p>
            <a:r>
              <a:t>보류	</a:t>
            </a:r>
          </a:p>
          <a:p>
            <a:r>
              <a:t>NVIDIA Brings Trusted, 24/7 AI Agents to Telecom Operations</a:t>
            </a:r>
          </a:p>
          <a:p>
            <a:r>
              <a:t>	NTT DATA, NVIDIA	1	</a:t>
            </a:r>
          </a:p>
          <a:p>
            <a:r>
              <a:t>표시 안 함</a:t>
            </a:r>
          </a:p>
          <a:p>
            <a:r>
              <a:t>	–</a:t>
            </a:r>
          </a:p>
          <a:p/>
          <a:p>
            <a:r>
              <a:t>보류	</a:t>
            </a:r>
          </a:p>
          <a:p>
            <a:r>
              <a:t>NVIDIA Brings Trusted, 24/7 AI Agents to Telecom Operations</a:t>
            </a:r>
          </a:p>
          <a:p>
            <a:r>
              <a:t>	Amdocs, NVIDIA	1	</a:t>
            </a:r>
          </a:p>
          <a:p>
            <a:r>
              <a:t>표시 안 함</a:t>
            </a:r>
          </a:p>
          <a:p>
            <a:r>
              <a:t>	–</a:t>
            </a:r>
          </a:p>
          <a:p/>
          <a:p>
            <a:r>
              <a:t>보류	</a:t>
            </a:r>
          </a:p>
          <a:p>
            <a:r>
              <a:t>NVIDIA Brings Trusted, 24/7 AI Agents to Telecom Operations</a:t>
            </a:r>
          </a:p>
          <a:p>
            <a:r>
              <a:t>	Amdocs, NVIDIA	1	</a:t>
            </a:r>
          </a:p>
          <a:p>
            <a:r>
              <a:t>표시 안 함</a:t>
            </a:r>
          </a:p>
          <a:p>
            <a:r>
              <a:t>	–</a:t>
            </a:r>
          </a:p>
          <a:p/>
          <a:p>
            <a:r>
              <a:t>보류	</a:t>
            </a:r>
          </a:p>
          <a:p>
            <a:r>
              <a:t>NVIDIA Brings Trusted, 24/7 AI Agents to Telecom Operations</a:t>
            </a:r>
          </a:p>
          <a:p>
            <a:r>
              <a:t>	AdaptKey, operators, NVIDIA	1	</a:t>
            </a:r>
          </a:p>
          <a:p>
            <a:r>
              <a:t>표시 안 함</a:t>
            </a:r>
          </a:p>
          <a:p>
            <a:r>
              <a:t>	–</a:t>
            </a:r>
          </a:p>
          <a:p/>
          <a:p>
            <a:r>
              <a:t>보류	</a:t>
            </a:r>
          </a:p>
          <a:p>
            <a:r>
              <a:t>NVIDIA Brings Trusted, 24/7 AI Agents to Telecom Operations</a:t>
            </a:r>
          </a:p>
          <a:p>
            <a:r>
              <a:t>	SoftBank Corp., NVIDIA	2	</a:t>
            </a:r>
          </a:p>
          <a:p>
            <a:r>
              <a:t>표시 안 함</a:t>
            </a:r>
          </a:p>
          <a:p>
            <a:r>
              <a:t>	–</a:t>
            </a:r>
          </a:p>
          <a:p/>
          <a:p>
            <a:r>
              <a:t>보류	</a:t>
            </a:r>
          </a:p>
          <a:p>
            <a:r>
              <a:t>NVIDIA Brings Trusted, 24/7 AI Agents to Telecom Operations</a:t>
            </a:r>
          </a:p>
          <a:p>
            <a:r>
              <a:t>	NVIDIA, partners, TM Forum	1	</a:t>
            </a:r>
          </a:p>
          <a:p>
            <a:r>
              <a:t>표시 안 함</a:t>
            </a:r>
          </a:p>
          <a:p>
            <a:r>
              <a:t>	–</a:t>
            </a:r>
          </a:p>
          <a:p/>
          <a:p>
            <a:r>
              <a:t>보류	</a:t>
            </a:r>
          </a:p>
          <a:p>
            <a:r>
              <a:t>Addition of Cassava in Africa and Claro in South America to NVIDIA AI Clouds</a:t>
            </a:r>
          </a:p>
          <a:p>
            <a:r>
              <a:t>	Cassava, Claro, NVIDIA	1	</a:t>
            </a:r>
          </a:p>
          <a:p>
            <a:r>
              <a:t>표시 중</a:t>
            </a:r>
          </a:p>
          <a:p>
            <a:r>
              <a:t>규칙 R1@2</a:t>
            </a:r>
          </a:p>
          <a:p>
            <a:r>
              <a:t>	–</a:t>
            </a:r>
          </a:p>
          <a:p/>
          <a:p>
            <a:r>
              <a:t>보류	</a:t>
            </a:r>
          </a:p>
          <a:p>
            <a:r>
              <a:t>Six NVIDIA Cloud Partners achieved Exemplar Cloud status</a:t>
            </a:r>
          </a:p>
          <a:p>
            <a:r>
              <a:t>	CoreWeave, Crusoe, Lambda, Nebius, Vultr, YTL	1	</a:t>
            </a:r>
          </a:p>
          <a:p>
            <a:r>
              <a:t>표시 안 함</a:t>
            </a:r>
          </a:p>
          <a:p>
            <a:r>
              <a:t>	–</a:t>
            </a:r>
          </a:p>
          <a:p/>
          <a:p>
            <a:r>
              <a:t>보류	</a:t>
            </a:r>
          </a:p>
          <a:p>
            <a:r>
              <a:t>Nebius adopted NVIDIA Vera Rubin</a:t>
            </a:r>
          </a:p>
          <a:p>
            <a:r>
              <a:t>	Nebius	1	</a:t>
            </a:r>
          </a:p>
          <a:p>
            <a:r>
              <a:t>표시 안 함</a:t>
            </a:r>
          </a:p>
          <a:p>
            <a:r>
              <a:t>	–</a:t>
            </a:r>
          </a:p>
          <a:p/>
          <a:p>
            <a:r>
              <a:t>보류	</a:t>
            </a:r>
          </a:p>
          <a:p>
            <a:r>
              <a:t>CoreWeave among first to adopt NVIDIA Spectrum-X Ethernet Photonics</a:t>
            </a:r>
          </a:p>
          <a:p>
            <a:r>
              <a:t>	CoreWeave	1	</a:t>
            </a:r>
          </a:p>
          <a:p>
            <a:r>
              <a:t>표시 안 함</a:t>
            </a:r>
          </a:p>
          <a:p>
            <a:r>
              <a:t>	–</a:t>
            </a:r>
          </a:p>
          <a:p/>
          <a:p>
            <a:r>
              <a:t>보류	</a:t>
            </a:r>
          </a:p>
          <a:p>
            <a:r>
              <a:t>CoreWeave adopted NVIDIA Vera Rubin and Vera CPU</a:t>
            </a:r>
          </a:p>
          <a:p>
            <a:r>
              <a:t>	CoreWeave	1	</a:t>
            </a:r>
          </a:p>
          <a:p>
            <a:r>
              <a:t>표시 안 함</a:t>
            </a:r>
          </a:p>
          <a:p>
            <a:r>
              <a:t>	–</a:t>
            </a:r>
          </a:p>
          <a:p/>
          <a:p>
            <a:r>
              <a:t>보류	</a:t>
            </a:r>
          </a:p>
          <a:p>
            <a:r>
              <a:t>Firmus deployed AI infrastructure in Singapore</a:t>
            </a:r>
          </a:p>
          <a:p>
            <a:r>
              <a:t>	Firmus Technologies, ST Telemedia Global Data Centres	1	</a:t>
            </a:r>
          </a:p>
          <a:p>
            <a:r>
              <a:t>표시 중</a:t>
            </a:r>
          </a:p>
          <a:p>
            <a:r>
              <a:t>규칙 R1@2</a:t>
            </a:r>
          </a:p>
          <a:p>
            <a:r>
              <a:t>	–</a:t>
            </a:r>
          </a:p>
          <a:p/>
          <a:p>
            <a:r>
              <a:t>보류	</a:t>
            </a:r>
          </a:p>
          <a:p>
            <a:r>
              <a:t>삼성 6개사, 美 AI 인프라 기업 ‘헬릭스’에 10억 달러 투자</a:t>
            </a:r>
          </a:p>
          <a:p>
            <a:r>
              <a:t>	헬릭스 디지털 인프라스트럭처(Helix Digital Infrastructure)	1	</a:t>
            </a:r>
          </a:p>
          <a:p>
            <a:r>
              <a:t>표시 안 함</a:t>
            </a:r>
          </a:p>
          <a:p>
            <a:r>
              <a:t>	–</a:t>
            </a:r>
          </a:p>
          <a:p/>
          <a:p>
            <a:r>
              <a:t>보류	</a:t>
            </a:r>
          </a:p>
          <a:p>
            <a:r>
              <a:t>삼성 6개사, 美 AI 인프라 기업 ‘헬릭스’에 10억 달러 투자</a:t>
            </a:r>
          </a:p>
          <a:p>
            <a:r>
              <a:t>	KKR	1	</a:t>
            </a:r>
          </a:p>
          <a:p>
            <a:r>
              <a:t>표시 안 함</a:t>
            </a:r>
          </a:p>
          <a:p>
            <a:r>
              <a:t>	–</a:t>
            </a:r>
          </a:p>
          <a:p/>
          <a:p>
            <a:r>
              <a:t>보류	</a:t>
            </a:r>
          </a:p>
          <a:p>
            <a:r>
              <a:t>삼성 6개사, 美 AI 인프라 기업 ‘헬릭스’에 10억 달러 투자</a:t>
            </a:r>
          </a:p>
          <a:p>
            <a:r>
              <a:t>	삼성전자, 삼성물산, 삼성SDS, 삼성SDI, 삼성생명, 삼성화재, KKR, 엔비디아(Nvidia), 비스트라(Vistra), 쿠웨이트투자청(KIA)	2	</a:t>
            </a:r>
          </a:p>
          <a:p>
            <a:r>
              <a:t>표시 중</a:t>
            </a:r>
          </a:p>
          <a:p>
            <a:r>
              <a:t>규칙 R1@2</a:t>
            </a:r>
          </a:p>
          <a:p>
            <a:r>
              <a:t>	–</a:t>
            </a:r>
          </a:p>
          <a:p/>
          <a:p>
            <a:r>
              <a:t>보류	</a:t>
            </a:r>
          </a:p>
          <a:p>
            <a:r>
              <a:t>Samsung, SK Telecom, and Hana Financial Group Build Korea’s First Private 5G Smart Office in the Financial Sector</a:t>
            </a:r>
          </a:p>
          <a:p>
            <a:r>
              <a:t>	Hana Financial Group, Samsung Electronics, SK Telecom	1	</a:t>
            </a:r>
          </a:p>
          <a:p>
            <a:r>
              <a:t>표시 안 함</a:t>
            </a:r>
          </a:p>
          <a:p>
            <a:r>
              <a:t>	–</a:t>
            </a:r>
          </a:p>
          <a:p/>
          <a:p>
            <a:r>
              <a:t>보류	</a:t>
            </a:r>
          </a:p>
          <a:p>
            <a:r>
              <a:t>Samsung, SK Telecom, and Hana Financial Group Build Korea’s First Private 5G Smart Office in the Financial Sector</a:t>
            </a:r>
          </a:p>
          <a:p>
            <a:r>
              <a:t>	Samsung Electronics, Hana Financial Group	1	</a:t>
            </a:r>
          </a:p>
          <a:p>
            <a:r>
              <a:t>표시 중</a:t>
            </a:r>
          </a:p>
          <a:p>
            <a:r>
              <a:t>규칙 R1@2</a:t>
            </a:r>
          </a:p>
          <a:p>
            <a:r>
              <a:t>	–</a:t>
            </a:r>
          </a:p>
          <a:p/>
          <a:p>
            <a:r>
              <a:t>보류	</a:t>
            </a:r>
          </a:p>
          <a:p>
            <a:r>
              <a:t>Samsung, SK Telecom, and Hana Financial Group Build Korea’s First Private 5G Smart Office in the Financial Sector</a:t>
            </a:r>
          </a:p>
          <a:p>
            <a:r>
              <a:t>	Hana Financial Group, SK Telecom, Samsung Electronics	1	</a:t>
            </a:r>
          </a:p>
          <a:p>
            <a:r>
              <a:t>표시 중</a:t>
            </a:r>
          </a:p>
          <a:p>
            <a:r>
              <a:t>규칙 R1@2</a:t>
            </a:r>
          </a:p>
          <a:p>
            <a:r>
              <a:t>	–</a:t>
            </a:r>
          </a:p>
          <a:p>
            <a:r>
              <a:t>후보 더 보기</a:t>
            </a:r>
          </a:p>
          <a:p/>
          <a:p>
            <a:r>
              <a:t>후보를 골라 주세요</a:t>
            </a:r>
          </a:p>
          <a:p/>
          <a:p>
            <a:r>
              <a:t>왼쪽 목록에서 후보를 고르면 원문 인용과 판정 근거를 보여 줘요.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A-ADM-04.png</a:t>
            </a:r>
          </a:p>
          <a:p>
            <a:r>
              <a:t>좌표·클릭 후 실제 화면: A-ADM-04.json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브리핑 운영</a:t>
            </a:r>
          </a:p>
          <a:p/>
          <a:p>
            <a:r>
              <a:t>예정 출근 07:40 · 퇴근 18:10 (KST)</a:t>
            </a:r>
          </a:p>
          <a:p/>
          <a:p>
            <a:r>
              <a:t>브리핑 회차</a:t>
            </a:r>
          </a:p>
          <a:p>
            <a:r>
              <a:t>회차	상태	데이터 기준 시점	실패 사유	정정</a:t>
            </a:r>
          </a:p>
          <a:p>
            <a:r>
              <a:t>2026-10-03 퇴근	</a:t>
            </a:r>
          </a:p>
          <a:p>
            <a:r>
              <a:t>발행됨</a:t>
            </a:r>
          </a:p>
          <a:p>
            <a:r>
              <a:t>	2026-10-03 18:10	–	–</a:t>
            </a:r>
          </a:p>
          <a:p>
            <a:r>
              <a:t>2026-10-03 출근	</a:t>
            </a:r>
          </a:p>
          <a:p>
            <a:r>
              <a:t>발행됨</a:t>
            </a:r>
          </a:p>
          <a:p>
            <a:r>
              <a:t>	2026-10-03 07:40	–	–</a:t>
            </a:r>
          </a:p>
          <a:p>
            <a:r>
              <a:t>2026-10-02 퇴근	</a:t>
            </a:r>
          </a:p>
          <a:p>
            <a:r>
              <a:t>발행됨</a:t>
            </a:r>
          </a:p>
          <a:p>
            <a:r>
              <a:t>	2026-10-02 18:10	–	–</a:t>
            </a:r>
          </a:p>
          <a:p>
            <a:r>
              <a:t>2026-10-02 출근	</a:t>
            </a:r>
          </a:p>
          <a:p>
            <a:r>
              <a:t>발행됨</a:t>
            </a:r>
          </a:p>
          <a:p>
            <a:r>
              <a:t>	2026-10-02 07:40	–	–</a:t>
            </a:r>
          </a:p>
          <a:p>
            <a:r>
              <a:t>2026-10-01 퇴근	</a:t>
            </a:r>
          </a:p>
          <a:p>
            <a:r>
              <a:t>발행됨</a:t>
            </a:r>
          </a:p>
          <a:p>
            <a:r>
              <a:t>	2026-10-01 18:10	–	–</a:t>
            </a:r>
          </a:p>
          <a:p>
            <a:r>
              <a:t>2026-10-01 출근	</a:t>
            </a:r>
          </a:p>
          <a:p>
            <a:r>
              <a:t>발행됨</a:t>
            </a:r>
          </a:p>
          <a:p>
            <a:r>
              <a:t>	2026-10-01 07:40	–	–</a:t>
            </a:r>
          </a:p>
          <a:p>
            <a:r>
              <a:t>2026-09-30 퇴근	</a:t>
            </a:r>
          </a:p>
          <a:p>
            <a:r>
              <a:t>발행됨</a:t>
            </a:r>
          </a:p>
          <a:p>
            <a:r>
              <a:t>	2026-09-30 18:10	–	–</a:t>
            </a:r>
          </a:p>
          <a:p>
            <a:r>
              <a:t>2026-09-30 출근	</a:t>
            </a:r>
          </a:p>
          <a:p>
            <a:r>
              <a:t>발행됨</a:t>
            </a:r>
          </a:p>
          <a:p>
            <a:r>
              <a:t>	2026-09-30 07:40	–	–</a:t>
            </a:r>
          </a:p>
          <a:p>
            <a:r>
              <a:t>2026-09-29 퇴근	</a:t>
            </a:r>
          </a:p>
          <a:p>
            <a:r>
              <a:t>발행됨</a:t>
            </a:r>
          </a:p>
          <a:p>
            <a:r>
              <a:t>	2026-09-29 18:10	–	–</a:t>
            </a:r>
          </a:p>
          <a:p>
            <a:r>
              <a:t>2026-09-29 출근	</a:t>
            </a:r>
          </a:p>
          <a:p>
            <a:r>
              <a:t>발행됨</a:t>
            </a:r>
          </a:p>
          <a:p>
            <a:r>
              <a:t>	2026-09-29 07:40	–	–</a:t>
            </a:r>
          </a:p>
          <a:p>
            <a:r>
              <a:t>2026-09-28 퇴근	</a:t>
            </a:r>
          </a:p>
          <a:p>
            <a:r>
              <a:t>발행됨</a:t>
            </a:r>
          </a:p>
          <a:p>
            <a:r>
              <a:t>	2026-09-28 18:10	–	–</a:t>
            </a:r>
          </a:p>
          <a:p>
            <a:r>
              <a:t>2026-09-28 출근	</a:t>
            </a:r>
          </a:p>
          <a:p>
            <a:r>
              <a:t>발행됨</a:t>
            </a:r>
          </a:p>
          <a:p>
            <a:r>
              <a:t>	2026-09-28 07:40	–	–</a:t>
            </a:r>
          </a:p>
          <a:p>
            <a:r>
              <a:t>2026-09-27 퇴근	</a:t>
            </a:r>
          </a:p>
          <a:p>
            <a:r>
              <a:t>발행됨</a:t>
            </a:r>
          </a:p>
          <a:p>
            <a:r>
              <a:t>	2026-09-27 18:10	–	–</a:t>
            </a:r>
          </a:p>
          <a:p>
            <a:r>
              <a:t>2026-09-27 출근	</a:t>
            </a:r>
          </a:p>
          <a:p>
            <a:r>
              <a:t>발행됨</a:t>
            </a:r>
          </a:p>
          <a:p>
            <a:r>
              <a:t>	2026-09-27 07:40	–	–</a:t>
            </a:r>
          </a:p>
          <a:p>
            <a:r>
              <a:t>2026-09-26 퇴근	</a:t>
            </a:r>
          </a:p>
          <a:p>
            <a:r>
              <a:t>발행됨</a:t>
            </a:r>
          </a:p>
          <a:p>
            <a:r>
              <a:t>	2026-09-26 18:10	–	–</a:t>
            </a:r>
          </a:p>
          <a:p>
            <a:r>
              <a:t>2026-09-26 출근	</a:t>
            </a:r>
          </a:p>
          <a:p>
            <a:r>
              <a:t>발행됨</a:t>
            </a:r>
          </a:p>
          <a:p>
            <a:r>
              <a:t>	2026-09-26 07:40	–	–</a:t>
            </a:r>
          </a:p>
          <a:p>
            <a:r>
              <a:t>2026-09-25 퇴근	</a:t>
            </a:r>
          </a:p>
          <a:p>
            <a:r>
              <a:t>발행됨</a:t>
            </a:r>
          </a:p>
          <a:p>
            <a:r>
              <a:t>	2026-09-25 18:10	–	–</a:t>
            </a:r>
          </a:p>
          <a:p>
            <a:r>
              <a:t>2026-09-25 출근	</a:t>
            </a:r>
          </a:p>
          <a:p>
            <a:r>
              <a:t>발행됨</a:t>
            </a:r>
          </a:p>
          <a:p>
            <a:r>
              <a:t>	2026-09-25 07:40	–	–</a:t>
            </a:r>
          </a:p>
          <a:p>
            <a:r>
              <a:t>2026-09-24 퇴근	</a:t>
            </a:r>
          </a:p>
          <a:p>
            <a:r>
              <a:t>발행됨</a:t>
            </a:r>
          </a:p>
          <a:p>
            <a:r>
              <a:t>	2026-09-24 18:10	–	–</a:t>
            </a:r>
          </a:p>
          <a:p>
            <a:r>
              <a:t>2026-09-24 출근	</a:t>
            </a:r>
          </a:p>
          <a:p>
            <a:r>
              <a:t>발행됨</a:t>
            </a:r>
          </a:p>
          <a:p>
            <a:r>
              <a:t>	2026-09-24 07:40	–	–</a:t>
            </a:r>
          </a:p>
          <a:p>
            <a:r>
              <a:t>2026-09-23 퇴근	</a:t>
            </a:r>
          </a:p>
          <a:p>
            <a:r>
              <a:t>발행됨</a:t>
            </a:r>
          </a:p>
          <a:p>
            <a:r>
              <a:t>	2026-09-23 18:10	–	–</a:t>
            </a:r>
          </a:p>
          <a:p>
            <a:r>
              <a:t>2026-09-23 출근	</a:t>
            </a:r>
          </a:p>
          <a:p>
            <a:r>
              <a:t>발행됨</a:t>
            </a:r>
          </a:p>
          <a:p>
            <a:r>
              <a:t>	2026-09-23 07:40	–	–</a:t>
            </a:r>
          </a:p>
          <a:p>
            <a:r>
              <a:t>2026-09-22 퇴근	</a:t>
            </a:r>
          </a:p>
          <a:p>
            <a:r>
              <a:t>발행됨</a:t>
            </a:r>
          </a:p>
          <a:p>
            <a:r>
              <a:t>	2026-09-22 18:10	–	–</a:t>
            </a:r>
          </a:p>
          <a:p>
            <a:r>
              <a:t>2026-09-22 출근	</a:t>
            </a:r>
          </a:p>
          <a:p>
            <a:r>
              <a:t>발행됨</a:t>
            </a:r>
          </a:p>
          <a:p>
            <a:r>
              <a:t>	2026-09-22 07:40	–	–</a:t>
            </a:r>
          </a:p>
          <a:p>
            <a:r>
              <a:t>2026-09-21 퇴근	</a:t>
            </a:r>
          </a:p>
          <a:p>
            <a:r>
              <a:t>발행됨</a:t>
            </a:r>
          </a:p>
          <a:p>
            <a:r>
              <a:t>	2026-09-21 18:10	–	–</a:t>
            </a:r>
          </a:p>
          <a:p>
            <a:r>
              <a:t>2026-09-21 출근	</a:t>
            </a:r>
          </a:p>
          <a:p>
            <a:r>
              <a:t>발행됨</a:t>
            </a:r>
          </a:p>
          <a:p>
            <a:r>
              <a:t>	2026-09-21 07:40	–	–</a:t>
            </a:r>
          </a:p>
          <a:p>
            <a:r>
              <a:t>2026-09-20 퇴근	</a:t>
            </a:r>
          </a:p>
          <a:p>
            <a:r>
              <a:t>발행됨</a:t>
            </a:r>
          </a:p>
          <a:p>
            <a:r>
              <a:t>	2026-09-20 18:10	–	–</a:t>
            </a:r>
          </a:p>
          <a:p>
            <a:r>
              <a:t>2026-09-20 출근	</a:t>
            </a:r>
          </a:p>
          <a:p>
            <a:r>
              <a:t>발행됨</a:t>
            </a:r>
          </a:p>
          <a:p>
            <a:r>
              <a:t>	2026-09-20 07:40	–	–</a:t>
            </a:r>
          </a:p>
          <a:p/>
          <a:p>
            <a:r>
              <a:t>회차를 골라 주세요</a:t>
            </a:r>
          </a:p>
          <a:p/>
          <a:p>
            <a:r>
              <a:t>발행 원문과 정정, 처리 기록을 보여 줘요.</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A-ADM-04b.png</a:t>
            </a:r>
          </a:p>
          <a:p>
            <a:r>
              <a:t>좌표·클릭 후 실제 화면: A-ADM-04b.json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AI 운영</a:t>
            </a:r>
          </a:p>
          <a:p>
            <a:r>
              <a:t>24시간</a:t>
            </a:r>
          </a:p>
          <a:p>
            <a:r>
              <a:t>7일</a:t>
            </a:r>
          </a:p>
          <a:p>
            <a:r>
              <a:t>30일</a:t>
            </a:r>
          </a:p>
          <a:p>
            <a:r>
              <a:t>전체</a:t>
            </a:r>
          </a:p>
          <a:p/>
          <a:p>
            <a:r>
              <a:t>집계 시각 2026-10-03 19:08:22 · 비용 미제공(PoC가 보고한 estimated_cost가 없고 단가 기준도 정해지지 않아 실제·추정 비용을 제공하지 않습니다.)</a:t>
            </a:r>
          </a:p>
          <a:p/>
          <a:p>
            <a:r>
              <a:t>기능별 사용량</a:t>
            </a:r>
          </a:p>
          <a:p>
            <a:r>
              <a:t>AI 기능별 사용량</a:t>
            </a:r>
          </a:p>
          <a:p>
            <a:r>
              <a:t>기능	처리 방식	요청	성공	실패	평균 처리	p95	모델 호출	입력 토큰	출력 토큰	비용	집계 출처</a:t>
            </a:r>
          </a:p>
          <a:p>
            <a:r>
              <a:t>AI 챗봇</a:t>
            </a:r>
          </a:p>
          <a:p>
            <a:r>
              <a:t>	BFF 규칙 기반 답변 · 모델 호출 없음	5	5	0	6ms	14ms	0	0	0	미제공</a:t>
            </a:r>
          </a:p>
          <a:p>
            <a:r>
              <a:t>	BFF 실측</a:t>
            </a:r>
          </a:p>
          <a:p>
            <a:r>
              <a:t>뉴스 분석(PoC 파이프라인)</a:t>
            </a:r>
          </a:p>
          <a:p>
            <a:r>
              <a:t>	InvestMate PoC · 모델 호출(유료)	0	0	0	–	–	0	0	0	미제공</a:t>
            </a:r>
          </a:p>
          <a:p>
            <a:r>
              <a:t>	작업 러너</a:t>
            </a:r>
          </a:p>
          <a:p>
            <a:r>
              <a:t>출퇴근 브리핑</a:t>
            </a:r>
          </a:p>
          <a:p>
            <a:r>
              <a:t>	BFF 규칙 기반 선정 · 모델 호출 없음	30	30	0	243ms	389ms	0	0	0	미제공</a:t>
            </a:r>
          </a:p>
          <a:p>
            <a:r>
              <a:t>	BFF 실측</a:t>
            </a:r>
          </a:p>
          <a:p>
            <a:r>
              <a:t>최근 오류</a:t>
            </a:r>
          </a:p>
          <a:p/>
          <a:p>
            <a:r>
              <a:t>이 기간에 기록된 오류가 없어요.</a:t>
            </a:r>
          </a:p>
          <a:p/>
          <a:p>
            <a:r>
              <a:t>뉴스 분석 실행 기록</a:t>
            </a:r>
          </a:p>
          <a:p>
            <a:r>
              <a:t>뉴스 분석 실행 기록</a:t>
            </a:r>
          </a:p>
          <a:p>
            <a:r>
              <a:t>실행	정책	처리	승인	보류	거부	오류	모델 호출	입력 토큰	걸린 시간	출처</a:t>
            </a:r>
          </a:p>
          <a:p>
            <a:r>
              <a:t>완화 정책(웹 검증 없음) · 5cb8582b	완화(웹 검증 없음)	46	22	24	0	1	260	1,960,588	30분 45초	원장 DB</a:t>
            </a:r>
          </a:p>
          <a:p>
            <a:r>
              <a:t>완화 정책(웹 검증 없음) · f3cf7ebb	완화(웹 검증 없음)	34	14	20	0	2	170	1,081,478	22분 30초	원장 DB</a:t>
            </a:r>
          </a:p>
          <a:p>
            <a:r>
              <a:t>완화 정책(웹 검증 없음) · 47a71f86	완화(웹 검증 없음)	13	6	6	1	2	61	405,886	9분 41초	원장 DB</a:t>
            </a:r>
          </a:p>
          <a:p>
            <a:r>
              <a:t>완화 정책(웹 검증 없음) · 43365715	완화(웹 검증 없음)	56	3	53	0	1	260	1,950,299	25분 53초	원장 DB</a:t>
            </a:r>
          </a:p>
          <a:p>
            <a:r>
              <a:t>완화 정책(웹 검증 없음) · 2783665a	완화(웹 검증 없음)	41	5	36	0	9	200	1,217,498	28분 12초	원장 DB</a:t>
            </a:r>
          </a:p>
          <a:p>
            <a:r>
              <a:t>완화 정책(웹 검증 없음) · 0eae8419	완화(웹 검증 없음)	59	4	55	0	8	260	1,821,396	31분 47초	원장 DB</a:t>
            </a:r>
          </a:p>
          <a:p>
            <a:r>
              <a:t>완화 정책(웹 검증 없음) · 0095f34b	완화(웹 검증 없음)	53	19	34	0	7	250	1,877,302	48분 20초	원장 DB</a:t>
            </a:r>
          </a:p>
          <a:p>
            <a:r>
              <a:t>완화 정책(웹 검증 없음) · 4cae96ef	완화(웹 검증 없음)	51	19	32	0	15	260	1,893,430	38분 16초	원장 DB</a:t>
            </a:r>
          </a:p>
          <a:p>
            <a:r>
              <a:t>완화 정책(웹 검증 없음) · dbd6ae53	완화(웹 검증 없음)	54	10	44	0	6	250	1,746,260	27분 35초	원장 DB</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A-ADM-05.png</a:t>
            </a:r>
          </a:p>
          <a:p>
            <a:r>
              <a:t>좌표·클릭 후 실제 화면: A-ADM-05.json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회원 관리</a:t>
            </a:r>
          </a:p>
          <a:p>
            <a:r>
              <a:t>전체</a:t>
            </a:r>
          </a:p>
          <a:p>
            <a:r>
              <a:t>정상</a:t>
            </a:r>
          </a:p>
          <a:p>
            <a:r>
              <a:t>차단됨</a:t>
            </a:r>
          </a:p>
          <a:p>
            <a:r>
              <a:t>회원 검색</a:t>
            </a:r>
          </a:p>
          <a:p/>
          <a:p>
            <a:r>
              <a:t>전체 8명 · 정상 8 · 차단 0</a:t>
            </a:r>
          </a:p>
          <a:p/>
          <a:p>
            <a:r>
              <a:t>회원 목록</a:t>
            </a:r>
          </a:p>
          <a:p>
            <a:r>
              <a:t>회원(가명 id)	이메일(가림)	가입 방식	가입	최근 활동	로그인 세션	그래프 선택	AI 질문	브리핑 조회	상태</a:t>
            </a:r>
          </a:p>
          <a:p>
            <a:r>
              <a:t>M-0AC0D62C	p***@example.test	이메일	2026-10-03 19:03	2026-10-03 19:03	1	0	0	0	</a:t>
            </a:r>
          </a:p>
          <a:p>
            <a:r>
              <a:t>정상</a:t>
            </a:r>
          </a:p>
          <a:p>
            <a:r>
              <a:t>M-4B3BDDAF	p***@example.test	이메일	2026-10-03 18:47	2026-10-03 18:47	1	0	0	0	</a:t>
            </a:r>
          </a:p>
          <a:p>
            <a:r>
              <a:t>정상</a:t>
            </a:r>
          </a:p>
          <a:p>
            <a:r>
              <a:t>M-FAE85F55	p***@example.test	이메일	2026-10-03 18:37	2026-10-03 18:37	1	0	0	0	</a:t>
            </a:r>
          </a:p>
          <a:p>
            <a:r>
              <a:t>정상</a:t>
            </a:r>
          </a:p>
          <a:p>
            <a:r>
              <a:t>M-A1A39D76	p***@example.test	이메일	2026-10-03 18:26	2026-10-03 18:26	1	0	0	0	</a:t>
            </a:r>
          </a:p>
          <a:p>
            <a:r>
              <a:t>정상</a:t>
            </a:r>
          </a:p>
          <a:p>
            <a:r>
              <a:t>M-F7104FCC	p***@example.test	이메일	2026-10-03 18:14	2026-10-03 18:14	1	0	0	0	</a:t>
            </a:r>
          </a:p>
          <a:p>
            <a:r>
              <a:t>정상</a:t>
            </a:r>
          </a:p>
          <a:p>
            <a:r>
              <a:t>M-F95D0111	p***@example.test	이메일	2026-10-03 17:55	2026-10-03 17:55	1	0	0	0	</a:t>
            </a:r>
          </a:p>
          <a:p>
            <a:r>
              <a:t>정상</a:t>
            </a:r>
          </a:p>
          <a:p>
            <a:r>
              <a:t>M-A85C3F86	s***@zoop.local	이메일	2026-10-03 17:12	2026-10-03 17:12	1	0	0	0	</a:t>
            </a:r>
          </a:p>
          <a:p>
            <a:r>
              <a:t>정상</a:t>
            </a:r>
          </a:p>
          <a:p>
            <a:r>
              <a:t>M-EBF98301	d***@zoop.local	이메일	2026-10-01 20:27	2026-10-03 19:06	13	71	5	28	</a:t>
            </a:r>
          </a:p>
          <a:p>
            <a:r>
              <a:t>정상</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A-ADM-05b.png</a:t>
            </a:r>
          </a:p>
          <a:p>
            <a:r>
              <a:t>좌표·클릭 후 실제 화면: A-ADM-05b.json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감사 로그</a:t>
            </a:r>
          </a:p>
          <a:p>
            <a:r>
              <a:t>동작</a:t>
            </a:r>
          </a:p>
          <a:p>
            <a:r>
              <a:t>모든 동작</a:t>
            </a:r>
          </a:p>
          <a:p>
            <a:r>
              <a:t>감사 로그 검색</a:t>
            </a:r>
          </a:p>
          <a:p>
            <a:r>
              <a:t>감사 로그</a:t>
            </a:r>
          </a:p>
          <a:p>
            <a:r>
              <a:t>시각	주체	동작	대상	결과	사유</a:t>
            </a:r>
          </a:p>
          <a:p>
            <a:r>
              <a:t>2026-10-03 19:07:15	admin@zoop.local	로그인	admin-session · admin-demo	</a:t>
            </a:r>
          </a:p>
          <a:p>
            <a:r>
              <a:t>완료	–</a:t>
            </a:r>
          </a:p>
          <a:p>
            <a:r>
              <a:t>2026-10-03 18:51:06	admin@zoop.local	로그인	admin-session · admin-demo	</a:t>
            </a:r>
          </a:p>
          <a:p>
            <a:r>
              <a:t>완료	–</a:t>
            </a:r>
          </a:p>
          <a:p>
            <a:r>
              <a:t>2026-10-03 18:40:49	admin@zoop.local	로그인	admin-session · admin-demo	</a:t>
            </a:r>
          </a:p>
          <a:p>
            <a:r>
              <a:t>완료	–</a:t>
            </a:r>
          </a:p>
          <a:p>
            <a:r>
              <a:t>2026-10-03 18:30:29	admin@zoop.local	로그인	admin-session · admin-demo	</a:t>
            </a:r>
          </a:p>
          <a:p>
            <a:r>
              <a:t>완료	–</a:t>
            </a:r>
          </a:p>
          <a:p>
            <a:r>
              <a:t>2026-10-03 18:10:12	시스템	브리핑 생성	briefing-round · brf-2026-10-03-evening	</a:t>
            </a:r>
          </a:p>
          <a:p>
            <a:r>
              <a:t>완료	–</a:t>
            </a:r>
          </a:p>
          <a:p>
            <a:r>
              <a:t>2026-10-03 07:41:30	demo-replay@zoop.local	브리핑 생성	briefing-round · brf-2026-10-03-morning	</a:t>
            </a:r>
          </a:p>
          <a:p>
            <a:r>
              <a:t>완료	–</a:t>
            </a:r>
          </a:p>
          <a:p>
            <a:r>
              <a:t>2026-10-02 18:11:30	demo-replay@zoop.local	브리핑 생성	briefing-round · brf-2026-10-02-evening	</a:t>
            </a:r>
          </a:p>
          <a:p>
            <a:r>
              <a:t>완료	–</a:t>
            </a:r>
          </a:p>
          <a:p>
            <a:r>
              <a:t>2026-10-02 07:41:30	demo-replay@zoop.local	브리핑 생성	briefing-round · brf-2026-10-02-morning	</a:t>
            </a:r>
          </a:p>
          <a:p>
            <a:r>
              <a:t>완료	–</a:t>
            </a:r>
          </a:p>
          <a:p>
            <a:r>
              <a:t>2026-10-01 18:11:30	demo-replay@zoop.local	브리핑 생성	briefing-round · brf-2026-10-01-evening	</a:t>
            </a:r>
          </a:p>
          <a:p>
            <a:r>
              <a:t>완료	–</a:t>
            </a:r>
          </a:p>
          <a:p>
            <a:r>
              <a:t>2026-10-01 07:41:30	demo-replay@zoop.local	브리핑 생성	briefing-round · brf-2026-10-01-morning	</a:t>
            </a:r>
          </a:p>
          <a:p>
            <a:r>
              <a:t>완료	–</a:t>
            </a:r>
          </a:p>
          <a:p>
            <a:r>
              <a:t>2026-09-30 18:11:30	demo-replay@zoop.local	브리핑 생성	briefing-round · brf-2026-09-30-evening	</a:t>
            </a:r>
          </a:p>
          <a:p>
            <a:r>
              <a:t>완료	–</a:t>
            </a:r>
          </a:p>
          <a:p>
            <a:r>
              <a:t>2026-09-30 07:41:30	demo-replay@zoop.local	브리핑 생성	briefing-round · brf-2026-09-30-morning	</a:t>
            </a:r>
          </a:p>
          <a:p>
            <a:r>
              <a:t>완료	–</a:t>
            </a:r>
          </a:p>
          <a:p>
            <a:r>
              <a:t>2026-09-29 18:11:30	demo-replay@zoop.local	브리핑 생성	briefing-round · brf-2026-09-29-evening	</a:t>
            </a:r>
          </a:p>
          <a:p>
            <a:r>
              <a:t>완료	–</a:t>
            </a:r>
          </a:p>
          <a:p>
            <a:r>
              <a:t>2026-09-29 07:41:30	demo-replay@zoop.local	브리핑 생성	briefing-round · brf-2026-09-29-morning	</a:t>
            </a:r>
          </a:p>
          <a:p>
            <a:r>
              <a:t>완료	–</a:t>
            </a:r>
          </a:p>
          <a:p>
            <a:r>
              <a:t>2026-09-28 18:11:30	demo-replay@zoop.local	브리핑 생성	briefing-round · brf-2026-09-28-evening	</a:t>
            </a:r>
          </a:p>
          <a:p>
            <a:r>
              <a:t>완료	–</a:t>
            </a:r>
          </a:p>
          <a:p>
            <a:r>
              <a:t>2026-09-28 07:41:30	demo-replay@zoop.local	브리핑 생성	briefing-round · brf-2026-09-28-morning	</a:t>
            </a:r>
          </a:p>
          <a:p>
            <a:r>
              <a:t>완료	–</a:t>
            </a:r>
          </a:p>
          <a:p>
            <a:r>
              <a:t>2026-09-27 18:11:30	demo-replay@zoop.local	브리핑 생성	briefing-round · brf-2026-09-27-evening	</a:t>
            </a:r>
          </a:p>
          <a:p>
            <a:r>
              <a:t>완료	–</a:t>
            </a:r>
          </a:p>
          <a:p>
            <a:r>
              <a:t>2026-09-27 07:41:30	demo-replay@zoop.local	브리핑 생성	briefing-round · brf-2026-09-27-morning	</a:t>
            </a:r>
          </a:p>
          <a:p>
            <a:r>
              <a:t>완료	–</a:t>
            </a:r>
          </a:p>
          <a:p>
            <a:r>
              <a:t>2026-09-26 18:11:30	demo-replay@zoop.local	브리핑 생성	briefing-round · brf-2026-09-26-evening	</a:t>
            </a:r>
          </a:p>
          <a:p>
            <a:r>
              <a:t>완료	–</a:t>
            </a:r>
          </a:p>
          <a:p>
            <a:r>
              <a:t>2026-09-26 07:41:30	demo-replay@zoop.local	브리핑 생성	briefing-round · brf-2026-09-26-morning	</a:t>
            </a:r>
          </a:p>
          <a:p>
            <a:r>
              <a:t>완료	–</a:t>
            </a:r>
          </a:p>
          <a:p>
            <a:r>
              <a:t>2026-09-25 18:11:30	demo-replay@zoop.local	브리핑 생성	briefing-round · brf-2026-09-25-evening	</a:t>
            </a:r>
          </a:p>
          <a:p>
            <a:r>
              <a:t>완료	–</a:t>
            </a:r>
          </a:p>
          <a:p>
            <a:r>
              <a:t>2026-09-25 07:41:30	demo-replay@zoop.local	브리핑 생성	briefing-round · brf-2026-09-25-morning	</a:t>
            </a:r>
          </a:p>
          <a:p>
            <a:r>
              <a:t>완료	–</a:t>
            </a:r>
          </a:p>
          <a:p>
            <a:r>
              <a:t>2026-09-24 18:11:30	demo-replay@zoop.local	브리핑 생성	briefing-round · brf-2026-09-24-evening	</a:t>
            </a:r>
          </a:p>
          <a:p>
            <a:r>
              <a:t>완료	–</a:t>
            </a:r>
          </a:p>
          <a:p>
            <a:r>
              <a:t>2026-09-24 07:41:30	demo-replay@zoop.local	브리핑 생성	briefing-round · brf-2026-09-24-morning	</a:t>
            </a:r>
          </a:p>
          <a:p>
            <a:r>
              <a:t>완료	–</a:t>
            </a:r>
          </a:p>
          <a:p>
            <a:r>
              <a:t>2026-09-23 18:11:30	demo-replay@zoop.local	브리핑 생성	briefing-round · brf-2026-09-23-evening	</a:t>
            </a:r>
          </a:p>
          <a:p>
            <a:r>
              <a:t>완료	–</a:t>
            </a:r>
          </a:p>
          <a:p>
            <a:r>
              <a:t>2026-09-23 07:41:30	demo-replay@zoop.local	브리핑 생성	briefing-round · brf-2026-09-23-morning	</a:t>
            </a:r>
          </a:p>
          <a:p>
            <a:r>
              <a:t>완료	–</a:t>
            </a:r>
          </a:p>
          <a:p>
            <a:r>
              <a:t>2026-09-22 18:11:30	demo-replay@zoop.local	브리핑 생성	briefing-round · brf-2026-09-22-evening	</a:t>
            </a:r>
          </a:p>
          <a:p>
            <a:r>
              <a:t>완료	–</a:t>
            </a:r>
          </a:p>
          <a:p>
            <a:r>
              <a:t>2026-09-22 07:41:30	demo-replay@zoop.local	브리핑 생성	briefing-round · brf-2026-09-22-morning	</a:t>
            </a:r>
          </a:p>
          <a:p>
            <a:r>
              <a:t>완료	–</a:t>
            </a:r>
          </a:p>
          <a:p>
            <a:r>
              <a:t>2026-09-21 18:11:30	demo-replay@zoop.local	브리핑 생성	briefing-round · brf-2026-09-21-evening	</a:t>
            </a:r>
          </a:p>
          <a:p>
            <a:r>
              <a:t>완료	–</a:t>
            </a:r>
          </a:p>
          <a:p>
            <a:r>
              <a:t>2026-09-21 07:41:30	demo-replay@zoop.local	브리핑 생성	briefing-round · brf-2026-09-21-morning	</a:t>
            </a:r>
          </a:p>
          <a:p>
            <a:r>
              <a:t>완료	–</a:t>
            </a:r>
          </a:p>
          <a:p>
            <a:r>
              <a:t>2026-09-20 18:11:30	demo-replay@zoop.local	브리핑 생성	briefing-round · brf-2026-09-20-evening	</a:t>
            </a:r>
          </a:p>
          <a:p>
            <a:r>
              <a:t>완료	–</a:t>
            </a:r>
          </a:p>
          <a:p>
            <a:r>
              <a:t>2026-09-20 07:41:30	demo-replay@zoop.local	브리핑 생성	briefing-round · brf-2026-09-20-morning	</a:t>
            </a:r>
          </a:p>
          <a:p>
            <a:r>
              <a:t>완료	–</a:t>
            </a:r>
          </a:p>
          <a:p>
            <a:r>
              <a:t>2026-09-19 18:11:30	demo-replay@zoop.local	브리핑 생성	briefing-round · brf-2026-09-19-evening	</a:t>
            </a:r>
          </a:p>
          <a:p>
            <a:r>
              <a:t>완료	–</a:t>
            </a:r>
          </a:p>
          <a:p>
            <a:r>
              <a:t>2026-09-19 07:41:30	demo-replay@zoop.local	브리핑 생성	briefing-round · brf-2026-09-19-morning	</a:t>
            </a:r>
          </a:p>
          <a:p>
            <a:r>
              <a:t>완료	–</a:t>
            </a:r>
          </a:p>
          <a:p>
            <a:r>
              <a:t>2026-09-18 18:11:30	demo-replay@zoop.local	브리핑 생성	briefing-round · brf-2026-09-18-evening	</a:t>
            </a:r>
          </a:p>
          <a:p>
            <a:r>
              <a:t>완료	–</a:t>
            </a:r>
          </a:p>
          <a:p>
            <a:r>
              <a:t>2026-09-18 07:41:30	demo-replay@zoop.local	브리핑 생성	briefing-round · brf-2026-09-18-morning	</a:t>
            </a:r>
          </a:p>
          <a:p>
            <a:r>
              <a:t>완료	–</a:t>
            </a:r>
          </a:p>
          <a:p>
            <a:r>
              <a:t>2026-09-17 18:11:30	demo-replay@zoop.local	브리핑 생성	briefing-round · brf-2026-09-17-evening	</a:t>
            </a:r>
          </a:p>
          <a:p>
            <a:r>
              <a:t>완료	–</a:t>
            </a:r>
          </a:p>
          <a:p>
            <a:r>
              <a:t>2026-09-17 07:41:30	demo-replay@zoop.local	브리핑 생성	briefing-round · brf-2026-09-17-morning	</a:t>
            </a:r>
          </a:p>
          <a:p>
            <a:r>
              <a:t>완료	–</a:t>
            </a:r>
          </a:p>
          <a:p>
            <a:r>
              <a:t>2026-09-16 18:11:30	demo-replay@zoop.local	브리핑 생성	briefing-round · brf-2026-09-16-evening	</a:t>
            </a:r>
          </a:p>
          <a:p>
            <a:r>
              <a:t>완료	–</a:t>
            </a:r>
          </a:p>
          <a:p>
            <a:r>
              <a:t>2026-09-16 07:41:30	demo-replay@zoop.local	브리핑 생성	briefing-round · brf-2026-09-16-morning	</a:t>
            </a:r>
          </a:p>
          <a:p>
            <a:r>
              <a:t>완료	–</a:t>
            </a:r>
          </a:p>
          <a:p>
            <a:r>
              <a:t>2026-10-03 07:41:30	demo-replay@zoop.local	브리핑 생성	briefing-round · brf-2026-10-03-morning	</a:t>
            </a:r>
          </a:p>
          <a:p>
            <a:r>
              <a:t>완료	–</a:t>
            </a:r>
          </a:p>
          <a:p>
            <a:r>
              <a:t>2026-10-02 18:11:30	demo-replay@zoop.local	브리핑 생성	briefing-round · brf-2026-10-02-evening	</a:t>
            </a:r>
          </a:p>
          <a:p>
            <a:r>
              <a:t>완료	–</a:t>
            </a:r>
          </a:p>
          <a:p>
            <a:r>
              <a:t>2026-10-02 07:41:30	demo-replay@zoop.local	브리핑 생성	briefing-round · brf-2026-10-02-morning	</a:t>
            </a:r>
          </a:p>
          <a:p>
            <a:r>
              <a:t>완료	–</a:t>
            </a:r>
          </a:p>
          <a:p>
            <a:r>
              <a:t>2026-10-01 18:11:30	demo-replay@zoop.local	브리핑 생성	briefing-round · brf-2026-10-01-evening	</a:t>
            </a:r>
          </a:p>
          <a:p>
            <a:r>
              <a:t>완료	–</a:t>
            </a:r>
          </a:p>
          <a:p>
            <a:r>
              <a:t>2026-10-01 07:41:30	demo-replay@zoop.local	브리핑 생성	briefing-round · brf-2026-10-01-morning	</a:t>
            </a:r>
          </a:p>
          <a:p>
            <a:r>
              <a:t>완료	–</a:t>
            </a:r>
          </a:p>
          <a:p>
            <a:r>
              <a:t>2026-09-30 18:11:30	demo-replay@zoop.local	브리핑 생성	briefing-round · brf-2026-09-30-evening	</a:t>
            </a:r>
          </a:p>
          <a:p>
            <a:r>
              <a:t>완료	–</a:t>
            </a:r>
          </a:p>
          <a:p>
            <a:r>
              <a:t>2026-09-30 07:41:30	demo-replay@zoop.local	브리핑 생성	briefing-round · brf-2026-09-30-morning	</a:t>
            </a:r>
          </a:p>
          <a:p>
            <a:r>
              <a:t>완료	–</a:t>
            </a:r>
          </a:p>
          <a:p>
            <a:r>
              <a:t>2026-09-29 18:11:30	demo-replay@zoop.local	브리핑 생성	briefing-round · brf-2026-09-29-evening	</a:t>
            </a:r>
          </a:p>
          <a:p>
            <a:r>
              <a:t>완료	–</a:t>
            </a:r>
          </a:p>
          <a:p>
            <a:r>
              <a:t>2026-09-29 07:41:30	demo-replay@zoop.local	브리핑 생성	briefing-round · brf-2026-09-29-morning	</a:t>
            </a:r>
          </a:p>
          <a:p>
            <a:r>
              <a:t>완료	–</a:t>
            </a:r>
          </a:p>
          <a:p>
            <a:r>
              <a:t>2026-09-28 18:11:30	demo-replay@zoop.local	브리핑 생성	briefing-round · brf-2026-09-28-evening	</a:t>
            </a:r>
          </a:p>
          <a:p>
            <a:r>
              <a:t>완료	–</a:t>
            </a:r>
          </a:p>
          <a:p>
            <a:r>
              <a:t>기록 더 보기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COVER   줍 화면계획서 v2.0</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프로토타입 기준 · 2026-10-03</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01</a:t>
            </a:r>
          </a:p>
        </p:txBody>
      </p:sp>
      <p:sp>
        <p:nvSpPr>
          <p:cNvPr id="7" name="TextBox 6"/>
          <p:cNvSpPr txBox="1"/>
          <p:nvPr/>
        </p:nvSpPr>
        <p:spPr>
          <a:xfrm>
            <a:off x="731520" y="1828800"/>
            <a:ext cx="12527280" cy="1417320"/>
          </a:xfrm>
          <a:prstGeom prst="rect">
            <a:avLst/>
          </a:prstGeom>
          <a:noFill/>
        </p:spPr>
        <p:txBody>
          <a:bodyPr wrap="square" lIns="27432" rIns="27432" tIns="27432" bIns="0">
            <a:spAutoFit/>
          </a:bodyPr>
          <a:lstStyle/>
          <a:p>
            <a:pPr>
              <a:lnSpc>
                <a:spcPct val="112000"/>
              </a:lnSpc>
              <a:spcAft>
                <a:spcPts val="600"/>
              </a:spcAft>
              <a:defRPr sz="4000" b="1">
                <a:solidFill>
                  <a:srgbClr val="0A5C48"/>
                </a:solidFill>
                <a:latin typeface="SUIT"/>
              </a:defRPr>
            </a:pPr>
            <a:r>
              <a:rPr>
                <a:ea typeface="SUIT"/>
              </a:rPr>
              <a:t>실제 화면에서</a:t>
            </a:r>
          </a:p>
          <a:p>
            <a:pPr>
              <a:lnSpc>
                <a:spcPct val="112000"/>
              </a:lnSpc>
              <a:spcAft>
                <a:spcPts val="600"/>
              </a:spcAft>
              <a:defRPr sz="4000" b="1">
                <a:solidFill>
                  <a:srgbClr val="0A5C48"/>
                </a:solidFill>
                <a:latin typeface="SUIT"/>
              </a:defRPr>
            </a:pPr>
            <a:r>
              <a:rPr>
                <a:ea typeface="SUIT"/>
              </a:rPr>
              <a:t>근거 확인까지</a:t>
            </a:r>
          </a:p>
        </p:txBody>
      </p:sp>
      <p:sp>
        <p:nvSpPr>
          <p:cNvPr id="8" name="TextBox 7"/>
          <p:cNvSpPr txBox="1"/>
          <p:nvPr/>
        </p:nvSpPr>
        <p:spPr>
          <a:xfrm>
            <a:off x="731520" y="3931920"/>
            <a:ext cx="12344400" cy="2468880"/>
          </a:xfrm>
          <a:prstGeom prst="rect">
            <a:avLst/>
          </a:prstGeom>
          <a:noFill/>
        </p:spPr>
        <p:txBody>
          <a:bodyPr wrap="square" lIns="27432" rIns="27432" tIns="27432" bIns="0">
            <a:spAutoFit/>
          </a:bodyPr>
          <a:lstStyle/>
          <a:p>
            <a:pPr>
              <a:lnSpc>
                <a:spcPct val="112000"/>
              </a:lnSpc>
              <a:spcAft>
                <a:spcPts val="600"/>
              </a:spcAft>
              <a:defRPr sz="2100" b="0">
                <a:solidFill>
                  <a:srgbClr val="19201D"/>
                </a:solidFill>
                <a:latin typeface="SUIT"/>
              </a:defRPr>
            </a:pPr>
            <a:r>
              <a:rPr>
                <a:ea typeface="SUIT"/>
              </a:rPr>
              <a:t>기능명세 v1.2 10-01 고정본 + 10-03 채택 항목(§0.3)</a:t>
            </a:r>
          </a:p>
          <a:p>
            <a:pPr>
              <a:lnSpc>
                <a:spcPct val="112000"/>
              </a:lnSpc>
              <a:spcAft>
                <a:spcPts val="600"/>
              </a:spcAft>
              <a:defRPr sz="2100" b="0">
                <a:solidFill>
                  <a:srgbClr val="19201D"/>
                </a:solidFill>
                <a:latin typeface="SUIT"/>
              </a:defRPr>
            </a:pPr>
            <a:r>
              <a:rPr>
                <a:ea typeface="SUIT"/>
              </a:rPr>
              <a:t>Notion 10-03 고정본 · 팀 화면계획서 v1.7 최종 42쪽 묶음</a:t>
            </a:r>
          </a:p>
          <a:p>
            <a:pPr>
              <a:lnSpc>
                <a:spcPct val="112000"/>
              </a:lnSpc>
              <a:spcAft>
                <a:spcPts val="600"/>
              </a:spcAft>
              <a:defRPr sz="2100" b="0">
                <a:solidFill>
                  <a:srgbClr val="19201D"/>
                </a:solidFill>
                <a:latin typeface="SUIT"/>
              </a:defRPr>
            </a:pPr>
            <a:r>
              <a:rPr>
                <a:ea typeface="SUIT"/>
              </a:rPr>
              <a:t>모의 계좌 + 실제 기사 39건의 저장본을 사용한 시연이에요.</a:t>
            </a:r>
          </a:p>
          <a:p>
            <a:pPr>
              <a:lnSpc>
                <a:spcPct val="112000"/>
              </a:lnSpc>
              <a:spcAft>
                <a:spcPts val="600"/>
              </a:spcAft>
              <a:defRPr sz="2100" b="0">
                <a:solidFill>
                  <a:srgbClr val="19201D"/>
                </a:solidFill>
                <a:latin typeface="SUIT"/>
              </a:defRPr>
            </a:pPr>
            <a:r>
              <a:rPr>
                <a:ea typeface="SUIT"/>
              </a:rPr>
              <a:t>규칙 기반 AI 예시 답변이며, 실제 서비스 데이터·생성형 AI가 아니에요.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HISTORY   변경 이력·v1.7 대비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작성 명세 §팀 v1.7 판정 · review.md 머리 Main 정정</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02</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채택 6</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장 마감 보드의 회차 비교 → 퇴근 브리핑</a:t>
            </a:r>
          </a:p>
          <a:p>
            <a:pPr>
              <a:lnSpc>
                <a:spcPct val="112000"/>
              </a:lnSpc>
              <a:spcAft>
                <a:spcPts val="600"/>
              </a:spcAft>
              <a:defRPr sz="1800" b="0">
                <a:solidFill>
                  <a:srgbClr val="19201D"/>
                </a:solidFill>
                <a:latin typeface="SUIT"/>
              </a:defRPr>
            </a:pPr>
            <a:r>
              <a:rPr>
                <a:ea typeface="SUIT"/>
              </a:rPr>
              <a:t>2. 모바일 아침 이후 바뀐 내용 → 신규·이어짐·빠짐</a:t>
            </a:r>
          </a:p>
          <a:p>
            <a:pPr>
              <a:lnSpc>
                <a:spcPct val="112000"/>
              </a:lnSpc>
              <a:spcAft>
                <a:spcPts val="600"/>
              </a:spcAft>
              <a:defRPr sz="1800" b="0">
                <a:solidFill>
                  <a:srgbClr val="19201D"/>
                </a:solidFill>
                <a:latin typeface="SUIT"/>
              </a:defRPr>
            </a:pPr>
            <a:r>
              <a:rPr>
                <a:ea typeface="SUIT"/>
              </a:rPr>
              <a:t>3. 근거·원문 접근 상태 → 제공 불가와 실패 분리</a:t>
            </a:r>
          </a:p>
          <a:p>
            <a:pPr>
              <a:lnSpc>
                <a:spcPct val="112000"/>
              </a:lnSpc>
              <a:spcAft>
                <a:spcPts val="600"/>
              </a:spcAft>
              <a:defRPr sz="1800" b="0">
                <a:solidFill>
                  <a:srgbClr val="19201D"/>
                </a:solidFill>
                <a:latin typeface="SUIT"/>
              </a:defRPr>
            </a:pPr>
            <a:r>
              <a:rPr>
                <a:ea typeface="SUIT"/>
              </a:rPr>
              <a:t>4. 차트·사건 시점 겹침 → 인과관계 아님 고지</a:t>
            </a:r>
          </a:p>
          <a:p>
            <a:pPr>
              <a:lnSpc>
                <a:spcPct val="112000"/>
              </a:lnSpc>
              <a:spcAft>
                <a:spcPts val="600"/>
              </a:spcAft>
              <a:defRPr sz="1800" b="0">
                <a:solidFill>
                  <a:srgbClr val="19201D"/>
                </a:solidFill>
                <a:latin typeface="SUIT"/>
              </a:defRPr>
            </a:pPr>
            <a:r>
              <a:rPr>
                <a:ea typeface="SUIT"/>
              </a:rPr>
              <a:t>5. 모바일 AI 탭 → 기존 질문 창 열기</a:t>
            </a:r>
          </a:p>
          <a:p>
            <a:pPr>
              <a:lnSpc>
                <a:spcPct val="112000"/>
              </a:lnSpc>
              <a:spcAft>
                <a:spcPts val="600"/>
              </a:spcAft>
              <a:defRPr sz="1800" b="0">
                <a:solidFill>
                  <a:srgbClr val="19201D"/>
                </a:solidFill>
                <a:latin typeface="SUIT"/>
              </a:defRPr>
            </a:pPr>
            <a:r>
              <a:rPr>
                <a:ea typeface="SUIT"/>
              </a:rPr>
              <a:t>6. 비회원 권한표·관리자 감사 규칙의 형식</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불채택 6</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D-GRP-06 간선 모달 → FS022·D03과 충돌</a:t>
            </a:r>
          </a:p>
          <a:p>
            <a:pPr>
              <a:lnSpc>
                <a:spcPct val="112000"/>
              </a:lnSpc>
              <a:spcAft>
                <a:spcPts val="600"/>
              </a:spcAft>
              <a:defRPr sz="1800" b="0">
                <a:solidFill>
                  <a:srgbClr val="19201D"/>
                </a:solidFill>
                <a:latin typeface="SUIT"/>
              </a:defRPr>
            </a:pPr>
            <a:r>
              <a:rPr>
                <a:ea typeface="SUIT"/>
              </a:rPr>
              <a:t>2. 외부 원인 10종·공급/경쟁 직결선 → 데이터 없음</a:t>
            </a:r>
          </a:p>
          <a:p>
            <a:pPr>
              <a:lnSpc>
                <a:spcPct val="112000"/>
              </a:lnSpc>
              <a:spcAft>
                <a:spcPts val="600"/>
              </a:spcAft>
              <a:defRPr sz="1800" b="0">
                <a:solidFill>
                  <a:srgbClr val="19201D"/>
                </a:solidFill>
                <a:latin typeface="SUIT"/>
              </a:defRPr>
            </a:pPr>
            <a:r>
              <a:rPr>
                <a:ea typeface="SUIT"/>
              </a:rPr>
              <a:t>3. 긍정/부정 가능 배지 → 방향 값 생산자 없음</a:t>
            </a:r>
          </a:p>
          <a:p>
            <a:pPr>
              <a:lnSpc>
                <a:spcPct val="112000"/>
              </a:lnSpc>
              <a:spcAft>
                <a:spcPts val="600"/>
              </a:spcAft>
              <a:defRPr sz="1800" b="0">
                <a:solidFill>
                  <a:srgbClr val="19201D"/>
                </a:solidFill>
                <a:latin typeface="SUIT"/>
              </a:defRPr>
            </a:pPr>
            <a:r>
              <a:rPr>
                <a:ea typeface="SUIT"/>
              </a:rPr>
              <a:t>4. 모듈별 6색·카드 좌측 막대 → 색은 뜻에만</a:t>
            </a:r>
          </a:p>
          <a:p>
            <a:pPr>
              <a:lnSpc>
                <a:spcPct val="112000"/>
              </a:lnSpc>
              <a:spcAft>
                <a:spcPts val="600"/>
              </a:spcAft>
              <a:defRPr sz="1800" b="0">
                <a:solidFill>
                  <a:srgbClr val="19201D"/>
                </a:solidFill>
                <a:latin typeface="SUIT"/>
              </a:defRPr>
            </a:pPr>
            <a:r>
              <a:rPr>
                <a:ea typeface="SUIT"/>
              </a:rPr>
              <a:t>5. 관심 최대 3개 → 무제한·0개 허용</a:t>
            </a:r>
          </a:p>
          <a:p>
            <a:pPr>
              <a:lnSpc>
                <a:spcPct val="112000"/>
              </a:lnSpc>
              <a:spcAft>
                <a:spcPts val="600"/>
              </a:spcAft>
              <a:defRPr sz="1800" b="0">
                <a:solidFill>
                  <a:srgbClr val="19201D"/>
                </a:solidFill>
                <a:latin typeface="SUIT"/>
              </a:defRPr>
            </a:pPr>
            <a:r>
              <a:rPr>
                <a:ea typeface="SUIT"/>
              </a:rPr>
              <a:t>6. 08:00/18:00 → 07:40/18:10 생성 시작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GUIDE   읽는 법</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captures/*.json clickEvidence · spec-v1.2-gap.md §0.3</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03</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화면·번호</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D: 데스크톱 · M: 모바일 · A: 관리자</a:t>
            </a:r>
          </a:p>
          <a:p>
            <a:pPr>
              <a:lnSpc>
                <a:spcPct val="112000"/>
              </a:lnSpc>
              <a:spcAft>
                <a:spcPts val="600"/>
              </a:spcAft>
              <a:defRPr sz="1800" b="0">
                <a:solidFill>
                  <a:srgbClr val="19201D"/>
                </a:solidFill>
                <a:latin typeface="SUIT"/>
              </a:defRPr>
            </a:pPr>
            <a:r>
              <a:rPr>
                <a:ea typeface="SUIT"/>
              </a:rPr>
              <a:t>AUT 시작 / ONB 설정 / WAT 관심</a:t>
            </a:r>
          </a:p>
          <a:p>
            <a:pPr>
              <a:lnSpc>
                <a:spcPct val="112000"/>
              </a:lnSpc>
              <a:spcAft>
                <a:spcPts val="600"/>
              </a:spcAft>
              <a:defRPr sz="1800" b="0">
                <a:solidFill>
                  <a:srgbClr val="19201D"/>
                </a:solidFill>
                <a:latin typeface="SUIT"/>
              </a:defRPr>
            </a:pPr>
            <a:r>
              <a:rPr>
                <a:ea typeface="SUIT"/>
              </a:rPr>
              <a:t>GRP 지도 / COM 기업 / BRF 브리핑</a:t>
            </a:r>
          </a:p>
          <a:p>
            <a:pPr>
              <a:lnSpc>
                <a:spcPct val="112000"/>
              </a:lnSpc>
              <a:spcAft>
                <a:spcPts val="600"/>
              </a:spcAft>
              <a:defRPr sz="1800" b="0">
                <a:solidFill>
                  <a:srgbClr val="19201D"/>
                </a:solidFill>
                <a:latin typeface="SUIT"/>
              </a:defRPr>
            </a:pPr>
            <a:r>
              <a:rPr>
                <a:ea typeface="SUIT"/>
              </a:rPr>
              <a:t>AI 질문 / MY 내 종목 / ADM 운영</a:t>
            </a:r>
          </a:p>
          <a:p>
            <a:pPr>
              <a:lnSpc>
                <a:spcPct val="112000"/>
              </a:lnSpc>
              <a:spcAft>
                <a:spcPts val="600"/>
              </a:spcAft>
              <a:defRPr sz="1800" b="0">
                <a:solidFill>
                  <a:srgbClr val="19201D"/>
                </a:solidFill>
                <a:latin typeface="SUIT"/>
              </a:defRPr>
            </a:pPr>
            <a:r>
              <a:rPr>
                <a:ea typeface="SUIT"/>
              </a:rPr>
              <a:t>b/c: 추가 상태 · T2~T5: 튜토리얼 단계</a:t>
            </a:r>
          </a:p>
          <a:p>
            <a:pPr>
              <a:lnSpc>
                <a:spcPct val="112000"/>
              </a:lnSpc>
              <a:spcAft>
                <a:spcPts val="600"/>
              </a:spcAft>
              <a:defRPr sz="1800" b="0">
                <a:solidFill>
                  <a:srgbClr val="19201D"/>
                </a:solidFill>
                <a:latin typeface="SUIT"/>
              </a:defRPr>
            </a:pPr>
            <a:r>
              <a:rPr>
                <a:ea typeface="SUIT"/>
              </a:rPr>
              <a:t>상자: 실제 조작 요소 · 원: 32px 번호</a:t>
            </a:r>
          </a:p>
          <a:p>
            <a:pPr>
              <a:lnSpc>
                <a:spcPct val="112000"/>
              </a:lnSpc>
              <a:spcAft>
                <a:spcPts val="600"/>
              </a:spcAft>
              <a:defRPr sz="1800" b="0">
                <a:solidFill>
                  <a:srgbClr val="19201D"/>
                </a:solidFill>
                <a:latin typeface="SUIT"/>
              </a:defRPr>
            </a:pPr>
            <a:r>
              <a:rPr>
                <a:ea typeface="SUIT"/>
              </a:rPr>
              <a:t>번호 원은 상자 밖에 두고 겹치면 비켜요.</a:t>
            </a:r>
          </a:p>
          <a:p>
            <a:pPr>
              <a:lnSpc>
                <a:spcPct val="112000"/>
              </a:lnSpc>
              <a:spcAft>
                <a:spcPts val="600"/>
              </a:spcAft>
              <a:defRPr sz="1800" b="0">
                <a:solidFill>
                  <a:srgbClr val="19201D"/>
                </a:solidFill>
                <a:latin typeface="SUIT"/>
              </a:defRPr>
            </a:pPr>
            <a:r>
              <a:rPr>
                <a:ea typeface="SUIT"/>
              </a:rPr>
              <a:t>한 화면의 주요 조작은 3~6개예요.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상태·근거</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상태 칸: 그 화면에 구현된 상태</a:t>
            </a:r>
          </a:p>
          <a:p>
            <a:pPr>
              <a:lnSpc>
                <a:spcPct val="112000"/>
              </a:lnSpc>
              <a:spcAft>
                <a:spcPts val="600"/>
              </a:spcAft>
              <a:defRPr sz="1800" b="0">
                <a:solidFill>
                  <a:srgbClr val="19201D"/>
                </a:solidFill>
                <a:latin typeface="SUIT"/>
              </a:defRPr>
            </a:pPr>
            <a:r>
              <a:rPr>
                <a:ea typeface="SUIT"/>
              </a:rPr>
              <a:t>기존 상태 캡처는 docs/design/ 파일로 참조</a:t>
            </a:r>
          </a:p>
          <a:p>
            <a:pPr>
              <a:lnSpc>
                <a:spcPct val="112000"/>
              </a:lnSpc>
              <a:spcAft>
                <a:spcPts val="600"/>
              </a:spcAft>
              <a:defRPr sz="1800" b="0">
                <a:solidFill>
                  <a:srgbClr val="19201D"/>
                </a:solidFill>
                <a:latin typeface="SUIT"/>
              </a:defRPr>
            </a:pPr>
            <a:r>
              <a:rPr>
                <a:ea typeface="SUIT"/>
              </a:rPr>
              <a:t>코드 경로는 prototype/web/src/ 기준</a:t>
            </a:r>
          </a:p>
          <a:p>
            <a:pPr>
              <a:lnSpc>
                <a:spcPct val="112000"/>
              </a:lnSpc>
              <a:spcAft>
                <a:spcPts val="600"/>
              </a:spcAft>
              <a:defRPr sz="1800" b="0">
                <a:solidFill>
                  <a:srgbClr val="19201D"/>
                </a:solidFill>
                <a:latin typeface="SUIT"/>
              </a:defRPr>
            </a:pPr>
            <a:r>
              <a:rPr>
                <a:ea typeface="SUIT"/>
              </a:rPr>
              <a:t>번호 행동: 실제 클릭 결과 또는 확인한 이동 참조</a:t>
            </a:r>
          </a:p>
          <a:p>
            <a:pPr>
              <a:lnSpc>
                <a:spcPct val="112000"/>
              </a:lnSpc>
              <a:spcAft>
                <a:spcPts val="600"/>
              </a:spcAft>
              <a:defRPr sz="1800" b="0">
                <a:solidFill>
                  <a:srgbClr val="19201D"/>
                </a:solidFill>
                <a:latin typeface="SUIT"/>
              </a:defRPr>
            </a:pPr>
            <a:r>
              <a:rPr>
                <a:ea typeface="SUIT"/>
              </a:rPr>
              <a:t>모바일: 누르기 전 / 누른 뒤</a:t>
            </a:r>
          </a:p>
          <a:p>
            <a:pPr>
              <a:lnSpc>
                <a:spcPct val="112000"/>
              </a:lnSpc>
              <a:spcAft>
                <a:spcPts val="600"/>
              </a:spcAft>
              <a:defRPr sz="1800" b="0">
                <a:solidFill>
                  <a:srgbClr val="19201D"/>
                </a:solidFill>
                <a:latin typeface="SUIT"/>
              </a:defRPr>
            </a:pPr>
            <a:r>
              <a:rPr>
                <a:ea typeface="SUIT"/>
              </a:rPr>
              <a:t>빈 상태와 요청 실패·권한 제한을 구분해요.</a:t>
            </a:r>
          </a:p>
          <a:p>
            <a:pPr>
              <a:lnSpc>
                <a:spcPct val="112000"/>
              </a:lnSpc>
              <a:spcAft>
                <a:spcPts val="600"/>
              </a:spcAft>
              <a:defRPr sz="1800" b="0">
                <a:solidFill>
                  <a:srgbClr val="19201D"/>
                </a:solidFill>
                <a:latin typeface="SUIT"/>
              </a:defRPr>
            </a:pPr>
            <a:r>
              <a:rPr>
                <a:ea typeface="SUIT"/>
              </a:rPr>
              <a:t>실행에서 못 본 결과는 성공으로 쓰지 않아요.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MAP-01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04</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D-AUT-01</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/login</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UI-01</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FS001 · FS002 · FS005 · FS006</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D-AUT-02</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/signup</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UI-01</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FS003 · FS006</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D-AUT-03</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/mock-idp</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개발용</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FS004 · FS061</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D-ONB-01</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FS008</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D-ONB-02</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FS009 · FS010 · FS062</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D-WAT-01</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FS011-01 · FS011-02 · FS012 · FS013</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D-WAT-01b</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FS012</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D-GRP-01</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FS018 · FS019</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D-GRP-01b</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FS017 · FS019 · FS026</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MAP-02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05</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D-GRP-T2</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D-GRP-T3</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D-GRP-T4</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D-GRP-T5</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D-GRP-02</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UI-04</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FS021 · FS024</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UI-04</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FS020 · FS026 · FS027</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D-GRP-04</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UI-05</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FS023 · FS024</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/?mode=…&amp;impact=…</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UI-09</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FS024</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D-GRP-06</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/?mode=…&amp;impact=…</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UI-03+04</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FS022 · FS024</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D-GRP-07</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/?mode=…&amp;path=…</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FS020 · FS023</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MAP-03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06</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D-GRP-07b</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FS020</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D-COM-01</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FS039 · FS040 · FS044</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D-COM-01b</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/companies/:id?tab=events</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FS040 · FS041</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D-COM-02</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/companies/:id?tab=documents</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FS040 · FS041 · FS043</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D-MY-01</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/me/stocks</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신규</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FS027 · FS054 · FS062</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D-BRF-01</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/briefing?date=…&amp;edition=…</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UI-08</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FS028 · FS030 · FS031 · FS033 · FS035</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D-BRF-02</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/briefing?date=…&amp;edition=…</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UI-08</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FS029 · FS030 · FS031 · FS033 · FS035</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D-BRF-04</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/?round=…</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FS032 · FS035</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D-AI-01</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FS025 · FS045 · FS047 · FS048</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D-AI-01b</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FS047</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MAP-04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07</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D-AI-02</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FS046 · FS049 · FS051 · FS052-02 · FS053 · NFS003</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D-AI-02b</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FS053 · NFS003</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M-GRP-01</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UI-03+04</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FS018 · FS020</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M-BRF-01</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/briefing?date=…&amp;edition=…</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UI-08</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FS029 · FS031 · FS033</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M-AI-01</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 (AI 질문 창)</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FS045 · FS052-02</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M-COM-01</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FS043</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A-ADM-05c</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/admin/login</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FS073 · NFS001</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A-ADM-01</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FS072</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A-ADM-02</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/admin/stats</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FS065</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A-ADM-02b</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/admin/feedback</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FS066-02 · FS066-03</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MAP-05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08</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A-ADM-03</a:t>
            </a:r>
          </a:p>
        </p:txBody>
      </p:sp>
      <p:sp>
        <p:nvSpPr>
          <p:cNvPr id="12" name="TextBox 11"/>
          <p:cNvSpPr txBox="1"/>
          <p:nvPr/>
        </p:nvSpPr>
        <p:spPr>
          <a:xfrm>
            <a:off x="2697479" y="2075688"/>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/admin/pipeline</a:t>
            </a:r>
          </a:p>
        </p:txBody>
      </p:sp>
      <p:sp>
        <p:nvSpPr>
          <p:cNvPr id="13" name="TextBox 12"/>
          <p:cNvSpPr txBox="1"/>
          <p:nvPr/>
        </p:nvSpPr>
        <p:spPr>
          <a:xfrm>
            <a:off x="7452360" y="2075688"/>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14" name="TextBox 13"/>
          <p:cNvSpPr txBox="1"/>
          <p:nvPr/>
        </p:nvSpPr>
        <p:spPr>
          <a:xfrm>
            <a:off x="9829800" y="2075688"/>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FS067-01 · FS067-02 · FS067-03</a:t>
            </a:r>
          </a:p>
        </p:txBody>
      </p:sp>
      <p:cxnSp>
        <p:nvCxnSpPr>
          <p:cNvPr id="15" name="Connector 14"/>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79776"/>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A-ADM-04</a:t>
            </a:r>
          </a:p>
        </p:txBody>
      </p:sp>
      <p:sp>
        <p:nvSpPr>
          <p:cNvPr id="17" name="TextBox 16"/>
          <p:cNvSpPr txBox="1"/>
          <p:nvPr/>
        </p:nvSpPr>
        <p:spPr>
          <a:xfrm>
            <a:off x="2697479" y="2779776"/>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/admin/briefings</a:t>
            </a:r>
          </a:p>
        </p:txBody>
      </p:sp>
      <p:sp>
        <p:nvSpPr>
          <p:cNvPr id="18" name="TextBox 17"/>
          <p:cNvSpPr txBox="1"/>
          <p:nvPr/>
        </p:nvSpPr>
        <p:spPr>
          <a:xfrm>
            <a:off x="7452360" y="2779776"/>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19" name="TextBox 18"/>
          <p:cNvSpPr txBox="1"/>
          <p:nvPr/>
        </p:nvSpPr>
        <p:spPr>
          <a:xfrm>
            <a:off x="9829800" y="2779776"/>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FS070-01 · FS070-02 · FS071-01 · FS071-02</a:t>
            </a:r>
          </a:p>
        </p:txBody>
      </p:sp>
      <p:cxnSp>
        <p:nvCxnSpPr>
          <p:cNvPr id="20" name="Connector 19"/>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483864"/>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A-ADM-04b</a:t>
            </a:r>
          </a:p>
        </p:txBody>
      </p:sp>
      <p:sp>
        <p:nvSpPr>
          <p:cNvPr id="22" name="TextBox 21"/>
          <p:cNvSpPr txBox="1"/>
          <p:nvPr/>
        </p:nvSpPr>
        <p:spPr>
          <a:xfrm>
            <a:off x="2697479" y="3483864"/>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/admin/ai</a:t>
            </a:r>
          </a:p>
        </p:txBody>
      </p:sp>
      <p:sp>
        <p:nvSpPr>
          <p:cNvPr id="23" name="TextBox 22"/>
          <p:cNvSpPr txBox="1"/>
          <p:nvPr/>
        </p:nvSpPr>
        <p:spPr>
          <a:xfrm>
            <a:off x="7452360" y="3483864"/>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24" name="TextBox 23"/>
          <p:cNvSpPr txBox="1"/>
          <p:nvPr/>
        </p:nvSpPr>
        <p:spPr>
          <a:xfrm>
            <a:off x="9829800" y="3483864"/>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FS068</a:t>
            </a:r>
          </a:p>
        </p:txBody>
      </p:sp>
      <p:cxnSp>
        <p:nvCxnSpPr>
          <p:cNvPr id="25" name="Connector 24"/>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187952"/>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A-ADM-05</a:t>
            </a:r>
          </a:p>
        </p:txBody>
      </p:sp>
      <p:sp>
        <p:nvSpPr>
          <p:cNvPr id="27" name="TextBox 26"/>
          <p:cNvSpPr txBox="1"/>
          <p:nvPr/>
        </p:nvSpPr>
        <p:spPr>
          <a:xfrm>
            <a:off x="2697479" y="4187952"/>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/admin/members</a:t>
            </a:r>
          </a:p>
        </p:txBody>
      </p:sp>
      <p:sp>
        <p:nvSpPr>
          <p:cNvPr id="28" name="TextBox 27"/>
          <p:cNvSpPr txBox="1"/>
          <p:nvPr/>
        </p:nvSpPr>
        <p:spPr>
          <a:xfrm>
            <a:off x="7452360" y="4187952"/>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29" name="TextBox 28"/>
          <p:cNvSpPr txBox="1"/>
          <p:nvPr/>
        </p:nvSpPr>
        <p:spPr>
          <a:xfrm>
            <a:off x="9829800" y="4187952"/>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FS069-01 · FS069-02 · FS073</a:t>
            </a:r>
          </a:p>
        </p:txBody>
      </p:sp>
      <p:cxnSp>
        <p:nvCxnSpPr>
          <p:cNvPr id="30" name="Connector 29"/>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892040"/>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A-ADM-05b</a:t>
            </a:r>
          </a:p>
        </p:txBody>
      </p:sp>
      <p:sp>
        <p:nvSpPr>
          <p:cNvPr id="32" name="TextBox 31"/>
          <p:cNvSpPr txBox="1"/>
          <p:nvPr/>
        </p:nvSpPr>
        <p:spPr>
          <a:xfrm>
            <a:off x="2697479" y="4892040"/>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/admin/audit</a:t>
            </a:r>
          </a:p>
        </p:txBody>
      </p:sp>
      <p:sp>
        <p:nvSpPr>
          <p:cNvPr id="33" name="TextBox 32"/>
          <p:cNvSpPr txBox="1"/>
          <p:nvPr/>
        </p:nvSpPr>
        <p:spPr>
          <a:xfrm>
            <a:off x="7452360" y="4892040"/>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34" name="TextBox 33"/>
          <p:cNvSpPr txBox="1"/>
          <p:nvPr/>
        </p:nvSpPr>
        <p:spPr>
          <a:xfrm>
            <a:off x="9829800" y="4892040"/>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NFS008</a:t>
            </a:r>
          </a:p>
        </p:txBody>
      </p:sp>
      <p:cxnSp>
        <p:nvCxnSpPr>
          <p:cNvPr id="35" name="Connector 34"/>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FLOW   첫 진입 → 첫 근거 확인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현재 그래프 기본 보기 기준. 과거 문서의 2클릭 수치를 그대로 승계하지 않아요.</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design-direction.md §5.2·§6.1·§6.4</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09</a:t>
            </a:r>
          </a:p>
        </p:txBody>
      </p:sp>
      <p:sp>
        <p:nvSpPr>
          <p:cNvPr id="7" name="Rounded Rectangle 6"/>
          <p:cNvSpPr/>
          <p:nvPr/>
        </p:nvSpPr>
        <p:spPr>
          <a:xfrm>
            <a:off x="731520" y="1645920"/>
            <a:ext cx="256032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55648"/>
            <a:ext cx="2340863"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시작 /login</a:t>
            </a:r>
          </a:p>
        </p:txBody>
      </p:sp>
      <p:sp>
        <p:nvSpPr>
          <p:cNvPr id="9" name="Rounded Rectangle 8"/>
          <p:cNvSpPr/>
          <p:nvPr/>
        </p:nvSpPr>
        <p:spPr>
          <a:xfrm>
            <a:off x="4023360" y="164592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33088" y="175564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비회원 체험 → 시장 전체</a:t>
            </a:r>
          </a:p>
        </p:txBody>
      </p:sp>
      <p:sp>
        <p:nvSpPr>
          <p:cNvPr id="11" name="Rounded Rectangle 10"/>
          <p:cNvSpPr/>
          <p:nvPr/>
        </p:nvSpPr>
        <p:spPr>
          <a:xfrm>
            <a:off x="4023360" y="297180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33088" y="308152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회원 → 설정 완료 확인</a:t>
            </a:r>
          </a:p>
        </p:txBody>
      </p:sp>
      <p:sp>
        <p:nvSpPr>
          <p:cNvPr id="13" name="Rounded Rectangle 12"/>
          <p:cNvSpPr/>
          <p:nvPr/>
        </p:nvSpPr>
        <p:spPr>
          <a:xfrm>
            <a:off x="7863840" y="297180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73567" y="308152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미완료 → 투자·계좌·관심</a:t>
            </a:r>
          </a:p>
        </p:txBody>
      </p:sp>
      <p:sp>
        <p:nvSpPr>
          <p:cNvPr id="15" name="Rounded Rectangle 14"/>
          <p:cNvSpPr/>
          <p:nvPr/>
        </p:nvSpPr>
        <p:spPr>
          <a:xfrm>
            <a:off x="7863840" y="164592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3567" y="175564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기업 또는 사건 선택</a:t>
            </a:r>
          </a:p>
        </p:txBody>
      </p:sp>
      <p:sp>
        <p:nvSpPr>
          <p:cNvPr id="17" name="Rounded Rectangle 16"/>
          <p:cNvSpPr/>
          <p:nvPr/>
        </p:nvSpPr>
        <p:spPr>
          <a:xfrm>
            <a:off x="7863840" y="457200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73567" y="468172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실제 지도 튜토리얼 5단계</a:t>
            </a:r>
          </a:p>
        </p:txBody>
      </p:sp>
      <p:sp>
        <p:nvSpPr>
          <p:cNvPr id="19" name="Rounded Rectangle 18"/>
          <p:cNvSpPr/>
          <p:nvPr/>
        </p:nvSpPr>
        <p:spPr>
          <a:xfrm>
            <a:off x="11521440" y="1645920"/>
            <a:ext cx="228600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31167" y="1755648"/>
            <a:ext cx="2066543"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근거 창 확인</a:t>
            </a:r>
          </a:p>
        </p:txBody>
      </p:sp>
      <p:cxnSp>
        <p:nvCxnSpPr>
          <p:cNvPr id="21" name="Connector 20"/>
          <p:cNvCxnSpPr/>
          <p:nvPr/>
        </p:nvCxnSpPr>
        <p:spPr>
          <a:xfrm>
            <a:off x="3291840" y="2011680"/>
            <a:ext cx="73152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011680" y="2423160"/>
            <a:ext cx="2011680" cy="96012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32320" y="2011680"/>
            <a:ext cx="73152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132320" y="3383280"/>
            <a:ext cx="73152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418320" y="3749039"/>
            <a:ext cx="0" cy="822961"/>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972800" y="2011680"/>
            <a:ext cx="54864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858000" y="2286000"/>
            <a:ext cx="1005840" cy="68580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03720" y="2587752"/>
            <a:ext cx="914400" cy="256032"/>
          </a:xfrm>
          <a:prstGeom prst="rect">
            <a:avLst/>
          </a:prstGeom>
          <a:noFill/>
        </p:spPr>
        <p:txBody>
          <a:bodyPr wrap="square" lIns="27432" rIns="27432" tIns="27432" bIns="0">
            <a:spAutoFit/>
          </a:bodyPr>
          <a:lstStyle/>
          <a:p>
            <a:pPr>
              <a:lnSpc>
                <a:spcPct val="112000"/>
              </a:lnSpc>
              <a:spcAft>
                <a:spcPts val="600"/>
              </a:spcAft>
              <a:defRPr sz="1100" b="0">
                <a:solidFill>
                  <a:srgbClr val="0A5C48"/>
                </a:solidFill>
                <a:latin typeface="SUIT"/>
              </a:defRPr>
            </a:pPr>
            <a:r>
              <a:rPr>
                <a:ea typeface="SUIT"/>
              </a:rPr>
              <a:t>완료</a:t>
            </a:r>
          </a:p>
        </p:txBody>
      </p:sp>
      <p:cxnSp>
        <p:nvCxnSpPr>
          <p:cNvPr id="29" name="Connector 28"/>
          <p:cNvCxnSpPr/>
          <p:nvPr/>
        </p:nvCxnSpPr>
        <p:spPr>
          <a:xfrm>
            <a:off x="10972800" y="4937760"/>
            <a:ext cx="22860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1201400" y="2423160"/>
            <a:ext cx="0" cy="251460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0835640" y="2423160"/>
            <a:ext cx="36576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6172200"/>
            <a:ext cx="12984480" cy="960120"/>
          </a:xfrm>
          <a:prstGeom prst="rect">
            <a:avLst/>
          </a:prstGeom>
          <a:noFill/>
        </p:spPr>
        <p:txBody>
          <a:bodyPr wrap="square" lIns="27432" rIns="27432" tIns="27432" bIns="0">
            <a:spAutoFit/>
          </a:bodyPr>
          <a:lstStyle/>
          <a:p>
            <a:pPr>
              <a:lnSpc>
                <a:spcPct val="112000"/>
              </a:lnSpc>
              <a:spcAft>
                <a:spcPts val="600"/>
              </a:spcAft>
              <a:defRPr sz="1900" b="0">
                <a:solidFill>
                  <a:srgbClr val="19201D"/>
                </a:solidFill>
                <a:latin typeface="SUIT"/>
              </a:defRPr>
            </a:pPr>
            <a:r>
              <a:rPr>
                <a:ea typeface="SUIT"/>
              </a:rPr>
              <a:t>기업 패널의 직접 이슈 → 영향 경로 → 근거 · 사건 패널 → 근거</a:t>
            </a:r>
          </a:p>
          <a:p>
            <a:pPr>
              <a:lnSpc>
                <a:spcPct val="112000"/>
              </a:lnSpc>
              <a:spcAft>
                <a:spcPts val="600"/>
              </a:spcAft>
              <a:defRPr sz="1900" b="0">
                <a:solidFill>
                  <a:srgbClr val="19201D"/>
                </a:solidFill>
                <a:latin typeface="SUIT"/>
              </a:defRPr>
            </a:pPr>
            <a:r>
              <a:rPr>
                <a:ea typeface="SUIT"/>
              </a:rPr>
              <a:t>근거 창 닫기 → 원래 선택 유지 · 기업 상세의 그래프로 복귀 → 지도 상태 복원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SEMANTICS   색과 아이콘의 뜻</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tokens.json v3.0.0 · design-direction.md §4.6</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10</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색은 의미를 구분해요</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브랜드: 주 행동·선택·포커스</a:t>
            </a:r>
          </a:p>
          <a:p>
            <a:pPr>
              <a:lnSpc>
                <a:spcPct val="112000"/>
              </a:lnSpc>
              <a:spcAft>
                <a:spcPts val="600"/>
              </a:spcAft>
              <a:defRPr sz="1800" b="0">
                <a:solidFill>
                  <a:srgbClr val="19201D"/>
                </a:solidFill>
                <a:latin typeface="SUIT"/>
              </a:defRPr>
            </a:pPr>
            <a:r>
              <a:rPr>
                <a:ea typeface="SUIT"/>
              </a:rPr>
              <a:t>중성 회색: 내용·구분선·보조 정보</a:t>
            </a:r>
          </a:p>
          <a:p>
            <a:pPr>
              <a:lnSpc>
                <a:spcPct val="112000"/>
              </a:lnSpc>
              <a:spcAft>
                <a:spcPts val="600"/>
              </a:spcAft>
              <a:defRPr sz="1800" b="0">
                <a:solidFill>
                  <a:srgbClr val="19201D"/>
                </a:solidFill>
                <a:latin typeface="SUIT"/>
              </a:defRPr>
            </a:pPr>
            <a:r>
              <a:rPr>
                <a:ea typeface="SUIT"/>
              </a:rPr>
              <a:t>상승/하락: 부호·▲/▼·수치와 함께</a:t>
            </a:r>
          </a:p>
          <a:p>
            <a:pPr>
              <a:lnSpc>
                <a:spcPct val="112000"/>
              </a:lnSpc>
              <a:spcAft>
                <a:spcPts val="600"/>
              </a:spcAft>
              <a:defRPr sz="1800" b="0">
                <a:solidFill>
                  <a:srgbClr val="19201D"/>
                </a:solidFill>
                <a:latin typeface="SUIT"/>
              </a:defRPr>
            </a:pPr>
            <a:r>
              <a:rPr>
                <a:ea typeface="SUIT"/>
              </a:rPr>
              <a:t>경고/오류: 문구·아이콘과 함께</a:t>
            </a:r>
          </a:p>
          <a:p>
            <a:pPr>
              <a:lnSpc>
                <a:spcPct val="112000"/>
              </a:lnSpc>
              <a:spcAft>
                <a:spcPts val="600"/>
              </a:spcAft>
              <a:defRPr sz="1800" b="0">
                <a:solidFill>
                  <a:srgbClr val="19201D"/>
                </a:solidFill>
                <a:latin typeface="SUIT"/>
              </a:defRPr>
            </a:pPr>
            <a:r>
              <a:rPr>
                <a:ea typeface="SUIT"/>
              </a:rPr>
              <a:t>모듈은 색이 아니라 ID·아이콘으로 구분해요.</a:t>
            </a:r>
          </a:p>
          <a:p>
            <a:pPr>
              <a:lnSpc>
                <a:spcPct val="112000"/>
              </a:lnSpc>
              <a:spcAft>
                <a:spcPts val="600"/>
              </a:spcAft>
              <a:defRPr sz="1800" b="0">
                <a:solidFill>
                  <a:srgbClr val="19201D"/>
                </a:solidFill>
                <a:latin typeface="SUIT"/>
              </a:defRPr>
            </a:pPr>
            <a:r>
              <a:rPr>
                <a:ea typeface="SUIT"/>
              </a:rPr>
              <a:t>캡처 안 기업 상징색은 기업 구별용이에요.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같은 뜻에 같은 아이콘</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Map 지도 · Globe 시장 전체</a:t>
            </a:r>
          </a:p>
          <a:p>
            <a:pPr>
              <a:lnSpc>
                <a:spcPct val="112000"/>
              </a:lnSpc>
              <a:spcAft>
                <a:spcPts val="600"/>
              </a:spcAft>
              <a:defRPr sz="1800" b="0">
                <a:solidFill>
                  <a:srgbClr val="19201D"/>
                </a:solidFill>
                <a:latin typeface="SUIT"/>
              </a:defRPr>
            </a:pPr>
            <a:r>
              <a:rPr>
                <a:ea typeface="SUIT"/>
              </a:rPr>
              <a:t>Bookmark 내 종목 · Star 관심 · Wallet 보유</a:t>
            </a:r>
          </a:p>
          <a:p>
            <a:pPr>
              <a:lnSpc>
                <a:spcPct val="112000"/>
              </a:lnSpc>
              <a:spcAft>
                <a:spcPts val="600"/>
              </a:spcAft>
              <a:defRPr sz="1800" b="0">
                <a:solidFill>
                  <a:srgbClr val="19201D"/>
                </a:solidFill>
                <a:latin typeface="SUIT"/>
              </a:defRPr>
            </a:pPr>
            <a:r>
              <a:rPr>
                <a:ea typeface="SUIT"/>
              </a:rPr>
              <a:t>Building2 기업 · Zap 사건</a:t>
            </a:r>
          </a:p>
          <a:p>
            <a:pPr>
              <a:lnSpc>
                <a:spcPct val="112000"/>
              </a:lnSpc>
              <a:spcAft>
                <a:spcPts val="600"/>
              </a:spcAft>
              <a:defRPr sz="1800" b="0">
                <a:solidFill>
                  <a:srgbClr val="19201D"/>
                </a:solidFill>
                <a:latin typeface="SUIT"/>
              </a:defRPr>
            </a:pPr>
            <a:r>
              <a:rPr>
                <a:ea typeface="SUIT"/>
              </a:rPr>
              <a:t>GitFork 간접 이슈 · Link2 연결</a:t>
            </a:r>
          </a:p>
          <a:p>
            <a:pPr>
              <a:lnSpc>
                <a:spcPct val="112000"/>
              </a:lnSpc>
              <a:spcAft>
                <a:spcPts val="600"/>
              </a:spcAft>
              <a:defRPr sz="1800" b="0">
                <a:solidFill>
                  <a:srgbClr val="19201D"/>
                </a:solidFill>
                <a:latin typeface="SUIT"/>
              </a:defRPr>
            </a:pPr>
            <a:r>
              <a:rPr>
                <a:ea typeface="SUIT"/>
              </a:rPr>
              <a:t>FileText 근거 · Sparkles AI · Info 설명</a:t>
            </a:r>
          </a:p>
          <a:p>
            <a:pPr>
              <a:lnSpc>
                <a:spcPct val="112000"/>
              </a:lnSpc>
              <a:spcAft>
                <a:spcPts val="600"/>
              </a:spcAft>
              <a:defRPr sz="1800" b="0">
                <a:solidFill>
                  <a:srgbClr val="19201D"/>
                </a:solidFill>
                <a:latin typeface="SUIT"/>
              </a:defRPr>
            </a:pPr>
            <a:r>
              <a:rPr>
                <a:ea typeface="SUIT"/>
              </a:rPr>
              <a:t>색만으로 상태나 관계를 전달하지 않아요.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STATE-01   공통 상태 규칙</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spec-v1.2-gap.md §0.2·§0.3 · design-direction.md §5.5</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11</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조회·자료</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로딩: 조회 중 표시, 다른 영역은 유지</a:t>
            </a:r>
          </a:p>
          <a:p>
            <a:pPr>
              <a:lnSpc>
                <a:spcPct val="112000"/>
              </a:lnSpc>
              <a:spcAft>
                <a:spcPts val="600"/>
              </a:spcAft>
              <a:defRPr sz="1800" b="0">
                <a:solidFill>
                  <a:srgbClr val="19201D"/>
                </a:solidFill>
                <a:latin typeface="SUIT"/>
              </a:defRPr>
            </a:pPr>
            <a:r>
              <a:rPr>
                <a:ea typeface="SUIT"/>
              </a:rPr>
              <a:t>빈: 자료 없음 + 가능한 다음 행동</a:t>
            </a:r>
          </a:p>
          <a:p>
            <a:pPr>
              <a:lnSpc>
                <a:spcPct val="112000"/>
              </a:lnSpc>
              <a:spcAft>
                <a:spcPts val="600"/>
              </a:spcAft>
              <a:defRPr sz="1800" b="0">
                <a:solidFill>
                  <a:srgbClr val="19201D"/>
                </a:solidFill>
                <a:latin typeface="SUIT"/>
              </a:defRPr>
            </a:pPr>
            <a:r>
              <a:rPr>
                <a:ea typeface="SUIT"/>
              </a:rPr>
              <a:t>부분 실패: 받은 자료 유지, 실패만 재조회</a:t>
            </a:r>
          </a:p>
          <a:p>
            <a:pPr>
              <a:lnSpc>
                <a:spcPct val="112000"/>
              </a:lnSpc>
              <a:spcAft>
                <a:spcPts val="600"/>
              </a:spcAft>
              <a:defRPr sz="1800" b="0">
                <a:solidFill>
                  <a:srgbClr val="19201D"/>
                </a:solidFill>
                <a:latin typeface="SUIT"/>
              </a:defRPr>
            </a:pPr>
            <a:r>
              <a:rPr>
                <a:ea typeface="SUIT"/>
              </a:rPr>
              <a:t>오류: 사유와 해당 조회의 다시 시도</a:t>
            </a:r>
          </a:p>
          <a:p>
            <a:pPr>
              <a:lnSpc>
                <a:spcPct val="112000"/>
              </a:lnSpc>
              <a:spcAft>
                <a:spcPts val="600"/>
              </a:spcAft>
              <a:defRPr sz="1800" b="0">
                <a:solidFill>
                  <a:srgbClr val="19201D"/>
                </a:solidFill>
                <a:latin typeface="SUIT"/>
              </a:defRPr>
            </a:pPr>
            <a:r>
              <a:rPr>
                <a:ea typeface="SUIT"/>
              </a:rPr>
              <a:t>자료 삭제·비공개·권한 없음: 제공 불가</a:t>
            </a:r>
          </a:p>
          <a:p>
            <a:pPr>
              <a:lnSpc>
                <a:spcPct val="112000"/>
              </a:lnSpc>
              <a:spcAft>
                <a:spcPts val="600"/>
              </a:spcAft>
              <a:defRPr sz="1800" b="0">
                <a:solidFill>
                  <a:srgbClr val="19201D"/>
                </a:solidFill>
                <a:latin typeface="SUIT"/>
              </a:defRPr>
            </a:pPr>
            <a:r>
              <a:rPr>
                <a:ea typeface="SUIT"/>
              </a:rPr>
              <a:t>404·403 근거를 일시 장애로 재시도하지 않아요.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권한·작업</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비회원: 시장 전체·근거 확인 가능</a:t>
            </a:r>
          </a:p>
          <a:p>
            <a:pPr>
              <a:lnSpc>
                <a:spcPct val="112000"/>
              </a:lnSpc>
              <a:spcAft>
                <a:spcPts val="600"/>
              </a:spcAft>
              <a:defRPr sz="1800" b="0">
                <a:solidFill>
                  <a:srgbClr val="19201D"/>
                </a:solidFill>
                <a:latin typeface="SUIT"/>
              </a:defRPr>
            </a:pPr>
            <a:r>
              <a:rPr>
                <a:ea typeface="SUIT"/>
              </a:rPr>
              <a:t>내 종목·AI 전송: 로그인 안내</a:t>
            </a:r>
          </a:p>
          <a:p>
            <a:pPr>
              <a:lnSpc>
                <a:spcPct val="112000"/>
              </a:lnSpc>
              <a:spcAft>
                <a:spcPts val="600"/>
              </a:spcAft>
              <a:defRPr sz="1800" b="0">
                <a:solidFill>
                  <a:srgbClr val="19201D"/>
                </a:solidFill>
                <a:latin typeface="SUIT"/>
              </a:defRPr>
            </a:pPr>
            <a:r>
              <a:rPr>
                <a:ea typeface="SUIT"/>
              </a:rPr>
              <a:t>AI: 결과 회수와 새 작업 실행은 별개</a:t>
            </a:r>
          </a:p>
          <a:p>
            <a:pPr>
              <a:lnSpc>
                <a:spcPct val="112000"/>
              </a:lnSpc>
              <a:spcAft>
                <a:spcPts val="600"/>
              </a:spcAft>
              <a:defRPr sz="1800" b="0">
                <a:solidFill>
                  <a:srgbClr val="19201D"/>
                </a:solidFill>
                <a:latin typeface="SUIT"/>
              </a:defRPr>
            </a:pPr>
            <a:r>
              <a:rPr>
                <a:ea typeface="SUIT"/>
              </a:rPr>
              <a:t>발행 브리핑: 지표 한 개 실패도 본문은 유지</a:t>
            </a:r>
          </a:p>
          <a:p>
            <a:pPr>
              <a:lnSpc>
                <a:spcPct val="112000"/>
              </a:lnSpc>
              <a:spcAft>
                <a:spcPts val="600"/>
              </a:spcAft>
              <a:defRPr sz="1800" b="0">
                <a:solidFill>
                  <a:srgbClr val="19201D"/>
                </a:solidFill>
                <a:latin typeface="SUIT"/>
              </a:defRPr>
            </a:pPr>
            <a:r>
              <a:rPr>
                <a:ea typeface="SUIT"/>
              </a:rPr>
              <a:t>지표 미제공과 실패를 글자로 구분해요.</a:t>
            </a:r>
          </a:p>
          <a:p>
            <a:pPr>
              <a:lnSpc>
                <a:spcPct val="112000"/>
              </a:lnSpc>
              <a:spcAft>
                <a:spcPts val="600"/>
              </a:spcAft>
              <a:defRPr sz="1800" b="0">
                <a:solidFill>
                  <a:srgbClr val="19201D"/>
                </a:solidFill>
                <a:latin typeface="SUIT"/>
              </a:defRPr>
            </a:pPr>
            <a:r>
              <a:rPr>
                <a:ea typeface="SUIT"/>
              </a:rPr>
              <a:t>이 슬라이드는 소스 규칙이며 전 상태 캡처는 아니에요.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M-RULE-01   모바일 전환 규칙</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design-direction.md §3.2·§4.4·§4.8 · M-* 캡처</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12</a:t>
            </a:r>
          </a:p>
        </p:txBody>
      </p:sp>
      <p:sp>
        <p:nvSpPr>
          <p:cNvPr id="7" name="TextBox 6"/>
          <p:cNvSpPr txBox="1"/>
          <p:nvPr/>
        </p:nvSpPr>
        <p:spPr>
          <a:xfrm>
            <a:off x="594360" y="1508760"/>
            <a:ext cx="3749039"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PC 요소</a:t>
            </a:r>
          </a:p>
        </p:txBody>
      </p:sp>
      <p:sp>
        <p:nvSpPr>
          <p:cNvPr id="8" name="TextBox 7"/>
          <p:cNvSpPr txBox="1"/>
          <p:nvPr/>
        </p:nvSpPr>
        <p:spPr>
          <a:xfrm>
            <a:off x="4343400" y="1508760"/>
            <a:ext cx="39319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모바일 표면</a:t>
            </a:r>
          </a:p>
        </p:txBody>
      </p:sp>
      <p:sp>
        <p:nvSpPr>
          <p:cNvPr id="9" name="TextBox 8"/>
          <p:cNvSpPr txBox="1"/>
          <p:nvPr/>
        </p:nvSpPr>
        <p:spPr>
          <a:xfrm>
            <a:off x="8275320" y="1508760"/>
            <a:ext cx="57150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동작</a:t>
            </a:r>
          </a:p>
        </p:txBody>
      </p:sp>
      <p:sp>
        <p:nvSpPr>
          <p:cNvPr id="10" name="TextBox 9"/>
          <p:cNvSpPr txBox="1"/>
          <p:nvPr/>
        </p:nvSpPr>
        <p:spPr>
          <a:xfrm>
            <a:off x="594360" y="2075688"/>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헤더 메뉴</a:t>
            </a:r>
          </a:p>
        </p:txBody>
      </p:sp>
      <p:sp>
        <p:nvSpPr>
          <p:cNvPr id="11" name="TextBox 10"/>
          <p:cNvSpPr txBox="1"/>
          <p:nvPr/>
        </p:nvSpPr>
        <p:spPr>
          <a:xfrm>
            <a:off x="4343400" y="2075688"/>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하단 4탭</a:t>
            </a:r>
          </a:p>
        </p:txBody>
      </p:sp>
      <p:sp>
        <p:nvSpPr>
          <p:cNvPr id="12" name="TextBox 11"/>
          <p:cNvSpPr txBox="1"/>
          <p:nvPr/>
        </p:nvSpPr>
        <p:spPr>
          <a:xfrm>
            <a:off x="8275320" y="2075688"/>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지도 · 브리핑 · AI · 내 종목</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기업·사건 오른쪽 패널</a:t>
            </a:r>
          </a:p>
        </p:txBody>
      </p:sp>
      <p:sp>
        <p:nvSpPr>
          <p:cNvPr id="15" name="TextBox 14"/>
          <p:cNvSpPr txBox="1"/>
          <p:nvPr/>
        </p:nvSpPr>
        <p:spPr>
          <a:xfrm>
            <a:off x="4343400" y="2779776"/>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바텀시트</a:t>
            </a:r>
          </a:p>
        </p:txBody>
      </p:sp>
      <p:sp>
        <p:nvSpPr>
          <p:cNvPr id="16" name="TextBox 15"/>
          <p:cNvSpPr txBox="1"/>
          <p:nvPr/>
        </p:nvSpPr>
        <p:spPr>
          <a:xfrm>
            <a:off x="8275320" y="2779776"/>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절반/확장, 닫기 제공</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모드 옆 범위 필터</a:t>
            </a:r>
          </a:p>
        </p:txBody>
      </p:sp>
      <p:sp>
        <p:nvSpPr>
          <p:cNvPr id="19" name="TextBox 18"/>
          <p:cNvSpPr txBox="1"/>
          <p:nvPr/>
        </p:nvSpPr>
        <p:spPr>
          <a:xfrm>
            <a:off x="4343400" y="3483864"/>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모드 아래 전체 폭</a:t>
            </a:r>
          </a:p>
        </p:txBody>
      </p:sp>
      <p:sp>
        <p:nvSpPr>
          <p:cNvPr id="20" name="TextBox 19"/>
          <p:cNvSpPr txBox="1"/>
          <p:nvPr/>
        </p:nvSpPr>
        <p:spPr>
          <a:xfrm>
            <a:off x="8275320" y="3483864"/>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전체 · 보유 · 관심</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지도 도구 가로 줄</a:t>
            </a:r>
          </a:p>
        </p:txBody>
      </p:sp>
      <p:sp>
        <p:nvSpPr>
          <p:cNvPr id="23" name="TextBox 22"/>
          <p:cNvSpPr txBox="1"/>
          <p:nvPr/>
        </p:nvSpPr>
        <p:spPr>
          <a:xfrm>
            <a:off x="4343400" y="4187952"/>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오른쪽 아래 세로 버튼</a:t>
            </a:r>
          </a:p>
        </p:txBody>
      </p:sp>
      <p:sp>
        <p:nvSpPr>
          <p:cNvPr id="24" name="TextBox 23"/>
          <p:cNvSpPr txBox="1"/>
          <p:nvPr/>
        </p:nvSpPr>
        <p:spPr>
          <a:xfrm>
            <a:off x="8275320" y="4187952"/>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탭바 위 44px 조작 영역</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시장 지표 3열</a:t>
            </a:r>
          </a:p>
        </p:txBody>
      </p:sp>
      <p:sp>
        <p:nvSpPr>
          <p:cNvPr id="27" name="TextBox 26"/>
          <p:cNvSpPr txBox="1"/>
          <p:nvPr/>
        </p:nvSpPr>
        <p:spPr>
          <a:xfrm>
            <a:off x="4343400" y="4892040"/>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시장 지표 3행</a:t>
            </a:r>
          </a:p>
        </p:txBody>
      </p:sp>
      <p:sp>
        <p:nvSpPr>
          <p:cNvPr id="28" name="TextBox 27"/>
          <p:cNvSpPr txBox="1"/>
          <p:nvPr/>
        </p:nvSpPr>
        <p:spPr>
          <a:xfrm>
            <a:off x="8275320" y="4892040"/>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관측 시각·출처·상태 유지</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상세 가운데 한 열</a:t>
            </a:r>
          </a:p>
        </p:txBody>
      </p:sp>
      <p:sp>
        <p:nvSpPr>
          <p:cNvPr id="31" name="TextBox 30"/>
          <p:cNvSpPr txBox="1"/>
          <p:nvPr/>
        </p:nvSpPr>
        <p:spPr>
          <a:xfrm>
            <a:off x="4343400" y="5596127"/>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같은 순서 세로</a:t>
            </a:r>
          </a:p>
        </p:txBody>
      </p:sp>
      <p:sp>
        <p:nvSpPr>
          <p:cNvPr id="32" name="TextBox 31"/>
          <p:cNvSpPr txBox="1"/>
          <p:nvPr/>
        </p:nvSpPr>
        <p:spPr>
          <a:xfrm>
            <a:off x="8275320" y="5596127"/>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사건/문서 탭 + 내부 스크롤</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300215"/>
            <a:ext cx="36118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AI에게 묻기</a:t>
            </a:r>
          </a:p>
        </p:txBody>
      </p:sp>
      <p:sp>
        <p:nvSpPr>
          <p:cNvPr id="35" name="TextBox 34"/>
          <p:cNvSpPr txBox="1"/>
          <p:nvPr/>
        </p:nvSpPr>
        <p:spPr>
          <a:xfrm>
            <a:off x="4343400" y="6300215"/>
            <a:ext cx="37947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AI 하단 탭</a:t>
            </a:r>
          </a:p>
        </p:txBody>
      </p:sp>
      <p:sp>
        <p:nvSpPr>
          <p:cNvPr id="36" name="TextBox 35"/>
          <p:cNvSpPr txBox="1"/>
          <p:nvPr/>
        </p:nvSpPr>
        <p:spPr>
          <a:xfrm>
            <a:off x="8275320" y="6300215"/>
            <a:ext cx="5577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화면 이동 없이 질문 창 열기</a:t>
            </a:r>
          </a:p>
        </p:txBody>
      </p:sp>
      <p:cxnSp>
        <p:nvCxnSpPr>
          <p:cNvPr id="37" name="Connector 36"/>
          <p:cNvCxnSpPr/>
          <p:nvPr/>
        </p:nvCxnSpPr>
        <p:spPr>
          <a:xfrm>
            <a:off x="594360" y="698601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AUTHORITY   비회원·회원·관리자 권한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접근 가드·spec-v1.2-gap.md FS045·FS066-01. 실제 권한 smoke는 captures/auth-proof.json</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13</a:t>
            </a:r>
          </a:p>
        </p:txBody>
      </p:sp>
      <p:sp>
        <p:nvSpPr>
          <p:cNvPr id="7" name="TextBox 6"/>
          <p:cNvSpPr txBox="1"/>
          <p:nvPr/>
        </p:nvSpPr>
        <p:spPr>
          <a:xfrm>
            <a:off x="594360" y="1508760"/>
            <a:ext cx="4663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행동</a:t>
            </a:r>
          </a:p>
        </p:txBody>
      </p:sp>
      <p:sp>
        <p:nvSpPr>
          <p:cNvPr id="8" name="TextBox 7"/>
          <p:cNvSpPr txBox="1"/>
          <p:nvPr/>
        </p:nvSpPr>
        <p:spPr>
          <a:xfrm>
            <a:off x="5257800" y="1508760"/>
            <a:ext cx="27889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비회원</a:t>
            </a:r>
          </a:p>
        </p:txBody>
      </p:sp>
      <p:sp>
        <p:nvSpPr>
          <p:cNvPr id="9" name="TextBox 8"/>
          <p:cNvSpPr txBox="1"/>
          <p:nvPr/>
        </p:nvSpPr>
        <p:spPr>
          <a:xfrm>
            <a:off x="8046720" y="1508760"/>
            <a:ext cx="27889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회원</a:t>
            </a:r>
          </a:p>
        </p:txBody>
      </p:sp>
      <p:sp>
        <p:nvSpPr>
          <p:cNvPr id="10" name="TextBox 9"/>
          <p:cNvSpPr txBox="1"/>
          <p:nvPr/>
        </p:nvSpPr>
        <p:spPr>
          <a:xfrm>
            <a:off x="10835640" y="1508760"/>
            <a:ext cx="31546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관리자 세션</a:t>
            </a:r>
          </a:p>
        </p:txBody>
      </p:sp>
      <p:sp>
        <p:nvSpPr>
          <p:cNvPr id="11" name="TextBox 10"/>
          <p:cNvSpPr txBox="1"/>
          <p:nvPr/>
        </p:nvSpPr>
        <p:spPr>
          <a:xfrm>
            <a:off x="594360" y="2075688"/>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시장 전체·기업·근거 조회</a:t>
            </a:r>
          </a:p>
        </p:txBody>
      </p:sp>
      <p:sp>
        <p:nvSpPr>
          <p:cNvPr id="12" name="TextBox 11"/>
          <p:cNvSpPr txBox="1"/>
          <p:nvPr/>
        </p:nvSpPr>
        <p:spPr>
          <a:xfrm>
            <a:off x="5257800" y="2075688"/>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13" name="TextBox 12"/>
          <p:cNvSpPr txBox="1"/>
          <p:nvPr/>
        </p:nvSpPr>
        <p:spPr>
          <a:xfrm>
            <a:off x="8046720" y="2075688"/>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14" name="TextBox 13"/>
          <p:cNvSpPr txBox="1"/>
          <p:nvPr/>
        </p:nvSpPr>
        <p:spPr>
          <a:xfrm>
            <a:off x="10835640" y="2075688"/>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15" name="Connector 14"/>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79776"/>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내 종목 지도·관심 저장</a:t>
            </a:r>
          </a:p>
        </p:txBody>
      </p:sp>
      <p:sp>
        <p:nvSpPr>
          <p:cNvPr id="17" name="TextBox 16"/>
          <p:cNvSpPr txBox="1"/>
          <p:nvPr/>
        </p:nvSpPr>
        <p:spPr>
          <a:xfrm>
            <a:off x="5257800" y="2779776"/>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로그인 안내</a:t>
            </a:r>
          </a:p>
        </p:txBody>
      </p:sp>
      <p:sp>
        <p:nvSpPr>
          <p:cNvPr id="18" name="TextBox 17"/>
          <p:cNvSpPr txBox="1"/>
          <p:nvPr/>
        </p:nvSpPr>
        <p:spPr>
          <a:xfrm>
            <a:off x="8046720" y="2779776"/>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19" name="TextBox 18"/>
          <p:cNvSpPr txBox="1"/>
          <p:nvPr/>
        </p:nvSpPr>
        <p:spPr>
          <a:xfrm>
            <a:off x="10835640" y="2779776"/>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20" name="Connector 19"/>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483864"/>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모의 계좌 연결</a:t>
            </a:r>
          </a:p>
        </p:txBody>
      </p:sp>
      <p:sp>
        <p:nvSpPr>
          <p:cNvPr id="22" name="TextBox 21"/>
          <p:cNvSpPr txBox="1"/>
          <p:nvPr/>
        </p:nvSpPr>
        <p:spPr>
          <a:xfrm>
            <a:off x="5257800" y="3483864"/>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로그인 안내</a:t>
            </a:r>
          </a:p>
        </p:txBody>
      </p:sp>
      <p:sp>
        <p:nvSpPr>
          <p:cNvPr id="23" name="TextBox 22"/>
          <p:cNvSpPr txBox="1"/>
          <p:nvPr/>
        </p:nvSpPr>
        <p:spPr>
          <a:xfrm>
            <a:off x="8046720" y="3483864"/>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24" name="TextBox 23"/>
          <p:cNvSpPr txBox="1"/>
          <p:nvPr/>
        </p:nvSpPr>
        <p:spPr>
          <a:xfrm>
            <a:off x="10835640" y="3483864"/>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25" name="Connector 24"/>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187952"/>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발행된 공통 브리핑 조회</a:t>
            </a:r>
          </a:p>
        </p:txBody>
      </p:sp>
      <p:sp>
        <p:nvSpPr>
          <p:cNvPr id="27" name="TextBox 26"/>
          <p:cNvSpPr txBox="1"/>
          <p:nvPr/>
        </p:nvSpPr>
        <p:spPr>
          <a:xfrm>
            <a:off x="5257800" y="4187952"/>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28" name="TextBox 27"/>
          <p:cNvSpPr txBox="1"/>
          <p:nvPr/>
        </p:nvSpPr>
        <p:spPr>
          <a:xfrm>
            <a:off x="8046720" y="4187952"/>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29" name="TextBox 28"/>
          <p:cNvSpPr txBox="1"/>
          <p:nvPr/>
        </p:nvSpPr>
        <p:spPr>
          <a:xfrm>
            <a:off x="10835640" y="4187952"/>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운영은 별도 세션</a:t>
            </a:r>
          </a:p>
        </p:txBody>
      </p:sp>
      <p:cxnSp>
        <p:nvCxnSpPr>
          <p:cNvPr id="30" name="Connector 29"/>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892040"/>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AI 창 열기 / 질문 전송</a:t>
            </a:r>
          </a:p>
        </p:txBody>
      </p:sp>
      <p:sp>
        <p:nvSpPr>
          <p:cNvPr id="32" name="TextBox 31"/>
          <p:cNvSpPr txBox="1"/>
          <p:nvPr/>
        </p:nvSpPr>
        <p:spPr>
          <a:xfrm>
            <a:off x="5257800" y="4892040"/>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안내 / 불가</a:t>
            </a:r>
          </a:p>
        </p:txBody>
      </p:sp>
      <p:sp>
        <p:nvSpPr>
          <p:cNvPr id="33" name="TextBox 32"/>
          <p:cNvSpPr txBox="1"/>
          <p:nvPr/>
        </p:nvSpPr>
        <p:spPr>
          <a:xfrm>
            <a:off x="8046720" y="4892040"/>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 / 가능</a:t>
            </a:r>
          </a:p>
        </p:txBody>
      </p:sp>
      <p:sp>
        <p:nvSpPr>
          <p:cNvPr id="34" name="TextBox 33"/>
          <p:cNvSpPr txBox="1"/>
          <p:nvPr/>
        </p:nvSpPr>
        <p:spPr>
          <a:xfrm>
            <a:off x="10835640" y="4892040"/>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35" name="Connector 34"/>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5596127"/>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평가 등록</a:t>
            </a:r>
          </a:p>
        </p:txBody>
      </p:sp>
      <p:sp>
        <p:nvSpPr>
          <p:cNvPr id="37" name="TextBox 36"/>
          <p:cNvSpPr txBox="1"/>
          <p:nvPr/>
        </p:nvSpPr>
        <p:spPr>
          <a:xfrm>
            <a:off x="5257800" y="5596127"/>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불가</a:t>
            </a:r>
          </a:p>
        </p:txBody>
      </p:sp>
      <p:sp>
        <p:nvSpPr>
          <p:cNvPr id="38" name="TextBox 37"/>
          <p:cNvSpPr txBox="1"/>
          <p:nvPr/>
        </p:nvSpPr>
        <p:spPr>
          <a:xfrm>
            <a:off x="8046720" y="5596127"/>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39" name="TextBox 38"/>
          <p:cNvSpPr txBox="1"/>
          <p:nvPr/>
        </p:nvSpPr>
        <p:spPr>
          <a:xfrm>
            <a:off x="10835640" y="5596127"/>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운영 집계 조회</a:t>
            </a:r>
          </a:p>
        </p:txBody>
      </p:sp>
      <p:cxnSp>
        <p:nvCxnSpPr>
          <p:cNvPr id="40" name="Connector 39"/>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6300215"/>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라우트</a:t>
            </a:r>
          </a:p>
        </p:txBody>
      </p:sp>
      <p:sp>
        <p:nvSpPr>
          <p:cNvPr id="42" name="TextBox 41"/>
          <p:cNvSpPr txBox="1"/>
          <p:nvPr/>
        </p:nvSpPr>
        <p:spPr>
          <a:xfrm>
            <a:off x="5257800" y="6300215"/>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로그인</a:t>
            </a:r>
          </a:p>
        </p:txBody>
      </p:sp>
      <p:sp>
        <p:nvSpPr>
          <p:cNvPr id="43" name="TextBox 42"/>
          <p:cNvSpPr txBox="1"/>
          <p:nvPr/>
        </p:nvSpPr>
        <p:spPr>
          <a:xfrm>
            <a:off x="8046720" y="6300215"/>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로그인</a:t>
            </a:r>
          </a:p>
        </p:txBody>
      </p:sp>
      <p:sp>
        <p:nvSpPr>
          <p:cNvPr id="44" name="TextBox 43"/>
          <p:cNvSpPr txBox="1"/>
          <p:nvPr/>
        </p:nvSpPr>
        <p:spPr>
          <a:xfrm>
            <a:off x="10835640" y="6300215"/>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cxnSp>
        <p:nvCxnSpPr>
          <p:cNvPr id="45" name="Connector 44"/>
          <p:cNvCxnSpPr/>
          <p:nvPr/>
        </p:nvCxnSpPr>
        <p:spPr>
          <a:xfrm>
            <a:off x="594360" y="698601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D-AUT-01   시작·이메일 로그인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/login</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14</a:t>
            </a:r>
          </a:p>
        </p:txBody>
      </p:sp>
      <p:pic>
        <p:nvPicPr>
          <p:cNvPr id="7" name="Picture 6" descr="D-AUT-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96512" y="5341239"/>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59352" y="52040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9624" y="50943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096512" y="4576572"/>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959352" y="443941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9624" y="43296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96512" y="5752719"/>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59352" y="561555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49624" y="550583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096512" y="6325362"/>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3959352" y="618820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49624" y="607847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Rectangle 19"/>
          <p:cNvSpPr/>
          <p:nvPr/>
        </p:nvSpPr>
        <p:spPr>
          <a:xfrm>
            <a:off x="4096512" y="3403854"/>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3959352" y="32666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49624" y="31569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5</a:t>
            </a:r>
          </a:p>
        </p:txBody>
      </p:sp>
      <p:sp>
        <p:nvSpPr>
          <p:cNvPr id="23" name="TextBox 22"/>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4" name="TextBox 23"/>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세션 없는 시작 화면</a:t>
            </a:r>
          </a:p>
        </p:txBody>
      </p:sp>
      <p:sp>
        <p:nvSpPr>
          <p:cNvPr id="25" name="TextBox 24"/>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6" name="TextBox 25"/>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이메일 가입 폼을 열어요. → D-AUT-02</a:t>
            </a:r>
          </a:p>
          <a:p>
            <a:pPr>
              <a:lnSpc>
                <a:spcPts val="1625"/>
              </a:lnSpc>
              <a:spcAft>
                <a:spcPts val="0"/>
              </a:spcAft>
              <a:defRPr sz="1250" b="0">
                <a:solidFill>
                  <a:srgbClr val="19201D"/>
                </a:solidFill>
                <a:latin typeface="SUIT"/>
              </a:defRPr>
            </a:pPr>
            <a:r>
              <a:rPr>
                <a:ea typeface="SUIT"/>
              </a:rPr>
              <a:t>2  설정 상태에 따라 지도·초기 설정으로 이동 → D-GRP-01b</a:t>
            </a:r>
          </a:p>
          <a:p>
            <a:pPr>
              <a:lnSpc>
                <a:spcPts val="1625"/>
              </a:lnSpc>
              <a:spcAft>
                <a:spcPts val="0"/>
              </a:spcAft>
              <a:defRPr sz="1250" b="0">
                <a:solidFill>
                  <a:srgbClr val="19201D"/>
                </a:solidFill>
                <a:latin typeface="SUIT"/>
              </a:defRPr>
            </a:pPr>
            <a:r>
              <a:rPr>
                <a:ea typeface="SUIT"/>
              </a:rPr>
              <a:t>3  모의 제공자 동의 화면을 열어요 → D-AUT-03</a:t>
            </a:r>
          </a:p>
          <a:p>
            <a:pPr>
              <a:lnSpc>
                <a:spcPts val="1625"/>
              </a:lnSpc>
              <a:spcAft>
                <a:spcPts val="0"/>
              </a:spcAft>
              <a:defRPr sz="1250" b="0">
                <a:solidFill>
                  <a:srgbClr val="19201D"/>
                </a:solidFill>
                <a:latin typeface="SUIT"/>
              </a:defRPr>
            </a:pPr>
            <a:r>
              <a:rPr>
                <a:ea typeface="SUIT"/>
              </a:rPr>
              <a:t>4  비회원 권한 확인창을 열어요 → D-AUT-01</a:t>
            </a:r>
          </a:p>
          <a:p>
            <a:pPr>
              <a:lnSpc>
                <a:spcPts val="1625"/>
              </a:lnSpc>
              <a:spcAft>
                <a:spcPts val="0"/>
              </a:spcAft>
              <a:defRPr sz="1250" b="0">
                <a:solidFill>
                  <a:srgbClr val="19201D"/>
                </a:solidFill>
                <a:latin typeface="SUIT"/>
              </a:defRPr>
            </a:pPr>
            <a:r>
              <a:rPr>
                <a:ea typeface="SUIT"/>
              </a:rPr>
              <a:t>5  이메일을 입력·수정해요 → D-AUT-01</a:t>
            </a:r>
          </a:p>
        </p:txBody>
      </p:sp>
      <p:sp>
        <p:nvSpPr>
          <p:cNvPr id="27" name="TextBox 26"/>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8" name="TextBox 27"/>
          <p:cNvSpPr txBox="1"/>
          <p:nvPr/>
        </p:nvSpPr>
        <p:spPr>
          <a:xfrm>
            <a:off x="10561320" y="378548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입력 전 · 누락·형식 오류 · 인증 실패 · 시작 실패</a:t>
            </a:r>
          </a:p>
          <a:p>
            <a:pPr>
              <a:lnSpc>
                <a:spcPts val="1495"/>
              </a:lnSpc>
              <a:spcAft>
                <a:spcPts val="0"/>
              </a:spcAft>
              <a:defRPr sz="1150" b="0">
                <a:solidFill>
                  <a:srgbClr val="19201D"/>
                </a:solidFill>
                <a:latin typeface="SUIT"/>
              </a:defRPr>
            </a:pPr>
            <a:r>
              <a:rPr>
                <a:ea typeface="SUIT"/>
              </a:rPr>
              <a:t>코드 근거: pages/login-page.tsx · features/app-shell.tsx</a:t>
            </a:r>
          </a:p>
          <a:p>
            <a:pPr>
              <a:lnSpc>
                <a:spcPts val="1495"/>
              </a:lnSpc>
              <a:spcAft>
                <a:spcPts val="0"/>
              </a:spcAft>
              <a:defRPr sz="1150" b="0">
                <a:solidFill>
                  <a:srgbClr val="19201D"/>
                </a:solidFill>
                <a:latin typeface="SUIT"/>
              </a:defRPr>
            </a:pPr>
            <a:r>
              <a:rPr>
                <a:ea typeface="SUIT"/>
              </a:rPr>
              <a:t>기존 캡처: docs/design/v5/signup-error-390-dark.png</a:t>
            </a:r>
          </a:p>
        </p:txBody>
      </p:sp>
      <p:sp>
        <p:nvSpPr>
          <p:cNvPr id="29" name="TextBox 28"/>
          <p:cNvSpPr txBox="1"/>
          <p:nvPr/>
        </p:nvSpPr>
        <p:spPr>
          <a:xfrm>
            <a:off x="10561320" y="46821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0" name="TextBox 29"/>
          <p:cNvSpPr txBox="1"/>
          <p:nvPr/>
        </p:nvSpPr>
        <p:spPr>
          <a:xfrm>
            <a:off x="10561320" y="49289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FS001 · FS002 · FS005 · FS006 / 요구 1·2·5·6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D-AUT-02   이메일 회원가입</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/signup</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15</a:t>
            </a:r>
          </a:p>
        </p:txBody>
      </p:sp>
      <p:pic>
        <p:nvPicPr>
          <p:cNvPr id="7" name="Picture 6" descr="D-AUT-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96512" y="2937510"/>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59352" y="280035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9624" y="269062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096512" y="3523869"/>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959352" y="338670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9624" y="327698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96512" y="5111496"/>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59352" y="497433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49624" y="486460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096512" y="6894576"/>
            <a:ext cx="2414016"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3959352" y="675741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49624" y="664768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Rectangle 19"/>
          <p:cNvSpPr/>
          <p:nvPr/>
        </p:nvSpPr>
        <p:spPr>
          <a:xfrm>
            <a:off x="4096512" y="1991106"/>
            <a:ext cx="727698" cy="15430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3959352" y="185394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49624" y="174421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5</a:t>
            </a:r>
          </a:p>
        </p:txBody>
      </p:sp>
      <p:sp>
        <p:nvSpPr>
          <p:cNvPr id="23" name="TextBox 22"/>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4" name="TextBox 23"/>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시작 화면 → 이메일로 회원가입</a:t>
            </a:r>
          </a:p>
        </p:txBody>
      </p:sp>
      <p:sp>
        <p:nvSpPr>
          <p:cNvPr id="25" name="TextBox 24"/>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6" name="TextBox 25"/>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가입 이메일을 입력해요 → D-AUT-02</a:t>
            </a:r>
          </a:p>
          <a:p>
            <a:pPr>
              <a:lnSpc>
                <a:spcPts val="1625"/>
              </a:lnSpc>
              <a:spcAft>
                <a:spcPts val="0"/>
              </a:spcAft>
              <a:defRPr sz="1250" b="0">
                <a:solidFill>
                  <a:srgbClr val="19201D"/>
                </a:solidFill>
                <a:latin typeface="SUIT"/>
              </a:defRPr>
            </a:pPr>
            <a:r>
              <a:rPr>
                <a:ea typeface="SUIT"/>
              </a:rPr>
              <a:t>2  비밀번호를 가려 입력해요 → D-AUT-02</a:t>
            </a:r>
          </a:p>
          <a:p>
            <a:pPr>
              <a:lnSpc>
                <a:spcPts val="1625"/>
              </a:lnSpc>
              <a:spcAft>
                <a:spcPts val="0"/>
              </a:spcAft>
              <a:defRPr sz="1250" b="0">
                <a:solidFill>
                  <a:srgbClr val="19201D"/>
                </a:solidFill>
                <a:latin typeface="SUIT"/>
              </a:defRPr>
            </a:pPr>
            <a:r>
              <a:rPr>
                <a:ea typeface="SUIT"/>
              </a:rPr>
              <a:t>3  필수 약관을 함께 선택·해제해요 → D-AUT-02</a:t>
            </a:r>
          </a:p>
          <a:p>
            <a:pPr>
              <a:lnSpc>
                <a:spcPts val="1625"/>
              </a:lnSpc>
              <a:spcAft>
                <a:spcPts val="0"/>
              </a:spcAft>
              <a:defRPr sz="1250" b="0">
                <a:solidFill>
                  <a:srgbClr val="19201D"/>
                </a:solidFill>
                <a:latin typeface="SUIT"/>
              </a:defRPr>
            </a:pPr>
            <a:r>
              <a:rPr>
                <a:ea typeface="SUIT"/>
              </a:rPr>
              <a:t>4  필수 입력 누락을 안내해요 → D-AUT-02</a:t>
            </a:r>
          </a:p>
          <a:p>
            <a:pPr>
              <a:lnSpc>
                <a:spcPts val="1625"/>
              </a:lnSpc>
              <a:spcAft>
                <a:spcPts val="0"/>
              </a:spcAft>
              <a:defRPr sz="1250" b="0">
                <a:solidFill>
                  <a:srgbClr val="19201D"/>
                </a:solidFill>
                <a:latin typeface="SUIT"/>
              </a:defRPr>
            </a:pPr>
            <a:r>
              <a:rPr>
                <a:ea typeface="SUIT"/>
              </a:rPr>
              <a:t>5  시작 화면으로 돌아가요 → D-AUT-01</a:t>
            </a:r>
          </a:p>
        </p:txBody>
      </p:sp>
      <p:sp>
        <p:nvSpPr>
          <p:cNvPr id="27" name="TextBox 26"/>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8" name="TextBox 27"/>
          <p:cNvSpPr txBox="1"/>
          <p:nvPr/>
        </p:nvSpPr>
        <p:spPr>
          <a:xfrm>
            <a:off x="10561320" y="3579114"/>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 · 필수 약관 본문 미제공</a:t>
            </a:r>
          </a:p>
          <a:p>
            <a:pPr>
              <a:lnSpc>
                <a:spcPts val="1495"/>
              </a:lnSpc>
              <a:spcAft>
                <a:spcPts val="0"/>
              </a:spcAft>
              <a:defRPr sz="1150" b="0">
                <a:solidFill>
                  <a:srgbClr val="19201D"/>
                </a:solidFill>
                <a:latin typeface="SUIT"/>
              </a:defRPr>
            </a:pPr>
            <a:r>
              <a:rPr>
                <a:ea typeface="SUIT"/>
              </a:rPr>
              <a:t>구현 상태: 필수 입력·약관 선택 · 형식·중복 오류 · 가입 실패</a:t>
            </a:r>
          </a:p>
          <a:p>
            <a:pPr>
              <a:lnSpc>
                <a:spcPts val="1495"/>
              </a:lnSpc>
              <a:spcAft>
                <a:spcPts val="0"/>
              </a:spcAft>
              <a:defRPr sz="1150" b="0">
                <a:solidFill>
                  <a:srgbClr val="19201D"/>
                </a:solidFill>
                <a:latin typeface="SUIT"/>
              </a:defRPr>
            </a:pPr>
            <a:r>
              <a:rPr>
                <a:ea typeface="SUIT"/>
              </a:rPr>
              <a:t>코드 근거: pages/signup-page.tsx</a:t>
            </a:r>
          </a:p>
          <a:p>
            <a:pPr>
              <a:lnSpc>
                <a:spcPts val="1495"/>
              </a:lnSpc>
              <a:spcAft>
                <a:spcPts val="0"/>
              </a:spcAft>
              <a:defRPr sz="1150" b="0">
                <a:solidFill>
                  <a:srgbClr val="19201D"/>
                </a:solidFill>
                <a:latin typeface="SUIT"/>
              </a:defRPr>
            </a:pPr>
            <a:r>
              <a:rPr>
                <a:ea typeface="SUIT"/>
              </a:rPr>
              <a:t>기존 캡처: docs/design/v5/signup-error-390-dark.png</a:t>
            </a:r>
          </a:p>
        </p:txBody>
      </p:sp>
      <p:sp>
        <p:nvSpPr>
          <p:cNvPr id="29" name="TextBox 28"/>
          <p:cNvSpPr txBox="1"/>
          <p:nvPr/>
        </p:nvSpPr>
        <p:spPr>
          <a:xfrm>
            <a:off x="10561320" y="447573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0" name="TextBox 29"/>
          <p:cNvSpPr txBox="1"/>
          <p:nvPr/>
        </p:nvSpPr>
        <p:spPr>
          <a:xfrm>
            <a:off x="10561320" y="472262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FS003 · FS006 / 요구 3·6</a:t>
            </a:r>
          </a:p>
        </p:txBody>
      </p:sp>
      <p:sp>
        <p:nvSpPr>
          <p:cNvPr id="31" name="TextBox 30"/>
          <p:cNvSpPr txBox="1"/>
          <p:nvPr/>
        </p:nvSpPr>
        <p:spPr>
          <a:xfrm>
            <a:off x="10561320" y="5066157"/>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32" name="TextBox 31"/>
          <p:cNvSpPr txBox="1"/>
          <p:nvPr/>
        </p:nvSpPr>
        <p:spPr>
          <a:xfrm>
            <a:off x="10561320" y="5313045"/>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가입 필드와 약관 본문을 확정해야 해요.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D-AUT-03   개발용 모의 소셜 제공자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/mock-idp</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16</a:t>
            </a:r>
          </a:p>
        </p:txBody>
      </p:sp>
      <p:pic>
        <p:nvPicPr>
          <p:cNvPr id="7" name="Picture 6" descr="D-AUT-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96512" y="5642991"/>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59352" y="550583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9624" y="539610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096512" y="4031361"/>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959352" y="389420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9624" y="378447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96512" y="4617720"/>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59352" y="4480559"/>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49624" y="437083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096512" y="5204079"/>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3959352" y="50669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49624" y="49571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시작 → 개발용 모의 로그인으로 계속</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동의를 취소하고 시작 화면에 취소 안내를 보여줘요. → D-AUT-01</a:t>
            </a:r>
          </a:p>
          <a:p>
            <a:pPr>
              <a:lnSpc>
                <a:spcPts val="1625"/>
              </a:lnSpc>
              <a:spcAft>
                <a:spcPts val="0"/>
              </a:spcAft>
              <a:defRPr sz="1250" b="0">
                <a:solidFill>
                  <a:srgbClr val="19201D"/>
                </a:solidFill>
                <a:latin typeface="SUIT"/>
              </a:defRPr>
            </a:pPr>
            <a:r>
              <a:rPr>
                <a:ea typeface="SUIT"/>
              </a:rPr>
              <a:t>2  모의 계정 이메일을 입력해요 → D-AUT-03</a:t>
            </a:r>
          </a:p>
          <a:p>
            <a:pPr>
              <a:lnSpc>
                <a:spcPts val="1625"/>
              </a:lnSpc>
              <a:spcAft>
                <a:spcPts val="0"/>
              </a:spcAft>
              <a:defRPr sz="1250" b="0">
                <a:solidFill>
                  <a:srgbClr val="19201D"/>
                </a:solidFill>
                <a:latin typeface="SUIT"/>
              </a:defRPr>
            </a:pPr>
            <a:r>
              <a:rPr>
                <a:ea typeface="SUIT"/>
              </a:rPr>
              <a:t>3  제공할 표시 이름을 입력해요 → D-AUT-03</a:t>
            </a:r>
          </a:p>
          <a:p>
            <a:pPr>
              <a:lnSpc>
                <a:spcPts val="1625"/>
              </a:lnSpc>
              <a:spcAft>
                <a:spcPts val="0"/>
              </a:spcAft>
              <a:defRPr sz="1250" b="0">
                <a:solidFill>
                  <a:srgbClr val="19201D"/>
                </a:solidFill>
                <a:latin typeface="SUIT"/>
              </a:defRPr>
            </a:pPr>
            <a:r>
              <a:rPr>
                <a:ea typeface="SUIT"/>
              </a:rPr>
              <a:t>4  이메일 없이 보내면 입력 오류를 안내해요 → D-AUT-03</a:t>
            </a:r>
          </a:p>
        </p:txBody>
      </p:sp>
      <p:sp>
        <p:nvSpPr>
          <p:cNvPr id="24" name="TextBox 23"/>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78548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동의 입력 · 취소 · 요청·동의 처리 오류</a:t>
            </a:r>
          </a:p>
          <a:p>
            <a:pPr>
              <a:lnSpc>
                <a:spcPts val="1495"/>
              </a:lnSpc>
              <a:spcAft>
                <a:spcPts val="0"/>
              </a:spcAft>
              <a:defRPr sz="1150" b="0">
                <a:solidFill>
                  <a:srgbClr val="19201D"/>
                </a:solidFill>
                <a:latin typeface="SUIT"/>
              </a:defRPr>
            </a:pPr>
            <a:r>
              <a:rPr>
                <a:ea typeface="SUIT"/>
              </a:rPr>
              <a:t>코드 근거: pages/mock-idp-page.tsx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6821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9289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FS004 · FS061 / 요구 4·70</a:t>
            </a:r>
          </a:p>
        </p:txBody>
      </p:sp>
      <p:sp>
        <p:nvSpPr>
          <p:cNvPr id="28" name="TextBox 27"/>
          <p:cNvSpPr txBox="1"/>
          <p:nvPr/>
        </p:nvSpPr>
        <p:spPr>
          <a:xfrm>
            <a:off x="10561320" y="527253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51942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실제 제공자와 계정 연결 정책을 확정해야 해요.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D-ONB-01   투자 여부 선택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17</a:t>
            </a:r>
          </a:p>
        </p:txBody>
      </p:sp>
      <p:pic>
        <p:nvPicPr>
          <p:cNvPr id="7" name="Picture 6" descr="D-ONB-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2334006"/>
            <a:ext cx="3730752" cy="54863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219684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208711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2964942"/>
            <a:ext cx="3730752" cy="54864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282778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271805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523136" y="1367028"/>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8385976" y="1367028"/>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76248" y="140817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가입 성공 후 초기 설정</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가상 계좌 선택 단계로 가요. → D-ONB-02</a:t>
            </a:r>
          </a:p>
          <a:p>
            <a:pPr>
              <a:lnSpc>
                <a:spcPts val="1625"/>
              </a:lnSpc>
              <a:spcAft>
                <a:spcPts val="0"/>
              </a:spcAft>
              <a:defRPr sz="1250" b="0">
                <a:solidFill>
                  <a:srgbClr val="19201D"/>
                </a:solidFill>
                <a:latin typeface="SUIT"/>
              </a:defRPr>
            </a:pPr>
            <a:r>
              <a:rPr>
                <a:ea typeface="SUIT"/>
              </a:rPr>
              <a:t>2  관심 종목 선택으로 가요 → D-WAT-01</a:t>
            </a:r>
          </a:p>
          <a:p>
            <a:pPr>
              <a:lnSpc>
                <a:spcPts val="1625"/>
              </a:lnSpc>
              <a:spcAft>
                <a:spcPts val="0"/>
              </a:spcAft>
              <a:defRPr sz="1250" b="0">
                <a:solidFill>
                  <a:srgbClr val="19201D"/>
                </a:solidFill>
                <a:latin typeface="SUIT"/>
              </a:defRPr>
            </a:pPr>
            <a:r>
              <a:rPr>
                <a:ea typeface="SUIT"/>
              </a:rPr>
              <a:t>3  기사 저장본 출처 안내를 열어요 → D-ONB-01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선택 전 · 저장 중 · 저장 실패·재시도</a:t>
            </a:r>
          </a:p>
          <a:p>
            <a:pPr>
              <a:lnSpc>
                <a:spcPts val="1495"/>
              </a:lnSpc>
              <a:spcAft>
                <a:spcPts val="0"/>
              </a:spcAft>
              <a:defRPr sz="1150" b="0">
                <a:solidFill>
                  <a:srgbClr val="19201D"/>
                </a:solidFill>
                <a:latin typeface="SUIT"/>
              </a:defRPr>
            </a:pPr>
            <a:r>
              <a:rPr>
                <a:ea typeface="SUIT"/>
              </a:rPr>
              <a:t>코드 근거: pages/onboarding-page.tsx</a:t>
            </a:r>
          </a:p>
          <a:p>
            <a:pPr>
              <a:lnSpc>
                <a:spcPts val="1495"/>
              </a:lnSpc>
              <a:spcAft>
                <a:spcPts val="0"/>
              </a:spcAft>
              <a:defRPr sz="1150" b="0">
                <a:solidFill>
                  <a:srgbClr val="19201D"/>
                </a:solidFill>
                <a:latin typeface="SUIT"/>
              </a:defRPr>
            </a:pPr>
            <a:r>
              <a:rPr>
                <a:ea typeface="SUIT"/>
              </a:rPr>
              <a:t>기존 캡처: docs/design/v5/onboarding-investor-390-light.png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FS008 / 요구 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D-ONB-02   가상 계좌 연결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18</a:t>
            </a:r>
          </a:p>
        </p:txBody>
      </p:sp>
      <p:pic>
        <p:nvPicPr>
          <p:cNvPr id="7" name="Picture 6" descr="D-ONB-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6702552"/>
            <a:ext cx="3730752"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656539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645566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1881378"/>
            <a:ext cx="547889" cy="15430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174421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16344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438144" y="7086600"/>
            <a:ext cx="3730752"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300984" y="6949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191256" y="6839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투자 중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모의 보유 종목을 표시해요. → D-ONB-02</a:t>
            </a:r>
          </a:p>
          <a:p>
            <a:pPr>
              <a:lnSpc>
                <a:spcPts val="1625"/>
              </a:lnSpc>
              <a:spcAft>
                <a:spcPts val="0"/>
              </a:spcAft>
              <a:defRPr sz="1250" b="0">
                <a:solidFill>
                  <a:srgbClr val="19201D"/>
                </a:solidFill>
                <a:latin typeface="SUIT"/>
              </a:defRPr>
            </a:pPr>
            <a:r>
              <a:rPr>
                <a:ea typeface="SUIT"/>
              </a:rPr>
              <a:t>2  투자 여부 선택으로 돌아가요 → D-ONB-01</a:t>
            </a:r>
          </a:p>
          <a:p>
            <a:pPr>
              <a:lnSpc>
                <a:spcPts val="1625"/>
              </a:lnSpc>
              <a:spcAft>
                <a:spcPts val="0"/>
              </a:spcAft>
              <a:defRPr sz="1250" b="0">
                <a:solidFill>
                  <a:srgbClr val="19201D"/>
                </a:solidFill>
                <a:latin typeface="SUIT"/>
              </a:defRPr>
            </a:pPr>
            <a:r>
              <a:rPr>
                <a:ea typeface="SUIT"/>
              </a:rPr>
              <a:t>3  계좌 연결 없이 관심 선택으로 가요 → D-WAT-01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 · 모의 데이터</a:t>
            </a:r>
          </a:p>
          <a:p>
            <a:pPr>
              <a:lnSpc>
                <a:spcPts val="1495"/>
              </a:lnSpc>
              <a:spcAft>
                <a:spcPts val="0"/>
              </a:spcAft>
              <a:defRPr sz="1150" b="0">
                <a:solidFill>
                  <a:srgbClr val="19201D"/>
                </a:solidFill>
                <a:latin typeface="SUIT"/>
              </a:defRPr>
            </a:pPr>
            <a:r>
              <a:rPr>
                <a:ea typeface="SUIT"/>
              </a:rPr>
              <a:t>구현 상태: 미연결·선택 · 연결 중·연결됨 · 연결 실패·건너뛰기</a:t>
            </a:r>
          </a:p>
          <a:p>
            <a:pPr>
              <a:lnSpc>
                <a:spcPts val="1495"/>
              </a:lnSpc>
              <a:spcAft>
                <a:spcPts val="0"/>
              </a:spcAft>
              <a:defRPr sz="1150" b="0">
                <a:solidFill>
                  <a:srgbClr val="19201D"/>
                </a:solidFill>
                <a:latin typeface="SUIT"/>
              </a:defRPr>
            </a:pPr>
            <a:r>
              <a:rPr>
                <a:ea typeface="SUIT"/>
              </a:rPr>
              <a:t>코드 근거: pages/onboarding-page.tsx</a:t>
            </a:r>
          </a:p>
          <a:p>
            <a:pPr>
              <a:lnSpc>
                <a:spcPts val="1495"/>
              </a:lnSpc>
              <a:spcAft>
                <a:spcPts val="0"/>
              </a:spcAft>
              <a:defRPr sz="1150" b="0">
                <a:solidFill>
                  <a:srgbClr val="19201D"/>
                </a:solidFill>
                <a:latin typeface="SUIT"/>
              </a:defRPr>
            </a:pPr>
            <a:r>
              <a:rPr>
                <a:ea typeface="SUIT"/>
              </a:rPr>
              <a:t>기존 캡처: docs/design/v5/onboarding-account-390-light.png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FS009 · FS010 · FS062 / 요구 9·10·71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D-WAT-01   관심 종목 선택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19</a:t>
            </a:r>
          </a:p>
        </p:txBody>
      </p:sp>
      <p:pic>
        <p:nvPicPr>
          <p:cNvPr id="7" name="Picture 6" descr="D-WAT-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7086600"/>
            <a:ext cx="3730752"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6949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6839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328416" y="3448431"/>
            <a:ext cx="3950208" cy="45348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191256" y="331127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81528" y="320154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328416" y="3901916"/>
            <a:ext cx="3950208" cy="45348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191256" y="37647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081528" y="36550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모의 보유 3개 연결 후 관심 종목 고르기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관심 0개를 저장하고 보유 종목 기준 내 종목 지도를 열어요. → D-GRP-01b</a:t>
            </a:r>
          </a:p>
          <a:p>
            <a:pPr>
              <a:lnSpc>
                <a:spcPts val="1625"/>
              </a:lnSpc>
              <a:spcAft>
                <a:spcPts val="0"/>
              </a:spcAft>
              <a:defRPr sz="1250" b="0">
                <a:solidFill>
                  <a:srgbClr val="19201D"/>
                </a:solidFill>
                <a:latin typeface="SUIT"/>
              </a:defRPr>
            </a:pPr>
            <a:r>
              <a:rPr>
                <a:ea typeface="SUIT"/>
              </a:rPr>
              <a:t>2  추천 첫 기업을 선택·해제해요 → D-WAT-01</a:t>
            </a:r>
          </a:p>
          <a:p>
            <a:pPr>
              <a:lnSpc>
                <a:spcPts val="1625"/>
              </a:lnSpc>
              <a:spcAft>
                <a:spcPts val="0"/>
              </a:spcAft>
              <a:defRPr sz="1250" b="0">
                <a:solidFill>
                  <a:srgbClr val="19201D"/>
                </a:solidFill>
                <a:latin typeface="SUIT"/>
              </a:defRPr>
            </a:pPr>
            <a:r>
              <a:rPr>
                <a:ea typeface="SUIT"/>
              </a:rPr>
              <a:t>3  추천 둘째 기업을 선택·해제해요 → D-WAT-01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선택 0개 · 보유 기준 진입 안내</a:t>
            </a:r>
          </a:p>
          <a:p>
            <a:pPr>
              <a:lnSpc>
                <a:spcPts val="1495"/>
              </a:lnSpc>
              <a:spcAft>
                <a:spcPts val="0"/>
              </a:spcAft>
              <a:defRPr sz="1150" b="0">
                <a:solidFill>
                  <a:srgbClr val="19201D"/>
                </a:solidFill>
                <a:latin typeface="SUIT"/>
              </a:defRPr>
            </a:pPr>
            <a:r>
              <a:rPr>
                <a:ea typeface="SUIT"/>
              </a:rPr>
              <a:t>구현 상태: 0개 · 선택·해제 · 검색·결과 없음 · 저장 실패</a:t>
            </a:r>
          </a:p>
          <a:p>
            <a:pPr>
              <a:lnSpc>
                <a:spcPts val="1495"/>
              </a:lnSpc>
              <a:spcAft>
                <a:spcPts val="0"/>
              </a:spcAft>
              <a:defRPr sz="1150" b="0">
                <a:solidFill>
                  <a:srgbClr val="19201D"/>
                </a:solidFill>
                <a:latin typeface="SUIT"/>
              </a:defRPr>
            </a:pPr>
            <a:r>
              <a:rPr>
                <a:ea typeface="SUIT"/>
              </a:rPr>
              <a:t>코드 근거: pages/onboarding-page.tsx · components/domain/company-search.tsx</a:t>
            </a:r>
          </a:p>
          <a:p>
            <a:pPr>
              <a:lnSpc>
                <a:spcPts val="1495"/>
              </a:lnSpc>
              <a:spcAft>
                <a:spcPts val="0"/>
              </a:spcAft>
              <a:defRPr sz="1150" b="0">
                <a:solidFill>
                  <a:srgbClr val="19201D"/>
                </a:solidFill>
                <a:latin typeface="SUIT"/>
              </a:defRPr>
            </a:pPr>
            <a:r>
              <a:rPr>
                <a:ea typeface="SUIT"/>
              </a:rPr>
              <a:t>기존 캡처: docs/design/v6/search-explicit-390-light.png</a:t>
            </a:r>
          </a:p>
        </p:txBody>
      </p:sp>
      <p:sp>
        <p:nvSpPr>
          <p:cNvPr id="23" name="TextBox 22"/>
          <p:cNvSpPr txBox="1"/>
          <p:nvPr/>
        </p:nvSpPr>
        <p:spPr>
          <a:xfrm>
            <a:off x="10561320" y="464908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95977"/>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FS011-01 · FS011-02 · FS012 · FS013 / 요구 11·12·13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D-WAT-01b   관심 종목 4개 선택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20</a:t>
            </a:r>
          </a:p>
        </p:txBody>
      </p:sp>
      <p:pic>
        <p:nvPicPr>
          <p:cNvPr id="7" name="Picture 6" descr="D-WAT-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922008" y="2836354"/>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784848" y="26991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675120" y="25894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6922008" y="3165538"/>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784848" y="302837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675120" y="291865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922008" y="3494722"/>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6784848" y="335756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675120" y="324783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추천 기업을 네 번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선택 목록에서 NVIDIA를 빼고 3개로 바꿔요. → D-WAT-01</a:t>
            </a:r>
          </a:p>
          <a:p>
            <a:pPr>
              <a:lnSpc>
                <a:spcPts val="1625"/>
              </a:lnSpc>
              <a:spcAft>
                <a:spcPts val="0"/>
              </a:spcAft>
              <a:defRPr sz="1250" b="0">
                <a:solidFill>
                  <a:srgbClr val="19201D"/>
                </a:solidFill>
                <a:latin typeface="SUIT"/>
              </a:defRPr>
            </a:pPr>
            <a:r>
              <a:rPr>
                <a:ea typeface="SUIT"/>
              </a:rPr>
              <a:t>2  삼성전자를 선택 목록에서 빼요 → D-WAT-01</a:t>
            </a:r>
          </a:p>
          <a:p>
            <a:pPr>
              <a:lnSpc>
                <a:spcPts val="1625"/>
              </a:lnSpc>
              <a:spcAft>
                <a:spcPts val="0"/>
              </a:spcAft>
              <a:defRPr sz="1250" b="0">
                <a:solidFill>
                  <a:srgbClr val="19201D"/>
                </a:solidFill>
                <a:latin typeface="SUIT"/>
              </a:defRPr>
            </a:pPr>
            <a:r>
              <a:rPr>
                <a:ea typeface="SUIT"/>
              </a:rPr>
              <a:t>3  SK텔레콤을 선택 목록에서 빼요 → D-WAT-01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4개 선택</a:t>
            </a:r>
          </a:p>
          <a:p>
            <a:pPr>
              <a:lnSpc>
                <a:spcPts val="1495"/>
              </a:lnSpc>
              <a:spcAft>
                <a:spcPts val="0"/>
              </a:spcAft>
              <a:defRPr sz="1150" b="0">
                <a:solidFill>
                  <a:srgbClr val="19201D"/>
                </a:solidFill>
                <a:latin typeface="SUIT"/>
              </a:defRPr>
            </a:pPr>
            <a:r>
              <a:rPr>
                <a:ea typeface="SUIT"/>
              </a:rPr>
              <a:t>구현 상태: 0개 · 선택·해제 · 검색·결과 없음 · 저장 실패</a:t>
            </a:r>
          </a:p>
          <a:p>
            <a:pPr>
              <a:lnSpc>
                <a:spcPts val="1495"/>
              </a:lnSpc>
              <a:spcAft>
                <a:spcPts val="0"/>
              </a:spcAft>
              <a:defRPr sz="1150" b="0">
                <a:solidFill>
                  <a:srgbClr val="19201D"/>
                </a:solidFill>
                <a:latin typeface="SUIT"/>
              </a:defRPr>
            </a:pPr>
            <a:r>
              <a:rPr>
                <a:ea typeface="SUIT"/>
              </a:rPr>
              <a:t>코드 근거: pages/onboarding-page.tsx · components/domain/company-search.tsx</a:t>
            </a:r>
          </a:p>
          <a:p>
            <a:pPr>
              <a:lnSpc>
                <a:spcPts val="1495"/>
              </a:lnSpc>
              <a:spcAft>
                <a:spcPts val="0"/>
              </a:spcAft>
              <a:defRPr sz="1150" b="0">
                <a:solidFill>
                  <a:srgbClr val="19201D"/>
                </a:solidFill>
                <a:latin typeface="SUIT"/>
              </a:defRPr>
            </a:pPr>
            <a:r>
              <a:rPr>
                <a:ea typeface="SUIT"/>
              </a:rPr>
              <a:t>기존 캡처: docs/design/v6/search-explicit-390-light.png</a:t>
            </a:r>
          </a:p>
        </p:txBody>
      </p:sp>
      <p:sp>
        <p:nvSpPr>
          <p:cNvPr id="23" name="TextBox 22"/>
          <p:cNvSpPr txBox="1"/>
          <p:nvPr/>
        </p:nvSpPr>
        <p:spPr>
          <a:xfrm>
            <a:off x="10561320" y="464908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9597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FS012 / 요구 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D-GRP-01   시장 전체 지도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21</a:t>
            </a:r>
          </a:p>
        </p:txBody>
      </p:sp>
      <p:pic>
        <p:nvPicPr>
          <p:cNvPr id="7" name="Picture 6" descr="D-GRP-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8370224" y="1895093"/>
            <a:ext cx="192023"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233064" y="175793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123336" y="164820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843873" y="1853945"/>
            <a:ext cx="569749"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706713"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596985"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248691" y="1853945"/>
            <a:ext cx="47138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111531"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001803"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633222" y="6983730"/>
            <a:ext cx="301751"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496062" y="684657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6334" y="673684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회원 또는 비회원의 전체 지도</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크기·거리는 인과·중요도가 아니라는 설명을 열어요. → D-GRP-01</a:t>
            </a:r>
          </a:p>
          <a:p>
            <a:pPr>
              <a:lnSpc>
                <a:spcPts val="1625"/>
              </a:lnSpc>
              <a:spcAft>
                <a:spcPts val="0"/>
              </a:spcAft>
              <a:defRPr sz="1250" b="0">
                <a:solidFill>
                  <a:srgbClr val="19201D"/>
                </a:solidFill>
                <a:latin typeface="SUIT"/>
              </a:defRPr>
            </a:pPr>
            <a:r>
              <a:rPr>
                <a:ea typeface="SUIT"/>
              </a:rPr>
              <a:t>2  회원의 개인화 지도로 바꿔요 → D-GRP-01b</a:t>
            </a:r>
          </a:p>
          <a:p>
            <a:pPr>
              <a:lnSpc>
                <a:spcPts val="1625"/>
              </a:lnSpc>
              <a:spcAft>
                <a:spcPts val="0"/>
              </a:spcAft>
              <a:defRPr sz="1250" b="0">
                <a:solidFill>
                  <a:srgbClr val="19201D"/>
                </a:solidFill>
                <a:latin typeface="SUIT"/>
              </a:defRPr>
            </a:pPr>
            <a:r>
              <a:rPr>
                <a:ea typeface="SUIT"/>
              </a:rPr>
              <a:t>3  기업·사건 목록을 보여줘요 → D-GRP-01</a:t>
            </a:r>
          </a:p>
          <a:p>
            <a:pPr>
              <a:lnSpc>
                <a:spcPts val="1625"/>
              </a:lnSpc>
              <a:spcAft>
                <a:spcPts val="0"/>
              </a:spcAft>
              <a:defRPr sz="1250" b="0">
                <a:solidFill>
                  <a:srgbClr val="19201D"/>
                </a:solidFill>
                <a:latin typeface="SUIT"/>
              </a:defRPr>
            </a:pPr>
            <a:r>
              <a:rPr>
                <a:ea typeface="SUIT"/>
              </a:rPr>
              <a:t>4  지도를 확대해요 → D-GRP-01</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전체·개인화 · 대상 선택 · 조회 중 · 빈 지도·조회 실패</a:t>
            </a:r>
          </a:p>
          <a:p>
            <a:pPr>
              <a:lnSpc>
                <a:spcPts val="1495"/>
              </a:lnSpc>
              <a:spcAft>
                <a:spcPts val="0"/>
              </a:spcAft>
              <a:defRPr sz="1150" b="0">
                <a:solidFill>
                  <a:srgbClr val="19201D"/>
                </a:solidFill>
                <a:latin typeface="SUIT"/>
              </a:defRPr>
            </a:pPr>
            <a:r>
              <a:rPr>
                <a:ea typeface="SUIT"/>
              </a:rPr>
              <a:t>코드 근거: pages/main-page.tsx · features/graph-explorer.tsx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6" name="TextBox 25"/>
          <p:cNvSpPr txBox="1"/>
          <p:nvPr/>
        </p:nvSpPr>
        <p:spPr>
          <a:xfrm>
            <a:off x="10561320" y="504532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29221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FS018 · FS019 / 요구 18·19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D-GRP-01b   내 종목 지도·범위 필터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/?mode=personal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22</a:t>
            </a:r>
          </a:p>
        </p:txBody>
      </p:sp>
      <p:pic>
        <p:nvPicPr>
          <p:cNvPr id="7" name="Picture 6" descr="D-GRP-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898719" y="1853945"/>
            <a:ext cx="553997"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761559"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651831"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80149" y="1853945"/>
            <a:ext cx="553997"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42989"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233261"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1168681" y="1853945"/>
            <a:ext cx="647759"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031521"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21793"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회원 → 내 종목 모드</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보유 기준 기업과 연결 사건 범위로 좁혀요. → D-GRP-01b</a:t>
            </a:r>
          </a:p>
          <a:p>
            <a:pPr>
              <a:lnSpc>
                <a:spcPts val="1625"/>
              </a:lnSpc>
              <a:spcAft>
                <a:spcPts val="0"/>
              </a:spcAft>
              <a:defRPr sz="1250" b="0">
                <a:solidFill>
                  <a:srgbClr val="19201D"/>
                </a:solidFill>
                <a:latin typeface="SUIT"/>
              </a:defRPr>
            </a:pPr>
            <a:r>
              <a:rPr>
                <a:ea typeface="SUIT"/>
              </a:rPr>
              <a:t>2  관심 기준으로 지도를 거릅니다 → D-GRP-01b</a:t>
            </a:r>
          </a:p>
          <a:p>
            <a:pPr>
              <a:lnSpc>
                <a:spcPts val="1625"/>
              </a:lnSpc>
              <a:spcAft>
                <a:spcPts val="0"/>
              </a:spcAft>
              <a:defRPr sz="1250" b="0">
                <a:solidFill>
                  <a:srgbClr val="19201D"/>
                </a:solidFill>
                <a:latin typeface="SUIT"/>
              </a:defRPr>
            </a:pPr>
            <a:r>
              <a:rPr>
                <a:ea typeface="SUIT"/>
              </a:rPr>
              <a:t>3  개인화 필터 없이 전체 지도로 전환 → D-GRP-01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61036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전체·보유·관심 범위 · 기준 종목 0개 · 관계 0건 · 조회 실패</a:t>
            </a:r>
          </a:p>
          <a:p>
            <a:pPr>
              <a:lnSpc>
                <a:spcPts val="1495"/>
              </a:lnSpc>
              <a:spcAft>
                <a:spcPts val="0"/>
              </a:spcAft>
              <a:defRPr sz="1150" b="0">
                <a:solidFill>
                  <a:srgbClr val="19201D"/>
                </a:solidFill>
                <a:latin typeface="SUIT"/>
              </a:defRPr>
            </a:pPr>
            <a:r>
              <a:rPr>
                <a:ea typeface="SUIT"/>
              </a:rPr>
              <a:t>코드 근거: pages/main-page.tsx · features/graph-explorer.tsx</a:t>
            </a:r>
          </a:p>
          <a:p>
            <a:pPr>
              <a:lnSpc>
                <a:spcPts val="1495"/>
              </a:lnSpc>
              <a:spcAft>
                <a:spcPts val="0"/>
              </a:spcAft>
              <a:defRPr sz="1150" b="0">
                <a:solidFill>
                  <a:srgbClr val="19201D"/>
                </a:solidFill>
                <a:latin typeface="SUIT"/>
              </a:defRPr>
            </a:pPr>
            <a:r>
              <a:rPr>
                <a:ea typeface="SUIT"/>
              </a:rPr>
              <a:t>기존 캡처: docs/design/v7/graph-filter-1440-light.png</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3" name="TextBox 22"/>
          <p:cNvSpPr txBox="1"/>
          <p:nvPr/>
        </p:nvSpPr>
        <p:spPr>
          <a:xfrm>
            <a:off x="10561320" y="502881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27570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FS017 · FS019 · FS026 / 요구 17·19</a:t>
            </a:r>
          </a:p>
        </p:txBody>
      </p:sp>
      <p:sp>
        <p:nvSpPr>
          <p:cNvPr id="25" name="TextBox 24"/>
          <p:cNvSpPr txBox="1"/>
          <p:nvPr/>
        </p:nvSpPr>
        <p:spPr>
          <a:xfrm>
            <a:off x="10561320" y="561924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6" name="TextBox 25"/>
          <p:cNvSpPr txBox="1"/>
          <p:nvPr/>
        </p:nvSpPr>
        <p:spPr>
          <a:xfrm>
            <a:off x="10561320" y="586613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필터 깊이 1단계는 프로토타입 가정이에요.</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   지도 튜토리얼 1/5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23</a:t>
            </a:r>
          </a:p>
        </p:txBody>
      </p:sp>
      <p:pic>
        <p:nvPicPr>
          <p:cNvPr id="7" name="Picture 6" descr="D-GRP-T.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46938" y="3402139"/>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09778"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00050"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402139"/>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2718054" y="6983730"/>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2580894" y="684657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471166" y="673684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지도 조작을 해 보고 다음 단계로 가요 → D-GRP-T2</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D-GRP-T2   지도 튜토리얼 2/5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24</a:t>
            </a:r>
          </a:p>
        </p:txBody>
      </p:sp>
      <p:pic>
        <p:nvPicPr>
          <p:cNvPr id="7" name="Picture 6" descr="D-GRP-T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247834"/>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247834"/>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247834"/>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D-GRP-T3   지도 튜토리얼 3/5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25</a:t>
            </a:r>
          </a:p>
        </p:txBody>
      </p:sp>
      <p:pic>
        <p:nvPicPr>
          <p:cNvPr id="7" name="Picture 6" descr="D-GRP-T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844480"/>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7073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5975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844480"/>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7073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5975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844480"/>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7073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5975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D-GRP-T4   지도 튜토리얼 4/5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26</a:t>
            </a:r>
          </a:p>
        </p:txBody>
      </p:sp>
      <p:pic>
        <p:nvPicPr>
          <p:cNvPr id="7" name="Picture 6" descr="D-GRP-T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247834"/>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247834"/>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247834"/>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D-GRP-T5   지도 튜토리얼 5/5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27</a:t>
            </a:r>
          </a:p>
        </p:txBody>
      </p:sp>
      <p:pic>
        <p:nvPicPr>
          <p:cNvPr id="7" name="Picture 6" descr="D-GRP-T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402139"/>
            <a:ext cx="398406"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402139"/>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402139"/>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완료를 저장하고 튜토리얼을 닫아요. → D-GRP-01</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D-GRP-02   사건 패널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/?mode=all&amp;select=node%3Aissue-04153e2e4c2a1b58e40a0e57</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28</a:t>
            </a:r>
          </a:p>
        </p:txBody>
      </p:sp>
      <p:pic>
        <p:nvPicPr>
          <p:cNvPr id="7" name="Picture 6" descr="D-GRP-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3060954"/>
            <a:ext cx="95272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29237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28140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580376" y="3417570"/>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443216" y="328041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33488" y="317068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 사건 노드를 직접 누르기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사건에 연결된 인용문을 열어요. → D-GRP-05</a:t>
            </a:r>
          </a:p>
          <a:p>
            <a:pPr>
              <a:lnSpc>
                <a:spcPts val="1625"/>
              </a:lnSpc>
              <a:spcAft>
                <a:spcPts val="0"/>
              </a:spcAft>
              <a:defRPr sz="1250" b="0">
                <a:solidFill>
                  <a:srgbClr val="19201D"/>
                </a:solidFill>
                <a:latin typeface="SUIT"/>
              </a:defRPr>
            </a:pPr>
            <a:r>
              <a:rPr>
                <a:ea typeface="SUIT"/>
              </a:rPr>
              <a:t>2  선택을 풀고 지도만 보여줘요 → D-GRP-01</a:t>
            </a:r>
          </a:p>
          <a:p>
            <a:pPr>
              <a:lnSpc>
                <a:spcPts val="1625"/>
              </a:lnSpc>
              <a:spcAft>
                <a:spcPts val="0"/>
              </a:spcAft>
              <a:defRPr sz="1250" b="0">
                <a:solidFill>
                  <a:srgbClr val="19201D"/>
                </a:solidFill>
                <a:latin typeface="SUIT"/>
              </a:defRPr>
            </a:pPr>
            <a:r>
              <a:rPr>
                <a:ea typeface="SUIT"/>
              </a:rPr>
              <a:t>3  이 사건을 질문 후보로 넘겨요 → D-AI-01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중·조회 실패 · 관련 기업 없음 · 근거 0건</a:t>
            </a:r>
          </a:p>
          <a:p>
            <a:pPr>
              <a:lnSpc>
                <a:spcPts val="1495"/>
              </a:lnSpc>
              <a:spcAft>
                <a:spcPts val="0"/>
              </a:spcAft>
              <a:defRPr sz="1150" b="0">
                <a:solidFill>
                  <a:srgbClr val="19201D"/>
                </a:solidFill>
                <a:latin typeface="SUIT"/>
              </a:defRPr>
            </a:pPr>
            <a:r>
              <a:rPr>
                <a:ea typeface="SUIT"/>
              </a:rPr>
              <a:t>코드 근거: features/node-panel.tsx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FS021 · FS024 / 요구 21·24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D-GRP-03   기업 패널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29</a:t>
            </a:r>
          </a:p>
        </p:txBody>
      </p:sp>
      <p:pic>
        <p:nvPicPr>
          <p:cNvPr id="7" name="Picture 6" descr="D-GRP-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3071241"/>
            <a:ext cx="781061"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293408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282435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8416301" y="3071241"/>
            <a:ext cx="1074455"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8279141" y="293408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69413" y="282435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580376" y="3427857"/>
            <a:ext cx="126422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443216" y="329069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33488" y="318096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7580376" y="3784473"/>
            <a:ext cx="1354133"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7443216" y="36473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333488" y="35375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Rectangle 19"/>
          <p:cNvSpPr/>
          <p:nvPr/>
        </p:nvSpPr>
        <p:spPr>
          <a:xfrm>
            <a:off x="8989373" y="3784473"/>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H="1">
            <a:off x="8989373" y="3647313"/>
            <a:ext cx="1011019"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890664" y="35375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5</a:t>
            </a:r>
          </a:p>
        </p:txBody>
      </p:sp>
      <p:sp>
        <p:nvSpPr>
          <p:cNvPr id="23" name="Rectangle 22"/>
          <p:cNvSpPr/>
          <p:nvPr/>
        </p:nvSpPr>
        <p:spPr>
          <a:xfrm>
            <a:off x="7580376" y="4943475"/>
            <a:ext cx="1986569" cy="141446"/>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a:off x="7443216" y="480631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333488" y="469658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6</a:t>
            </a:r>
          </a:p>
        </p:txBody>
      </p:sp>
      <p:sp>
        <p:nvSpPr>
          <p:cNvPr id="26" name="TextBox 25"/>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7" name="TextBox 26"/>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 삼성전자 노드를 직접 누르기</a:t>
            </a:r>
          </a:p>
        </p:txBody>
      </p:sp>
      <p:sp>
        <p:nvSpPr>
          <p:cNvPr id="28" name="TextBox 27"/>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9" name="TextBox 28"/>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삼성전자 기업 상세로 가요. → D-COM-01</a:t>
            </a:r>
          </a:p>
          <a:p>
            <a:pPr>
              <a:lnSpc>
                <a:spcPts val="1625"/>
              </a:lnSpc>
              <a:spcAft>
                <a:spcPts val="0"/>
              </a:spcAft>
              <a:defRPr sz="1250" b="0">
                <a:solidFill>
                  <a:srgbClr val="19201D"/>
                </a:solidFill>
                <a:latin typeface="SUIT"/>
              </a:defRPr>
            </a:pPr>
            <a:r>
              <a:rPr>
                <a:ea typeface="SUIT"/>
              </a:rPr>
              <a:t>2  관심 등록·해제를 저장해요 → D-GRP-03</a:t>
            </a:r>
          </a:p>
          <a:p>
            <a:pPr>
              <a:lnSpc>
                <a:spcPts val="1625"/>
              </a:lnSpc>
              <a:spcAft>
                <a:spcPts val="0"/>
              </a:spcAft>
              <a:defRPr sz="1250" b="0">
                <a:solidFill>
                  <a:srgbClr val="19201D"/>
                </a:solidFill>
                <a:latin typeface="SUIT"/>
              </a:defRPr>
            </a:pPr>
            <a:r>
              <a:rPr>
                <a:ea typeface="SUIT"/>
              </a:rPr>
              <a:t>3  이 기업 중심 포커스로 바꿔요 → D-GRP-07b</a:t>
            </a:r>
          </a:p>
          <a:p>
            <a:pPr>
              <a:lnSpc>
                <a:spcPts val="1625"/>
              </a:lnSpc>
              <a:spcAft>
                <a:spcPts val="0"/>
              </a:spcAft>
              <a:defRPr sz="1250" b="0">
                <a:solidFill>
                  <a:srgbClr val="19201D"/>
                </a:solidFill>
                <a:latin typeface="SUIT"/>
              </a:defRPr>
            </a:pPr>
            <a:r>
              <a:rPr>
                <a:ea typeface="SUIT"/>
              </a:rPr>
              <a:t>4  두 번째 기업 선택창을 열어요 → D-GRP-07</a:t>
            </a:r>
          </a:p>
          <a:p>
            <a:pPr>
              <a:lnSpc>
                <a:spcPts val="1625"/>
              </a:lnSpc>
              <a:spcAft>
                <a:spcPts val="0"/>
              </a:spcAft>
              <a:defRPr sz="1250" b="0">
                <a:solidFill>
                  <a:srgbClr val="19201D"/>
                </a:solidFill>
                <a:latin typeface="SUIT"/>
              </a:defRPr>
            </a:pPr>
            <a:r>
              <a:rPr>
                <a:ea typeface="SUIT"/>
              </a:rPr>
              <a:t>5  기업 후보를 넘겨 AI 창을 열어요 → D-AI-01</a:t>
            </a:r>
          </a:p>
          <a:p>
            <a:pPr>
              <a:lnSpc>
                <a:spcPts val="1625"/>
              </a:lnSpc>
              <a:spcAft>
                <a:spcPts val="0"/>
              </a:spcAft>
              <a:defRPr sz="1250" b="0">
                <a:solidFill>
                  <a:srgbClr val="19201D"/>
                </a:solidFill>
                <a:latin typeface="SUIT"/>
              </a:defRPr>
            </a:pPr>
            <a:r>
              <a:rPr>
                <a:ea typeface="SUIT"/>
              </a:rPr>
              <a:t>6  기업과 이 사건의 영향 경로를 열어요 → D-GRP-06</a:t>
            </a:r>
          </a:p>
        </p:txBody>
      </p:sp>
      <p:sp>
        <p:nvSpPr>
          <p:cNvPr id="30" name="TextBox 29"/>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31" name="TextBox 30"/>
          <p:cNvSpPr txBox="1"/>
          <p:nvPr/>
        </p:nvSpPr>
        <p:spPr>
          <a:xfrm>
            <a:off x="10561320" y="3785489"/>
            <a:ext cx="3703320" cy="161036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중·조회 실패 · 직접·간접 이슈 없음 · 관심 저장 실패</a:t>
            </a:r>
          </a:p>
          <a:p>
            <a:pPr>
              <a:lnSpc>
                <a:spcPts val="1495"/>
              </a:lnSpc>
              <a:spcAft>
                <a:spcPts val="0"/>
              </a:spcAft>
              <a:defRPr sz="1150" b="0">
                <a:solidFill>
                  <a:srgbClr val="19201D"/>
                </a:solidFill>
                <a:latin typeface="SUIT"/>
              </a:defRPr>
            </a:pPr>
            <a:r>
              <a:rPr>
                <a:ea typeface="SUIT"/>
              </a:rPr>
              <a:t>코드 근거: features/node-panel.tsx · components/domain/watch-toggle.tsx</a:t>
            </a:r>
          </a:p>
          <a:p>
            <a:pPr>
              <a:lnSpc>
                <a:spcPts val="1495"/>
              </a:lnSpc>
              <a:spcAft>
                <a:spcPts val="0"/>
              </a:spcAft>
              <a:defRPr sz="1150" b="0">
                <a:solidFill>
                  <a:srgbClr val="19201D"/>
                </a:solidFill>
                <a:latin typeface="SUIT"/>
              </a:defRPr>
            </a:pPr>
            <a:r>
              <a:rPr>
                <a:ea typeface="SUIT"/>
              </a:rPr>
              <a:t>기존 캡처: docs/design/v5/graph-company-panel-1440-light.png</a:t>
            </a:r>
          </a:p>
          <a:p>
            <a:pPr>
              <a:lnSpc>
                <a:spcPts val="1495"/>
              </a:lnSpc>
              <a:spcAft>
                <a:spcPts val="0"/>
              </a:spcAft>
              <a:defRPr sz="1150" b="0">
                <a:solidFill>
                  <a:srgbClr val="19201D"/>
                </a:solidFill>
                <a:latin typeface="SUIT"/>
              </a:defRPr>
            </a:pPr>
            <a:r>
              <a:rPr>
                <a:ea typeface="SUIT"/>
              </a:rPr>
              <a:t>기존 캡처: docs/design/v6/watch-toggle-1440-light.png</a:t>
            </a:r>
          </a:p>
        </p:txBody>
      </p:sp>
      <p:sp>
        <p:nvSpPr>
          <p:cNvPr id="32" name="TextBox 31"/>
          <p:cNvSpPr txBox="1"/>
          <p:nvPr/>
        </p:nvSpPr>
        <p:spPr>
          <a:xfrm>
            <a:off x="10561320" y="544156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3" name="TextBox 32"/>
          <p:cNvSpPr txBox="1"/>
          <p:nvPr/>
        </p:nvSpPr>
        <p:spPr>
          <a:xfrm>
            <a:off x="10561320" y="568845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FS020 · FS026 · FS027 / 요구 20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D-GRP-04   연결선 상세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/?mode=all&amp;select=edge%3Aedge-f53400022fc7c812</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30</a:t>
            </a:r>
          </a:p>
        </p:txBody>
      </p:sp>
      <p:pic>
        <p:nvPicPr>
          <p:cNvPr id="7" name="Picture 6" descr="D-GRP-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3890772"/>
            <a:ext cx="95808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375361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36438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593324" y="3890772"/>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8456164" y="375361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346436" y="36438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패널의 사건 공유 기업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공유 사건의 근거를 한 창에서 보여줘요. → D-GRP-05</a:t>
            </a:r>
          </a:p>
          <a:p>
            <a:pPr>
              <a:lnSpc>
                <a:spcPts val="1625"/>
              </a:lnSpc>
              <a:spcAft>
                <a:spcPts val="0"/>
              </a:spcAft>
              <a:defRPr sz="1250" b="0">
                <a:solidFill>
                  <a:srgbClr val="19201D"/>
                </a:solidFill>
                <a:latin typeface="SUIT"/>
              </a:defRPr>
            </a:pPr>
            <a:r>
              <a:rPr>
                <a:ea typeface="SUIT"/>
              </a:rPr>
              <a:t>2  연결선 선택을 해제해요 → D-GRP-01</a:t>
            </a:r>
          </a:p>
          <a:p>
            <a:pPr>
              <a:lnSpc>
                <a:spcPts val="1625"/>
              </a:lnSpc>
              <a:spcAft>
                <a:spcPts val="0"/>
              </a:spcAft>
              <a:defRPr sz="1250" b="0">
                <a:solidFill>
                  <a:srgbClr val="19201D"/>
                </a:solidFill>
                <a:latin typeface="SUIT"/>
              </a:defRPr>
            </a:pPr>
            <a:r>
              <a:rPr>
                <a:ea typeface="SUIT"/>
              </a:rPr>
              <a:t>3  연결선을 질문 후보로 넘겨요 → D-AI-01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연결선 선택 · 상세 조회 중·실패 · 공유·근거 0건</a:t>
            </a:r>
          </a:p>
          <a:p>
            <a:pPr>
              <a:lnSpc>
                <a:spcPts val="1495"/>
              </a:lnSpc>
              <a:spcAft>
                <a:spcPts val="0"/>
              </a:spcAft>
              <a:defRPr sz="1150" b="0">
                <a:solidFill>
                  <a:srgbClr val="19201D"/>
                </a:solidFill>
                <a:latin typeface="SUIT"/>
              </a:defRPr>
            </a:pPr>
            <a:r>
              <a:rPr>
                <a:ea typeface="SUIT"/>
              </a:rPr>
              <a:t>코드 근거: features/node-panel.tsx</a:t>
            </a:r>
          </a:p>
          <a:p>
            <a:pPr>
              <a:lnSpc>
                <a:spcPts val="1495"/>
              </a:lnSpc>
              <a:spcAft>
                <a:spcPts val="0"/>
              </a:spcAft>
              <a:defRPr sz="1150" b="0">
                <a:solidFill>
                  <a:srgbClr val="19201D"/>
                </a:solidFill>
                <a:latin typeface="SUIT"/>
              </a:defRPr>
            </a:pPr>
            <a:r>
              <a:rPr>
                <a:ea typeface="SUIT"/>
              </a:rPr>
              <a:t>기존 캡처: docs/design/v5/graph-edge-panel-1440-light.png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FS023 · FS024 / 요구 23·24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D-GRP-05   근거 문서 창</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/?mode=all&amp;select=node%3AKRX%3A005930&amp;impact=KRX%3A005930%2Cissue-25ac3f6d1288d2b7ffa5454d</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31</a:t>
            </a:r>
          </a:p>
        </p:txBody>
      </p:sp>
      <p:pic>
        <p:nvPicPr>
          <p:cNvPr id="7" name="Picture 6" descr="D-GRP-0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3846195"/>
            <a:ext cx="645723"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3709034"/>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359930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842051" y="3873627"/>
            <a:ext cx="81728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H="1">
            <a:off x="7842051" y="3736466"/>
            <a:ext cx="954441"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686764" y="362673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8640794" y="2231136"/>
            <a:ext cx="192023" cy="19202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8503634" y="209397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393906" y="198424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사건·관계·영향 경로의 근거 버튼</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근거 창을 닫고 영향 경로를 유지해요. → D-GRP-06</a:t>
            </a:r>
          </a:p>
          <a:p>
            <a:pPr>
              <a:lnSpc>
                <a:spcPts val="1625"/>
              </a:lnSpc>
              <a:spcAft>
                <a:spcPts val="0"/>
              </a:spcAft>
              <a:defRPr sz="1250" b="0">
                <a:solidFill>
                  <a:srgbClr val="19201D"/>
                </a:solidFill>
                <a:latin typeface="SUIT"/>
              </a:defRPr>
            </a:pPr>
            <a:r>
              <a:rPr>
                <a:ea typeface="SUIT"/>
              </a:rPr>
              <a:t>2  원문 링크를 눌렀으나 이 실행에서 새 창 이동은 미관측 → D-GRP-05</a:t>
            </a:r>
          </a:p>
          <a:p>
            <a:pPr>
              <a:lnSpc>
                <a:spcPts val="1625"/>
              </a:lnSpc>
              <a:spcAft>
                <a:spcPts val="0"/>
              </a:spcAft>
              <a:defRPr sz="1250" b="0">
                <a:solidFill>
                  <a:srgbClr val="19201D"/>
                </a:solidFill>
                <a:latin typeface="SUIT"/>
              </a:defRPr>
            </a:pPr>
            <a:r>
              <a:rPr>
                <a:ea typeface="SUIT"/>
              </a:rPr>
              <a:t>3  이 인용의 연결선을 지도에서 강조해요 → D-GRP-05</a:t>
            </a:r>
          </a:p>
          <a:p>
            <a:pPr>
              <a:lnSpc>
                <a:spcPts val="1625"/>
              </a:lnSpc>
              <a:spcAft>
                <a:spcPts val="0"/>
              </a:spcAft>
              <a:defRPr sz="1250" b="0">
                <a:solidFill>
                  <a:srgbClr val="19201D"/>
                </a:solidFill>
                <a:latin typeface="SUIT"/>
              </a:defRPr>
            </a:pPr>
            <a:r>
              <a:rPr>
                <a:ea typeface="SUIT"/>
              </a:rPr>
              <a:t>4  관계 검증 시점과 문서 발행을 구분해요 → D-GRP-05</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근거 0건 · 링크 있음·없음 · 일부 조회 실패</a:t>
            </a:r>
          </a:p>
          <a:p>
            <a:pPr>
              <a:lnSpc>
                <a:spcPts val="1495"/>
              </a:lnSpc>
              <a:spcAft>
                <a:spcPts val="0"/>
              </a:spcAft>
              <a:defRPr sz="1150" b="0">
                <a:solidFill>
                  <a:srgbClr val="19201D"/>
                </a:solidFill>
                <a:latin typeface="SUIT"/>
              </a:defRPr>
            </a:pPr>
            <a:r>
              <a:rPr>
                <a:ea typeface="SUIT"/>
              </a:rPr>
              <a:t>삭제·비공개·권한 없음 → 제공 불가</a:t>
            </a:r>
          </a:p>
          <a:p>
            <a:pPr>
              <a:lnSpc>
                <a:spcPts val="1495"/>
              </a:lnSpc>
              <a:spcAft>
                <a:spcPts val="0"/>
              </a:spcAft>
              <a:defRPr sz="1150" b="0">
                <a:solidFill>
                  <a:srgbClr val="19201D"/>
                </a:solidFill>
                <a:latin typeface="SUIT"/>
              </a:defRPr>
            </a:pPr>
            <a:r>
              <a:rPr>
                <a:ea typeface="SUIT"/>
              </a:rPr>
              <a:t>코드 근거: features/overlays.tsx · components/domain/evidence.tsx</a:t>
            </a:r>
          </a:p>
          <a:p>
            <a:pPr>
              <a:lnSpc>
                <a:spcPts val="1495"/>
              </a:lnSpc>
              <a:spcAft>
                <a:spcPts val="0"/>
              </a:spcAft>
              <a:defRPr sz="1150" b="0">
                <a:solidFill>
                  <a:srgbClr val="19201D"/>
                </a:solidFill>
                <a:latin typeface="SUIT"/>
              </a:defRPr>
            </a:pPr>
            <a:r>
              <a:rPr>
                <a:ea typeface="SUIT"/>
              </a:rPr>
              <a:t>기존 캡처: docs/design/v7/evidence-sheet-gone-390-dark.png</a:t>
            </a:r>
          </a:p>
          <a:p>
            <a:pPr>
              <a:lnSpc>
                <a:spcPts val="1495"/>
              </a:lnSpc>
              <a:spcAft>
                <a:spcPts val="0"/>
              </a:spcAft>
              <a:defRPr sz="1150" b="0">
                <a:solidFill>
                  <a:srgbClr val="19201D"/>
                </a:solidFill>
                <a:latin typeface="SUIT"/>
              </a:defRPr>
            </a:pPr>
            <a:r>
              <a:rPr>
                <a:ea typeface="SUIT"/>
              </a:rPr>
              <a:t>기존 캡처: docs/design/v5/graph-evidence-times-1440-light.png</a:t>
            </a:r>
          </a:p>
        </p:txBody>
      </p:sp>
      <p:sp>
        <p:nvSpPr>
          <p:cNvPr id="26" name="TextBox 25"/>
          <p:cNvSpPr txBox="1"/>
          <p:nvPr/>
        </p:nvSpPr>
        <p:spPr>
          <a:xfrm>
            <a:off x="10561320" y="54250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6719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FS024 / 요구 24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D-GRP-06   기업에서 여는 영향 경로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/?mode=all&amp;select=node%3AKRX%3A005930&amp;impact=KRX%3A005930%2Cissue-25ac3f6d1288d2b7ffa5454d</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32</a:t>
            </a:r>
          </a:p>
        </p:txBody>
      </p:sp>
      <p:pic>
        <p:nvPicPr>
          <p:cNvPr id="7" name="Picture 6" descr="D-GRP-06.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4872323"/>
            <a:ext cx="650438"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473516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462543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580376" y="2872359"/>
            <a:ext cx="8199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7443216" y="273519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333488" y="262547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455199" y="2872359"/>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8318039" y="273519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08311" y="262547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768078" y="3338703"/>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630918" y="320154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521190" y="309181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직접 이슈 제목</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인용문과 출처를 근거 창에서 보여줘요. → D-GRP-05</a:t>
            </a:r>
          </a:p>
          <a:p>
            <a:pPr>
              <a:lnSpc>
                <a:spcPts val="1625"/>
              </a:lnSpc>
              <a:spcAft>
                <a:spcPts val="0"/>
              </a:spcAft>
              <a:defRPr sz="1250" b="0">
                <a:solidFill>
                  <a:srgbClr val="19201D"/>
                </a:solidFill>
                <a:latin typeface="SUIT"/>
              </a:defRPr>
            </a:pPr>
            <a:r>
              <a:rPr>
                <a:ea typeface="SUIT"/>
              </a:rPr>
              <a:t>2  이 사건의 패널을 열어요 → D-GRP-02</a:t>
            </a:r>
          </a:p>
          <a:p>
            <a:pPr>
              <a:lnSpc>
                <a:spcPts val="1625"/>
              </a:lnSpc>
              <a:spcAft>
                <a:spcPts val="0"/>
              </a:spcAft>
              <a:defRPr sz="1250" b="0">
                <a:solidFill>
                  <a:srgbClr val="19201D"/>
                </a:solidFill>
                <a:latin typeface="SUIT"/>
              </a:defRPr>
            </a:pPr>
            <a:r>
              <a:rPr>
                <a:ea typeface="SUIT"/>
              </a:rPr>
              <a:t>3  이 경로의 대상을 AI 창으로 넘겨요 → D-AI-01</a:t>
            </a:r>
          </a:p>
          <a:p>
            <a:pPr>
              <a:lnSpc>
                <a:spcPts val="1625"/>
              </a:lnSpc>
              <a:spcAft>
                <a:spcPts val="0"/>
              </a:spcAft>
              <a:defRPr sz="1250" b="0">
                <a:solidFill>
                  <a:srgbClr val="19201D"/>
                </a:solidFill>
                <a:latin typeface="SUIT"/>
              </a:defRPr>
            </a:pPr>
            <a:r>
              <a:rPr>
                <a:ea typeface="SUIT"/>
              </a:rPr>
              <a:t>4  최소 단계 경로의 계산 규칙을 보여줘요 → D-GRP-06</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직접·중간 연결 · 관계 조회 실패 · 근거 없음</a:t>
            </a:r>
          </a:p>
          <a:p>
            <a:pPr>
              <a:lnSpc>
                <a:spcPts val="1495"/>
              </a:lnSpc>
              <a:spcAft>
                <a:spcPts val="0"/>
              </a:spcAft>
              <a:defRPr sz="1150" b="0">
                <a:solidFill>
                  <a:srgbClr val="19201D"/>
                </a:solidFill>
                <a:latin typeface="SUIT"/>
              </a:defRPr>
            </a:pPr>
            <a:r>
              <a:rPr>
                <a:ea typeface="SUIT"/>
              </a:rPr>
              <a:t>코드 근거: features/impact-panel.tsx</a:t>
            </a:r>
          </a:p>
          <a:p>
            <a:pPr>
              <a:lnSpc>
                <a:spcPts val="1495"/>
              </a:lnSpc>
              <a:spcAft>
                <a:spcPts val="0"/>
              </a:spcAft>
              <a:defRPr sz="1150" b="0">
                <a:solidFill>
                  <a:srgbClr val="19201D"/>
                </a:solidFill>
                <a:latin typeface="SUIT"/>
              </a:defRPr>
            </a:pPr>
            <a:r>
              <a:rPr>
                <a:ea typeface="SUIT"/>
              </a:rPr>
              <a:t>기존 캡처: docs/design/v6/impact-path-1440-light.png</a:t>
            </a:r>
          </a:p>
        </p:txBody>
      </p:sp>
      <p:sp>
        <p:nvSpPr>
          <p:cNvPr id="26" name="TextBox 25"/>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FS022 · FS024 / 요구 22·24</a:t>
            </a:r>
          </a:p>
        </p:txBody>
      </p:sp>
      <p:sp>
        <p:nvSpPr>
          <p:cNvPr id="28" name="TextBox 27"/>
          <p:cNvSpPr txBox="1"/>
          <p:nvPr/>
        </p:nvSpPr>
        <p:spPr>
          <a:xfrm>
            <a:off x="10561320" y="485978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106670"/>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영향 경로라는 이름과 중간 산업·제품 자료를 확인해야 해요.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D-GRP-07   포커스·두 기업 사이 경로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/?mode=all&amp;path=KRX%3A005930%2CNASDAQ%3ANVDA</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33</a:t>
            </a:r>
          </a:p>
        </p:txBody>
      </p:sp>
      <p:pic>
        <p:nvPicPr>
          <p:cNvPr id="7" name="Picture 6" descr="D-GRP-07.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499240" y="2347722"/>
            <a:ext cx="661475"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362080" y="221056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252352" y="210083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580376" y="2656332"/>
            <a:ext cx="106073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7443216" y="25191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333488" y="24094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768078" y="3122676"/>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630918" y="298551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521190" y="287578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다른 기업과의 연결 보기 → NVIDIA</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두 기업 경로를 풀고 전체 지도를 보여줘요. → D-GRP-01</a:t>
            </a:r>
          </a:p>
          <a:p>
            <a:pPr>
              <a:lnSpc>
                <a:spcPts val="1625"/>
              </a:lnSpc>
              <a:spcAft>
                <a:spcPts val="0"/>
              </a:spcAft>
              <a:defRPr sz="1250" b="0">
                <a:solidFill>
                  <a:srgbClr val="19201D"/>
                </a:solidFill>
                <a:latin typeface="SUIT"/>
              </a:defRPr>
            </a:pPr>
            <a:r>
              <a:rPr>
                <a:ea typeface="SUIT"/>
              </a:rPr>
              <a:t>2  두 번째 기업 선택창을 다시 열어요 → D-GRP-07</a:t>
            </a:r>
          </a:p>
          <a:p>
            <a:pPr>
              <a:lnSpc>
                <a:spcPts val="1625"/>
              </a:lnSpc>
              <a:spcAft>
                <a:spcPts val="0"/>
              </a:spcAft>
              <a:defRPr sz="1250" b="0">
                <a:solidFill>
                  <a:srgbClr val="19201D"/>
                </a:solidFill>
                <a:latin typeface="SUIT"/>
              </a:defRPr>
            </a:pPr>
            <a:r>
              <a:rPr>
                <a:ea typeface="SUIT"/>
              </a:rPr>
              <a:t>3  방향을 무시한 최소 단계 규칙을 보여줘요 → D-GRP-07</a:t>
            </a:r>
          </a:p>
          <a:p>
            <a:pPr>
              <a:lnSpc>
                <a:spcPts val="1625"/>
              </a:lnSpc>
              <a:spcAft>
                <a:spcPts val="0"/>
              </a:spcAft>
              <a:defRPr sz="1250" b="0">
                <a:solidFill>
                  <a:srgbClr val="19201D"/>
                </a:solidFill>
                <a:latin typeface="SUIT"/>
              </a:defRPr>
            </a:pPr>
            <a:r>
              <a:rPr>
                <a:ea typeface="SUIT"/>
              </a:rPr>
              <a:t>4  두 기업 경로를 해제해요 → D-GRP-01</a:t>
            </a:r>
          </a:p>
        </p:txBody>
      </p:sp>
      <p:sp>
        <p:nvSpPr>
          <p:cNvPr id="24" name="TextBox 23"/>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78548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연결됨 · 두 기업을 잇는 사건 없음 · 경로 해제</a:t>
            </a:r>
          </a:p>
          <a:p>
            <a:pPr>
              <a:lnSpc>
                <a:spcPts val="1495"/>
              </a:lnSpc>
              <a:spcAft>
                <a:spcPts val="0"/>
              </a:spcAft>
              <a:defRPr sz="1150" b="0">
                <a:solidFill>
                  <a:srgbClr val="19201D"/>
                </a:solidFill>
                <a:latin typeface="SUIT"/>
              </a:defRPr>
            </a:pPr>
            <a:r>
              <a:rPr>
                <a:ea typeface="SUIT"/>
              </a:rPr>
              <a:t>코드 근거: features/path-panel.tsx · features/graph-explorer.tsx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6" name="TextBox 25"/>
          <p:cNvSpPr txBox="1"/>
          <p:nvPr/>
        </p:nvSpPr>
        <p:spPr>
          <a:xfrm>
            <a:off x="10561320" y="506183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30872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FS020 · FS023 / 요구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D-GRP-07b   선택 기업 포커스</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/?mode=all&amp;select=node%3AKRX%3A005930&amp;focus=KRX%3A005930&amp;hops=1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34</a:t>
            </a:r>
          </a:p>
        </p:txBody>
      </p:sp>
      <p:pic>
        <p:nvPicPr>
          <p:cNvPr id="7" name="Picture 6" descr="D-GRP-07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396692" y="2388870"/>
            <a:ext cx="661475"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flipH="1">
            <a:off x="2396692" y="2251710"/>
            <a:ext cx="798635"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085599" y="214198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943635" y="2375154"/>
            <a:ext cx="370760"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806475" y="22379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696747" y="21282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이 노드 중심으로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포커스를 풀고 전체 지도 배치로 돌아가요. → D-GRP-01</a:t>
            </a:r>
          </a:p>
          <a:p>
            <a:pPr>
              <a:lnSpc>
                <a:spcPts val="1625"/>
              </a:lnSpc>
              <a:spcAft>
                <a:spcPts val="0"/>
              </a:spcAft>
              <a:defRPr sz="1250" b="0">
                <a:solidFill>
                  <a:srgbClr val="19201D"/>
                </a:solidFill>
                <a:latin typeface="SUIT"/>
              </a:defRPr>
            </a:pPr>
            <a:r>
              <a:rPr>
                <a:ea typeface="SUIT"/>
              </a:rPr>
              <a:t>2  포커스 연결 범위를 2단계로 넓혀요 → D-GRP-07b</a:t>
            </a:r>
          </a:p>
          <a:p>
            <a:pPr>
              <a:lnSpc>
                <a:spcPts val="1625"/>
              </a:lnSpc>
              <a:spcAft>
                <a:spcPts val="0"/>
              </a:spcAft>
              <a:defRPr sz="1250" b="0">
                <a:solidFill>
                  <a:srgbClr val="19201D"/>
                </a:solidFill>
                <a:latin typeface="SUIT"/>
              </a:defRPr>
            </a:pPr>
            <a:r>
              <a:rPr>
                <a:ea typeface="SUIT"/>
              </a:rPr>
              <a:t>3  기업 패널을 닫아요 → D-GRP-07b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포커스 1·2단계 · 전체 보기 · 선택 해제</a:t>
            </a:r>
          </a:p>
          <a:p>
            <a:pPr>
              <a:lnSpc>
                <a:spcPts val="1495"/>
              </a:lnSpc>
              <a:spcAft>
                <a:spcPts val="0"/>
              </a:spcAft>
              <a:defRPr sz="1150" b="0">
                <a:solidFill>
                  <a:srgbClr val="19201D"/>
                </a:solidFill>
                <a:latin typeface="SUIT"/>
              </a:defRPr>
            </a:pPr>
            <a:r>
              <a:rPr>
                <a:ea typeface="SUIT"/>
              </a:rPr>
              <a:t>코드 근거: features/graph-explorer.tsx</a:t>
            </a:r>
          </a:p>
          <a:p>
            <a:pPr>
              <a:lnSpc>
                <a:spcPts val="1495"/>
              </a:lnSpc>
              <a:spcAft>
                <a:spcPts val="0"/>
              </a:spcAft>
              <a:defRPr sz="1150" b="0">
                <a:solidFill>
                  <a:srgbClr val="19201D"/>
                </a:solidFill>
                <a:latin typeface="SUIT"/>
              </a:defRPr>
            </a:pPr>
            <a:r>
              <a:rPr>
                <a:ea typeface="SUIT"/>
              </a:rPr>
              <a:t>기존 캡처: docs/design/v6/focus-390-light.png</a:t>
            </a: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FS020 / 요구 20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D-COM-01   기업 상세·시세·모의 보유</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35</a:t>
            </a:r>
          </a:p>
        </p:txBody>
      </p:sp>
      <p:pic>
        <p:nvPicPr>
          <p:cNvPr id="7" name="Picture 6" descr="D-COM-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273552"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136392"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026664"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151376"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4014216"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904488"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5074419" y="3067812"/>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937259" y="293065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27531" y="28209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기업 상세</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이 기업 사건의 근거 문서 목록을 보여줘요. → D-COM-02</a:t>
            </a:r>
          </a:p>
          <a:p>
            <a:pPr>
              <a:lnSpc>
                <a:spcPts val="1625"/>
              </a:lnSpc>
              <a:spcAft>
                <a:spcPts val="0"/>
              </a:spcAft>
              <a:defRPr sz="1250" b="0">
                <a:solidFill>
                  <a:srgbClr val="19201D"/>
                </a:solidFill>
                <a:latin typeface="SUIT"/>
              </a:defRPr>
            </a:pPr>
            <a:r>
              <a:rPr>
                <a:ea typeface="SUIT"/>
              </a:rPr>
              <a:t>2  등록된 기업 정보를 보여줘요 → D-COM-02</a:t>
            </a:r>
          </a:p>
          <a:p>
            <a:pPr>
              <a:lnSpc>
                <a:spcPts val="1625"/>
              </a:lnSpc>
              <a:spcAft>
                <a:spcPts val="0"/>
              </a:spcAft>
              <a:defRPr sz="1250" b="0">
                <a:solidFill>
                  <a:srgbClr val="19201D"/>
                </a:solidFill>
                <a:latin typeface="SUIT"/>
              </a:defRPr>
            </a:pPr>
            <a:r>
              <a:rPr>
                <a:ea typeface="SUIT"/>
              </a:rPr>
              <a:t>3  시세 출처와 관측 시각을 설명해요 → D-COM-01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FS039 · FS040 · FS044 / 요구 35·36·37·41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D-COM-01b   차트·사건 타임라인·인과관계 고지</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36</a:t>
            </a:r>
          </a:p>
        </p:txBody>
      </p:sp>
      <p:pic>
        <p:nvPicPr>
          <p:cNvPr id="7" name="Picture 6" descr="D-COM-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502116" y="1685925"/>
            <a:ext cx="512099"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64956" y="1548764"/>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255228" y="143903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423160" y="1685925"/>
            <a:ext cx="511992"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286000" y="1548764"/>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176272" y="143903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834818" y="1685925"/>
            <a:ext cx="464093"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697658" y="1548764"/>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87930" y="143903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2395728" y="4504563"/>
            <a:ext cx="46945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2258568" y="436740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2148840" y="425767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 사건 탭에서 차트 아래까지 스크롤</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차트와 사건의 조회 기간을 1년으로 바꿔요. → D-COM-01b</a:t>
            </a:r>
          </a:p>
          <a:p>
            <a:pPr>
              <a:lnSpc>
                <a:spcPts val="1625"/>
              </a:lnSpc>
              <a:spcAft>
                <a:spcPts val="0"/>
              </a:spcAft>
              <a:defRPr sz="1250" b="0">
                <a:solidFill>
                  <a:srgbClr val="19201D"/>
                </a:solidFill>
                <a:latin typeface="SUIT"/>
              </a:defRPr>
            </a:pPr>
            <a:r>
              <a:rPr>
                <a:ea typeface="SUIT"/>
              </a:rPr>
              <a:t>2  차트와 사건을 오늘 범위로 바꿔요 → D-COM-01b</a:t>
            </a:r>
          </a:p>
          <a:p>
            <a:pPr>
              <a:lnSpc>
                <a:spcPts val="1625"/>
              </a:lnSpc>
              <a:spcAft>
                <a:spcPts val="0"/>
              </a:spcAft>
              <a:defRPr sz="1250" b="0">
                <a:solidFill>
                  <a:srgbClr val="19201D"/>
                </a:solidFill>
                <a:latin typeface="SUIT"/>
              </a:defRPr>
            </a:pPr>
            <a:r>
              <a:rPr>
                <a:ea typeface="SUIT"/>
              </a:rPr>
              <a:t>3  직접 관련 사건만 보여줘요 → D-COM-01b</a:t>
            </a:r>
          </a:p>
          <a:p>
            <a:pPr>
              <a:lnSpc>
                <a:spcPts val="1625"/>
              </a:lnSpc>
              <a:spcAft>
                <a:spcPts val="0"/>
              </a:spcAft>
              <a:defRPr sz="1250" b="0">
                <a:solidFill>
                  <a:srgbClr val="19201D"/>
                </a:solidFill>
                <a:latin typeface="SUIT"/>
              </a:defRPr>
            </a:pPr>
            <a:r>
              <a:rPr>
                <a:ea typeface="SUIT"/>
              </a:rPr>
              <a:t>4  시세를 표로 펼쳐요 → D-COM-01b</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features/company-price-chart.tsx · features/company-timeline.tsx</a:t>
            </a:r>
          </a:p>
          <a:p>
            <a:pPr>
              <a:lnSpc>
                <a:spcPts val="1495"/>
              </a:lnSpc>
              <a:spcAft>
                <a:spcPts val="0"/>
              </a:spcAft>
              <a:defRPr sz="1150" b="0">
                <a:solidFill>
                  <a:srgbClr val="19201D"/>
                </a:solidFill>
                <a:latin typeface="SUIT"/>
              </a:defRPr>
            </a:pPr>
            <a:r>
              <a:rPr>
                <a:ea typeface="SUIT"/>
              </a:rPr>
              <a:t>기존 캡처: docs/design/v7/company-chart-notice-1440-light.png</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6" name="TextBox 25"/>
          <p:cNvSpPr txBox="1"/>
          <p:nvPr/>
        </p:nvSpPr>
        <p:spPr>
          <a:xfrm>
            <a:off x="10561320" y="504532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29221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FS040 · FS041 / 요구 37·38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D-COM-02   사건 타임라인·문서 탭</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/companies/KRX%3A005930?tab=documents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37</a:t>
            </a:r>
          </a:p>
        </p:txBody>
      </p:sp>
      <p:pic>
        <p:nvPicPr>
          <p:cNvPr id="7" name="Picture 6" descr="D-COM-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395728"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258568"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148840"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151376"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4014216"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904488"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5074419" y="3067812"/>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937259" y="293065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27531" y="28209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상세의 문서 탭</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기간별 사건 타임라인으로 돌아가요. → D-COM-01</a:t>
            </a:r>
          </a:p>
          <a:p>
            <a:pPr>
              <a:lnSpc>
                <a:spcPts val="1625"/>
              </a:lnSpc>
              <a:spcAft>
                <a:spcPts val="0"/>
              </a:spcAft>
              <a:defRPr sz="1250" b="0">
                <a:solidFill>
                  <a:srgbClr val="19201D"/>
                </a:solidFill>
                <a:latin typeface="SUIT"/>
              </a:defRPr>
            </a:pPr>
            <a:r>
              <a:rPr>
                <a:ea typeface="SUIT"/>
              </a:rPr>
              <a:t>2  등록된 기업 정보를 보여줘요 → D-COM-02</a:t>
            </a:r>
          </a:p>
          <a:p>
            <a:pPr>
              <a:lnSpc>
                <a:spcPts val="1625"/>
              </a:lnSpc>
              <a:spcAft>
                <a:spcPts val="0"/>
              </a:spcAft>
              <a:defRPr sz="1250" b="0">
                <a:solidFill>
                  <a:srgbClr val="19201D"/>
                </a:solidFill>
                <a:latin typeface="SUIT"/>
              </a:defRPr>
            </a:pPr>
            <a:r>
              <a:rPr>
                <a:ea typeface="SUIT"/>
              </a:rPr>
              <a:t>3  시세 출처와 지연 가능성을 설명해요 → D-COM-01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features/company-documents.tsx · pages/company-page.tsx</a:t>
            </a:r>
          </a:p>
          <a:p>
            <a:pPr>
              <a:lnSpc>
                <a:spcPts val="1495"/>
              </a:lnSpc>
              <a:spcAft>
                <a:spcPts val="0"/>
              </a:spcAft>
              <a:defRPr sz="1150" b="0">
                <a:solidFill>
                  <a:srgbClr val="19201D"/>
                </a:solidFill>
                <a:latin typeface="SUIT"/>
              </a:defRPr>
            </a:pPr>
            <a:r>
              <a:rPr>
                <a:ea typeface="SUIT"/>
              </a:rPr>
              <a:t>기존 캡처: docs/design/v5/company-documents.png</a:t>
            </a:r>
          </a:p>
          <a:p>
            <a:pPr>
              <a:lnSpc>
                <a:spcPts val="1495"/>
              </a:lnSpc>
              <a:spcAft>
                <a:spcPts val="0"/>
              </a:spcAft>
              <a:defRPr sz="1150" b="0">
                <a:solidFill>
                  <a:srgbClr val="19201D"/>
                </a:solidFill>
                <a:latin typeface="SUIT"/>
              </a:defRPr>
            </a:pPr>
            <a:r>
              <a:rPr>
                <a:ea typeface="SUIT"/>
              </a:rPr>
              <a:t>기존 캡처: docs/design/v7/evidence-gone-390-dark.png</a:t>
            </a:r>
          </a:p>
        </p:txBody>
      </p:sp>
      <p:sp>
        <p:nvSpPr>
          <p:cNvPr id="23" name="TextBox 22"/>
          <p:cNvSpPr txBox="1"/>
          <p:nvPr/>
        </p:nvSpPr>
        <p:spPr>
          <a:xfrm>
            <a:off x="10561320" y="463257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7946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FS040 · FS041 · FS043 / 요구 37·38·40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D-MY-01   내 종목 관리</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/me/stocks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38</a:t>
            </a:r>
          </a:p>
        </p:txBody>
      </p:sp>
      <p:pic>
        <p:nvPicPr>
          <p:cNvPr id="7" name="Picture 6" descr="D-MY-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920400" y="5606986"/>
            <a:ext cx="57767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783240" y="546982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673512" y="53600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108960" y="5606986"/>
            <a:ext cx="375657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971800" y="546982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862072" y="53600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251192" y="3195113"/>
            <a:ext cx="30175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114032" y="305795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004304" y="294822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7001196" y="2334006"/>
            <a:ext cx="496883"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6864036" y="219684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754308" y="208711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회원 → 상단 내 종목</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입력한 이름의 종목 검색 결과를 보여줘요. → D-MY-01</a:t>
            </a:r>
          </a:p>
          <a:p>
            <a:pPr>
              <a:lnSpc>
                <a:spcPts val="1625"/>
              </a:lnSpc>
              <a:spcAft>
                <a:spcPts val="0"/>
              </a:spcAft>
              <a:defRPr sz="1250" b="0">
                <a:solidFill>
                  <a:srgbClr val="19201D"/>
                </a:solidFill>
                <a:latin typeface="SUIT"/>
              </a:defRPr>
            </a:pPr>
            <a:r>
              <a:rPr>
                <a:ea typeface="SUIT"/>
              </a:rPr>
              <a:t>2  검색할 이름·코드를 입력해요 → D-MY-01</a:t>
            </a:r>
          </a:p>
          <a:p>
            <a:pPr>
              <a:lnSpc>
                <a:spcPts val="1625"/>
              </a:lnSpc>
              <a:spcAft>
                <a:spcPts val="0"/>
              </a:spcAft>
              <a:defRPr sz="1250" b="0">
                <a:solidFill>
                  <a:srgbClr val="19201D"/>
                </a:solidFill>
                <a:latin typeface="SUIT"/>
              </a:defRPr>
            </a:pPr>
            <a:r>
              <a:rPr>
                <a:ea typeface="SUIT"/>
              </a:rPr>
              <a:t>3  보유 기업 상세를 열어요 → D-COM-01</a:t>
            </a:r>
          </a:p>
          <a:p>
            <a:pPr>
              <a:lnSpc>
                <a:spcPts val="1625"/>
              </a:lnSpc>
              <a:spcAft>
                <a:spcPts val="0"/>
              </a:spcAft>
              <a:defRPr sz="1250" b="0">
                <a:solidFill>
                  <a:srgbClr val="19201D"/>
                </a:solidFill>
                <a:latin typeface="SUIT"/>
              </a:defRPr>
            </a:pPr>
            <a:r>
              <a:rPr>
                <a:ea typeface="SUIT"/>
              </a:rPr>
              <a:t>4  모의 계좌를 해제하고 보유 표시를 없애요 → D-MY-01</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계좌 미연결·연결됨 · 관심 0개·편집·저장 실패</a:t>
            </a:r>
          </a:p>
          <a:p>
            <a:pPr>
              <a:lnSpc>
                <a:spcPts val="1495"/>
              </a:lnSpc>
              <a:spcAft>
                <a:spcPts val="0"/>
              </a:spcAft>
              <a:defRPr sz="1150" b="0">
                <a:solidFill>
                  <a:srgbClr val="19201D"/>
                </a:solidFill>
                <a:latin typeface="SUIT"/>
              </a:defRPr>
            </a:pPr>
            <a:r>
              <a:rPr>
                <a:ea typeface="SUIT"/>
              </a:rPr>
              <a:t>코드 근거: pages/my-stocks-page.tsx</a:t>
            </a:r>
          </a:p>
          <a:p>
            <a:pPr>
              <a:lnSpc>
                <a:spcPts val="1495"/>
              </a:lnSpc>
              <a:spcAft>
                <a:spcPts val="0"/>
              </a:spcAft>
              <a:defRPr sz="1150" b="0">
                <a:solidFill>
                  <a:srgbClr val="19201D"/>
                </a:solidFill>
                <a:latin typeface="SUIT"/>
              </a:defRPr>
            </a:pPr>
            <a:r>
              <a:rPr>
                <a:ea typeface="SUIT"/>
              </a:rPr>
              <a:t>기존 캡처: docs/design/v6/holding-valuation-1440-light.png</a:t>
            </a:r>
          </a:p>
        </p:txBody>
      </p:sp>
      <p:sp>
        <p:nvSpPr>
          <p:cNvPr id="26" name="TextBox 25"/>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70611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FS027 · FS054 · FS062 / 요구 63·71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D-BRF-01   출근 브리핑</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/briefing?date=2026-09-17&amp;edition=morning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39</a:t>
            </a:r>
          </a:p>
        </p:txBody>
      </p:sp>
      <p:pic>
        <p:nvPicPr>
          <p:cNvPr id="7" name="Picture 6" descr="D-BRF-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796028" y="2306574"/>
            <a:ext cx="726947"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4658868"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49140"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834640" y="2306574"/>
            <a:ext cx="109728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697480"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587752"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463790" y="3400425"/>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326630" y="326326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216902" y="315353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6629900" y="4898898"/>
            <a:ext cx="1025913"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6492740" y="476173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383012" y="4652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브리핑 → 발행일 → 출근</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같은 발행일 퇴근 회차를 보여줘요. → D-BRF-02</a:t>
            </a:r>
          </a:p>
          <a:p>
            <a:pPr>
              <a:lnSpc>
                <a:spcPts val="1625"/>
              </a:lnSpc>
              <a:spcAft>
                <a:spcPts val="0"/>
              </a:spcAft>
              <a:defRPr sz="1250" b="0">
                <a:solidFill>
                  <a:srgbClr val="19201D"/>
                </a:solidFill>
                <a:latin typeface="SUIT"/>
              </a:defRPr>
            </a:pPr>
            <a:r>
              <a:rPr>
                <a:ea typeface="SUIT"/>
              </a:rPr>
              <a:t>2  발행된 날짜 선택지를 열어요 → D-BRF-01</a:t>
            </a:r>
          </a:p>
          <a:p>
            <a:pPr>
              <a:lnSpc>
                <a:spcPts val="1625"/>
              </a:lnSpc>
              <a:spcAft>
                <a:spcPts val="0"/>
              </a:spcAft>
              <a:defRPr sz="1250" b="0">
                <a:solidFill>
                  <a:srgbClr val="19201D"/>
                </a:solidFill>
                <a:latin typeface="SUIT"/>
              </a:defRPr>
            </a:pPr>
            <a:r>
              <a:rPr>
                <a:ea typeface="SUIT"/>
              </a:rPr>
              <a:t>3  회차 고정·출처·수집 시각을 보여줘요 → D-BRF-01</a:t>
            </a:r>
          </a:p>
          <a:p>
            <a:pPr>
              <a:lnSpc>
                <a:spcPts val="1625"/>
              </a:lnSpc>
              <a:spcAft>
                <a:spcPts val="0"/>
              </a:spcAft>
              <a:defRPr sz="1250" b="0">
                <a:solidFill>
                  <a:srgbClr val="19201D"/>
                </a:solidFill>
                <a:latin typeface="SUIT"/>
              </a:defRPr>
            </a:pPr>
            <a:r>
              <a:rPr>
                <a:ea typeface="SUIT"/>
              </a:rPr>
              <a:t>4  발행 당시 전체 지도를 열어요 → D-BRF-04</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발행 전·생성 중·발행·발행 실패·제공 중단</a:t>
            </a:r>
          </a:p>
          <a:p>
            <a:pPr>
              <a:lnSpc>
                <a:spcPts val="1495"/>
              </a:lnSpc>
              <a:spcAft>
                <a:spcPts val="0"/>
              </a:spcAft>
              <a:defRPr sz="1150" b="0">
                <a:solidFill>
                  <a:srgbClr val="19201D"/>
                </a:solidFill>
                <a:latin typeface="SUIT"/>
              </a:defRPr>
            </a:pPr>
            <a:r>
              <a:rPr>
                <a:ea typeface="SUIT"/>
              </a:rPr>
              <a:t>지표 정상·지연·미제공·실패</a:t>
            </a:r>
          </a:p>
          <a:p>
            <a:pPr>
              <a:lnSpc>
                <a:spcPts val="1495"/>
              </a:lnSpc>
              <a:spcAft>
                <a:spcPts val="0"/>
              </a:spcAft>
              <a:defRPr sz="1150" b="0">
                <a:solidFill>
                  <a:srgbClr val="19201D"/>
                </a:solidFill>
                <a:latin typeface="SUIT"/>
              </a:defRPr>
            </a:pPr>
            <a:r>
              <a:rPr>
                <a:ea typeface="SUIT"/>
              </a:rPr>
              <a:t>코드 근거: pages/briefing-page.tsx · features/briefing-market.tsx</a:t>
            </a:r>
          </a:p>
          <a:p>
            <a:pPr>
              <a:lnSpc>
                <a:spcPts val="1495"/>
              </a:lnSpc>
              <a:spcAft>
                <a:spcPts val="0"/>
              </a:spcAft>
              <a:defRPr sz="1150" b="0">
                <a:solidFill>
                  <a:srgbClr val="19201D"/>
                </a:solidFill>
                <a:latin typeface="SUIT"/>
              </a:defRPr>
            </a:pPr>
            <a:r>
              <a:rPr>
                <a:ea typeface="SUIT"/>
              </a:rPr>
              <a:t>기존 캡처: docs/design/v7/briefing-states-1440-light.png</a:t>
            </a:r>
          </a:p>
        </p:txBody>
      </p:sp>
      <p:sp>
        <p:nvSpPr>
          <p:cNvPr id="26" name="TextBox 25"/>
          <p:cNvSpPr txBox="1"/>
          <p:nvPr/>
        </p:nvSpPr>
        <p:spPr>
          <a:xfrm>
            <a:off x="10561320" y="483895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08584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FS028 · FS030 · FS031 · FS033 · FS035 / 요구 26·28·29·31·33</a:t>
            </a:r>
          </a:p>
        </p:txBody>
      </p:sp>
      <p:sp>
        <p:nvSpPr>
          <p:cNvPr id="28" name="TextBox 27"/>
          <p:cNvSpPr txBox="1"/>
          <p:nvPr/>
        </p:nvSpPr>
        <p:spPr>
          <a:xfrm>
            <a:off x="10561320" y="563575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88264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지연 판정 수치·환율 비교 기준·보존 기간이 미정이에요.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D-BRF-02   퇴근 브리핑·회차 비교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/briefing?date=2026-09-17&amp;edition=evening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40</a:t>
            </a:r>
          </a:p>
        </p:txBody>
      </p:sp>
      <p:pic>
        <p:nvPicPr>
          <p:cNvPr id="7" name="Picture 6" descr="D-BRF-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629900" y="4898898"/>
            <a:ext cx="1025913"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492740" y="476173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383012" y="4652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834640" y="2306574"/>
            <a:ext cx="109728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697480"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587752"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41648" y="2306574"/>
            <a:ext cx="726947"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04488"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794760"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7463790" y="3400425"/>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7326630" y="326326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216902" y="315353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브리핑 → 발행일 → 퇴근</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발행 당시 관계·근거의 지도를 열어요. → D-BRF-04</a:t>
            </a:r>
          </a:p>
          <a:p>
            <a:pPr>
              <a:lnSpc>
                <a:spcPts val="1625"/>
              </a:lnSpc>
              <a:spcAft>
                <a:spcPts val="0"/>
              </a:spcAft>
              <a:defRPr sz="1250" b="0">
                <a:solidFill>
                  <a:srgbClr val="19201D"/>
                </a:solidFill>
                <a:latin typeface="SUIT"/>
              </a:defRPr>
            </a:pPr>
            <a:r>
              <a:rPr>
                <a:ea typeface="SUIT"/>
              </a:rPr>
              <a:t>2  조회할 발행일 선택지를 열어요 → D-BRF-02</a:t>
            </a:r>
          </a:p>
          <a:p>
            <a:pPr>
              <a:lnSpc>
                <a:spcPts val="1625"/>
              </a:lnSpc>
              <a:spcAft>
                <a:spcPts val="0"/>
              </a:spcAft>
              <a:defRPr sz="1250" b="0">
                <a:solidFill>
                  <a:srgbClr val="19201D"/>
                </a:solidFill>
                <a:latin typeface="SUIT"/>
              </a:defRPr>
            </a:pPr>
            <a:r>
              <a:rPr>
                <a:ea typeface="SUIT"/>
              </a:rPr>
              <a:t>3  같은 날짜의 출근 회차로 바꿔요 → D-BRF-01</a:t>
            </a:r>
          </a:p>
          <a:p>
            <a:pPr>
              <a:lnSpc>
                <a:spcPts val="1625"/>
              </a:lnSpc>
              <a:spcAft>
                <a:spcPts val="0"/>
              </a:spcAft>
              <a:defRPr sz="1250" b="0">
                <a:solidFill>
                  <a:srgbClr val="19201D"/>
                </a:solidFill>
                <a:latin typeface="SUIT"/>
              </a:defRPr>
            </a:pPr>
            <a:r>
              <a:rPr>
                <a:ea typeface="SUIT"/>
              </a:rPr>
              <a:t>4  발행본에 고정된 시장 지표를 설명해요 → D-BRF-02</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발행 전·생성 중·발행·발행 실패·제공 중단</a:t>
            </a:r>
          </a:p>
          <a:p>
            <a:pPr>
              <a:lnSpc>
                <a:spcPts val="1495"/>
              </a:lnSpc>
              <a:spcAft>
                <a:spcPts val="0"/>
              </a:spcAft>
              <a:defRPr sz="1150" b="0">
                <a:solidFill>
                  <a:srgbClr val="19201D"/>
                </a:solidFill>
                <a:latin typeface="SUIT"/>
              </a:defRPr>
            </a:pPr>
            <a:r>
              <a:rPr>
                <a:ea typeface="SUIT"/>
              </a:rPr>
              <a:t>지표 정상·지연·미제공·실패</a:t>
            </a:r>
          </a:p>
          <a:p>
            <a:pPr>
              <a:lnSpc>
                <a:spcPts val="1495"/>
              </a:lnSpc>
              <a:spcAft>
                <a:spcPts val="0"/>
              </a:spcAft>
              <a:defRPr sz="1150" b="0">
                <a:solidFill>
                  <a:srgbClr val="19201D"/>
                </a:solidFill>
                <a:latin typeface="SUIT"/>
              </a:defRPr>
            </a:pPr>
            <a:r>
              <a:rPr>
                <a:ea typeface="SUIT"/>
              </a:rPr>
              <a:t>코드 근거: pages/briefing-page.tsx · features/briefing-market.tsx</a:t>
            </a:r>
          </a:p>
          <a:p>
            <a:pPr>
              <a:lnSpc>
                <a:spcPts val="1495"/>
              </a:lnSpc>
              <a:spcAft>
                <a:spcPts val="0"/>
              </a:spcAft>
              <a:defRPr sz="1150" b="0">
                <a:solidFill>
                  <a:srgbClr val="19201D"/>
                </a:solidFill>
                <a:latin typeface="SUIT"/>
              </a:defRPr>
            </a:pPr>
            <a:r>
              <a:rPr>
                <a:ea typeface="SUIT"/>
              </a:rPr>
              <a:t>기존 캡처: docs/design/v7/briefing-states-1440-light.png</a:t>
            </a:r>
          </a:p>
        </p:txBody>
      </p:sp>
      <p:sp>
        <p:nvSpPr>
          <p:cNvPr id="26" name="TextBox 25"/>
          <p:cNvSpPr txBox="1"/>
          <p:nvPr/>
        </p:nvSpPr>
        <p:spPr>
          <a:xfrm>
            <a:off x="10561320" y="483895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08584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FS029 · FS030 · FS031 · FS033 · FS035 / 요구 27·28·29·31·33</a:t>
            </a:r>
          </a:p>
        </p:txBody>
      </p:sp>
      <p:sp>
        <p:nvSpPr>
          <p:cNvPr id="28" name="TextBox 27"/>
          <p:cNvSpPr txBox="1"/>
          <p:nvPr/>
        </p:nvSpPr>
        <p:spPr>
          <a:xfrm>
            <a:off x="10561320" y="563575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88264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지연 판정 수치·환율 비교 기준·보존 기간이 미정이에요.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D-BRF-04   회차 기준 지도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/?round=brf-2026-09-17-evening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41</a:t>
            </a:r>
          </a:p>
        </p:txBody>
      </p:sp>
      <p:pic>
        <p:nvPicPr>
          <p:cNvPr id="7" name="Picture 6" descr="D-BRF-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440179" y="1908810"/>
            <a:ext cx="554212"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9303019" y="1771649"/>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193291" y="166192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8542531" y="1908810"/>
            <a:ext cx="84278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8405371" y="1771649"/>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95643" y="166192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248691" y="2347722"/>
            <a:ext cx="47138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9111531" y="234772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001803" y="237515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브리핑 → 이 회차 전체 관계 그래프</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회차 브리핑으로 돌아가요. → D-BRF-02</a:t>
            </a:r>
          </a:p>
          <a:p>
            <a:pPr>
              <a:lnSpc>
                <a:spcPts val="1625"/>
              </a:lnSpc>
              <a:spcAft>
                <a:spcPts val="0"/>
              </a:spcAft>
              <a:defRPr sz="1250" b="0">
                <a:solidFill>
                  <a:srgbClr val="19201D"/>
                </a:solidFill>
                <a:latin typeface="SUIT"/>
              </a:defRPr>
            </a:pPr>
            <a:r>
              <a:rPr>
                <a:ea typeface="SUIT"/>
              </a:rPr>
              <a:t>2  round를 풀고 현재 지도로 가요 → D-GRP-01</a:t>
            </a:r>
          </a:p>
          <a:p>
            <a:pPr>
              <a:lnSpc>
                <a:spcPts val="1625"/>
              </a:lnSpc>
              <a:spcAft>
                <a:spcPts val="0"/>
              </a:spcAft>
              <a:defRPr sz="1250" b="0">
                <a:solidFill>
                  <a:srgbClr val="19201D"/>
                </a:solidFill>
                <a:latin typeface="SUIT"/>
              </a:defRPr>
            </a:pPr>
            <a:r>
              <a:rPr>
                <a:ea typeface="SUIT"/>
              </a:rPr>
              <a:t>3  회차 기준 기업·사건 목록을 보여줘요 → D-BRF-04</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회차 기준 조회 · 제공 중단·자료 없음·조회 실패</a:t>
            </a:r>
          </a:p>
          <a:p>
            <a:pPr>
              <a:lnSpc>
                <a:spcPts val="1495"/>
              </a:lnSpc>
              <a:spcAft>
                <a:spcPts val="0"/>
              </a:spcAft>
              <a:defRPr sz="1150" b="0">
                <a:solidFill>
                  <a:srgbClr val="19201D"/>
                </a:solidFill>
                <a:latin typeface="SUIT"/>
              </a:defRPr>
            </a:pPr>
            <a:r>
              <a:rPr>
                <a:ea typeface="SUIT"/>
              </a:rPr>
              <a:t>코드 근거: pages/main-page.tsx · features/briefing-graph-basis.tsx</a:t>
            </a:r>
          </a:p>
          <a:p>
            <a:pPr>
              <a:lnSpc>
                <a:spcPts val="1495"/>
              </a:lnSpc>
              <a:spcAft>
                <a:spcPts val="0"/>
              </a:spcAft>
              <a:defRPr sz="1150" b="0">
                <a:solidFill>
                  <a:srgbClr val="19201D"/>
                </a:solidFill>
                <a:latin typeface="SUIT"/>
              </a:defRPr>
            </a:pPr>
            <a:r>
              <a:rPr>
                <a:ea typeface="SUIT"/>
              </a:rPr>
              <a:t>기존 캡처: docs/design/v6/briefing-graph-asof-1440-light.png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FS032 · FS035 / 요구 30·33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D-AI-01   AI 질문·대상 연결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42</a:t>
            </a:r>
          </a:p>
        </p:txBody>
      </p:sp>
      <p:pic>
        <p:nvPicPr>
          <p:cNvPr id="7" name="Picture 6" descr="D-AI-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2579179"/>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24420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23322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6870573"/>
            <a:ext cx="2308788"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450252" y="6870573"/>
            <a:ext cx="653867"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313092"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203364"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선택한 기업 → AI에게 묻기 → 새 대화</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삼성전자를 질문 연결 대상에서 빼요. 질문 대상이 없음으로 바뀌어요. → D-AI-01</a:t>
            </a:r>
          </a:p>
          <a:p>
            <a:pPr>
              <a:lnSpc>
                <a:spcPts val="1625"/>
              </a:lnSpc>
              <a:spcAft>
                <a:spcPts val="0"/>
              </a:spcAft>
              <a:defRPr sz="1250" b="0">
                <a:solidFill>
                  <a:srgbClr val="19201D"/>
                </a:solidFill>
                <a:latin typeface="SUIT"/>
              </a:defRPr>
            </a:pPr>
            <a:r>
              <a:rPr>
                <a:ea typeface="SUIT"/>
              </a:rPr>
              <a:t>2  질문을 입력·수정해요 → D-AI-01</a:t>
            </a:r>
          </a:p>
          <a:p>
            <a:pPr>
              <a:lnSpc>
                <a:spcPts val="1625"/>
              </a:lnSpc>
              <a:spcAft>
                <a:spcPts val="0"/>
              </a:spcAft>
              <a:defRPr sz="1250" b="0">
                <a:solidFill>
                  <a:srgbClr val="19201D"/>
                </a:solidFill>
                <a:latin typeface="SUIT"/>
              </a:defRPr>
            </a:pPr>
            <a:r>
              <a:rPr>
                <a:ea typeface="SUIT"/>
              </a:rPr>
              <a:t>3  빈 질문은 전송되지 않아요 → D-AI-01</a:t>
            </a:r>
          </a:p>
          <a:p>
            <a:pPr>
              <a:lnSpc>
                <a:spcPts val="1625"/>
              </a:lnSpc>
              <a:spcAft>
                <a:spcPts val="0"/>
              </a:spcAft>
              <a:defRPr sz="1250" b="0">
                <a:solidFill>
                  <a:srgbClr val="19201D"/>
                </a:solidFill>
                <a:latin typeface="SUIT"/>
              </a:defRPr>
            </a:pPr>
            <a:r>
              <a:rPr>
                <a:ea typeface="SUIT"/>
              </a:rPr>
              <a:t>4  질문 창을 닫고 지도로 돌아가요 → D-GRP-03</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6" name="TextBox 25"/>
          <p:cNvSpPr txBox="1"/>
          <p:nvPr/>
        </p:nvSpPr>
        <p:spPr>
          <a:xfrm>
            <a:off x="10561320" y="54250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671947"/>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FS025 · FS045 · FS047 · FS048 / 요구 25·42·44·45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D-AI-01b   AI 되묻기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43</a:t>
            </a:r>
          </a:p>
        </p:txBody>
      </p:sp>
      <p:pic>
        <p:nvPicPr>
          <p:cNvPr id="7" name="Picture 6" descr="D-AI-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2579179"/>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24420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23322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3751897"/>
            <a:ext cx="246888"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361473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3505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불명확한 질문 전송</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질문의 기업 연결을 바꿔요 → D-AI-01b</a:t>
            </a:r>
          </a:p>
          <a:p>
            <a:pPr>
              <a:lnSpc>
                <a:spcPts val="1625"/>
              </a:lnSpc>
              <a:spcAft>
                <a:spcPts val="0"/>
              </a:spcAft>
              <a:defRPr sz="1250" b="0">
                <a:solidFill>
                  <a:srgbClr val="19201D"/>
                </a:solidFill>
                <a:latin typeface="SUIT"/>
              </a:defRPr>
            </a:pPr>
            <a:r>
              <a:rPr>
                <a:ea typeface="SUIT"/>
              </a:rPr>
              <a:t>2  좋아요를 등록·취소해요 → D-AI-01b</a:t>
            </a:r>
          </a:p>
          <a:p>
            <a:pPr>
              <a:lnSpc>
                <a:spcPts val="1625"/>
              </a:lnSpc>
              <a:spcAft>
                <a:spcPts val="0"/>
              </a:spcAft>
              <a:defRPr sz="1250" b="0">
                <a:solidFill>
                  <a:srgbClr val="19201D"/>
                </a:solidFill>
                <a:latin typeface="SUIT"/>
              </a:defRPr>
            </a:pPr>
            <a:r>
              <a:rPr>
                <a:ea typeface="SUIT"/>
              </a:rPr>
              <a:t>3  창을 닫아도 저장한 대화는 유지돼요 → D-GRP-03</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대상·기간 확인</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3" name="TextBox 22"/>
          <p:cNvSpPr txBox="1"/>
          <p:nvPr/>
        </p:nvSpPr>
        <p:spPr>
          <a:xfrm>
            <a:off x="10561320" y="50123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2591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FS047 / 요구 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D-AI-02   AI 작업 복구·오류 구분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44</a:t>
            </a:r>
          </a:p>
        </p:txBody>
      </p:sp>
      <p:pic>
        <p:nvPicPr>
          <p:cNvPr id="7" name="Picture 6" descr="D-AI-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2579179"/>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24420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23322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3751897"/>
            <a:ext cx="246888"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361473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3505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질문 전송 후 새로고침 → AI 재열기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질문의 기업 연결을 바꿔요 → D-AI-02</a:t>
            </a:r>
          </a:p>
          <a:p>
            <a:pPr>
              <a:lnSpc>
                <a:spcPts val="1625"/>
              </a:lnSpc>
              <a:spcAft>
                <a:spcPts val="0"/>
              </a:spcAft>
              <a:defRPr sz="1250" b="0">
                <a:solidFill>
                  <a:srgbClr val="19201D"/>
                </a:solidFill>
                <a:latin typeface="SUIT"/>
              </a:defRPr>
            </a:pPr>
            <a:r>
              <a:rPr>
                <a:ea typeface="SUIT"/>
              </a:rPr>
              <a:t>2  좋아요를 등록·취소해요 → D-AI-02</a:t>
            </a:r>
          </a:p>
          <a:p>
            <a:pPr>
              <a:lnSpc>
                <a:spcPts val="1625"/>
              </a:lnSpc>
              <a:spcAft>
                <a:spcPts val="0"/>
              </a:spcAft>
              <a:defRPr sz="1250" b="0">
                <a:solidFill>
                  <a:srgbClr val="19201D"/>
                </a:solidFill>
                <a:latin typeface="SUIT"/>
              </a:defRPr>
            </a:pPr>
            <a:r>
              <a:rPr>
                <a:ea typeface="SUIT"/>
              </a:rPr>
              <a:t>3  창을 닫아도 저장한 대화는 유지돼요 → D-GRP-03</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저장한 대화·되묻기 회수</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3" name="TextBox 22"/>
          <p:cNvSpPr txBox="1"/>
          <p:nvPr/>
        </p:nvSpPr>
        <p:spPr>
          <a:xfrm>
            <a:off x="10561320" y="50123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259197"/>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FS046 · FS049 · FS051 · FS052-02 · FS053 · NFS003 / 요구 43·46·48·49·50·53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D-AI-02b   AI 대화 조회 오류·다시 확인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45</a:t>
            </a:r>
          </a:p>
        </p:txBody>
      </p:sp>
      <p:pic>
        <p:nvPicPr>
          <p:cNvPr id="7" name="Picture 6" descr="D-AI-02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3834193"/>
            <a:ext cx="675191"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369703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358730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6870573"/>
            <a:ext cx="2308788"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450252" y="6870573"/>
            <a:ext cx="653867"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313092"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203364"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대화 조회 응답을 503으로 재현</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기존 대화를 다시 조회하고 저장한 결과를 회수해요. → D-AI-02</a:t>
            </a:r>
          </a:p>
          <a:p>
            <a:pPr>
              <a:lnSpc>
                <a:spcPts val="1625"/>
              </a:lnSpc>
              <a:spcAft>
                <a:spcPts val="0"/>
              </a:spcAft>
              <a:defRPr sz="1250" b="0">
                <a:solidFill>
                  <a:srgbClr val="19201D"/>
                </a:solidFill>
                <a:latin typeface="SUIT"/>
              </a:defRPr>
            </a:pPr>
            <a:r>
              <a:rPr>
                <a:ea typeface="SUIT"/>
              </a:rPr>
              <a:t>2  대화 확인 중에는 입력할 수 없어요 → D-AI-02b</a:t>
            </a:r>
          </a:p>
          <a:p>
            <a:pPr>
              <a:lnSpc>
                <a:spcPts val="1625"/>
              </a:lnSpc>
              <a:spcAft>
                <a:spcPts val="0"/>
              </a:spcAft>
              <a:defRPr sz="1250" b="0">
                <a:solidFill>
                  <a:srgbClr val="19201D"/>
                </a:solidFill>
                <a:latin typeface="SUIT"/>
              </a:defRPr>
            </a:pPr>
            <a:r>
              <a:rPr>
                <a:ea typeface="SUIT"/>
              </a:rPr>
              <a:t>3  조회 실패 상태에서는 보낼 수 없어요 → D-AI-02b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일시 조회 오류(재현)</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3" name="TextBox 22"/>
          <p:cNvSpPr txBox="1"/>
          <p:nvPr/>
        </p:nvSpPr>
        <p:spPr>
          <a:xfrm>
            <a:off x="10561320" y="521868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46557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FS053 · NFS003 / 요구 50·53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M-GRP-01   지도·바텀시트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46</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GRP-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1736064" y="4384385"/>
            <a:ext cx="200230" cy="20023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594215" y="4242536"/>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79797" y="4128119"/>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3091375" y="2255168"/>
            <a:ext cx="286043" cy="286043"/>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2949526" y="2113319"/>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835108" y="1998901"/>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2125980" y="7024936"/>
            <a:ext cx="697230"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1984130"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869713"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GRP-01-after.png"/>
          <p:cNvPicPr>
            <a:picLocks noChangeAspect="1"/>
          </p:cNvPicPr>
          <p:nvPr/>
        </p:nvPicPr>
        <p:blipFill>
          <a:blip r:embed="rId3"/>
          <a:stretch>
            <a:fillRect/>
          </a:stretch>
        </p:blipFill>
        <p:spPr>
          <a:xfrm>
            <a:off x="4937760" y="1389888"/>
            <a:ext cx="2788920" cy="6035040"/>
          </a:xfrm>
          <a:prstGeom prst="rect">
            <a:avLst/>
          </a:prstGeom>
        </p:spPr>
      </p:pic>
      <p:sp>
        <p:nvSpPr>
          <p:cNvPr id="20" name="Rectangle 19"/>
          <p:cNvSpPr/>
          <p:nvPr/>
        </p:nvSpPr>
        <p:spPr>
          <a:xfrm>
            <a:off x="5052177" y="5562585"/>
            <a:ext cx="814440"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4910328" y="5420736"/>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795910" y="5306319"/>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4</a:t>
            </a:r>
          </a:p>
        </p:txBody>
      </p:sp>
      <p:sp>
        <p:nvSpPr>
          <p:cNvPr id="23" name="Rectangle 22"/>
          <p:cNvSpPr/>
          <p:nvPr/>
        </p:nvSpPr>
        <p:spPr>
          <a:xfrm>
            <a:off x="5923826" y="5562585"/>
            <a:ext cx="1120372"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a:off x="5781977" y="5420736"/>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667560" y="5306319"/>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5</a:t>
            </a:r>
          </a:p>
        </p:txBody>
      </p:sp>
      <p:sp>
        <p:nvSpPr>
          <p:cNvPr id="26" name="Rectangle 25"/>
          <p:cNvSpPr/>
          <p:nvPr/>
        </p:nvSpPr>
        <p:spPr>
          <a:xfrm>
            <a:off x="6521388" y="6306297"/>
            <a:ext cx="911203"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6379539" y="6164448"/>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265121" y="6050031"/>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6</a:t>
            </a:r>
          </a:p>
        </p:txBody>
      </p:sp>
      <p:sp>
        <p:nvSpPr>
          <p:cNvPr id="29" name="TextBox 28"/>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30" name="TextBox 29"/>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시장 전체 지도</a:t>
            </a:r>
          </a:p>
        </p:txBody>
      </p:sp>
      <p:sp>
        <p:nvSpPr>
          <p:cNvPr id="31" name="TextBox 30"/>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32" name="TextBox 31"/>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기업 바텀시트를 열어요. → D-GRP-03</a:t>
            </a:r>
          </a:p>
          <a:p>
            <a:pPr>
              <a:lnSpc>
                <a:spcPts val="1625"/>
              </a:lnSpc>
              <a:spcAft>
                <a:spcPts val="0"/>
              </a:spcAft>
              <a:defRPr sz="1250" b="0">
                <a:solidFill>
                  <a:srgbClr val="19201D"/>
                </a:solidFill>
                <a:latin typeface="SUIT"/>
              </a:defRPr>
            </a:pPr>
            <a:r>
              <a:rPr>
                <a:ea typeface="SUIT"/>
              </a:rPr>
              <a:t>2  기업·사건 목록으로 전환해요 → M-GRP-01</a:t>
            </a:r>
          </a:p>
          <a:p>
            <a:pPr>
              <a:lnSpc>
                <a:spcPts val="1625"/>
              </a:lnSpc>
              <a:spcAft>
                <a:spcPts val="0"/>
              </a:spcAft>
              <a:defRPr sz="1250" b="0">
                <a:solidFill>
                  <a:srgbClr val="19201D"/>
                </a:solidFill>
                <a:latin typeface="SUIT"/>
              </a:defRPr>
            </a:pPr>
            <a:r>
              <a:rPr>
                <a:ea typeface="SUIT"/>
              </a:rPr>
              <a:t>3  AI 창을 열어요 → M-AI-01</a:t>
            </a:r>
          </a:p>
          <a:p>
            <a:pPr>
              <a:lnSpc>
                <a:spcPts val="1625"/>
              </a:lnSpc>
              <a:spcAft>
                <a:spcPts val="0"/>
              </a:spcAft>
              <a:defRPr sz="1250" b="0">
                <a:solidFill>
                  <a:srgbClr val="19201D"/>
                </a:solidFill>
                <a:latin typeface="SUIT"/>
              </a:defRPr>
            </a:pPr>
            <a:r>
              <a:rPr>
                <a:ea typeface="SUIT"/>
              </a:rPr>
              <a:t>4  기업 상세로 이동해요 → D-COM-01</a:t>
            </a:r>
          </a:p>
          <a:p>
            <a:pPr>
              <a:lnSpc>
                <a:spcPts val="1625"/>
              </a:lnSpc>
              <a:spcAft>
                <a:spcPts val="0"/>
              </a:spcAft>
              <a:defRPr sz="1250" b="0">
                <a:solidFill>
                  <a:srgbClr val="19201D"/>
                </a:solidFill>
                <a:latin typeface="SUIT"/>
              </a:defRPr>
            </a:pPr>
            <a:r>
              <a:rPr>
                <a:ea typeface="SUIT"/>
              </a:rPr>
              <a:t>5  관심을 등록·해제해요 → M-GRP-01</a:t>
            </a:r>
          </a:p>
          <a:p>
            <a:pPr>
              <a:lnSpc>
                <a:spcPts val="1625"/>
              </a:lnSpc>
              <a:spcAft>
                <a:spcPts val="0"/>
              </a:spcAft>
              <a:defRPr sz="1250" b="0">
                <a:solidFill>
                  <a:srgbClr val="19201D"/>
                </a:solidFill>
                <a:latin typeface="SUIT"/>
              </a:defRPr>
            </a:pPr>
            <a:r>
              <a:rPr>
                <a:ea typeface="SUIT"/>
              </a:rPr>
              <a:t>6  이 기업 후보로 질문 창을 열어요 → D-AI-01</a:t>
            </a:r>
          </a:p>
        </p:txBody>
      </p:sp>
      <p:sp>
        <p:nvSpPr>
          <p:cNvPr id="33" name="TextBox 32"/>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34" name="TextBox 33"/>
          <p:cNvSpPr txBox="1"/>
          <p:nvPr/>
        </p:nvSpPr>
        <p:spPr>
          <a:xfrm>
            <a:off x="10561320" y="378548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전체·개인화 · 대상 선택 · 조회 중 · 빈 지도·조회 실패</a:t>
            </a:r>
          </a:p>
          <a:p>
            <a:pPr>
              <a:lnSpc>
                <a:spcPts val="1495"/>
              </a:lnSpc>
              <a:spcAft>
                <a:spcPts val="0"/>
              </a:spcAft>
              <a:defRPr sz="1150" b="0">
                <a:solidFill>
                  <a:srgbClr val="19201D"/>
                </a:solidFill>
                <a:latin typeface="SUIT"/>
              </a:defRPr>
            </a:pPr>
            <a:r>
              <a:rPr>
                <a:ea typeface="SUIT"/>
              </a:rPr>
              <a:t>코드 근거: pages/main-page.tsx · features/graph-explorer.tsx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35" name="TextBox 34"/>
          <p:cNvSpPr txBox="1"/>
          <p:nvPr/>
        </p:nvSpPr>
        <p:spPr>
          <a:xfrm>
            <a:off x="10561320" y="525170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6" name="TextBox 35"/>
          <p:cNvSpPr txBox="1"/>
          <p:nvPr/>
        </p:nvSpPr>
        <p:spPr>
          <a:xfrm>
            <a:off x="10561320" y="549859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FS018 · FS020 / 요구 18·20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M-BRF-01   퇴근 브리핑·아침 이후 변경</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/briefing?date=2026-09-17&amp;edition=morning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47</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BRF-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2140282" y="2755743"/>
            <a:ext cx="1237136" cy="286043"/>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flipV="1">
            <a:off x="1998432" y="2755743"/>
            <a:ext cx="141850" cy="143022"/>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84015" y="2784348"/>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845937" y="2326679"/>
            <a:ext cx="2560085"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704088" y="2184829"/>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89670" y="2070412"/>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3205792" y="4232441"/>
            <a:ext cx="200230" cy="20023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3063943" y="4090591"/>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949526" y="3976174"/>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BRF-01-after.png"/>
          <p:cNvPicPr>
            <a:picLocks noChangeAspect="1"/>
          </p:cNvPicPr>
          <p:nvPr/>
        </p:nvPicPr>
        <p:blipFill>
          <a:blip r:embed="rId3"/>
          <a:stretch>
            <a:fillRect/>
          </a:stretch>
        </p:blipFill>
        <p:spPr>
          <a:xfrm>
            <a:off x="4937760" y="1389888"/>
            <a:ext cx="2788920" cy="6035040"/>
          </a:xfrm>
          <a:prstGeom prst="rect">
            <a:avLst/>
          </a:prstGeom>
        </p:spPr>
      </p:pic>
      <p:sp>
        <p:nvSpPr>
          <p:cNvPr id="20" name="Rectangle 19"/>
          <p:cNvSpPr/>
          <p:nvPr/>
        </p:nvSpPr>
        <p:spPr>
          <a:xfrm>
            <a:off x="7000733" y="4339707"/>
            <a:ext cx="611528" cy="139445"/>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6858884" y="4197858"/>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744467" y="408344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4</a:t>
            </a:r>
          </a:p>
        </p:txBody>
      </p:sp>
      <p:sp>
        <p:nvSpPr>
          <p:cNvPr id="23" name="TextBox 22"/>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4" name="TextBox 23"/>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발행일 → 출근</a:t>
            </a:r>
          </a:p>
        </p:txBody>
      </p:sp>
      <p:sp>
        <p:nvSpPr>
          <p:cNvPr id="25" name="TextBox 24"/>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6" name="TextBox 25"/>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같은 날 퇴근 회차와 아침 이후 변경을 보여줘요. → D-BRF-02</a:t>
            </a:r>
          </a:p>
          <a:p>
            <a:pPr>
              <a:lnSpc>
                <a:spcPts val="1625"/>
              </a:lnSpc>
              <a:spcAft>
                <a:spcPts val="0"/>
              </a:spcAft>
              <a:defRPr sz="1250" b="0">
                <a:solidFill>
                  <a:srgbClr val="19201D"/>
                </a:solidFill>
                <a:latin typeface="SUIT"/>
              </a:defRPr>
            </a:pPr>
            <a:r>
              <a:rPr>
                <a:ea typeface="SUIT"/>
              </a:rPr>
              <a:t>2  발행일 선택지를 열어요 → M-BRF-01</a:t>
            </a:r>
          </a:p>
          <a:p>
            <a:pPr>
              <a:lnSpc>
                <a:spcPts val="1625"/>
              </a:lnSpc>
              <a:spcAft>
                <a:spcPts val="0"/>
              </a:spcAft>
              <a:defRPr sz="1250" b="0">
                <a:solidFill>
                  <a:srgbClr val="19201D"/>
                </a:solidFill>
                <a:latin typeface="SUIT"/>
              </a:defRPr>
            </a:pPr>
            <a:r>
              <a:rPr>
                <a:ea typeface="SUIT"/>
              </a:rPr>
              <a:t>3  회차 고정·출처·수집 시각을 설명해요 → M-BRF-01</a:t>
            </a:r>
          </a:p>
          <a:p>
            <a:pPr>
              <a:lnSpc>
                <a:spcPts val="1625"/>
              </a:lnSpc>
              <a:spcAft>
                <a:spcPts val="0"/>
              </a:spcAft>
              <a:defRPr sz="1250" b="0">
                <a:solidFill>
                  <a:srgbClr val="19201D"/>
                </a:solidFill>
                <a:latin typeface="SUIT"/>
              </a:defRPr>
            </a:pPr>
            <a:r>
              <a:rPr>
                <a:ea typeface="SUIT"/>
              </a:rPr>
              <a:t>4  같은 날 출근 회차로 돌아가요 → D-BRF-01</a:t>
            </a:r>
          </a:p>
        </p:txBody>
      </p:sp>
      <p:sp>
        <p:nvSpPr>
          <p:cNvPr id="27" name="TextBox 26"/>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8" name="TextBox 27"/>
          <p:cNvSpPr txBox="1"/>
          <p:nvPr/>
        </p:nvSpPr>
        <p:spPr>
          <a:xfrm>
            <a:off x="10561320" y="357911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발행 전·생성 중·발행·발행 실패·제공 중단</a:t>
            </a:r>
          </a:p>
          <a:p>
            <a:pPr>
              <a:lnSpc>
                <a:spcPts val="1495"/>
              </a:lnSpc>
              <a:spcAft>
                <a:spcPts val="0"/>
              </a:spcAft>
              <a:defRPr sz="1150" b="0">
                <a:solidFill>
                  <a:srgbClr val="19201D"/>
                </a:solidFill>
                <a:latin typeface="SUIT"/>
              </a:defRPr>
            </a:pPr>
            <a:r>
              <a:rPr>
                <a:ea typeface="SUIT"/>
              </a:rPr>
              <a:t>지표 정상·지연·미제공·실패</a:t>
            </a:r>
          </a:p>
          <a:p>
            <a:pPr>
              <a:lnSpc>
                <a:spcPts val="1495"/>
              </a:lnSpc>
              <a:spcAft>
                <a:spcPts val="0"/>
              </a:spcAft>
              <a:defRPr sz="1150" b="0">
                <a:solidFill>
                  <a:srgbClr val="19201D"/>
                </a:solidFill>
                <a:latin typeface="SUIT"/>
              </a:defRPr>
            </a:pPr>
            <a:r>
              <a:rPr>
                <a:ea typeface="SUIT"/>
              </a:rPr>
              <a:t>코드 근거: pages/briefing-page.tsx · features/briefing-market.tsx</a:t>
            </a:r>
          </a:p>
          <a:p>
            <a:pPr>
              <a:lnSpc>
                <a:spcPts val="1495"/>
              </a:lnSpc>
              <a:spcAft>
                <a:spcPts val="0"/>
              </a:spcAft>
              <a:defRPr sz="1150" b="0">
                <a:solidFill>
                  <a:srgbClr val="19201D"/>
                </a:solidFill>
                <a:latin typeface="SUIT"/>
              </a:defRPr>
            </a:pPr>
            <a:r>
              <a:rPr>
                <a:ea typeface="SUIT"/>
              </a:rPr>
              <a:t>기존 캡처: docs/design/v7/briefing-states-1440-light.png</a:t>
            </a:r>
          </a:p>
        </p:txBody>
      </p:sp>
      <p:sp>
        <p:nvSpPr>
          <p:cNvPr id="29" name="TextBox 28"/>
          <p:cNvSpPr txBox="1"/>
          <p:nvPr/>
        </p:nvSpPr>
        <p:spPr>
          <a:xfrm>
            <a:off x="10561320" y="504532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0" name="TextBox 29"/>
          <p:cNvSpPr txBox="1"/>
          <p:nvPr/>
        </p:nvSpPr>
        <p:spPr>
          <a:xfrm>
            <a:off x="10561320" y="529221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FS029 · FS031 · FS033 / 요구 27·29·31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M-AI-01   하단 AI 탭</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48</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AI-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2125980" y="7024936"/>
            <a:ext cx="697230"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984130"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69713"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1428750" y="7024936"/>
            <a:ext cx="697230"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1286900"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72483"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2823210" y="7024936"/>
            <a:ext cx="697230"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2681360"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566943"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AI-01-after.png"/>
          <p:cNvPicPr>
            <a:picLocks noChangeAspect="1"/>
          </p:cNvPicPr>
          <p:nvPr/>
        </p:nvPicPr>
        <p:blipFill>
          <a:blip r:embed="rId3"/>
          <a:stretch>
            <a:fillRect/>
          </a:stretch>
        </p:blipFill>
        <p:spPr>
          <a:xfrm>
            <a:off x="4937760" y="1389888"/>
            <a:ext cx="2788920" cy="6035040"/>
          </a:xfrm>
          <a:prstGeom prst="rect">
            <a:avLst/>
          </a:prstGeom>
        </p:spPr>
      </p:pic>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하단 AI 탭</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AI 질문 창을 열어요. 화면 라우트는 유지해요. → D-AI-01</a:t>
            </a:r>
          </a:p>
          <a:p>
            <a:pPr>
              <a:lnSpc>
                <a:spcPts val="1625"/>
              </a:lnSpc>
              <a:spcAft>
                <a:spcPts val="0"/>
              </a:spcAft>
              <a:defRPr sz="1250" b="0">
                <a:solidFill>
                  <a:srgbClr val="19201D"/>
                </a:solidFill>
                <a:latin typeface="SUIT"/>
              </a:defRPr>
            </a:pPr>
            <a:r>
              <a:rPr>
                <a:ea typeface="SUIT"/>
              </a:rPr>
              <a:t>2  공통 브리핑으로 이동해요 → M-BRF-01</a:t>
            </a:r>
          </a:p>
          <a:p>
            <a:pPr>
              <a:lnSpc>
                <a:spcPts val="1625"/>
              </a:lnSpc>
              <a:spcAft>
                <a:spcPts val="0"/>
              </a:spcAft>
              <a:defRPr sz="1250" b="0">
                <a:solidFill>
                  <a:srgbClr val="19201D"/>
                </a:solidFill>
                <a:latin typeface="SUIT"/>
              </a:defRPr>
            </a:pPr>
            <a:r>
              <a:rPr>
                <a:ea typeface="SUIT"/>
              </a:rPr>
              <a:t>3  내 종목 관리로 이동해요 → D-MY-01</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6" name="TextBox 25"/>
          <p:cNvSpPr txBox="1"/>
          <p:nvPr/>
        </p:nvSpPr>
        <p:spPr>
          <a:xfrm>
            <a:off x="10561320" y="521868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46557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FS045 · FS052-02 / 요구 42·49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M-COM-01   기업 상세·문서 전환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49</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COM-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1699261" y="4246743"/>
            <a:ext cx="853436"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557412" y="4104893"/>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42995" y="399047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2552698" y="4246743"/>
            <a:ext cx="853324"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2410848" y="4104893"/>
            <a:ext cx="141850"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296431" y="399047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845937" y="4246743"/>
            <a:ext cx="853324"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704088" y="4104893"/>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89670" y="399047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COM-01-after.png"/>
          <p:cNvPicPr>
            <a:picLocks noChangeAspect="1"/>
          </p:cNvPicPr>
          <p:nvPr/>
        </p:nvPicPr>
        <p:blipFill>
          <a:blip r:embed="rId3"/>
          <a:stretch>
            <a:fillRect/>
          </a:stretch>
        </p:blipFill>
        <p:spPr>
          <a:xfrm>
            <a:off x="4937760" y="1389888"/>
            <a:ext cx="2788920" cy="6035040"/>
          </a:xfrm>
          <a:prstGeom prst="rect">
            <a:avLst/>
          </a:prstGeom>
        </p:spPr>
      </p:pic>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기업 상세</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근거 문서 탭으로 바꿔요. → D-COM-02</a:t>
            </a:r>
          </a:p>
          <a:p>
            <a:pPr>
              <a:lnSpc>
                <a:spcPts val="1625"/>
              </a:lnSpc>
              <a:spcAft>
                <a:spcPts val="0"/>
              </a:spcAft>
              <a:defRPr sz="1250" b="0">
                <a:solidFill>
                  <a:srgbClr val="19201D"/>
                </a:solidFill>
                <a:latin typeface="SUIT"/>
              </a:defRPr>
            </a:pPr>
            <a:r>
              <a:rPr>
                <a:ea typeface="SUIT"/>
              </a:rPr>
              <a:t>2  등록된 기업 정보를 보여줘요 → M-COM-01</a:t>
            </a:r>
          </a:p>
          <a:p>
            <a:pPr>
              <a:lnSpc>
                <a:spcPts val="1625"/>
              </a:lnSpc>
              <a:spcAft>
                <a:spcPts val="0"/>
              </a:spcAft>
              <a:defRPr sz="1250" b="0">
                <a:solidFill>
                  <a:srgbClr val="19201D"/>
                </a:solidFill>
                <a:latin typeface="SUIT"/>
              </a:defRPr>
            </a:pPr>
            <a:r>
              <a:rPr>
                <a:ea typeface="SUIT"/>
              </a:rPr>
              <a:t>3  사건·차트 탭을 유지해요 → M-COM-01</a:t>
            </a:r>
          </a:p>
        </p:txBody>
      </p:sp>
      <p:sp>
        <p:nvSpPr>
          <p:cNvPr id="24" name="TextBox 23"/>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6" name="TextBox 25"/>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FS043 / 요구 35·40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A-ADM-05c   관리자 로그인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/admin/login</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50</a:t>
            </a:r>
          </a:p>
        </p:txBody>
      </p:sp>
      <p:pic>
        <p:nvPicPr>
          <p:cNvPr id="7" name="Picture 6" descr="A-ADM-05c.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986784" y="5060061"/>
            <a:ext cx="2633472"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849624" y="492290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39896" y="481317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986784" y="4062222"/>
            <a:ext cx="263347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849624" y="392506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39896" y="38153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986784" y="4648581"/>
            <a:ext cx="263347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849624" y="451142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739896" y="440169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세션이 없는 /admin 진입</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세션을 만들고 운영 대시보드로 들어가요. → A-ADM-01</a:t>
            </a:r>
          </a:p>
          <a:p>
            <a:pPr>
              <a:lnSpc>
                <a:spcPts val="1625"/>
              </a:lnSpc>
              <a:spcAft>
                <a:spcPts val="0"/>
              </a:spcAft>
              <a:defRPr sz="1250" b="0">
                <a:solidFill>
                  <a:srgbClr val="19201D"/>
                </a:solidFill>
                <a:latin typeface="SUIT"/>
              </a:defRPr>
            </a:pPr>
            <a:r>
              <a:rPr>
                <a:ea typeface="SUIT"/>
              </a:rPr>
              <a:t>2  관리자 이메일을 입력해요 → A-ADM-05c</a:t>
            </a:r>
          </a:p>
          <a:p>
            <a:pPr>
              <a:lnSpc>
                <a:spcPts val="1625"/>
              </a:lnSpc>
              <a:spcAft>
                <a:spcPts val="0"/>
              </a:spcAft>
              <a:defRPr sz="1250" b="0">
                <a:solidFill>
                  <a:srgbClr val="19201D"/>
                </a:solidFill>
                <a:latin typeface="SUIT"/>
              </a:defRPr>
            </a:pPr>
            <a:r>
              <a:rPr>
                <a:ea typeface="SUIT"/>
              </a:rPr>
              <a:t>3  비밀번호를 가려 입력해요 → A-ADM-05c</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입력 누락 · 인증·권한 실패 · 세션 만료</a:t>
            </a:r>
          </a:p>
          <a:p>
            <a:pPr>
              <a:lnSpc>
                <a:spcPts val="1495"/>
              </a:lnSpc>
              <a:spcAft>
                <a:spcPts val="0"/>
              </a:spcAft>
              <a:defRPr sz="1150" b="0">
                <a:solidFill>
                  <a:srgbClr val="19201D"/>
                </a:solidFill>
                <a:latin typeface="SUIT"/>
              </a:defRPr>
            </a:pPr>
            <a:r>
              <a:rPr>
                <a:ea typeface="SUIT"/>
              </a:rPr>
              <a:t>코드 근거: admin/pages/login.tsx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FS073 · NFS001 / 요구 51·82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A-ADM-01   운영 대시보드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51</a:t>
            </a:r>
          </a:p>
        </p:txBody>
      </p:sp>
      <p:pic>
        <p:nvPicPr>
          <p:cNvPr id="7" name="Picture 6" descr="A-ADM-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08026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194310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183337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20624" y="2711196"/>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83464" y="257403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73736" y="246430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20624" y="3026664"/>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283464" y="288950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73736" y="277977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20624" y="365760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283464" y="3520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73736" y="3410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A-ADM-03</a:t>
            </a:r>
          </a:p>
          <a:p>
            <a:pPr>
              <a:lnSpc>
                <a:spcPts val="1625"/>
              </a:lnSpc>
              <a:spcAft>
                <a:spcPts val="0"/>
              </a:spcAft>
              <a:defRPr sz="1250" b="0">
                <a:solidFill>
                  <a:srgbClr val="19201D"/>
                </a:solidFill>
                <a:latin typeface="SUIT"/>
              </a:defRPr>
            </a:pPr>
            <a:r>
              <a:rPr>
                <a:ea typeface="SUIT"/>
              </a:rPr>
              <a:t>2  브리핑 회차 운영을 열어요 → A-ADM-04</a:t>
            </a:r>
          </a:p>
          <a:p>
            <a:pPr>
              <a:lnSpc>
                <a:spcPts val="1625"/>
              </a:lnSpc>
              <a:spcAft>
                <a:spcPts val="0"/>
              </a:spcAft>
              <a:defRPr sz="1250" b="0">
                <a:solidFill>
                  <a:srgbClr val="19201D"/>
                </a:solidFill>
                <a:latin typeface="SUIT"/>
              </a:defRPr>
            </a:pPr>
            <a:r>
              <a:rPr>
                <a:ea typeface="SUIT"/>
              </a:rPr>
              <a:t>3  이용 통계를 열어요 → A-ADM-02</a:t>
            </a:r>
          </a:p>
          <a:p>
            <a:pPr>
              <a:lnSpc>
                <a:spcPts val="1625"/>
              </a:lnSpc>
              <a:spcAft>
                <a:spcPts val="0"/>
              </a:spcAft>
              <a:defRPr sz="1250" b="0">
                <a:solidFill>
                  <a:srgbClr val="19201D"/>
                </a:solidFill>
                <a:latin typeface="SUIT"/>
              </a:defRPr>
            </a:pPr>
            <a:r>
              <a:rPr>
                <a:ea typeface="SUIT"/>
              </a:rPr>
              <a:t>4  회원 활동 목록을 열어요 → A-ADM-05</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 · 조건에 맞는 자료 없음 · 영역 오류</a:t>
            </a:r>
          </a:p>
          <a:p>
            <a:pPr>
              <a:lnSpc>
                <a:spcPts val="1495"/>
              </a:lnSpc>
              <a:spcAft>
                <a:spcPts val="0"/>
              </a:spcAft>
              <a:defRPr sz="1150" b="0">
                <a:solidFill>
                  <a:srgbClr val="19201D"/>
                </a:solidFill>
                <a:latin typeface="SUIT"/>
              </a:defRPr>
            </a:pPr>
            <a:r>
              <a:rPr>
                <a:ea typeface="SUIT"/>
              </a:rPr>
              <a:t>관리자 세션 없음·만료 → 로그인</a:t>
            </a:r>
          </a:p>
          <a:p>
            <a:pPr>
              <a:lnSpc>
                <a:spcPts val="1495"/>
              </a:lnSpc>
              <a:spcAft>
                <a:spcPts val="0"/>
              </a:spcAft>
              <a:defRPr sz="1150" b="0">
                <a:solidFill>
                  <a:srgbClr val="19201D"/>
                </a:solidFill>
                <a:latin typeface="SUIT"/>
              </a:defRPr>
            </a:pPr>
            <a:r>
              <a:rPr>
                <a:ea typeface="SUIT"/>
              </a:rPr>
              <a:t>코드 근거: admin/pages/dashboard.tsx · admin/session.tsx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85546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10235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FS072 / 요구 81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A-ADM-02   통계·AI 품질</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/admin/stats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52</a:t>
            </a:r>
          </a:p>
        </p:txBody>
      </p:sp>
      <p:pic>
        <p:nvPicPr>
          <p:cNvPr id="7" name="Picture 6" descr="A-ADM-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3342132"/>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32049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30952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657600" y="1984248"/>
            <a:ext cx="153619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520440"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410712"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296054" y="1545336"/>
            <a:ext cx="35040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158894" y="1408175"/>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049166" y="129844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A-ADM-02b</a:t>
            </a:r>
          </a:p>
          <a:p>
            <a:pPr>
              <a:lnSpc>
                <a:spcPts val="1625"/>
              </a:lnSpc>
              <a:spcAft>
                <a:spcPts val="0"/>
              </a:spcAft>
              <a:defRPr sz="1250" b="0">
                <a:solidFill>
                  <a:srgbClr val="19201D"/>
                </a:solidFill>
                <a:latin typeface="SUIT"/>
              </a:defRPr>
            </a:pPr>
            <a:r>
              <a:rPr>
                <a:ea typeface="SUIT"/>
              </a:rPr>
              <a:t>2  기업별 활동 순위를 보여줘요 → A-ADM-02</a:t>
            </a:r>
          </a:p>
          <a:p>
            <a:pPr>
              <a:lnSpc>
                <a:spcPts val="1625"/>
              </a:lnSpc>
              <a:spcAft>
                <a:spcPts val="0"/>
              </a:spcAft>
              <a:defRPr sz="1250" b="0">
                <a:solidFill>
                  <a:srgbClr val="19201D"/>
                </a:solidFill>
                <a:latin typeface="SUIT"/>
              </a:defRPr>
            </a:pPr>
            <a:r>
              <a:rPr>
                <a:ea typeface="SUIT"/>
              </a:rPr>
              <a:t>3  최근 30일로 집계 범위를 바꿔요 → A-ADM-02</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집계 조회 중·실패 · 표본 부족 · 활동 없음</a:t>
            </a:r>
          </a:p>
          <a:p>
            <a:pPr>
              <a:lnSpc>
                <a:spcPts val="1495"/>
              </a:lnSpc>
              <a:spcAft>
                <a:spcPts val="0"/>
              </a:spcAft>
              <a:defRPr sz="1150" b="0">
                <a:solidFill>
                  <a:srgbClr val="19201D"/>
                </a:solidFill>
                <a:latin typeface="SUIT"/>
              </a:defRPr>
            </a:pPr>
            <a:r>
              <a:rPr>
                <a:ea typeface="SUIT"/>
              </a:rPr>
              <a:t>코드 근거: admin/pages/stats.tsx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FS065 / 요구 74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A-ADM-02b   선호도·대화록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/admin/feedback</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53</a:t>
            </a:r>
          </a:p>
        </p:txBody>
      </p:sp>
      <p:pic>
        <p:nvPicPr>
          <p:cNvPr id="7" name="Picture 6" descr="A-ADM-02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08026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194310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183337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1984248"/>
            <a:ext cx="131673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754880" y="1984248"/>
            <a:ext cx="1316735"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617720"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07992"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645152" y="2577465"/>
            <a:ext cx="78106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4507992" y="244030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398264" y="233057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A-ADM-03</a:t>
            </a:r>
          </a:p>
          <a:p>
            <a:pPr>
              <a:lnSpc>
                <a:spcPts val="1625"/>
              </a:lnSpc>
              <a:spcAft>
                <a:spcPts val="0"/>
              </a:spcAft>
              <a:defRPr sz="1250" b="0">
                <a:solidFill>
                  <a:srgbClr val="19201D"/>
                </a:solidFill>
                <a:latin typeface="SUIT"/>
              </a:defRPr>
            </a:pPr>
            <a:r>
              <a:rPr>
                <a:ea typeface="SUIT"/>
              </a:rPr>
              <a:t>2  평가 사유 목록을 보여줘요 → A-ADM-02b</a:t>
            </a:r>
          </a:p>
          <a:p>
            <a:pPr>
              <a:lnSpc>
                <a:spcPts val="1625"/>
              </a:lnSpc>
              <a:spcAft>
                <a:spcPts val="0"/>
              </a:spcAft>
              <a:defRPr sz="1250" b="0">
                <a:solidFill>
                  <a:srgbClr val="19201D"/>
                </a:solidFill>
                <a:latin typeface="SUIT"/>
              </a:defRPr>
            </a:pPr>
            <a:r>
              <a:rPr>
                <a:ea typeface="SUIT"/>
              </a:rPr>
              <a:t>3  마스킹 대화 목록을 보여줘요 → A-ADM-02b</a:t>
            </a:r>
          </a:p>
          <a:p>
            <a:pPr>
              <a:lnSpc>
                <a:spcPts val="1625"/>
              </a:lnSpc>
              <a:spcAft>
                <a:spcPts val="0"/>
              </a:spcAft>
              <a:defRPr sz="1250" b="0">
                <a:solidFill>
                  <a:srgbClr val="19201D"/>
                </a:solidFill>
                <a:latin typeface="SUIT"/>
              </a:defRPr>
            </a:pPr>
            <a:r>
              <a:rPr>
                <a:ea typeface="SUIT"/>
              </a:rPr>
              <a:t>4  입력한 조회 기간을 적용해요 → A-ADM-02b</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집계 중·실패 · 평가·대화 없음 · 표본 부족</a:t>
            </a:r>
          </a:p>
          <a:p>
            <a:pPr>
              <a:lnSpc>
                <a:spcPts val="1495"/>
              </a:lnSpc>
              <a:spcAft>
                <a:spcPts val="0"/>
              </a:spcAft>
              <a:defRPr sz="1150" b="0">
                <a:solidFill>
                  <a:srgbClr val="19201D"/>
                </a:solidFill>
                <a:latin typeface="SUIT"/>
              </a:defRPr>
            </a:pPr>
            <a:r>
              <a:rPr>
                <a:ea typeface="SUIT"/>
              </a:rPr>
              <a:t>코드 근거: admin/pages/feedback.tsx · admin/session.tsx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66559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91248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FS066-02 · FS066-03 / 요구 75</a:t>
            </a:r>
          </a:p>
        </p:txBody>
      </p:sp>
      <p:sp>
        <p:nvSpPr>
          <p:cNvPr id="28" name="TextBox 27"/>
          <p:cNvSpPr txBox="1"/>
          <p:nvPr/>
        </p:nvSpPr>
        <p:spPr>
          <a:xfrm>
            <a:off x="10561320" y="525602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50291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대화록의 별도 권한·열람 목적·실패 차단이 미정이에요.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A-ADM-03   그래프 관제·검수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/admin/pipeline</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54</a:t>
            </a:r>
          </a:p>
        </p:txBody>
      </p:sp>
      <p:pic>
        <p:nvPicPr>
          <p:cNvPr id="7" name="Picture 6" descr="A-ADM-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39572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225856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214884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4713732"/>
            <a:ext cx="131673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45765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44668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754880" y="4713732"/>
            <a:ext cx="1316735"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617720" y="45765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07992" y="44668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A-ADM-04b</a:t>
            </a:r>
          </a:p>
          <a:p>
            <a:pPr>
              <a:lnSpc>
                <a:spcPts val="1625"/>
              </a:lnSpc>
              <a:spcAft>
                <a:spcPts val="0"/>
              </a:spcAft>
              <a:defRPr sz="1250" b="0">
                <a:solidFill>
                  <a:srgbClr val="19201D"/>
                </a:solidFill>
                <a:latin typeface="SUIT"/>
              </a:defRPr>
            </a:pPr>
            <a:r>
              <a:rPr>
                <a:ea typeface="SUIT"/>
              </a:rPr>
              <a:t>2  공개 버전과 반영 상태를 보여줘요 → A-ADM-03</a:t>
            </a:r>
          </a:p>
          <a:p>
            <a:pPr>
              <a:lnSpc>
                <a:spcPts val="1625"/>
              </a:lnSpc>
              <a:spcAft>
                <a:spcPts val="0"/>
              </a:spcAft>
              <a:defRPr sz="1250" b="0">
                <a:solidFill>
                  <a:srgbClr val="19201D"/>
                </a:solidFill>
                <a:latin typeface="SUIT"/>
              </a:defRPr>
            </a:pPr>
            <a:r>
              <a:rPr>
                <a:ea typeface="SUIT"/>
              </a:rPr>
              <a:t>3  작업 상태·로그 목록을 보여줘요 → A-ADM-03</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통과·보류·폐기 · 실행·대기·실패 · 원장 조회 실패</a:t>
            </a:r>
          </a:p>
          <a:p>
            <a:pPr>
              <a:lnSpc>
                <a:spcPts val="1495"/>
              </a:lnSpc>
              <a:spcAft>
                <a:spcPts val="0"/>
              </a:spcAft>
              <a:defRPr sz="1150" b="0">
                <a:solidFill>
                  <a:srgbClr val="19201D"/>
                </a:solidFill>
                <a:latin typeface="SUIT"/>
              </a:defRPr>
            </a:pPr>
            <a:r>
              <a:rPr>
                <a:ea typeface="SUIT"/>
              </a:rPr>
              <a:t>코드 근거: admin/pages/pipeline.tsx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FS067-01 · FS067-02 · FS067-03 / 요구 76</a:t>
            </a:r>
          </a:p>
        </p:txBody>
      </p:sp>
      <p:sp>
        <p:nvSpPr>
          <p:cNvPr id="25" name="TextBox 24"/>
          <p:cNvSpPr txBox="1"/>
          <p:nvPr/>
        </p:nvSpPr>
        <p:spPr>
          <a:xfrm>
            <a:off x="10561320" y="485978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6" name="TextBox 25"/>
          <p:cNvSpPr txBox="1"/>
          <p:nvPr/>
        </p:nvSpPr>
        <p:spPr>
          <a:xfrm>
            <a:off x="10561320" y="510667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R1 승인·검수 권한·허용 후 재검증 방식이 미정이에요.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A-ADM-04   AI·브리핑 운영</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/admin/briefings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55</a:t>
            </a:r>
          </a:p>
        </p:txBody>
      </p:sp>
      <p:pic>
        <p:nvPicPr>
          <p:cNvPr id="7" name="Picture 6" descr="A-ADM-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39572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225856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214884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203704" y="2735199"/>
            <a:ext cx="828103"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066544" y="259803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956816" y="248831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20624" y="397306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283464" y="3835907"/>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73736" y="372617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A-ADM-04b</a:t>
            </a:r>
          </a:p>
          <a:p>
            <a:pPr>
              <a:lnSpc>
                <a:spcPts val="1625"/>
              </a:lnSpc>
              <a:spcAft>
                <a:spcPts val="0"/>
              </a:spcAft>
              <a:defRPr sz="1250" b="0">
                <a:solidFill>
                  <a:srgbClr val="19201D"/>
                </a:solidFill>
                <a:latin typeface="SUIT"/>
              </a:defRPr>
            </a:pPr>
            <a:r>
              <a:rPr>
                <a:ea typeface="SUIT"/>
              </a:rPr>
              <a:t>2  선택 회차 원문·처리 이력을 보여줘요 → A-ADM-04</a:t>
            </a:r>
          </a:p>
          <a:p>
            <a:pPr>
              <a:lnSpc>
                <a:spcPts val="1625"/>
              </a:lnSpc>
              <a:spcAft>
                <a:spcPts val="0"/>
              </a:spcAft>
              <a:defRPr sz="1250" b="0">
                <a:solidFill>
                  <a:srgbClr val="19201D"/>
                </a:solidFill>
                <a:latin typeface="SUIT"/>
              </a:defRPr>
            </a:pPr>
            <a:r>
              <a:rPr>
                <a:ea typeface="SUIT"/>
              </a:rPr>
              <a:t>3  생성·관리 행위 기록을 열어요 → A-ADM-05b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예정·생성·발행·실패·중단 · 정정 이력 · 조회 실패</a:t>
            </a:r>
          </a:p>
          <a:p>
            <a:pPr>
              <a:lnSpc>
                <a:spcPts val="1495"/>
              </a:lnSpc>
              <a:spcAft>
                <a:spcPts val="0"/>
              </a:spcAft>
              <a:defRPr sz="1150" b="0">
                <a:solidFill>
                  <a:srgbClr val="19201D"/>
                </a:solidFill>
                <a:latin typeface="SUIT"/>
              </a:defRPr>
            </a:pPr>
            <a:r>
              <a:rPr>
                <a:ea typeface="SUIT"/>
              </a:rPr>
              <a:t>코드 근거: admin/pages/briefings.tsx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FS070-01 · FS070-02 · FS071-01 · FS071-02 / 요구 79·80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A-ADM-04b   AI 사용량·오류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/admin/ai</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56</a:t>
            </a:r>
          </a:p>
        </p:txBody>
      </p:sp>
      <p:pic>
        <p:nvPicPr>
          <p:cNvPr id="7" name="Picture 6" descr="A-ADM-04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365760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3520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3410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8522922" y="1545336"/>
            <a:ext cx="425731"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8385762" y="1408175"/>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76034" y="129844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296054" y="1545336"/>
            <a:ext cx="35040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158894" y="1408175"/>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049166" y="129844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179683" y="3033522"/>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042523" y="289636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932795" y="278663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A-ADM-05</a:t>
            </a:r>
          </a:p>
          <a:p>
            <a:pPr>
              <a:lnSpc>
                <a:spcPts val="1625"/>
              </a:lnSpc>
              <a:spcAft>
                <a:spcPts val="0"/>
              </a:spcAft>
              <a:defRPr sz="1250" b="0">
                <a:solidFill>
                  <a:srgbClr val="19201D"/>
                </a:solidFill>
                <a:latin typeface="SUIT"/>
              </a:defRPr>
            </a:pPr>
            <a:r>
              <a:rPr>
                <a:ea typeface="SUIT"/>
              </a:rPr>
              <a:t>2  최근 24시간 사용량을 집계해요 → A-ADM-04b</a:t>
            </a:r>
          </a:p>
          <a:p>
            <a:pPr>
              <a:lnSpc>
                <a:spcPts val="1625"/>
              </a:lnSpc>
              <a:spcAft>
                <a:spcPts val="0"/>
              </a:spcAft>
              <a:defRPr sz="1250" b="0">
                <a:solidFill>
                  <a:srgbClr val="19201D"/>
                </a:solidFill>
                <a:latin typeface="SUIT"/>
              </a:defRPr>
            </a:pPr>
            <a:r>
              <a:rPr>
                <a:ea typeface="SUIT"/>
              </a:rPr>
              <a:t>3  최근 30일 사용량을 집계해요 → A-ADM-04b</a:t>
            </a:r>
          </a:p>
          <a:p>
            <a:pPr>
              <a:lnSpc>
                <a:spcPts val="1625"/>
              </a:lnSpc>
              <a:spcAft>
                <a:spcPts val="0"/>
              </a:spcAft>
              <a:defRPr sz="1250" b="0">
                <a:solidFill>
                  <a:srgbClr val="19201D"/>
                </a:solidFill>
                <a:latin typeface="SUIT"/>
              </a:defRPr>
            </a:pPr>
            <a:r>
              <a:rPr>
                <a:ea typeface="SUIT"/>
              </a:rPr>
              <a:t>4  실제 비용을 제공하지 못한 이유를 열어요 → A-ADM-04b</a:t>
            </a:r>
          </a:p>
        </p:txBody>
      </p:sp>
      <p:sp>
        <p:nvSpPr>
          <p:cNvPr id="24" name="TextBox 23"/>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78548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집계 중·실패 · 오류 없음 · 비용 미제공</a:t>
            </a:r>
          </a:p>
          <a:p>
            <a:pPr>
              <a:lnSpc>
                <a:spcPts val="1495"/>
              </a:lnSpc>
              <a:spcAft>
                <a:spcPts val="0"/>
              </a:spcAft>
              <a:defRPr sz="1150" b="0">
                <a:solidFill>
                  <a:srgbClr val="19201D"/>
                </a:solidFill>
                <a:latin typeface="SUIT"/>
              </a:defRPr>
            </a:pPr>
            <a:r>
              <a:rPr>
                <a:ea typeface="SUIT"/>
              </a:rPr>
              <a:t>코드 근거: admin/pages/ai.tsx · admin/session.tsx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6821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9289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FS068 / 요구 77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A-ADM-05   회원·접근 관리</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/admin/members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57</a:t>
            </a:r>
          </a:p>
        </p:txBody>
      </p:sp>
      <p:pic>
        <p:nvPicPr>
          <p:cNvPr id="7" name="Picture 6" descr="A-ADM-0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397306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3835907"/>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372617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844712" y="2011680"/>
            <a:ext cx="398406"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707552" y="18745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597824" y="17647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352847" y="1997964"/>
            <a:ext cx="219456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215687" y="186080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105959" y="175107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A-ADM-05b</a:t>
            </a:r>
          </a:p>
          <a:p>
            <a:pPr>
              <a:lnSpc>
                <a:spcPts val="1625"/>
              </a:lnSpc>
              <a:spcAft>
                <a:spcPts val="0"/>
              </a:spcAft>
              <a:defRPr sz="1250" b="0">
                <a:solidFill>
                  <a:srgbClr val="19201D"/>
                </a:solidFill>
                <a:latin typeface="SUIT"/>
              </a:defRPr>
            </a:pPr>
            <a:r>
              <a:rPr>
                <a:ea typeface="SUIT"/>
              </a:rPr>
              <a:t>2  차단 회원만 보여줘요 → A-ADM-05</a:t>
            </a:r>
          </a:p>
          <a:p>
            <a:pPr>
              <a:lnSpc>
                <a:spcPts val="1625"/>
              </a:lnSpc>
              <a:spcAft>
                <a:spcPts val="0"/>
              </a:spcAft>
              <a:defRPr sz="1250" b="0">
                <a:solidFill>
                  <a:srgbClr val="19201D"/>
                </a:solidFill>
                <a:latin typeface="SUIT"/>
              </a:defRPr>
            </a:pPr>
            <a:r>
              <a:rPr>
                <a:ea typeface="SUIT"/>
              </a:rPr>
              <a:t>3  가명·가린 이메일로 검색해요 → A-ADM-05</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 · 조건에 맞는 자료 없음 · 영역 오류</a:t>
            </a:r>
          </a:p>
          <a:p>
            <a:pPr>
              <a:lnSpc>
                <a:spcPts val="1495"/>
              </a:lnSpc>
              <a:spcAft>
                <a:spcPts val="0"/>
              </a:spcAft>
              <a:defRPr sz="1150" b="0">
                <a:solidFill>
                  <a:srgbClr val="19201D"/>
                </a:solidFill>
                <a:latin typeface="SUIT"/>
              </a:defRPr>
            </a:pPr>
            <a:r>
              <a:rPr>
                <a:ea typeface="SUIT"/>
              </a:rPr>
              <a:t>관리자 세션 없음·만료 → 로그인</a:t>
            </a:r>
          </a:p>
          <a:p>
            <a:pPr>
              <a:lnSpc>
                <a:spcPts val="1495"/>
              </a:lnSpc>
              <a:spcAft>
                <a:spcPts val="0"/>
              </a:spcAft>
              <a:defRPr sz="1150" b="0">
                <a:solidFill>
                  <a:srgbClr val="19201D"/>
                </a:solidFill>
                <a:latin typeface="SUIT"/>
              </a:defRPr>
            </a:pPr>
            <a:r>
              <a:rPr>
                <a:ea typeface="SUIT"/>
              </a:rPr>
              <a:t>코드 근거: admin/pages/members.tsx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64908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9597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FS069-01 · FS069-02 · FS073 / 요구 78·82</a:t>
            </a:r>
          </a:p>
        </p:txBody>
      </p:sp>
      <p:sp>
        <p:nvSpPr>
          <p:cNvPr id="25" name="TextBox 24"/>
          <p:cNvSpPr txBox="1"/>
          <p:nvPr/>
        </p:nvSpPr>
        <p:spPr>
          <a:xfrm>
            <a:off x="10561320" y="523951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6" name="TextBox 25"/>
          <p:cNvSpPr txBox="1"/>
          <p:nvPr/>
        </p:nvSpPr>
        <p:spPr>
          <a:xfrm>
            <a:off x="10561320" y="548640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권한 등급과 회수 정책이 미정이에요.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A-ADM-05b   관리자 감사 로그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/admin/audit</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58</a:t>
            </a:r>
          </a:p>
        </p:txBody>
      </p:sp>
      <p:pic>
        <p:nvPicPr>
          <p:cNvPr id="7" name="Picture 6" descr="A-ADM-05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1764792"/>
            <a:ext cx="1419606"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162763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151790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121408" y="1984248"/>
            <a:ext cx="153619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984248"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874520"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739896" y="1984248"/>
            <a:ext cx="219456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602736"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493008"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A-ADM-01</a:t>
            </a:r>
          </a:p>
          <a:p>
            <a:pPr>
              <a:lnSpc>
                <a:spcPts val="1625"/>
              </a:lnSpc>
              <a:spcAft>
                <a:spcPts val="0"/>
              </a:spcAft>
              <a:defRPr sz="1250" b="0">
                <a:solidFill>
                  <a:srgbClr val="19201D"/>
                </a:solidFill>
                <a:latin typeface="SUIT"/>
              </a:defRPr>
            </a:pPr>
            <a:r>
              <a:rPr>
                <a:ea typeface="SUIT"/>
              </a:rPr>
              <a:t>2  관리 동작 필터를 펼쳐요 → A-ADM-05b</a:t>
            </a:r>
          </a:p>
          <a:p>
            <a:pPr>
              <a:lnSpc>
                <a:spcPts val="1625"/>
              </a:lnSpc>
              <a:spcAft>
                <a:spcPts val="0"/>
              </a:spcAft>
              <a:defRPr sz="1250" b="0">
                <a:solidFill>
                  <a:srgbClr val="19201D"/>
                </a:solidFill>
                <a:latin typeface="SUIT"/>
              </a:defRPr>
            </a:pPr>
            <a:r>
              <a:rPr>
                <a:ea typeface="SUIT"/>
              </a:rPr>
              <a:t>3  대상·사유·관리자로 검색해요 → A-ADM-05b</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 · 조건에 맞는 자료 없음 · 영역 오류</a:t>
            </a:r>
          </a:p>
          <a:p>
            <a:pPr>
              <a:lnSpc>
                <a:spcPts val="1495"/>
              </a:lnSpc>
              <a:spcAft>
                <a:spcPts val="0"/>
              </a:spcAft>
              <a:defRPr sz="1150" b="0">
                <a:solidFill>
                  <a:srgbClr val="19201D"/>
                </a:solidFill>
                <a:latin typeface="SUIT"/>
              </a:defRPr>
            </a:pPr>
            <a:r>
              <a:rPr>
                <a:ea typeface="SUIT"/>
              </a:rPr>
              <a:t>관리자 세션 없음·만료 → 로그인</a:t>
            </a:r>
          </a:p>
          <a:p>
            <a:pPr>
              <a:lnSpc>
                <a:spcPts val="1495"/>
              </a:lnSpc>
              <a:spcAft>
                <a:spcPts val="0"/>
              </a:spcAft>
              <a:defRPr sz="1150" b="0">
                <a:solidFill>
                  <a:srgbClr val="19201D"/>
                </a:solidFill>
                <a:latin typeface="SUIT"/>
              </a:defRPr>
            </a:pPr>
            <a:r>
              <a:rPr>
                <a:ea typeface="SUIT"/>
              </a:rPr>
              <a:t>코드 근거: admin/pages/audit.tsx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NFS008 / 요구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APP-EVIDENCE   근거·원문 접근 상태 매트릭스</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design-direction.md §5.5. 전 상태 실측 아님 · FS024·FS050-01·FS043</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59</a:t>
            </a:r>
          </a:p>
        </p:txBody>
      </p:sp>
      <p:sp>
        <p:nvSpPr>
          <p:cNvPr id="7" name="TextBox 6"/>
          <p:cNvSpPr txBox="1"/>
          <p:nvPr/>
        </p:nvSpPr>
        <p:spPr>
          <a:xfrm>
            <a:off x="594360" y="1508760"/>
            <a:ext cx="29718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상태</a:t>
            </a:r>
          </a:p>
        </p:txBody>
      </p:sp>
      <p:sp>
        <p:nvSpPr>
          <p:cNvPr id="8" name="TextBox 7"/>
          <p:cNvSpPr txBox="1"/>
          <p:nvPr/>
        </p:nvSpPr>
        <p:spPr>
          <a:xfrm>
            <a:off x="3566160" y="1508760"/>
            <a:ext cx="562356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표시</a:t>
            </a:r>
          </a:p>
        </p:txBody>
      </p:sp>
      <p:sp>
        <p:nvSpPr>
          <p:cNvPr id="9" name="TextBox 8"/>
          <p:cNvSpPr txBox="1"/>
          <p:nvPr/>
        </p:nvSpPr>
        <p:spPr>
          <a:xfrm>
            <a:off x="9189720" y="1508760"/>
            <a:ext cx="48006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다음 행동</a:t>
            </a:r>
          </a:p>
        </p:txBody>
      </p:sp>
      <p:sp>
        <p:nvSpPr>
          <p:cNvPr id="10" name="TextBox 9"/>
          <p:cNvSpPr txBox="1"/>
          <p:nvPr/>
        </p:nvSpPr>
        <p:spPr>
          <a:xfrm>
            <a:off x="594360" y="2075688"/>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 링크 있음</a:t>
            </a:r>
          </a:p>
        </p:txBody>
      </p:sp>
      <p:sp>
        <p:nvSpPr>
          <p:cNvPr id="11" name="TextBox 10"/>
          <p:cNvSpPr txBox="1"/>
          <p:nvPr/>
        </p:nvSpPr>
        <p:spPr>
          <a:xfrm>
            <a:off x="3566160" y="2075688"/>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인용·출처 + 원문 링크</a:t>
            </a:r>
          </a:p>
        </p:txBody>
      </p:sp>
      <p:sp>
        <p:nvSpPr>
          <p:cNvPr id="12" name="TextBox 11"/>
          <p:cNvSpPr txBox="1"/>
          <p:nvPr/>
        </p:nvSpPr>
        <p:spPr>
          <a:xfrm>
            <a:off x="9189720" y="2075688"/>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새 창. 기존 패널·대화 유지</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 링크 없음</a:t>
            </a:r>
          </a:p>
        </p:txBody>
      </p:sp>
      <p:sp>
        <p:nvSpPr>
          <p:cNvPr id="15" name="TextBox 14"/>
          <p:cNvSpPr txBox="1"/>
          <p:nvPr/>
        </p:nvSpPr>
        <p:spPr>
          <a:xfrm>
            <a:off x="3566160" y="2779776"/>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원문을 제공하지 않는 자료입니다</a:t>
            </a:r>
          </a:p>
        </p:txBody>
      </p:sp>
      <p:sp>
        <p:nvSpPr>
          <p:cNvPr id="16" name="TextBox 15"/>
          <p:cNvSpPr txBox="1"/>
          <p:nvPr/>
        </p:nvSpPr>
        <p:spPr>
          <a:xfrm>
            <a:off x="9189720" y="2779776"/>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인용·출처 유지</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 접근 실패</a:t>
            </a:r>
          </a:p>
        </p:txBody>
      </p:sp>
      <p:sp>
        <p:nvSpPr>
          <p:cNvPr id="19" name="TextBox 18"/>
          <p:cNvSpPr txBox="1"/>
          <p:nvPr/>
        </p:nvSpPr>
        <p:spPr>
          <a:xfrm>
            <a:off x="3566160" y="3483864"/>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앱이 외부 사이트 접근을 검사하지 않음</a:t>
            </a:r>
          </a:p>
        </p:txBody>
      </p:sp>
      <p:sp>
        <p:nvSpPr>
          <p:cNvPr id="20" name="TextBox 19"/>
          <p:cNvSpPr txBox="1"/>
          <p:nvPr/>
        </p:nvSpPr>
        <p:spPr>
          <a:xfrm>
            <a:off x="9189720" y="3483864"/>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외부 사이트에서 처리. 앱 오류 만들지 않음</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연결 자료 0건</a:t>
            </a:r>
          </a:p>
        </p:txBody>
      </p:sp>
      <p:sp>
        <p:nvSpPr>
          <p:cNvPr id="23" name="TextBox 22"/>
          <p:cNvSpPr txBox="1"/>
          <p:nvPr/>
        </p:nvSpPr>
        <p:spPr>
          <a:xfrm>
            <a:off x="3566160" y="4187952"/>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근거 없음. 근거 버튼 생략</a:t>
            </a:r>
          </a:p>
        </p:txBody>
      </p:sp>
      <p:sp>
        <p:nvSpPr>
          <p:cNvPr id="24" name="TextBox 23"/>
          <p:cNvSpPr txBox="1"/>
          <p:nvPr/>
        </p:nvSpPr>
        <p:spPr>
          <a:xfrm>
            <a:off x="9189720" y="4187952"/>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빈 상태, 오류 아님</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근거 조회 일시 실패</a:t>
            </a:r>
          </a:p>
        </p:txBody>
      </p:sp>
      <p:sp>
        <p:nvSpPr>
          <p:cNvPr id="27" name="TextBox 26"/>
          <p:cNvSpPr txBox="1"/>
          <p:nvPr/>
        </p:nvSpPr>
        <p:spPr>
          <a:xfrm>
            <a:off x="3566160" y="4892040"/>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받은 근거 유지 + 실패 건수</a:t>
            </a:r>
          </a:p>
        </p:txBody>
      </p:sp>
      <p:sp>
        <p:nvSpPr>
          <p:cNvPr id="28" name="TextBox 27"/>
          <p:cNvSpPr txBox="1"/>
          <p:nvPr/>
        </p:nvSpPr>
        <p:spPr>
          <a:xfrm>
            <a:off x="9189720" y="4892040"/>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실패한 근거만 다시 시도</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삭제·비공개·권한 없음</a:t>
            </a:r>
          </a:p>
        </p:txBody>
      </p:sp>
      <p:sp>
        <p:nvSpPr>
          <p:cNvPr id="31" name="TextBox 30"/>
          <p:cNvSpPr txBox="1"/>
          <p:nvPr/>
        </p:nvSpPr>
        <p:spPr>
          <a:xfrm>
            <a:off x="3566160" y="5596127"/>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제공 불가. 보호 내용 표시 안 함</a:t>
            </a:r>
          </a:p>
        </p:txBody>
      </p:sp>
      <p:sp>
        <p:nvSpPr>
          <p:cNvPr id="32" name="TextBox 31"/>
          <p:cNvSpPr txBox="1"/>
          <p:nvPr/>
        </p:nvSpPr>
        <p:spPr>
          <a:xfrm>
            <a:off x="9189720" y="5596127"/>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404·403은 재시도 없음</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300215"/>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이전 대상 늦은 응답</a:t>
            </a:r>
          </a:p>
        </p:txBody>
      </p:sp>
      <p:sp>
        <p:nvSpPr>
          <p:cNvPr id="35" name="TextBox 34"/>
          <p:cNvSpPr txBox="1"/>
          <p:nvPr/>
        </p:nvSpPr>
        <p:spPr>
          <a:xfrm>
            <a:off x="3566160" y="6300215"/>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현재 대상에 섞이지 않음</a:t>
            </a:r>
          </a:p>
        </p:txBody>
      </p:sp>
      <p:sp>
        <p:nvSpPr>
          <p:cNvPr id="36" name="TextBox 35"/>
          <p:cNvSpPr txBox="1"/>
          <p:nvPr/>
        </p:nvSpPr>
        <p:spPr>
          <a:xfrm>
            <a:off x="9189720" y="6300215"/>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대상별 조회 칸 분리</a:t>
            </a:r>
          </a:p>
        </p:txBody>
      </p:sp>
      <p:cxnSp>
        <p:nvCxnSpPr>
          <p:cNvPr id="37" name="Connector 36"/>
          <p:cNvCxnSpPr/>
          <p:nvPr/>
        </p:nvCxnSpPr>
        <p:spPr>
          <a:xfrm>
            <a:off x="594360" y="698601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APP-ID   팀 v1.7 ↔ v2.0 화면 ID 대응</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팀 원문 screen-plan-v1.7.txt · 본문과 같은 화면 흐름 순서</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60</a:t>
            </a:r>
          </a:p>
        </p:txBody>
      </p:sp>
      <p:sp>
        <p:nvSpPr>
          <p:cNvPr id="7" name="TextBox 6"/>
          <p:cNvSpPr txBox="1"/>
          <p:nvPr/>
        </p:nvSpPr>
        <p:spPr>
          <a:xfrm>
            <a:off x="594360" y="1508760"/>
            <a:ext cx="42062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팀 v1.7</a:t>
            </a:r>
          </a:p>
        </p:txBody>
      </p:sp>
      <p:sp>
        <p:nvSpPr>
          <p:cNvPr id="8" name="TextBox 7"/>
          <p:cNvSpPr txBox="1"/>
          <p:nvPr/>
        </p:nvSpPr>
        <p:spPr>
          <a:xfrm>
            <a:off x="4800600" y="1508760"/>
            <a:ext cx="48463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프로토타입 v2.0</a:t>
            </a:r>
          </a:p>
        </p:txBody>
      </p:sp>
      <p:sp>
        <p:nvSpPr>
          <p:cNvPr id="9" name="TextBox 8"/>
          <p:cNvSpPr txBox="1"/>
          <p:nvPr/>
        </p:nvSpPr>
        <p:spPr>
          <a:xfrm>
            <a:off x="9646920" y="1508760"/>
            <a:ext cx="43434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판정·차이</a:t>
            </a:r>
          </a:p>
        </p:txBody>
      </p:sp>
      <p:sp>
        <p:nvSpPr>
          <p:cNvPr id="10" name="TextBox 9"/>
          <p:cNvSpPr txBox="1"/>
          <p:nvPr/>
        </p:nvSpPr>
        <p:spPr>
          <a:xfrm>
            <a:off x="594360" y="2075688"/>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 필터</a:t>
            </a:r>
          </a:p>
        </p:txBody>
      </p:sp>
      <p:sp>
        <p:nvSpPr>
          <p:cNvPr id="11" name="TextBox 10"/>
          <p:cNvSpPr txBox="1"/>
          <p:nvPr/>
        </p:nvSpPr>
        <p:spPr>
          <a:xfrm>
            <a:off x="4800600" y="2075688"/>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D-GRP-01 · D-GRP-01b</a:t>
            </a:r>
          </a:p>
        </p:txBody>
      </p:sp>
      <p:sp>
        <p:nvSpPr>
          <p:cNvPr id="12" name="TextBox 11"/>
          <p:cNvSpPr txBox="1"/>
          <p:nvPr/>
        </p:nvSpPr>
        <p:spPr>
          <a:xfrm>
            <a:off x="9646920" y="2075688"/>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두 모드와 개인화 내부 필터로 분리</a:t>
            </a:r>
          </a:p>
        </p:txBody>
      </p:sp>
      <p:cxnSp>
        <p:nvCxnSpPr>
          <p:cNvPr id="13" name="Connector 12"/>
          <p:cNvCxnSpPr/>
          <p:nvPr/>
        </p:nvCxnSpPr>
        <p:spPr>
          <a:xfrm>
            <a:off x="594360" y="270319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21483"/>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D-GRP-02 동시 이슈</a:t>
            </a:r>
          </a:p>
        </p:txBody>
      </p:sp>
      <p:sp>
        <p:nvSpPr>
          <p:cNvPr id="15" name="TextBox 14"/>
          <p:cNvSpPr txBox="1"/>
          <p:nvPr/>
        </p:nvSpPr>
        <p:spPr>
          <a:xfrm>
            <a:off x="4800600" y="2721483"/>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D-GRP-02 사건 패널</a:t>
            </a:r>
          </a:p>
        </p:txBody>
      </p:sp>
      <p:sp>
        <p:nvSpPr>
          <p:cNvPr id="16" name="TextBox 15"/>
          <p:cNvSpPr txBox="1"/>
          <p:nvPr/>
        </p:nvSpPr>
        <p:spPr>
          <a:xfrm>
            <a:off x="9646920" y="2721483"/>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명칭·단위 변경</a:t>
            </a:r>
          </a:p>
        </p:txBody>
      </p:sp>
      <p:cxnSp>
        <p:nvCxnSpPr>
          <p:cNvPr id="17" name="Connector 16"/>
          <p:cNvCxnSpPr/>
          <p:nvPr/>
        </p:nvCxnSpPr>
        <p:spPr>
          <a:xfrm>
            <a:off x="594360" y="334899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367278"/>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 영향 경로</a:t>
            </a:r>
          </a:p>
        </p:txBody>
      </p:sp>
      <p:sp>
        <p:nvSpPr>
          <p:cNvPr id="19" name="TextBox 18"/>
          <p:cNvSpPr txBox="1"/>
          <p:nvPr/>
        </p:nvSpPr>
        <p:spPr>
          <a:xfrm>
            <a:off x="4800600" y="3367278"/>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 기업 패널</a:t>
            </a:r>
          </a:p>
        </p:txBody>
      </p:sp>
      <p:sp>
        <p:nvSpPr>
          <p:cNvPr id="20" name="TextBox 19"/>
          <p:cNvSpPr txBox="1"/>
          <p:nvPr/>
        </p:nvSpPr>
        <p:spPr>
          <a:xfrm>
            <a:off x="9646920" y="3367278"/>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정보 패널과 경로 역할 분리</a:t>
            </a:r>
          </a:p>
        </p:txBody>
      </p:sp>
      <p:cxnSp>
        <p:nvCxnSpPr>
          <p:cNvPr id="21" name="Connector 20"/>
          <p:cNvCxnSpPr/>
          <p:nvPr/>
        </p:nvCxnSpPr>
        <p:spPr>
          <a:xfrm>
            <a:off x="594360" y="399478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013073"/>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 관계 설명 · D-GRP-06 간선 모달</a:t>
            </a:r>
          </a:p>
        </p:txBody>
      </p:sp>
      <p:sp>
        <p:nvSpPr>
          <p:cNvPr id="23" name="TextBox 22"/>
          <p:cNvSpPr txBox="1"/>
          <p:nvPr/>
        </p:nvSpPr>
        <p:spPr>
          <a:xfrm>
            <a:off x="4800600" y="4013073"/>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D-GRP-04 연결선 상세</a:t>
            </a:r>
          </a:p>
        </p:txBody>
      </p:sp>
      <p:sp>
        <p:nvSpPr>
          <p:cNvPr id="24" name="TextBox 23"/>
          <p:cNvSpPr txBox="1"/>
          <p:nvPr/>
        </p:nvSpPr>
        <p:spPr>
          <a:xfrm>
            <a:off x="9646920" y="4013073"/>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사건 공유·후속 사건 상세로 한정</a:t>
            </a:r>
          </a:p>
        </p:txBody>
      </p:sp>
      <p:cxnSp>
        <p:nvCxnSpPr>
          <p:cNvPr id="25" name="Connector 2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658868"/>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D-GRP-04 근거</a:t>
            </a:r>
          </a:p>
        </p:txBody>
      </p:sp>
      <p:sp>
        <p:nvSpPr>
          <p:cNvPr id="27" name="TextBox 26"/>
          <p:cNvSpPr txBox="1"/>
          <p:nvPr/>
        </p:nvSpPr>
        <p:spPr>
          <a:xfrm>
            <a:off x="4800600" y="4658868"/>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 근거 창</a:t>
            </a:r>
          </a:p>
        </p:txBody>
      </p:sp>
      <p:sp>
        <p:nvSpPr>
          <p:cNvPr id="28" name="TextBox 27"/>
          <p:cNvSpPr txBox="1"/>
          <p:nvPr/>
        </p:nvSpPr>
        <p:spPr>
          <a:xfrm>
            <a:off x="9646920" y="4658868"/>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ID 이동</a:t>
            </a:r>
          </a:p>
        </p:txBody>
      </p:sp>
      <p:cxnSp>
        <p:nvCxnSpPr>
          <p:cNvPr id="29" name="Connector 28"/>
          <p:cNvCxnSpPr/>
          <p:nvPr/>
        </p:nvCxnSpPr>
        <p:spPr>
          <a:xfrm>
            <a:off x="594360" y="528637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304663"/>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 영향 경로 · D-GRP-06 간선 모달</a:t>
            </a:r>
          </a:p>
        </p:txBody>
      </p:sp>
      <p:sp>
        <p:nvSpPr>
          <p:cNvPr id="31" name="TextBox 30"/>
          <p:cNvSpPr txBox="1"/>
          <p:nvPr/>
        </p:nvSpPr>
        <p:spPr>
          <a:xfrm>
            <a:off x="4800600" y="5304663"/>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D-GRP-06 영향 경로</a:t>
            </a:r>
          </a:p>
        </p:txBody>
      </p:sp>
      <p:sp>
        <p:nvSpPr>
          <p:cNvPr id="32" name="TextBox 31"/>
          <p:cNvSpPr txBox="1"/>
          <p:nvPr/>
        </p:nvSpPr>
        <p:spPr>
          <a:xfrm>
            <a:off x="9646920" y="5304663"/>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패널의 관련 사건에서 진입</a:t>
            </a:r>
          </a:p>
        </p:txBody>
      </p:sp>
      <p:cxnSp>
        <p:nvCxnSpPr>
          <p:cNvPr id="33" name="Connector 32"/>
          <p:cNvCxnSpPr/>
          <p:nvPr/>
        </p:nvCxnSpPr>
        <p:spPr>
          <a:xfrm>
            <a:off x="594360" y="593217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5950457"/>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D-BRF-03 장 마감 보드</a:t>
            </a:r>
          </a:p>
        </p:txBody>
      </p:sp>
      <p:sp>
        <p:nvSpPr>
          <p:cNvPr id="35" name="TextBox 34"/>
          <p:cNvSpPr txBox="1"/>
          <p:nvPr/>
        </p:nvSpPr>
        <p:spPr>
          <a:xfrm>
            <a:off x="4800600" y="5950457"/>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D-BRF-02 퇴근 회차 비교</a:t>
            </a:r>
          </a:p>
        </p:txBody>
      </p:sp>
      <p:sp>
        <p:nvSpPr>
          <p:cNvPr id="36" name="TextBox 35"/>
          <p:cNvSpPr txBox="1"/>
          <p:nvPr/>
        </p:nvSpPr>
        <p:spPr>
          <a:xfrm>
            <a:off x="9646920" y="5950457"/>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독립 화면 없이 흡수</a:t>
            </a:r>
          </a:p>
        </p:txBody>
      </p:sp>
      <p:cxnSp>
        <p:nvCxnSpPr>
          <p:cNvPr id="37" name="Connector 36"/>
          <p:cNvCxnSpPr/>
          <p:nvPr/>
        </p:nvCxnSpPr>
        <p:spPr>
          <a:xfrm>
            <a:off x="594360" y="657796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596252"/>
            <a:ext cx="40690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A-ADM-01~05</a:t>
            </a:r>
          </a:p>
        </p:txBody>
      </p:sp>
      <p:sp>
        <p:nvSpPr>
          <p:cNvPr id="39" name="TextBox 38"/>
          <p:cNvSpPr txBox="1"/>
          <p:nvPr/>
        </p:nvSpPr>
        <p:spPr>
          <a:xfrm>
            <a:off x="4800600" y="6596252"/>
            <a:ext cx="47091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로그인 → 최종 5개 묶음</a:t>
            </a:r>
          </a:p>
        </p:txBody>
      </p:sp>
      <p:sp>
        <p:nvSpPr>
          <p:cNvPr id="40" name="TextBox 39"/>
          <p:cNvSpPr txBox="1"/>
          <p:nvPr/>
        </p:nvSpPr>
        <p:spPr>
          <a:xfrm>
            <a:off x="9646920" y="6596252"/>
            <a:ext cx="42062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42쪽 기준, 28쪽의 이전 분류는 승계하지 않음</a:t>
            </a:r>
          </a:p>
        </p:txBody>
      </p:sp>
      <p:cxnSp>
        <p:nvCxnSpPr>
          <p:cNvPr id="41" name="Connector 40"/>
          <p:cNvCxnSpPr/>
          <p:nvPr/>
        </p:nvCxnSpPr>
        <p:spPr>
          <a:xfrm>
            <a:off x="594360" y="7223759"/>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APP-VERDICT-01   팀 v1.7 판정표 · 채택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작성 명세 팀 v1.7 확정 판정 · review.md Main 정정</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61</a:t>
            </a:r>
          </a:p>
        </p:txBody>
      </p:sp>
      <p:sp>
        <p:nvSpPr>
          <p:cNvPr id="7" name="TextBox 6"/>
          <p:cNvSpPr txBox="1"/>
          <p:nvPr/>
        </p:nvSpPr>
        <p:spPr>
          <a:xfrm>
            <a:off x="594360" y="1508760"/>
            <a:ext cx="42976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팀 항목</a:t>
            </a:r>
          </a:p>
        </p:txBody>
      </p:sp>
      <p:sp>
        <p:nvSpPr>
          <p:cNvPr id="8" name="TextBox 7"/>
          <p:cNvSpPr txBox="1"/>
          <p:nvPr/>
        </p:nvSpPr>
        <p:spPr>
          <a:xfrm>
            <a:off x="4892040" y="1508760"/>
            <a:ext cx="38862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v2.0 적용</a:t>
            </a:r>
          </a:p>
        </p:txBody>
      </p:sp>
      <p:sp>
        <p:nvSpPr>
          <p:cNvPr id="9" name="TextBox 8"/>
          <p:cNvSpPr txBox="1"/>
          <p:nvPr/>
        </p:nvSpPr>
        <p:spPr>
          <a:xfrm>
            <a:off x="8778240" y="1508760"/>
            <a:ext cx="52120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근거</a:t>
            </a:r>
          </a:p>
        </p:txBody>
      </p:sp>
      <p:sp>
        <p:nvSpPr>
          <p:cNvPr id="10" name="TextBox 9"/>
          <p:cNvSpPr txBox="1"/>
          <p:nvPr/>
        </p:nvSpPr>
        <p:spPr>
          <a:xfrm>
            <a:off x="594360" y="2075688"/>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D-BRF-03 회차 비교</a:t>
            </a:r>
          </a:p>
        </p:txBody>
      </p:sp>
      <p:sp>
        <p:nvSpPr>
          <p:cNvPr id="11" name="TextBox 10"/>
          <p:cNvSpPr txBox="1"/>
          <p:nvPr/>
        </p:nvSpPr>
        <p:spPr>
          <a:xfrm>
            <a:off x="4892040" y="2075688"/>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D-BRF-02에 흡수</a:t>
            </a:r>
          </a:p>
        </p:txBody>
      </p:sp>
      <p:sp>
        <p:nvSpPr>
          <p:cNvPr id="12" name="TextBox 11"/>
          <p:cNvSpPr txBox="1"/>
          <p:nvPr/>
        </p:nvSpPr>
        <p:spPr>
          <a:xfrm>
            <a:off x="8778240" y="2075688"/>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공통 발행본을 날짜·출근/퇴근으로 비교</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모바일 아침 이후 바뀐 내용</a:t>
            </a:r>
          </a:p>
        </p:txBody>
      </p:sp>
      <p:sp>
        <p:nvSpPr>
          <p:cNvPr id="15" name="TextBox 14"/>
          <p:cNvSpPr txBox="1"/>
          <p:nvPr/>
        </p:nvSpPr>
        <p:spPr>
          <a:xfrm>
            <a:off x="4892040" y="2779776"/>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M-BRF-01 · D-BRF-02</a:t>
            </a:r>
          </a:p>
        </p:txBody>
      </p:sp>
      <p:sp>
        <p:nvSpPr>
          <p:cNvPr id="16" name="TextBox 15"/>
          <p:cNvSpPr txBox="1"/>
          <p:nvPr/>
        </p:nvSpPr>
        <p:spPr>
          <a:xfrm>
            <a:off x="8778240" y="2779776"/>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동일 날짜 출근/퇴근 이슈 ID 비교</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근거·원문 상태 매트릭스</a:t>
            </a:r>
          </a:p>
        </p:txBody>
      </p:sp>
      <p:sp>
        <p:nvSpPr>
          <p:cNvPr id="19" name="TextBox 18"/>
          <p:cNvSpPr txBox="1"/>
          <p:nvPr/>
        </p:nvSpPr>
        <p:spPr>
          <a:xfrm>
            <a:off x="4892040" y="3483864"/>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APP-EVIDENCE</a:t>
            </a:r>
          </a:p>
        </p:txBody>
      </p:sp>
      <p:sp>
        <p:nvSpPr>
          <p:cNvPr id="20" name="TextBox 19"/>
          <p:cNvSpPr txBox="1"/>
          <p:nvPr/>
        </p:nvSpPr>
        <p:spPr>
          <a:xfrm>
            <a:off x="8778240" y="3483864"/>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일시 실패와 404·403 제공 불가 분리</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인과관계 아님 고지</a:t>
            </a:r>
          </a:p>
        </p:txBody>
      </p:sp>
      <p:sp>
        <p:nvSpPr>
          <p:cNvPr id="23" name="TextBox 22"/>
          <p:cNvSpPr txBox="1"/>
          <p:nvPr/>
        </p:nvSpPr>
        <p:spPr>
          <a:xfrm>
            <a:off x="4892040" y="4187952"/>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D-COM-01b</a:t>
            </a:r>
          </a:p>
        </p:txBody>
      </p:sp>
      <p:sp>
        <p:nvSpPr>
          <p:cNvPr id="24" name="TextBox 23"/>
          <p:cNvSpPr txBox="1"/>
          <p:nvPr/>
        </p:nvSpPr>
        <p:spPr>
          <a:xfrm>
            <a:off x="8778240" y="4187952"/>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명세 FS040 · 10-03 시점 겹침 고지</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모바일 하단 AI 탭</a:t>
            </a:r>
          </a:p>
        </p:txBody>
      </p:sp>
      <p:sp>
        <p:nvSpPr>
          <p:cNvPr id="27" name="TextBox 26"/>
          <p:cNvSpPr txBox="1"/>
          <p:nvPr/>
        </p:nvSpPr>
        <p:spPr>
          <a:xfrm>
            <a:off x="4892040" y="4892040"/>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M-AI-01</a:t>
            </a:r>
          </a:p>
        </p:txBody>
      </p:sp>
      <p:sp>
        <p:nvSpPr>
          <p:cNvPr id="28" name="TextBox 27"/>
          <p:cNvSpPr txBox="1"/>
          <p:nvPr/>
        </p:nvSpPr>
        <p:spPr>
          <a:xfrm>
            <a:off x="8778240" y="4892040"/>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새 화면 없이 기존 질문 창 열기</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권한표·관리자 감사 형식</a:t>
            </a:r>
          </a:p>
        </p:txBody>
      </p:sp>
      <p:sp>
        <p:nvSpPr>
          <p:cNvPr id="31" name="TextBox 30"/>
          <p:cNvSpPr txBox="1"/>
          <p:nvPr/>
        </p:nvSpPr>
        <p:spPr>
          <a:xfrm>
            <a:off x="4892040" y="5596127"/>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AUTHORITY · A-ADM-05b</a:t>
            </a:r>
          </a:p>
        </p:txBody>
      </p:sp>
      <p:sp>
        <p:nvSpPr>
          <p:cNvPr id="32" name="TextBox 31"/>
          <p:cNvSpPr txBox="1"/>
          <p:nvPr/>
        </p:nvSpPr>
        <p:spPr>
          <a:xfrm>
            <a:off x="8778240" y="5596127"/>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권한과 변경 기록을 화면에서 구분</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APP-VERDICT-02   팀 v1.7 판정표 · 불채택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작성 명세 팀 v1.7 확정 판정 · review.md Main 정정</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62</a:t>
            </a:r>
          </a:p>
        </p:txBody>
      </p:sp>
      <p:sp>
        <p:nvSpPr>
          <p:cNvPr id="7" name="TextBox 6"/>
          <p:cNvSpPr txBox="1"/>
          <p:nvPr/>
        </p:nvSpPr>
        <p:spPr>
          <a:xfrm>
            <a:off x="594360" y="1508760"/>
            <a:ext cx="42976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팀 항목</a:t>
            </a:r>
          </a:p>
        </p:txBody>
      </p:sp>
      <p:sp>
        <p:nvSpPr>
          <p:cNvPr id="8" name="TextBox 7"/>
          <p:cNvSpPr txBox="1"/>
          <p:nvPr/>
        </p:nvSpPr>
        <p:spPr>
          <a:xfrm>
            <a:off x="4892040" y="1508760"/>
            <a:ext cx="38862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v2.0 판정</a:t>
            </a:r>
          </a:p>
        </p:txBody>
      </p:sp>
      <p:sp>
        <p:nvSpPr>
          <p:cNvPr id="9" name="TextBox 8"/>
          <p:cNvSpPr txBox="1"/>
          <p:nvPr/>
        </p:nvSpPr>
        <p:spPr>
          <a:xfrm>
            <a:off x="8778240" y="1508760"/>
            <a:ext cx="52120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근거</a:t>
            </a:r>
          </a:p>
        </p:txBody>
      </p:sp>
      <p:sp>
        <p:nvSpPr>
          <p:cNvPr id="10" name="TextBox 9"/>
          <p:cNvSpPr txBox="1"/>
          <p:nvPr/>
        </p:nvSpPr>
        <p:spPr>
          <a:xfrm>
            <a:off x="594360" y="2075688"/>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이슈–기업/기업 간 간선 모달 D-GRP-06</a:t>
            </a:r>
          </a:p>
        </p:txBody>
      </p:sp>
      <p:sp>
        <p:nvSpPr>
          <p:cNvPr id="11" name="TextBox 10"/>
          <p:cNvSpPr txBox="1"/>
          <p:nvPr/>
        </p:nvSpPr>
        <p:spPr>
          <a:xfrm>
            <a:off x="4892040" y="2075688"/>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모달 대신 영향 경로·연결선 패널</a:t>
            </a:r>
          </a:p>
        </p:txBody>
      </p:sp>
      <p:sp>
        <p:nvSpPr>
          <p:cNvPr id="12" name="TextBox 11"/>
          <p:cNvSpPr txBox="1"/>
          <p:nvPr/>
        </p:nvSpPr>
        <p:spPr>
          <a:xfrm>
            <a:off x="8778240" y="2075688"/>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FS022·D03. 사건–기업 선 클릭 제거</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외부 원인 10종·공급/경쟁 직결선</a:t>
            </a:r>
          </a:p>
        </p:txBody>
      </p:sp>
      <p:sp>
        <p:nvSpPr>
          <p:cNvPr id="15" name="TextBox 14"/>
          <p:cNvSpPr txBox="1"/>
          <p:nvPr/>
        </p:nvSpPr>
        <p:spPr>
          <a:xfrm>
            <a:off x="4892040" y="2779776"/>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기업·사건 두 노드와 실제 관계만</a:t>
            </a:r>
          </a:p>
        </p:txBody>
      </p:sp>
      <p:sp>
        <p:nvSpPr>
          <p:cNvPr id="16" name="TextBox 15"/>
          <p:cNvSpPr txBox="1"/>
          <p:nvPr/>
        </p:nvSpPr>
        <p:spPr>
          <a:xfrm>
            <a:off x="8778240" y="2779776"/>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값을 만드는 데이터 없음</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긍정 가능/부정 가능 배지</a:t>
            </a:r>
          </a:p>
        </p:txBody>
      </p:sp>
      <p:sp>
        <p:nvSpPr>
          <p:cNvPr id="19" name="TextBox 18"/>
          <p:cNvSpPr txBox="1"/>
          <p:nvPr/>
        </p:nvSpPr>
        <p:spPr>
          <a:xfrm>
            <a:off x="4892040" y="3483864"/>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방향 값 생기면 4분류 규격 적용</a:t>
            </a:r>
          </a:p>
        </p:txBody>
      </p:sp>
      <p:sp>
        <p:nvSpPr>
          <p:cNvPr id="20" name="TextBox 19"/>
          <p:cNvSpPr txBox="1"/>
          <p:nvPr/>
        </p:nvSpPr>
        <p:spPr>
          <a:xfrm>
            <a:off x="8778240" y="3483864"/>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명세는 방향을 요구하나 PoC 생산자 없음. 문구 미정</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모듈별 6색·카드 좌측 색 막대</a:t>
            </a:r>
          </a:p>
        </p:txBody>
      </p:sp>
      <p:sp>
        <p:nvSpPr>
          <p:cNvPr id="23" name="TextBox 22"/>
          <p:cNvSpPr txBox="1"/>
          <p:nvPr/>
        </p:nvSpPr>
        <p:spPr>
          <a:xfrm>
            <a:off x="4892040" y="4187952"/>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중성 회색 + 의미별 색</a:t>
            </a:r>
          </a:p>
        </p:txBody>
      </p:sp>
      <p:sp>
        <p:nvSpPr>
          <p:cNvPr id="24" name="TextBox 23"/>
          <p:cNvSpPr txBox="1"/>
          <p:nvPr/>
        </p:nvSpPr>
        <p:spPr>
          <a:xfrm>
            <a:off x="8778240" y="4187952"/>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브랜드 주 행동·선택, 모듈 ID·아이콘</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관심 최대 3개</a:t>
            </a:r>
          </a:p>
        </p:txBody>
      </p:sp>
      <p:sp>
        <p:nvSpPr>
          <p:cNvPr id="27" name="TextBox 26"/>
          <p:cNvSpPr txBox="1"/>
          <p:nvPr/>
        </p:nvSpPr>
        <p:spPr>
          <a:xfrm>
            <a:off x="4892040" y="4892040"/>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무제한·0개 허용</a:t>
            </a:r>
          </a:p>
        </p:txBody>
      </p:sp>
      <p:sp>
        <p:nvSpPr>
          <p:cNvPr id="28" name="TextBox 27"/>
          <p:cNvSpPr txBox="1"/>
          <p:nvPr/>
        </p:nvSpPr>
        <p:spPr>
          <a:xfrm>
            <a:off x="8778240" y="4892040"/>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9/30 결정·FS012·FS027</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브리핑 08:00/18:00</a:t>
            </a:r>
          </a:p>
        </p:txBody>
      </p:sp>
      <p:sp>
        <p:nvSpPr>
          <p:cNvPr id="31" name="TextBox 30"/>
          <p:cNvSpPr txBox="1"/>
          <p:nvPr/>
        </p:nvSpPr>
        <p:spPr>
          <a:xfrm>
            <a:off x="4892040" y="5596127"/>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07:40/18:10 생성 시작</a:t>
            </a:r>
          </a:p>
        </p:txBody>
      </p:sp>
      <p:sp>
        <p:nvSpPr>
          <p:cNvPr id="32" name="TextBox 31"/>
          <p:cNvSpPr txBox="1"/>
          <p:nvPr/>
        </p:nvSpPr>
        <p:spPr>
          <a:xfrm>
            <a:off x="8778240" y="5596127"/>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10-01 명세 정본</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APP-POLICY-01   팀 확인 필요 · 관리자와 운영</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progress-2026-10-02.md §1. 여섯 항목은 확정 결정이 아니라 결정 요청이에요.</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63</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팀에 요청한 결정 1~3</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R1을 자동 검증 정책의 일부로 인정할지</a:t>
            </a:r>
          </a:p>
          <a:p>
            <a:pPr>
              <a:lnSpc>
                <a:spcPct val="112000"/>
              </a:lnSpc>
              <a:spcAft>
                <a:spcPts val="600"/>
              </a:spcAft>
              <a:defRPr sz="1800" b="0">
                <a:solidFill>
                  <a:srgbClr val="19201D"/>
                </a:solidFill>
                <a:latin typeface="SUIT"/>
              </a:defRPr>
            </a:pPr>
            <a:r>
              <a:rPr>
                <a:ea typeface="SUIT"/>
              </a:rPr>
              <a:t>역할이 확인되지 않은 후보를 역할 없이 공개해요.</a:t>
            </a:r>
          </a:p>
          <a:p>
            <a:pPr>
              <a:lnSpc>
                <a:spcPct val="112000"/>
              </a:lnSpc>
              <a:spcAft>
                <a:spcPts val="600"/>
              </a:spcAft>
              <a:defRPr sz="1800" b="0">
                <a:solidFill>
                  <a:srgbClr val="19201D"/>
                </a:solidFill>
                <a:latin typeface="SUIT"/>
              </a:defRPr>
            </a:pPr>
            <a:r>
              <a:rPr>
                <a:ea typeface="SUIT"/>
              </a:rPr>
              <a:t>2. 관리자 권한 등급·대화록 범위·마스킹</a:t>
            </a:r>
          </a:p>
          <a:p>
            <a:pPr>
              <a:lnSpc>
                <a:spcPct val="112000"/>
              </a:lnSpc>
              <a:spcAft>
                <a:spcPts val="600"/>
              </a:spcAft>
              <a:defRPr sz="1800" b="0">
                <a:solidFill>
                  <a:srgbClr val="19201D"/>
                </a:solidFill>
                <a:latin typeface="SUIT"/>
              </a:defRPr>
            </a:pPr>
            <a:r>
              <a:rPr>
                <a:ea typeface="SUIT"/>
              </a:rPr>
              <a:t>별도 열람 권한·목적·실패 차단은 남은 충돌이에요.</a:t>
            </a:r>
          </a:p>
          <a:p>
            <a:pPr>
              <a:lnSpc>
                <a:spcPct val="112000"/>
              </a:lnSpc>
              <a:spcAft>
                <a:spcPts val="600"/>
              </a:spcAft>
              <a:defRPr sz="1800" b="0">
                <a:solidFill>
                  <a:srgbClr val="19201D"/>
                </a:solidFill>
                <a:latin typeface="SUIT"/>
              </a:defRPr>
            </a:pPr>
            <a:r>
              <a:rPr>
                <a:ea typeface="SUIT"/>
              </a:rPr>
              <a:t>3. 관리자 허용 → 재검증 전환</a:t>
            </a:r>
          </a:p>
          <a:p>
            <a:pPr>
              <a:lnSpc>
                <a:spcPct val="112000"/>
              </a:lnSpc>
              <a:spcAft>
                <a:spcPts val="600"/>
              </a:spcAft>
              <a:defRPr sz="1800" b="0">
                <a:solidFill>
                  <a:srgbClr val="19201D"/>
                </a:solidFill>
                <a:latin typeface="SUIT"/>
              </a:defRPr>
            </a:pPr>
            <a:r>
              <a:rPr>
                <a:ea typeface="SUIT"/>
              </a:rPr>
              <a:t>현재 즉시 공개와 FS067-02가 충돌해요.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팀에 요청한 결정 4~6</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4. 운영 값: 로그인 실패 제한·재시도 범위·보존 기간</a:t>
            </a:r>
          </a:p>
          <a:p>
            <a:pPr>
              <a:lnSpc>
                <a:spcPct val="112000"/>
              </a:lnSpc>
              <a:spcAft>
                <a:spcPts val="600"/>
              </a:spcAft>
              <a:defRPr sz="1800" b="0">
                <a:solidFill>
                  <a:srgbClr val="19201D"/>
                </a:solidFill>
                <a:latin typeface="SUIT"/>
              </a:defRPr>
            </a:pPr>
            <a:r>
              <a:rPr>
                <a:ea typeface="SUIT"/>
              </a:rPr>
              <a:t>AI 재시도 3회·중단 120초는 프로토타입 기본값</a:t>
            </a:r>
          </a:p>
          <a:p>
            <a:pPr>
              <a:lnSpc>
                <a:spcPct val="112000"/>
              </a:lnSpc>
              <a:spcAft>
                <a:spcPts val="600"/>
              </a:spcAft>
              <a:defRPr sz="1800" b="0">
                <a:solidFill>
                  <a:srgbClr val="19201D"/>
                </a:solidFill>
                <a:latin typeface="SUIT"/>
              </a:defRPr>
            </a:pPr>
            <a:r>
              <a:rPr>
                <a:ea typeface="SUIT"/>
              </a:rPr>
              <a:t>5. 그래프 기본값: 사이드바·패널·원 최소 크기</a:t>
            </a:r>
          </a:p>
          <a:p>
            <a:pPr>
              <a:lnSpc>
                <a:spcPct val="112000"/>
              </a:lnSpc>
              <a:spcAft>
                <a:spcPts val="600"/>
              </a:spcAft>
              <a:defRPr sz="1800" b="0">
                <a:solidFill>
                  <a:srgbClr val="19201D"/>
                </a:solidFill>
                <a:latin typeface="SUIT"/>
              </a:defRPr>
            </a:pPr>
            <a:r>
              <a:rPr>
                <a:ea typeface="SUIT"/>
              </a:rPr>
              <a:t>영향 경로라는 이름의 오해 가능성 확인</a:t>
            </a:r>
          </a:p>
          <a:p>
            <a:pPr>
              <a:lnSpc>
                <a:spcPct val="112000"/>
              </a:lnSpc>
              <a:spcAft>
                <a:spcPts val="600"/>
              </a:spcAft>
              <a:defRPr sz="1800" b="0">
                <a:solidFill>
                  <a:srgbClr val="19201D"/>
                </a:solidFill>
                <a:latin typeface="SUIT"/>
              </a:defRPr>
            </a:pPr>
            <a:r>
              <a:rPr>
                <a:ea typeface="SUIT"/>
              </a:rPr>
              <a:t>6. 시세 공급원: 토스 API 이용 목적·제3자 제공</a:t>
            </a:r>
          </a:p>
          <a:p>
            <a:pPr>
              <a:lnSpc>
                <a:spcPct val="112000"/>
              </a:lnSpc>
              <a:spcAft>
                <a:spcPts val="600"/>
              </a:spcAft>
              <a:defRPr sz="1800" b="0">
                <a:solidFill>
                  <a:srgbClr val="19201D"/>
                </a:solidFill>
                <a:latin typeface="SUIT"/>
              </a:defRPr>
            </a:pPr>
            <a:r>
              <a:rPr>
                <a:ea typeface="SUIT"/>
              </a:rPr>
              <a:t>키 발급과 별개로 약관·배포 권한 확인</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APP-POLICY-02   팀 확인 필요 · 10-03 명세 충돌</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spec-wbs-delta-2026-10-03.md §6 · notion-delta-2026-10-03.md §7</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64</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명세 갱신본</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FS017: 기존 시트 제품 노드 vs v2 기업·사건 두 노드</a:t>
            </a:r>
          </a:p>
          <a:p>
            <a:pPr>
              <a:lnSpc>
                <a:spcPct val="112000"/>
              </a:lnSpc>
              <a:spcAft>
                <a:spcPts val="600"/>
              </a:spcAft>
              <a:defRPr sz="1800" b="0">
                <a:solidFill>
                  <a:srgbClr val="19201D"/>
                </a:solidFill>
                <a:latin typeface="SUIT"/>
              </a:defRPr>
            </a:pPr>
            <a:r>
              <a:rPr>
                <a:ea typeface="SUIT"/>
              </a:rPr>
              <a:t>현재 캡처는 기업·사건만. 정본 대체 선언은 없어요.</a:t>
            </a:r>
          </a:p>
          <a:p>
            <a:pPr>
              <a:lnSpc>
                <a:spcPct val="112000"/>
              </a:lnSpc>
              <a:spcAft>
                <a:spcPts val="600"/>
              </a:spcAft>
              <a:defRPr sz="1800" b="0">
                <a:solidFill>
                  <a:srgbClr val="19201D"/>
                </a:solidFill>
                <a:latin typeface="SUIT"/>
              </a:defRPr>
            </a:pPr>
            <a:r>
              <a:rPr>
                <a:ea typeface="SUIT"/>
              </a:rPr>
              <a:t>FS004 vs FS061: 제공자·신규 계정·연결 정책 정합화</a:t>
            </a:r>
          </a:p>
          <a:p>
            <a:pPr>
              <a:lnSpc>
                <a:spcPct val="112000"/>
              </a:lnSpc>
              <a:spcAft>
                <a:spcPts val="600"/>
              </a:spcAft>
              <a:defRPr sz="1800" b="0">
                <a:solidFill>
                  <a:srgbClr val="19201D"/>
                </a:solidFill>
                <a:latin typeface="SUIT"/>
              </a:defRPr>
            </a:pPr>
            <a:r>
              <a:rPr>
                <a:ea typeface="SUIT"/>
              </a:rPr>
              <a:t>현재는 /mock-idp 모의 제공자예요.</a:t>
            </a:r>
          </a:p>
          <a:p>
            <a:pPr>
              <a:lnSpc>
                <a:spcPct val="112000"/>
              </a:lnSpc>
              <a:spcAft>
                <a:spcPts val="600"/>
              </a:spcAft>
              <a:defRPr sz="1800" b="0">
                <a:solidFill>
                  <a:srgbClr val="19201D"/>
                </a:solidFill>
                <a:latin typeface="SUIT"/>
              </a:defRPr>
            </a:pPr>
            <a:r>
              <a:rPr>
                <a:ea typeface="SUIT"/>
              </a:rPr>
              <a:t>FS014: 초기 그래프에 튜토리얼 기준 혼입</a:t>
            </a:r>
          </a:p>
          <a:p>
            <a:pPr>
              <a:lnSpc>
                <a:spcPct val="112000"/>
              </a:lnSpc>
              <a:spcAft>
                <a:spcPts val="600"/>
              </a:spcAft>
              <a:defRPr sz="1800" b="0">
                <a:solidFill>
                  <a:srgbClr val="19201D"/>
                </a:solidFill>
                <a:latin typeface="SUIT"/>
              </a:defRPr>
            </a:pPr>
            <a:r>
              <a:rPr>
                <a:ea typeface="SUIT"/>
              </a:rPr>
              <a:t>초기 설정·튜토리얼 계약을 분리해야 해요.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Notion 최종 시퀀스 vs 9/30</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비회원 관심 선택·저장 금지 vs 임시 저장 허용</a:t>
            </a:r>
          </a:p>
          <a:p>
            <a:pPr>
              <a:lnSpc>
                <a:spcPct val="112000"/>
              </a:lnSpc>
              <a:spcAft>
                <a:spcPts val="600"/>
              </a:spcAft>
              <a:defRPr sz="1800" b="0">
                <a:solidFill>
                  <a:srgbClr val="19201D"/>
                </a:solidFill>
                <a:latin typeface="SUIT"/>
              </a:defRPr>
            </a:pPr>
            <a:r>
              <a:rPr>
                <a:ea typeface="SUIT"/>
              </a:rPr>
              <a:t>관심 무제한·0개 허용 vs 최소1/최대3</a:t>
            </a:r>
          </a:p>
          <a:p>
            <a:pPr>
              <a:lnSpc>
                <a:spcPct val="112000"/>
              </a:lnSpc>
              <a:spcAft>
                <a:spcPts val="600"/>
              </a:spcAft>
              <a:defRPr sz="1800" b="0">
                <a:solidFill>
                  <a:srgbClr val="19201D"/>
                </a:solidFill>
                <a:latin typeface="SUIT"/>
              </a:defRPr>
            </a:pPr>
            <a:r>
              <a:rPr>
                <a:ea typeface="SUIT"/>
              </a:rPr>
              <a:t>사건–기업 간선 클릭 제거 vs 상세 패널 진입</a:t>
            </a:r>
          </a:p>
          <a:p>
            <a:pPr>
              <a:lnSpc>
                <a:spcPct val="112000"/>
              </a:lnSpc>
              <a:spcAft>
                <a:spcPts val="600"/>
              </a:spcAft>
              <a:defRPr sz="1800" b="0">
                <a:solidFill>
                  <a:srgbClr val="19201D"/>
                </a:solidFill>
                <a:latin typeface="SUIT"/>
              </a:defRPr>
            </a:pPr>
            <a:r>
              <a:rPr>
                <a:ea typeface="SUIT"/>
              </a:rPr>
              <a:t>보유·관심 한 모드 내 필터 vs 세 모드 혼재</a:t>
            </a:r>
          </a:p>
          <a:p>
            <a:pPr>
              <a:lnSpc>
                <a:spcPct val="112000"/>
              </a:lnSpc>
              <a:spcAft>
                <a:spcPts val="600"/>
              </a:spcAft>
              <a:defRPr sz="1800" b="0">
                <a:solidFill>
                  <a:srgbClr val="19201D"/>
                </a:solidFill>
                <a:latin typeface="SUIT"/>
              </a:defRPr>
            </a:pPr>
            <a:r>
              <a:rPr>
                <a:ea typeface="SUIT"/>
              </a:rPr>
              <a:t>가입 자동 로그인 vs 로그인 화면으로 복귀</a:t>
            </a:r>
          </a:p>
          <a:p>
            <a:pPr>
              <a:lnSpc>
                <a:spcPct val="112000"/>
              </a:lnSpc>
              <a:spcAft>
                <a:spcPts val="600"/>
              </a:spcAft>
              <a:defRPr sz="1800" b="0">
                <a:solidFill>
                  <a:srgbClr val="19201D"/>
                </a:solidFill>
                <a:latin typeface="SUIT"/>
              </a:defRPr>
            </a:pPr>
            <a:r>
              <a:rPr>
                <a:ea typeface="SUIT"/>
              </a:rPr>
              <a:t>문서 제목 최종만으로 팀 승인으로 보지 않아요.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APP-LIMIT   근거 버전·남은 한계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v2.0 · 프로토타입 기준  |  공급자 공백을 가짜 값·전망·확률로 채우지 않아요.</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65</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현재 근거</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기능명세: 10-01 v1.2 고정본</a:t>
            </a:r>
          </a:p>
          <a:p>
            <a:pPr>
              <a:lnSpc>
                <a:spcPct val="112000"/>
              </a:lnSpc>
              <a:spcAft>
                <a:spcPts val="600"/>
              </a:spcAft>
              <a:defRPr sz="1800" b="0">
                <a:solidFill>
                  <a:srgbClr val="19201D"/>
                </a:solidFill>
                <a:latin typeface="SUIT"/>
              </a:defRPr>
            </a:pPr>
            <a:r>
              <a:rPr>
                <a:ea typeface="SUIT"/>
              </a:rPr>
              <a:t>10-03 반영: spec-v1.2-gap.md §0.3</a:t>
            </a:r>
          </a:p>
          <a:p>
            <a:pPr>
              <a:lnSpc>
                <a:spcPct val="112000"/>
              </a:lnSpc>
              <a:spcAft>
                <a:spcPts val="600"/>
              </a:spcAft>
              <a:defRPr sz="1800" b="0">
                <a:solidFill>
                  <a:srgbClr val="19201D"/>
                </a:solidFill>
                <a:latin typeface="SUIT"/>
              </a:defRPr>
            </a:pPr>
            <a:r>
              <a:rPr>
                <a:ea typeface="SUIT"/>
              </a:rPr>
              <a:t>Notion: raw/notion_2026-10-03 고정본</a:t>
            </a:r>
          </a:p>
          <a:p>
            <a:pPr>
              <a:lnSpc>
                <a:spcPct val="112000"/>
              </a:lnSpc>
              <a:spcAft>
                <a:spcPts val="600"/>
              </a:spcAft>
              <a:defRPr sz="1800" b="0">
                <a:solidFill>
                  <a:srgbClr val="19201D"/>
                </a:solidFill>
                <a:latin typeface="SUIT"/>
              </a:defRPr>
            </a:pPr>
            <a:r>
              <a:rPr>
                <a:ea typeface="SUIT"/>
              </a:rPr>
              <a:t>팀 v1.7: review.md 머리 Main 정정 우선</a:t>
            </a:r>
          </a:p>
          <a:p>
            <a:pPr>
              <a:lnSpc>
                <a:spcPct val="112000"/>
              </a:lnSpc>
              <a:spcAft>
                <a:spcPts val="600"/>
              </a:spcAft>
              <a:defRPr sz="1800" b="0">
                <a:solidFill>
                  <a:srgbClr val="19201D"/>
                </a:solidFill>
                <a:latin typeface="SUIT"/>
              </a:defRPr>
            </a:pPr>
            <a:r>
              <a:rPr>
                <a:ea typeface="SUIT"/>
              </a:rPr>
              <a:t>화면: captures/ 원본 PNG·좌표·클릭 결과</a:t>
            </a:r>
          </a:p>
          <a:p>
            <a:pPr>
              <a:lnSpc>
                <a:spcPct val="112000"/>
              </a:lnSpc>
              <a:spcAft>
                <a:spcPts val="600"/>
              </a:spcAft>
              <a:defRPr sz="1800" b="0">
                <a:solidFill>
                  <a:srgbClr val="19201D"/>
                </a:solidFill>
                <a:latin typeface="SUIT"/>
              </a:defRPr>
            </a:pPr>
            <a:r>
              <a:rPr>
                <a:ea typeface="SUIT"/>
              </a:rPr>
              <a:t>디자인: tokens.json v3.0.0 · design-direction.md</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정책·데이터 한계</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시장 요약·재무 추이·산업/테마 생산자 없음</a:t>
            </a:r>
          </a:p>
          <a:p>
            <a:pPr>
              <a:lnSpc>
                <a:spcPct val="112000"/>
              </a:lnSpc>
              <a:spcAft>
                <a:spcPts val="600"/>
              </a:spcAft>
              <a:defRPr sz="1800" b="0">
                <a:solidFill>
                  <a:srgbClr val="19201D"/>
                </a:solidFill>
                <a:latin typeface="SUIT"/>
              </a:defRPr>
            </a:pPr>
            <a:r>
              <a:rPr>
                <a:ea typeface="SUIT"/>
              </a:rPr>
              <a:t>영향 방향 생산자 없음. 표시 규격만 존재</a:t>
            </a:r>
          </a:p>
          <a:p>
            <a:pPr>
              <a:lnSpc>
                <a:spcPct val="112000"/>
              </a:lnSpc>
              <a:spcAft>
                <a:spcPts val="600"/>
              </a:spcAft>
              <a:defRPr sz="1800" b="0">
                <a:solidFill>
                  <a:srgbClr val="19201D"/>
                </a:solidFill>
                <a:latin typeface="SUIT"/>
              </a:defRPr>
            </a:pPr>
            <a:r>
              <a:rPr>
                <a:ea typeface="SUIT"/>
              </a:rPr>
              <a:t>생성형 AI·실 소셜 IdP·정기 수집원 미연결</a:t>
            </a:r>
          </a:p>
          <a:p>
            <a:pPr>
              <a:lnSpc>
                <a:spcPct val="112000"/>
              </a:lnSpc>
              <a:spcAft>
                <a:spcPts val="600"/>
              </a:spcAft>
              <a:defRPr sz="1800" b="0">
                <a:solidFill>
                  <a:srgbClr val="19201D"/>
                </a:solidFill>
                <a:latin typeface="SUIT"/>
              </a:defRPr>
            </a:pPr>
            <a:r>
              <a:rPr>
                <a:ea typeface="SUIT"/>
              </a:rPr>
              <a:t>환율 변화 기준·지연 수치는 프로토타입 가정</a:t>
            </a:r>
          </a:p>
          <a:p>
            <a:pPr>
              <a:lnSpc>
                <a:spcPct val="112000"/>
              </a:lnSpc>
              <a:spcAft>
                <a:spcPts val="600"/>
              </a:spcAft>
              <a:defRPr sz="1800" b="0">
                <a:solidFill>
                  <a:srgbClr val="19201D"/>
                </a:solidFill>
                <a:latin typeface="SUIT"/>
              </a:defRPr>
            </a:pPr>
            <a:r>
              <a:rPr>
                <a:ea typeface="SUIT"/>
              </a:rPr>
              <a:t>발행 뒤 지표 재조회는 회차 불변 정책과 충돌</a:t>
            </a:r>
          </a:p>
          <a:p>
            <a:pPr>
              <a:lnSpc>
                <a:spcPct val="112000"/>
              </a:lnSpc>
              <a:spcAft>
                <a:spcPts val="600"/>
              </a:spcAft>
              <a:defRPr sz="1800" b="0">
                <a:solidFill>
                  <a:srgbClr val="19201D"/>
                </a:solidFill>
                <a:latin typeface="SUIT"/>
              </a:defRPr>
            </a:pPr>
            <a:r>
              <a:rPr>
                <a:ea typeface="SUIT"/>
              </a:rPr>
              <a:t>실제 오류·권한·외부 원문 실패 전수 캡처는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